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7a04c1a-e431-1067-c980-d7932eeb04b6}">
          <p14:sldIdLst>
            <p14:sldId id="256"/>
            <p14:sldId id="257"/>
          </p14:sldIdLst>
        </p14:section>
        <p14:section name="Part 1: Learning from data" id="{2cdbabf0-b938-79a2-9432-09e90c909fa5}">
          <p14:sldIdLst>
            <p14:sldId id="258"/>
            <p14:sldId id="259"/>
            <p14:sldId id="260"/>
            <p14:sldId id="261"/>
            <p14:sldId id="262"/>
          </p14:sldIdLst>
        </p14:section>
        <p14:section name="Part 2: Data augmentation" id="{20f7dfc9-0f1a-6901-08ba-3ded123c2b08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Part 3: The perceptron story" id="{416ea4c5-9084-6ed4-ae02-7f27cf6eadfd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Part 4: The MLP" id="{a654f20c-fefd-ae2f-9f29-f3a0c04560c1}">
          <p14:sldIdLst>
            <p14:sldId id="285"/>
            <p14:sldId id="286"/>
            <p14:sldId id="287"/>
            <p14:sldId id="288"/>
          </p14:sldIdLst>
        </p14:section>
        <p14:section name="Wrap-up" id="{77cbc5cd-3a15-be3e-0311-0340c4c3d85e}">
          <p14:sldIdLst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framing: today connects three ideas. What it means to learn from data, how we stretch a small dataset with augmentation, and how 43 years of neural network history (1943 to 1986) led to the MLP we train in this week's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slides complement the earlier Week 1 slides on ML types, activation functions and the backprop numerical example. Nothing here repeats them; the focus is generalization, augmentation and the history of the perceptron.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already saw the types of ML. Here we look at what every learning algorithm has in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model in this course, from an MLP to a Transformer, is these three pieces. Only the model family changes as the course progresses.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 set is a stand-in for the future. In the assignment, every plot you make is really a plot of this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 count: fc1 784x128+128 = 100,480; fc2 128x64+64 = 8,256; fc3 64x10+10 = 650. Total 109,386. Divided by 5,000 images gives about 22 parameters per training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question is the bridge to Part 2. The answer is yes, as long as the new examples keep the right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Augmentation is one of the cheapest and most reliable ways to improve generalization. The key is knowing which transformations are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outputs from iris.jpeg in the Image Augmentation notebook. A human still says iris for every one of them, so the label is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transform encodes one invariance. Pick the ones that match what changes in the real world for your data. The interactive pipeline in the Week 1 web guide lets students adjust each of these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uses one knob, alpha, the share of words changed (around 0.05 to 0.1). Back-translation gives the most natural paraphrases because translation models are trained to preserve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transformation that is safe for one dataset can corrupt another. Horizontal flips are standard for CIFAR-10 and wrong for MNIST.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PyTorch this means two transform pipelines: train_tf with random transforms and test_tf with only ToTensor and Normalize.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Theory: augmentation is a form of vicinal risk minimization (Chapelle et al., 2000), and training with small input noise approximates Tikhonov regularization (Bishop, 1995). The web guide has an interactive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earlier slides covered how a perceptron computes. This part covers where it came from, what it could and could not do, and why the field nearly abandoned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colours as a story: a rise from 1943 to 1960, a fall after 1969, and a revival that started quietly in 1974 and became mainstream in 1986.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McCulloch and Pitts gave us the unit; Hebb gave us the idea of learning by adjusting connections. Rosenblatt combined the two in 1957 to 1958.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Part 2 of the Deep Learning blog series. Thicker dendrites in the sketch stand for stronger connections, which become larger weights. The output O = f(sum of w_i x_i + b) can feed many neurons in the next layer. Roughly inspired by biology, not a copy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sweet and pain diagrams show two experiences building two different weighted pathways. Ask students to keep this picture for the MLP: a 3 and a 7 activate different weighted paths through the hidden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big change from 1943: the machine sets its own weights from labelled examples. The convergence guarantee holds only when the data is linearly separable, which is exactly where the trouble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Part 3 of the blog series. Both models compute the same weighted sum; only the activation differs. The update rules differ only in step(z) vs sigma(z): replace the hard switch with a smooth dimmer and the error becomes a continuous signal gradient descent can use. Generalized through layers with the chain rule, that is backpropagation. The web guide page 07 lets students train both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discussion prompt: which current AI claims look like the 1958 headline, and what evidence would separate real capability from hype?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common thread: everything that worked was linearly separable or linear by design. ADALINE matters because it used a continuous error signal, which is the idea backprop later generalizes.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are limits of representation; the last two are limits of training. Multi-layer networks could represent XOR in principle, but in 1969 nobody had a practical way to train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Historians still debate how much the book itself caused the winter versus broader funding changes and overpromising across all of AI. Its proofs were about single-layer perceptrons, not multi-layer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Backprop was discovered more than once; the 1986 paper mattered because it showed clearly, with experiments, that hidden units learn useful internal representations.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Part 1 of the blog series: the left side is the biological structure, the right side the network it inspired, with an input layer, two hidden layers and an output layer. That right-hand picture is exactly the shape of the MLP in Part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backprop numerical example in the earlier Week 1 slides shows the chain rule step by step. ReLU replaced sigmoid much later, around 2010 to 2012.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Part 1 of the blog series. Brains rely on many layers, so we want deep networks, but backprop kept failing as layers were added: the vanishing gradient. Hinton kept working on it for two decades; the 2006 deep belief net paper and the 2012 ImageNet result (data plus GPUs) brought neural networks back. Same lesson as Part 2 of today: data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from Part 3 comes together in a model small enough to train on a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one row live with the class: x = (1,1). h1 = step(2 - 0.5) = 1, h2 = step(2 - 1.5) = 1, y = step(1 - 1 - 0.5) = step(-0.5) = 0. Correct. The hard part in 1969 was not this network, it was learning these weights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idea as the XOR network, scaled up: two hidden layers, ReLU instead of step or sigmoid, trained with backprop and Adam. 92% of the parameters sit in the first layer because every pixel connects to every hidden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Pixel (row 1, col 2) is index 7 and pixel (row 2, col 2) is index 12. Vertical neighbours end up five positions apart. This connects the MLP's weakness back to Part 2: augmentation supplies the invariances the architecture lacks.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this week: review the syllabus, explore the Week 1 module in Canvas, and post an introduction in the discussion forum.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1943 McCulloch and Pitts to 1986 backprop is 43 years. Next week builds on the MLP.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AA-5750 · Week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Learning from Data, Making More of It, and the Road to the MLP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AA-5750 Contemporary Issues in Analytics · Week 1 · Chandra Prakash Bathula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Today's journey</a:t>
            </a:r>
            <a:endParaRPr lang="en-US" sz="3400" dirty="0"/>
          </a:p>
        </p:txBody>
      </p:sp>
      <p:sp>
        <p:nvSpPr>
          <p:cNvPr id="3" name="journey-card-01"/>
          <p:cNvSpPr/>
          <p:nvPr/>
        </p:nvSpPr>
        <p:spPr>
          <a:xfrm>
            <a:off x="548640" y="15087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Learning from data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What a model really learns, and why the test set is the only score that matters.</a:t>
            </a:r>
            <a:endParaRPr lang="en-US" sz="1400" dirty="0"/>
          </a:p>
        </p:txBody>
      </p:sp>
      <p:sp>
        <p:nvSpPr>
          <p:cNvPr id="7" name="journey-card-02"/>
          <p:cNvSpPr/>
          <p:nvPr/>
        </p:nvSpPr>
        <p:spPr>
          <a:xfrm>
            <a:off x="3383280" y="15087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154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Data augmentation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Making new training examples from old ones, for images and for text, without breaking labels.</a:t>
            </a:r>
            <a:endParaRPr lang="en-US" sz="1400" dirty="0"/>
          </a:p>
        </p:txBody>
      </p:sp>
      <p:sp>
        <p:nvSpPr>
          <p:cNvPr id="11" name="journey-card-03"/>
          <p:cNvSpPr/>
          <p:nvPr/>
        </p:nvSpPr>
        <p:spPr>
          <a:xfrm>
            <a:off x="6217920" y="15087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154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The perceptron story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Neurons, the perceptron vs logistic regression, the AI winters, and the comeback.</a:t>
            </a:r>
            <a:endParaRPr lang="en-US" sz="1400" dirty="0"/>
          </a:p>
        </p:txBody>
      </p:sp>
      <p:sp>
        <p:nvSpPr>
          <p:cNvPr id="15" name="journey-card-04"/>
          <p:cNvSpPr/>
          <p:nvPr/>
        </p:nvSpPr>
        <p:spPr>
          <a:xfrm>
            <a:off x="9052560" y="15087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3154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Finally, just an MLP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Stack perceptrons, add a non-linearity, train with backprop: the model in this week's assignment.</a:t>
            </a:r>
            <a:endParaRPr lang="en-US" sz="1400" dirty="0"/>
          </a:p>
        </p:txBody>
      </p:sp>
      <p:sp>
        <p:nvSpPr>
          <p:cNvPr id="19" name="journey-icon-0-circle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journey-icon-0" descr="ChartLi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537460"/>
            <a:ext cx="320040" cy="320040"/>
          </a:xfrm>
          <a:prstGeom prst="rect">
            <a:avLst/>
          </a:prstGeom>
        </p:spPr>
      </p:pic>
      <p:sp>
        <p:nvSpPr>
          <p:cNvPr id="21" name="journey-icon-1-circle"/>
          <p:cNvSpPr/>
          <p:nvPr/>
        </p:nvSpPr>
        <p:spPr>
          <a:xfrm>
            <a:off x="3657600" y="23774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journey-icon-1" descr="Clo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2537460"/>
            <a:ext cx="320040" cy="320040"/>
          </a:xfrm>
          <a:prstGeom prst="rect">
            <a:avLst/>
          </a:prstGeom>
        </p:spPr>
      </p:pic>
      <p:sp>
        <p:nvSpPr>
          <p:cNvPr id="23" name="journey-icon-2-circle"/>
          <p:cNvSpPr/>
          <p:nvPr/>
        </p:nvSpPr>
        <p:spPr>
          <a:xfrm>
            <a:off x="6492240" y="23774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journey-icon-2" descr="Histor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2537460"/>
            <a:ext cx="320040" cy="320040"/>
          </a:xfrm>
          <a:prstGeom prst="rect">
            <a:avLst/>
          </a:prstGeom>
        </p:spPr>
      </p:pic>
      <p:sp>
        <p:nvSpPr>
          <p:cNvPr id="25" name="journey-icon-3-circle"/>
          <p:cNvSpPr/>
          <p:nvPr/>
        </p:nvSpPr>
        <p:spPr>
          <a:xfrm>
            <a:off x="9326880" y="23774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journey-icon-3" descr="ProjectDiagram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2537460"/>
            <a:ext cx="320040" cy="320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</a:rPr>
              <a:t>PART 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Learning from data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A different lens on machine learning: functions, losses and generalization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Machine learning in one line: find f so that f(x) ≈ y</a:t>
            </a:r>
            <a:endParaRPr lang="en-US" sz="3400" dirty="0"/>
          </a:p>
        </p:txBody>
      </p:sp>
      <p:sp>
        <p:nvSpPr>
          <p:cNvPr id="3" name="formula-card"/>
          <p:cNvSpPr/>
          <p:nvPr/>
        </p:nvSpPr>
        <p:spPr>
          <a:xfrm>
            <a:off x="548640" y="1508760"/>
            <a:ext cx="4846320" cy="420624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≈ y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56616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  an input: pixels, words, a customer record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  the answer we want: a digit, a sentiment, a price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f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  the function we learn from examples</a:t>
            </a:r>
            <a:endParaRPr lang="en-US" sz="1600" dirty="0"/>
          </a:p>
        </p:txBody>
      </p:sp>
      <p:sp>
        <p:nvSpPr>
          <p:cNvPr id="6" name="ingredient-icon-0-circle"/>
          <p:cNvSpPr/>
          <p:nvPr/>
        </p:nvSpPr>
        <p:spPr>
          <a:xfrm>
            <a:off x="58521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ngredient-icon-0" descr="Shap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3610" y="177165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Model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19659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family of candidate functions: lines, trees, neural networks. Choosing the family decides what f can express.</a:t>
            </a:r>
            <a:endParaRPr lang="en-US" sz="1500" dirty="0"/>
          </a:p>
        </p:txBody>
      </p:sp>
      <p:sp>
        <p:nvSpPr>
          <p:cNvPr id="10" name="ingredient-icon-1-circle"/>
          <p:cNvSpPr/>
          <p:nvPr/>
        </p:nvSpPr>
        <p:spPr>
          <a:xfrm>
            <a:off x="5852160" y="3063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ngredient-icon-1" descr="Bullsey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610" y="323469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66560" y="3017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Loss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766560" y="34290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single number that measures how wrong f is on the training data, such as cross-entropy for classification.</a:t>
            </a:r>
            <a:endParaRPr lang="en-US" sz="1500" dirty="0"/>
          </a:p>
        </p:txBody>
      </p:sp>
      <p:sp>
        <p:nvSpPr>
          <p:cNvPr id="14" name="ingredient-icon-2-circle"/>
          <p:cNvSpPr/>
          <p:nvPr/>
        </p:nvSpPr>
        <p:spPr>
          <a:xfrm>
            <a:off x="585216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ngredient-icon-2" descr="SlidersH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610" y="469773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4480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Optimizer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766560" y="4892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procedure that nudges f's parameters to lower the loss, such as gradient descent or Adam.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goal is not the training set, it's the next example</a:t>
            </a:r>
            <a:endParaRPr lang="en-US" sz="3400" dirty="0"/>
          </a:p>
        </p:txBody>
      </p:sp>
      <p:sp>
        <p:nvSpPr>
          <p:cNvPr id="3" name="learner-card-0"/>
          <p:cNvSpPr/>
          <p:nvPr/>
        </p:nvSpPr>
        <p:spPr>
          <a:xfrm>
            <a:off x="548640" y="1508760"/>
            <a:ext cx="5422392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4" name="learner-icon-0-circle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learner-icon-0" descr="TimesCirc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memorizer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517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Scores near 100% on training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Learns quirks, noise and coincidences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Falls apart on new examples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Like a student who memorizes past exam answers</a:t>
            </a:r>
            <a:endParaRPr lang="en-US" sz="1600" dirty="0"/>
          </a:p>
        </p:txBody>
      </p:sp>
      <p:sp>
        <p:nvSpPr>
          <p:cNvPr id="8" name="learner-card-1"/>
          <p:cNvSpPr/>
          <p:nvPr/>
        </p:nvSpPr>
        <p:spPr>
          <a:xfrm>
            <a:off x="6217920" y="1508760"/>
            <a:ext cx="5422392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9" name="learner-icon-1-circle"/>
          <p:cNvSpPr/>
          <p:nvPr/>
        </p:nvSpPr>
        <p:spPr>
          <a:xfrm>
            <a:off x="6537960" y="17830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learner-icon-1" descr="CheckCir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6092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learner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6517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Scores a little lower on training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Learns patterns that repeat across examples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Holds up on data it has never seen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Like a student who understands the method</a:t>
            </a:r>
            <a:endParaRPr lang="en-US" sz="1600" dirty="0"/>
          </a:p>
        </p:txBody>
      </p:sp>
      <p:sp>
        <p:nvSpPr>
          <p:cNvPr id="13" name="gap-callout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6868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Generalization gap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 =  training accuracy  −  test accuracy.  A large gap means the model is memorizing.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Our MNIST MLP has far more knobs than examples</a:t>
            </a:r>
            <a:endParaRPr lang="en-US" sz="3400" dirty="0"/>
          </a:p>
        </p:txBody>
      </p:sp>
      <p:sp>
        <p:nvSpPr>
          <p:cNvPr id="3" name="stat-card-0"/>
          <p:cNvSpPr/>
          <p:nvPr/>
        </p:nvSpPr>
        <p:spPr>
          <a:xfrm>
            <a:off x="548640" y="1600200"/>
            <a:ext cx="3502152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109,386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trainable parameters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 the 784 → 128 → 64 → 10 MLP</a:t>
            </a:r>
            <a:endParaRPr lang="en-US" sz="1400" dirty="0"/>
          </a:p>
        </p:txBody>
      </p:sp>
      <p:sp>
        <p:nvSpPr>
          <p:cNvPr id="7" name="stat-card-1"/>
          <p:cNvSpPr/>
          <p:nvPr/>
        </p:nvSpPr>
        <p:spPr>
          <a:xfrm>
            <a:off x="4297680" y="1600200"/>
            <a:ext cx="3502152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783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926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training images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 the baseline notebook</a:t>
            </a:r>
            <a:endParaRPr lang="en-US" sz="1400" dirty="0"/>
          </a:p>
        </p:txBody>
      </p:sp>
      <p:sp>
        <p:nvSpPr>
          <p:cNvPr id="11" name="stat-card-2"/>
          <p:cNvSpPr/>
          <p:nvPr/>
        </p:nvSpPr>
        <p:spPr>
          <a:xfrm>
            <a:off x="8046720" y="1600200"/>
            <a:ext cx="3502152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1783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22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926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parameters per example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plenty of room to memorize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When a model has this much capacity, it can fit almost anything, including noise. There are two cures, and this week's assignment tests both: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More real data: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scale MNIST from 5k to 50k images.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More varied data: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augment CIFAR-10 so every epoch sees new versions of each image.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Labelled data is the bottleneck</a:t>
            </a:r>
            <a:endParaRPr lang="en-US" sz="3400" dirty="0"/>
          </a:p>
        </p:txBody>
      </p:sp>
      <p:sp>
        <p:nvSpPr>
          <p:cNvPr id="3" name="bottleneck-card-0"/>
          <p:cNvSpPr/>
          <p:nvPr/>
        </p:nvSpPr>
        <p:spPr>
          <a:xfrm>
            <a:off x="548640" y="1508760"/>
            <a:ext cx="3502152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4" name="bottleneck-icon-0-circle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bottleneck-icon-0" descr="UserClo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9545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Expensive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00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label needs a person. Medical, legal and financial labels need specialists whose time is scarce.</a:t>
            </a:r>
            <a:endParaRPr lang="en-US" sz="1500" dirty="0"/>
          </a:p>
        </p:txBody>
      </p:sp>
      <p:sp>
        <p:nvSpPr>
          <p:cNvPr id="8" name="bottleneck-card-1"/>
          <p:cNvSpPr/>
          <p:nvPr/>
        </p:nvSpPr>
        <p:spPr>
          <a:xfrm>
            <a:off x="4297680" y="1508760"/>
            <a:ext cx="3502152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9" name="bottleneck-icon-1-circle"/>
          <p:cNvSpPr/>
          <p:nvPr/>
        </p:nvSpPr>
        <p:spPr>
          <a:xfrm>
            <a:off x="4617720" y="17830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bottleneck-icon-1" descr="HourglassHalf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170" y="195453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Slow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200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ImageNet's ~14 million labelled images took several years of crowdsourced work to build.</a:t>
            </a:r>
            <a:endParaRPr lang="en-US" sz="1500" dirty="0"/>
          </a:p>
        </p:txBody>
      </p:sp>
      <p:sp>
        <p:nvSpPr>
          <p:cNvPr id="13" name="bottleneck-card-2"/>
          <p:cNvSpPr/>
          <p:nvPr/>
        </p:nvSpPr>
        <p:spPr>
          <a:xfrm>
            <a:off x="8046720" y="1508760"/>
            <a:ext cx="3502152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14" name="bottleneck-icon-2-circle"/>
          <p:cNvSpPr/>
          <p:nvPr/>
        </p:nvSpPr>
        <p:spPr>
          <a:xfrm>
            <a:off x="8366760" y="17830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bottleneck-icon-2" descr="BalanceSca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210" y="195453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Imbalanced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200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Rare classes such as fraud or rare diseases have few examples by definition, exactly where we need them most.</a:t>
            </a:r>
            <a:endParaRPr lang="en-US" sz="1500" dirty="0"/>
          </a:p>
        </p:txBody>
      </p:sp>
      <p:sp>
        <p:nvSpPr>
          <p:cNvPr id="18" name="bottleneck-question"/>
          <p:cNvSpPr/>
          <p:nvPr/>
        </p:nvSpPr>
        <p:spPr>
          <a:xfrm>
            <a:off x="548640" y="502920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68680" y="5029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we can't collect more data, can we create more from the data we already have?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</a:rPr>
              <a:t>PART 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Data augmentation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Same label, new example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Augmentation: transform the input, keep the label</a:t>
            </a:r>
            <a:endParaRPr lang="en-US" sz="3400" dirty="0"/>
          </a:p>
        </p:txBody>
      </p:sp>
      <p:pic>
        <p:nvPicPr>
          <p:cNvPr id="3" name="aug-original" descr="Original iris flower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2085772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206240"/>
            <a:ext cx="26344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Original  ·  label: iris</a:t>
            </a:r>
            <a:endParaRPr lang="en-US" sz="1300" dirty="0"/>
          </a:p>
        </p:txBody>
      </p:sp>
      <p:sp>
        <p:nvSpPr>
          <p:cNvPr id="5" name="aug-arrow"/>
          <p:cNvSpPr/>
          <p:nvPr/>
        </p:nvSpPr>
        <p:spPr>
          <a:xfrm>
            <a:off x="2880360" y="2606040"/>
            <a:ext cx="731520" cy="457200"/>
          </a:xfrm>
          <a:prstGeom prst="rightArrow">
            <a:avLst/>
          </a:prstGeom>
          <a:solidFill>
            <a:schemeClr val="accent1"/>
          </a:solidFill>
          <a:ln/>
        </p:spPr>
      </p:sp>
      <p:pic>
        <p:nvPicPr>
          <p:cNvPr id="6" name="aug-hflip" descr="Flipped iris pho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508760"/>
            <a:ext cx="2085772" cy="2651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886200" y="4206240"/>
            <a:ext cx="23600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Flipped  ·  label: iris</a:t>
            </a:r>
            <a:endParaRPr lang="en-US" sz="1300" dirty="0"/>
          </a:p>
        </p:txBody>
      </p:sp>
      <p:pic>
        <p:nvPicPr>
          <p:cNvPr id="8" name="aug-rotate" descr="Rotated 20° iris pho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012" y="1508760"/>
            <a:ext cx="2085772" cy="2651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292012" y="4206240"/>
            <a:ext cx="23600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Rotated 20°  ·  label: iris</a:t>
            </a:r>
            <a:endParaRPr lang="en-US" sz="1300" dirty="0"/>
          </a:p>
        </p:txBody>
      </p:sp>
      <p:pic>
        <p:nvPicPr>
          <p:cNvPr id="10" name="aug-jitter" descr="Colour jitter iris pho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823" y="1508760"/>
            <a:ext cx="2085772" cy="265176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697823" y="4206240"/>
            <a:ext cx="23600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Colour jitter  ·  label: iris</a:t>
            </a:r>
            <a:endParaRPr lang="en-US" sz="1300" dirty="0"/>
          </a:p>
        </p:txBody>
      </p:sp>
      <p:sp>
        <p:nvSpPr>
          <p:cNvPr id="12" name="aug-rule"/>
          <p:cNvSpPr/>
          <p:nvPr/>
        </p:nvSpPr>
        <p:spPr>
          <a:xfrm>
            <a:off x="548640" y="4754880"/>
            <a:ext cx="1109167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868680" y="47548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(x, y)  →  (T(x), y)</a:t>
            </a:r>
            <a:endParaRPr lang="en-US" sz="2800" dirty="0"/>
          </a:p>
        </p:txBody>
      </p:sp>
      <p:sp>
        <p:nvSpPr>
          <p:cNvPr id="14" name="Text 8"/>
          <p:cNvSpPr txBox="1"/>
          <p:nvPr/>
        </p:nvSpPr>
        <p:spPr>
          <a:xfrm>
            <a:off x="4846320" y="475488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Each transformation T is a claim: "this change does not affect the label." Applied randomly every epoch, it shows the model many plausible versions of every training example.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Image toolbox: what each transform teaches</a:t>
            </a:r>
            <a:endParaRPr lang="en-US" sz="3400" dirty="0"/>
          </a:p>
        </p:txBody>
      </p:sp>
      <p:pic>
        <p:nvPicPr>
          <p:cNvPr id="3" name="tool-hflip" descr="Horizontal flip applied to iris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600200" cy="20344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34625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Horizontal flip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000385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Left vs right doesn't matter</a:t>
            </a:r>
            <a:endParaRPr lang="en-US" sz="1300" dirty="0"/>
          </a:p>
        </p:txBody>
      </p:sp>
      <p:pic>
        <p:nvPicPr>
          <p:cNvPr id="6" name="tool-rotate" descr="Rotation applied to iris pho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1463040"/>
            <a:ext cx="1600200" cy="203442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441448" y="3634625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Rotation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2441448" y="4000385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Tilted camera or page</a:t>
            </a:r>
            <a:endParaRPr lang="en-US" sz="1300" dirty="0"/>
          </a:p>
        </p:txBody>
      </p:sp>
      <p:pic>
        <p:nvPicPr>
          <p:cNvPr id="9" name="tool-crop" descr="Random crop applied to iris pho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463040"/>
            <a:ext cx="1600200" cy="203442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34256" y="3634625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Random crop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4334256" y="4000385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Object position and scale vary</a:t>
            </a:r>
            <a:endParaRPr lang="en-US" sz="1300" dirty="0"/>
          </a:p>
        </p:txBody>
      </p:sp>
      <p:pic>
        <p:nvPicPr>
          <p:cNvPr id="12" name="tool-jitter" descr="Colour jitter applied to iris pho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1463040"/>
            <a:ext cx="1600200" cy="203442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227064" y="3634625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Colour jitter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6227064" y="4000385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Lighting and camera differences</a:t>
            </a:r>
            <a:endParaRPr lang="en-US" sz="1300" dirty="0"/>
          </a:p>
        </p:txBody>
      </p:sp>
      <p:pic>
        <p:nvPicPr>
          <p:cNvPr id="15" name="tool-noise" descr="Noise applied to iris pho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1463040"/>
            <a:ext cx="1600200" cy="203442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119872" y="3634625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Noise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8119872" y="4000385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Sensor noise in low light</a:t>
            </a:r>
            <a:endParaRPr lang="en-US" sz="1300" dirty="0"/>
          </a:p>
        </p:txBody>
      </p:sp>
      <p:pic>
        <p:nvPicPr>
          <p:cNvPr id="18" name="tool-erase" descr="Random erasing applied to iris phot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0" y="1463040"/>
            <a:ext cx="1600200" cy="203442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012680" y="3634625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Random erasing</a:t>
            </a:r>
            <a:endParaRPr lang="en-US" sz="1500" dirty="0"/>
          </a:p>
        </p:txBody>
      </p:sp>
      <p:sp>
        <p:nvSpPr>
          <p:cNvPr id="20" name="Text 12"/>
          <p:cNvSpPr txBox="1"/>
          <p:nvPr/>
        </p:nvSpPr>
        <p:spPr>
          <a:xfrm>
            <a:off x="10012680" y="4000385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Occlusion: use more than one cue</a:t>
            </a:r>
            <a:endParaRPr lang="en-US" sz="1300" dirty="0"/>
          </a:p>
        </p:txBody>
      </p:sp>
      <p:sp>
        <p:nvSpPr>
          <p:cNvPr id="21" name="tool-cifar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86868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Standard CIFAR-10 recipe: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RandomCrop(32, padding=4) + RandomHorizontalFlip(), applied to training images only.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Text toolbox: four cheap edits and one expensive one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Original: </a:t>
            </a:r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"The plot was boring and the acting was terrible."  (negative)</a:t>
            </a:r>
            <a:endParaRPr lang="en-US" sz="1700" dirty="0"/>
          </a:p>
        </p:txBody>
      </p:sp>
      <p:graphicFrame>
        <p:nvGraphicFramePr>
          <p:cNvPr id="12" name="text-aug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239512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Technique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Augmented sentence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Label risk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Synonym replacement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The storyline was dull and the acting was terrible.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Random insertion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The plot was boring tedious and the acting was terrible.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Random swap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The acting was boring and the plot was terrible.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Medium: meaning can shift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Random deletion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The plot was boring and the acting terrible.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Medium: may drop "not"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Back-translation (EN → FR → EN)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The storyline was dull and the performance was awful.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Low, but needs a translation model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The first four are the EDA operations (Wei &amp; Zou, 2019). Back-translation sentence shown is illustrative.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golden rule: would a human give it the same label?</a:t>
            </a:r>
            <a:endParaRPr lang="en-US" sz="3400" dirty="0"/>
          </a:p>
        </p:txBody>
      </p:sp>
      <p:sp>
        <p:nvSpPr>
          <p:cNvPr id="3" name="safe-card"/>
          <p:cNvSpPr/>
          <p:nvPr/>
        </p:nvSpPr>
        <p:spPr>
          <a:xfrm>
            <a:off x="548640" y="1508760"/>
            <a:ext cx="5422392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4" name="unsafe-card"/>
          <p:cNvSpPr/>
          <p:nvPr/>
        </p:nvSpPr>
        <p:spPr>
          <a:xfrm>
            <a:off x="6217920" y="1508760"/>
            <a:ext cx="5422392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5" name="safe-icon-circle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safe-icon" descr="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274320" cy="274320"/>
          </a:xfrm>
          <a:prstGeom prst="rect">
            <a:avLst/>
          </a:prstGeom>
        </p:spPr>
      </p:pic>
      <p:sp>
        <p:nvSpPr>
          <p:cNvPr id="7" name="unsafe-icon-circle"/>
          <p:cNvSpPr/>
          <p:nvPr/>
        </p:nvSpPr>
        <p:spPr>
          <a:xfrm>
            <a:off x="6492240" y="17373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unsafe-icon" descr="Time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745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Safe: label preserved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Unsafe: label changes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146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Flipping a photo of a cat or a car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Rotating a handwritten digit by 10°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"boring" → "dull" in a review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Brightness changes on street scenes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5146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Rotating a "6" by 180°: it becomes a "9"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Flipping a "b": it becomes a "d"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Deleting "not" from "not good"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Embedding swap "good" → "bad" (close vectors, opposite meaning)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Big hue shifts when colour defines the class (ripe vs unripe fruit)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augmentation lives in the pipeline</a:t>
            </a:r>
            <a:endParaRPr lang="en-US" sz="3400" dirty="0"/>
          </a:p>
        </p:txBody>
      </p:sp>
      <p:sp>
        <p:nvSpPr>
          <p:cNvPr id="3" name="pipe-raw"/>
          <p:cNvSpPr/>
          <p:nvPr/>
        </p:nvSpPr>
        <p:spPr>
          <a:xfrm>
            <a:off x="548640" y="2606040"/>
            <a:ext cx="1737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6060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Raw data</a:t>
            </a:r>
            <a:endParaRPr lang="en-US" sz="1500" dirty="0"/>
          </a:p>
        </p:txBody>
      </p:sp>
      <p:sp>
        <p:nvSpPr>
          <p:cNvPr id="5" name="pipe-a1"/>
          <p:cNvSpPr/>
          <p:nvPr/>
        </p:nvSpPr>
        <p:spPr>
          <a:xfrm>
            <a:off x="2331720" y="3035808"/>
            <a:ext cx="502920" cy="0"/>
          </a:xfrm>
          <a:prstGeom prst="line">
            <a:avLst/>
          </a:prstGeom>
          <a:noFill/>
          <a:ln w="25400">
            <a:solidFill>
              <a:srgbClr val="7A8793"/>
            </a:solidFill>
            <a:prstDash val="solid"/>
            <a:tailEnd type="triangle"/>
          </a:ln>
        </p:spPr>
      </p:sp>
      <p:sp>
        <p:nvSpPr>
          <p:cNvPr id="6" name="pipe-split"/>
          <p:cNvSpPr/>
          <p:nvPr/>
        </p:nvSpPr>
        <p:spPr>
          <a:xfrm>
            <a:off x="2880360" y="260604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71800" y="26060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Split train / test</a:t>
            </a:r>
            <a:endParaRPr lang="en-US" sz="1500" dirty="0"/>
          </a:p>
        </p:txBody>
      </p:sp>
      <p:sp>
        <p:nvSpPr>
          <p:cNvPr id="8" name="pipe-a2"/>
          <p:cNvSpPr/>
          <p:nvPr/>
        </p:nvSpPr>
        <p:spPr>
          <a:xfrm flipV="1">
            <a:off x="4846320" y="2057400"/>
            <a:ext cx="502920" cy="978408"/>
          </a:xfrm>
          <a:prstGeom prst="line">
            <a:avLst/>
          </a:prstGeom>
          <a:noFill/>
          <a:ln w="25400">
            <a:solidFill>
              <a:srgbClr val="7A8793"/>
            </a:solidFill>
            <a:prstDash val="solid"/>
            <a:tailEnd type="triangle"/>
          </a:ln>
        </p:spPr>
      </p:sp>
      <p:sp>
        <p:nvSpPr>
          <p:cNvPr id="9" name="pipe-a3"/>
          <p:cNvSpPr/>
          <p:nvPr/>
        </p:nvSpPr>
        <p:spPr>
          <a:xfrm>
            <a:off x="4846320" y="3035808"/>
            <a:ext cx="502920" cy="987552"/>
          </a:xfrm>
          <a:prstGeom prst="line">
            <a:avLst/>
          </a:prstGeom>
          <a:noFill/>
          <a:ln w="25400">
            <a:solidFill>
              <a:srgbClr val="7A8793"/>
            </a:solidFill>
            <a:prstDash val="solid"/>
            <a:tailEnd type="triangle"/>
          </a:ln>
        </p:spPr>
      </p:sp>
      <p:sp>
        <p:nvSpPr>
          <p:cNvPr id="10" name="pipe-aug"/>
          <p:cNvSpPr/>
          <p:nvPr/>
        </p:nvSpPr>
        <p:spPr>
          <a:xfrm>
            <a:off x="5394960" y="1645920"/>
            <a:ext cx="28346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0" y="16459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Train: augment on the fly</a:t>
            </a:r>
            <a:endParaRPr lang="en-US" sz="1500" dirty="0"/>
          </a:p>
        </p:txBody>
      </p:sp>
      <p:sp>
        <p:nvSpPr>
          <p:cNvPr id="12" name="pipe-test"/>
          <p:cNvSpPr/>
          <p:nvPr/>
        </p:nvSpPr>
        <p:spPr>
          <a:xfrm>
            <a:off x="5394960" y="3611880"/>
            <a:ext cx="283464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0" y="3611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Test: fixed preprocessing only</a:t>
            </a:r>
            <a:endParaRPr lang="en-US" sz="1500" dirty="0"/>
          </a:p>
        </p:txBody>
      </p:sp>
      <p:sp>
        <p:nvSpPr>
          <p:cNvPr id="14" name="pipe-a4"/>
          <p:cNvSpPr/>
          <p:nvPr/>
        </p:nvSpPr>
        <p:spPr>
          <a:xfrm>
            <a:off x="8275320" y="2075688"/>
            <a:ext cx="457200" cy="0"/>
          </a:xfrm>
          <a:prstGeom prst="line">
            <a:avLst/>
          </a:prstGeom>
          <a:noFill/>
          <a:ln w="25400">
            <a:solidFill>
              <a:srgbClr val="7A8793"/>
            </a:solidFill>
            <a:prstDash val="solid"/>
            <a:tailEnd type="triangle"/>
          </a:ln>
        </p:spPr>
      </p:sp>
      <p:sp>
        <p:nvSpPr>
          <p:cNvPr id="15" name="pipe-a5"/>
          <p:cNvSpPr/>
          <p:nvPr/>
        </p:nvSpPr>
        <p:spPr>
          <a:xfrm>
            <a:off x="8275320" y="4041648"/>
            <a:ext cx="457200" cy="0"/>
          </a:xfrm>
          <a:prstGeom prst="line">
            <a:avLst/>
          </a:prstGeom>
          <a:noFill/>
          <a:ln w="25400">
            <a:solidFill>
              <a:srgbClr val="7A8793"/>
            </a:solidFill>
            <a:prstDash val="solid"/>
            <a:tailEnd type="triangle"/>
          </a:ln>
        </p:spPr>
      </p:sp>
      <p:sp>
        <p:nvSpPr>
          <p:cNvPr id="16" name="pipe-train"/>
          <p:cNvSpPr/>
          <p:nvPr/>
        </p:nvSpPr>
        <p:spPr>
          <a:xfrm>
            <a:off x="8778240" y="1645920"/>
            <a:ext cx="2862072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69680" y="1645920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Train the model</a:t>
            </a:r>
            <a:endParaRPr lang="en-US" sz="1500" dirty="0"/>
          </a:p>
        </p:txBody>
      </p:sp>
      <p:sp>
        <p:nvSpPr>
          <p:cNvPr id="18" name="pipe-eval"/>
          <p:cNvSpPr/>
          <p:nvPr/>
        </p:nvSpPr>
        <p:spPr>
          <a:xfrm>
            <a:off x="8778240" y="3611880"/>
            <a:ext cx="2862072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869680" y="3611880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Evaluate honestly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Split first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212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Augmented copies of a test example must never leak into training.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4846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Train only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5212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test set measures real data, so it is never augmented.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846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854964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 the fly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549640" y="5212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new random version every epoch, nothing saved to disk.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augmentation works</a:t>
            </a:r>
            <a:endParaRPr lang="en-US" sz="3400" dirty="0"/>
          </a:p>
        </p:txBody>
      </p:sp>
      <p:sp>
        <p:nvSpPr>
          <p:cNvPr id="3" name="why-card-0"/>
          <p:cNvSpPr/>
          <p:nvPr/>
        </p:nvSpPr>
        <p:spPr>
          <a:xfrm>
            <a:off x="548640" y="1508760"/>
            <a:ext cx="3502152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why-icon-0-circle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why-icon-0" descr="LayerGrou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9545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More effective data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0040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epoch sees new variants, so 5k images act like a larger dataset. The copies are correlated, so they are worth less than new real images.</a:t>
            </a:r>
            <a:endParaRPr lang="en-US" sz="1400" dirty="0"/>
          </a:p>
        </p:txBody>
      </p:sp>
      <p:sp>
        <p:nvSpPr>
          <p:cNvPr id="8" name="why-card-1"/>
          <p:cNvSpPr/>
          <p:nvPr/>
        </p:nvSpPr>
        <p:spPr>
          <a:xfrm>
            <a:off x="4297680" y="1508760"/>
            <a:ext cx="3502152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9" name="why-icon-1-circle"/>
          <p:cNvSpPr/>
          <p:nvPr/>
        </p:nvSpPr>
        <p:spPr>
          <a:xfrm>
            <a:off x="461772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why-icon-1" descr="ShieldA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170" y="195453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Encodes invariance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20040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 tells the model what should not matter. An MLP has no built-in sense of shifts or flips, so it has to learn them from examples.</a:t>
            </a:r>
            <a:endParaRPr lang="en-US" sz="1400" dirty="0"/>
          </a:p>
        </p:txBody>
      </p:sp>
      <p:sp>
        <p:nvSpPr>
          <p:cNvPr id="13" name="why-card-2"/>
          <p:cNvSpPr/>
          <p:nvPr/>
        </p:nvSpPr>
        <p:spPr>
          <a:xfrm>
            <a:off x="8046720" y="1508760"/>
            <a:ext cx="3502152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4" name="why-icon-2-circle"/>
          <p:cNvSpPr/>
          <p:nvPr/>
        </p:nvSpPr>
        <p:spPr>
          <a:xfrm>
            <a:off x="836676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why-icon-2" descr="Compress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210" y="195453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Acts as a regularizer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20040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Training accuracy drops, test accuracy holds or rises, and the generalization gap shrinks. Judge it on the test set.</a:t>
            </a:r>
            <a:endParaRPr lang="en-US" sz="1400" dirty="0"/>
          </a:p>
        </p:txBody>
      </p:sp>
      <p:sp>
        <p:nvSpPr>
          <p:cNvPr id="18" name="eda-evidence"/>
          <p:cNvSpPr/>
          <p:nvPr/>
        </p:nvSpPr>
        <p:spPr>
          <a:xfrm>
            <a:off x="548640" y="502920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68680" y="5029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Evidence (Wei &amp; Zou, 2019):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simple text augmentation added about 3 points of accuracy with 500 training sentences, and under 1 point on full datasets. It helps most when data is scarce.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</a:rPr>
              <a:t>PART 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Deep learning begins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From the biological neuron to the perceptron, the AI winters, and the road to 2012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Four decades from an idea to a working network</a:t>
            </a:r>
            <a:endParaRPr lang="en-US" sz="3400" dirty="0"/>
          </a:p>
        </p:txBody>
      </p:sp>
      <p:sp>
        <p:nvSpPr>
          <p:cNvPr id="3" name="timeline-axis"/>
          <p:cNvSpPr/>
          <p:nvPr/>
        </p:nvSpPr>
        <p:spPr>
          <a:xfrm>
            <a:off x="731520" y="3703320"/>
            <a:ext cx="10744200" cy="0"/>
          </a:xfrm>
          <a:prstGeom prst="line">
            <a:avLst/>
          </a:prstGeom>
          <a:noFill/>
          <a:ln w="25400">
            <a:solidFill>
              <a:srgbClr val="7A8793"/>
            </a:solidFill>
            <a:prstDash val="solid"/>
          </a:ln>
        </p:spPr>
      </p:sp>
      <p:sp>
        <p:nvSpPr>
          <p:cNvPr id="4" name="timeline-dot-1943"/>
          <p:cNvSpPr/>
          <p:nvPr/>
        </p:nvSpPr>
        <p:spPr>
          <a:xfrm>
            <a:off x="1389888" y="3584448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imeline-tick-1943"/>
          <p:cNvSpPr/>
          <p:nvPr/>
        </p:nvSpPr>
        <p:spPr>
          <a:xfrm>
            <a:off x="1508760" y="3246120"/>
            <a:ext cx="0" cy="32004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1943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McCulloch &amp; Pitts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Neurons as logic gates</a:t>
            </a:r>
            <a:endParaRPr lang="en-US" sz="1300" dirty="0"/>
          </a:p>
        </p:txBody>
      </p:sp>
      <p:sp>
        <p:nvSpPr>
          <p:cNvPr id="9" name="timeline-dot-1949"/>
          <p:cNvSpPr/>
          <p:nvPr/>
        </p:nvSpPr>
        <p:spPr>
          <a:xfrm>
            <a:off x="2532888" y="3584448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imeline-tick-1949"/>
          <p:cNvSpPr/>
          <p:nvPr/>
        </p:nvSpPr>
        <p:spPr>
          <a:xfrm>
            <a:off x="2651760" y="3840480"/>
            <a:ext cx="0" cy="32004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4592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1949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4617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Hebb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5166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Learning by strengthening connections</a:t>
            </a:r>
            <a:endParaRPr lang="en-US" sz="1300" dirty="0"/>
          </a:p>
        </p:txBody>
      </p:sp>
      <p:sp>
        <p:nvSpPr>
          <p:cNvPr id="14" name="timeline-dot-1958"/>
          <p:cNvSpPr/>
          <p:nvPr/>
        </p:nvSpPr>
        <p:spPr>
          <a:xfrm>
            <a:off x="3675888" y="3584448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imeline-tick-1958"/>
          <p:cNvSpPr/>
          <p:nvPr/>
        </p:nvSpPr>
        <p:spPr>
          <a:xfrm>
            <a:off x="3794760" y="3246120"/>
            <a:ext cx="0" cy="32004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8892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1958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Rosenblatt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perceptron learns its own weights</a:t>
            </a:r>
            <a:endParaRPr lang="en-US" sz="1300" dirty="0"/>
          </a:p>
        </p:txBody>
      </p:sp>
      <p:sp>
        <p:nvSpPr>
          <p:cNvPr id="19" name="timeline-dot-1960"/>
          <p:cNvSpPr/>
          <p:nvPr/>
        </p:nvSpPr>
        <p:spPr>
          <a:xfrm>
            <a:off x="4818888" y="3584448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imeline-tick-1960"/>
          <p:cNvSpPr/>
          <p:nvPr/>
        </p:nvSpPr>
        <p:spPr>
          <a:xfrm>
            <a:off x="4937760" y="3840480"/>
            <a:ext cx="0" cy="32004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1960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4617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Widrow &amp; Hoff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5166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ADALINE and the LMS rule</a:t>
            </a:r>
            <a:endParaRPr lang="en-US" sz="1300" dirty="0"/>
          </a:p>
        </p:txBody>
      </p:sp>
      <p:sp>
        <p:nvSpPr>
          <p:cNvPr id="24" name="timeline-dot-1969"/>
          <p:cNvSpPr/>
          <p:nvPr/>
        </p:nvSpPr>
        <p:spPr>
          <a:xfrm>
            <a:off x="5961888" y="3584448"/>
            <a:ext cx="237744" cy="237744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imeline-tick-1969"/>
          <p:cNvSpPr/>
          <p:nvPr/>
        </p:nvSpPr>
        <p:spPr>
          <a:xfrm>
            <a:off x="6080760" y="3246120"/>
            <a:ext cx="0" cy="32004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7492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1969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Minsky &amp; Papert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"Perceptrons" proves single-layer limits</a:t>
            </a:r>
            <a:endParaRPr lang="en-US" sz="1300" dirty="0"/>
          </a:p>
        </p:txBody>
      </p:sp>
      <p:sp>
        <p:nvSpPr>
          <p:cNvPr id="29" name="timeline-dot-1970s"/>
          <p:cNvSpPr/>
          <p:nvPr/>
        </p:nvSpPr>
        <p:spPr>
          <a:xfrm>
            <a:off x="7104888" y="3584448"/>
            <a:ext cx="237744" cy="237744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imeline-tick-1970s"/>
          <p:cNvSpPr/>
          <p:nvPr/>
        </p:nvSpPr>
        <p:spPr>
          <a:xfrm>
            <a:off x="7223760" y="3840480"/>
            <a:ext cx="0" cy="32004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1970s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4617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AI winter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5166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Funding and interest collapse</a:t>
            </a:r>
            <a:endParaRPr lang="en-US" sz="1300" dirty="0"/>
          </a:p>
        </p:txBody>
      </p:sp>
      <p:sp>
        <p:nvSpPr>
          <p:cNvPr id="34" name="timeline-dot-1974"/>
          <p:cNvSpPr/>
          <p:nvPr/>
        </p:nvSpPr>
        <p:spPr>
          <a:xfrm>
            <a:off x="8247888" y="35844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imeline-tick-1974"/>
          <p:cNvSpPr/>
          <p:nvPr/>
        </p:nvSpPr>
        <p:spPr>
          <a:xfrm>
            <a:off x="8366760" y="3246120"/>
            <a:ext cx="0" cy="32004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6092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1974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736092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Werbos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360920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Backprop in a PhD thesis, largely unnoticed</a:t>
            </a:r>
            <a:endParaRPr lang="en-US" sz="1300" dirty="0"/>
          </a:p>
        </p:txBody>
      </p:sp>
      <p:sp>
        <p:nvSpPr>
          <p:cNvPr id="39" name="timeline-dot-1982"/>
          <p:cNvSpPr/>
          <p:nvPr/>
        </p:nvSpPr>
        <p:spPr>
          <a:xfrm>
            <a:off x="9390888" y="35844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imeline-tick-1982"/>
          <p:cNvSpPr/>
          <p:nvPr/>
        </p:nvSpPr>
        <p:spPr>
          <a:xfrm>
            <a:off x="9509760" y="3840480"/>
            <a:ext cx="0" cy="32004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0392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1982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8503920" y="4617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Hopfield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503920" y="5166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Networks as energy systems</a:t>
            </a:r>
            <a:endParaRPr lang="en-US" sz="1300" dirty="0"/>
          </a:p>
        </p:txBody>
      </p:sp>
      <p:sp>
        <p:nvSpPr>
          <p:cNvPr id="44" name="timeline-dot-1986"/>
          <p:cNvSpPr/>
          <p:nvPr/>
        </p:nvSpPr>
        <p:spPr>
          <a:xfrm>
            <a:off x="10533888" y="35844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timeline-tick-1986"/>
          <p:cNvSpPr/>
          <p:nvPr/>
        </p:nvSpPr>
        <p:spPr>
          <a:xfrm>
            <a:off x="10652760" y="3246120"/>
            <a:ext cx="0" cy="32004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4692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1986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964692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Rumelhart, Hinton &amp; Williams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646920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Backprop trains hidden layers</a:t>
            </a:r>
            <a:endParaRPr lang="en-US" sz="1300" dirty="0"/>
          </a:p>
        </p:txBody>
      </p:sp>
      <p:sp>
        <p:nvSpPr>
          <p:cNvPr id="49" name="legend-Rise"/>
          <p:cNvSpPr/>
          <p:nvPr/>
        </p:nvSpPr>
        <p:spPr>
          <a:xfrm>
            <a:off x="548640" y="6053328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04672" y="5989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Rise</a:t>
            </a:r>
            <a:endParaRPr lang="en-US" sz="1200" dirty="0"/>
          </a:p>
        </p:txBody>
      </p:sp>
      <p:sp>
        <p:nvSpPr>
          <p:cNvPr id="51" name="legend-Fall"/>
          <p:cNvSpPr/>
          <p:nvPr/>
        </p:nvSpPr>
        <p:spPr>
          <a:xfrm>
            <a:off x="2011680" y="6053328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2267712" y="5989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Fall</a:t>
            </a:r>
            <a:endParaRPr lang="en-US" sz="1200" dirty="0"/>
          </a:p>
        </p:txBody>
      </p:sp>
      <p:sp>
        <p:nvSpPr>
          <p:cNvPr id="53" name="legend-Revival"/>
          <p:cNvSpPr/>
          <p:nvPr/>
        </p:nvSpPr>
        <p:spPr>
          <a:xfrm>
            <a:off x="3474720" y="605332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730752" y="5989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Revival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1943 to 1949: neurons as logic, learning as wiring</a:t>
            </a:r>
            <a:endParaRPr lang="en-US" sz="3400" dirty="0"/>
          </a:p>
        </p:txBody>
      </p:sp>
      <p:sp>
        <p:nvSpPr>
          <p:cNvPr id="3" name="early-card-0"/>
          <p:cNvSpPr/>
          <p:nvPr/>
        </p:nvSpPr>
        <p:spPr>
          <a:xfrm>
            <a:off x="548640" y="1508760"/>
            <a:ext cx="5422392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4" name="early-icon-0-circle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early-icon-0" descr="Microchi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9545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1943 · McCulloch &amp; Pitts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logical neuron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8803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Binary threshold units: fire if enough inputs are 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Showed that networks of them can compute logic such as AND, OR and NOT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No learning: a human had to set every weight</a:t>
            </a:r>
            <a:endParaRPr lang="en-US" sz="1600" dirty="0"/>
          </a:p>
        </p:txBody>
      </p:sp>
      <p:sp>
        <p:nvSpPr>
          <p:cNvPr id="9" name="early-card-1"/>
          <p:cNvSpPr/>
          <p:nvPr/>
        </p:nvSpPr>
        <p:spPr>
          <a:xfrm>
            <a:off x="6217920" y="1508760"/>
            <a:ext cx="5422392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0" name="early-icon-1-circle"/>
          <p:cNvSpPr/>
          <p:nvPr/>
        </p:nvSpPr>
        <p:spPr>
          <a:xfrm>
            <a:off x="6537960" y="17830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early-icon-1" descr="Lin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0" y="19545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1949 · Donald Hebb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40664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Organization of Behavior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8803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Connections between neurons that are repeatedly active together grow stronger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The first concrete rule for how a network could learn from experience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Still the intuition behind "weights store what was learned"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a biological neuron to an artificial one</a:t>
            </a:r>
            <a:endParaRPr lang="en-US" sz="3400" dirty="0"/>
          </a:p>
        </p:txBody>
      </p:sp>
      <p:sp>
        <p:nvSpPr>
          <p:cNvPr id="3" name="bio-frame"/>
          <p:cNvSpPr/>
          <p:nvPr/>
        </p:nvSpPr>
        <p:spPr>
          <a:xfrm>
            <a:off x="548640" y="1463040"/>
            <a:ext cx="338328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pic>
        <p:nvPicPr>
          <p:cNvPr id="4" name="blog-bio-neuron" descr="Sketch of a biological neuron: dendrites feed a cell body, which connects to other neur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72768"/>
            <a:ext cx="2743200" cy="3011140"/>
          </a:xfrm>
          <a:prstGeom prst="rect">
            <a:avLst/>
          </a:prstGeom>
        </p:spPr>
      </p:pic>
      <p:sp>
        <p:nvSpPr>
          <p:cNvPr id="5" name="bio-arrow"/>
          <p:cNvSpPr/>
          <p:nvPr/>
        </p:nvSpPr>
        <p:spPr>
          <a:xfrm>
            <a:off x="4114800" y="2926080"/>
            <a:ext cx="685800" cy="4572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6" name="ann-frame"/>
          <p:cNvSpPr/>
          <p:nvPr/>
        </p:nvSpPr>
        <p:spPr>
          <a:xfrm>
            <a:off x="4983480" y="1463040"/>
            <a:ext cx="6656832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pic>
        <p:nvPicPr>
          <p:cNvPr id="7" name="blog-ann" descr="Artificial neuron: inputs x1 to xn with weights, plus bias b, give z, then activation f, then outp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536" y="1554480"/>
            <a:ext cx="5760720" cy="3087532"/>
          </a:xfrm>
          <a:prstGeom prst="rect">
            <a:avLst/>
          </a:prstGeom>
        </p:spPr>
      </p:pic>
      <p:sp>
        <p:nvSpPr>
          <p:cNvPr id="8" name="map-card-0"/>
          <p:cNvSpPr/>
          <p:nvPr/>
        </p:nvSpPr>
        <p:spPr>
          <a:xfrm>
            <a:off x="548640" y="512064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31520" y="5193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Dendrites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5550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→ inputs xᵢ</a:t>
            </a:r>
            <a:endParaRPr lang="en-US" sz="1500" dirty="0"/>
          </a:p>
        </p:txBody>
      </p:sp>
      <p:sp>
        <p:nvSpPr>
          <p:cNvPr id="11" name="map-card-1"/>
          <p:cNvSpPr/>
          <p:nvPr/>
        </p:nvSpPr>
        <p:spPr>
          <a:xfrm>
            <a:off x="3364992" y="512064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547872" y="5193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Connection strength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5550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→ weights wᵢ</a:t>
            </a:r>
            <a:endParaRPr lang="en-US" sz="1500" dirty="0"/>
          </a:p>
        </p:txBody>
      </p:sp>
      <p:sp>
        <p:nvSpPr>
          <p:cNvPr id="14" name="map-card-2"/>
          <p:cNvSpPr/>
          <p:nvPr/>
        </p:nvSpPr>
        <p:spPr>
          <a:xfrm>
            <a:off x="6181344" y="512064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364224" y="5193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Cell body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364224" y="5550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→ z = Σ wᵢxᵢ + b</a:t>
            </a:r>
            <a:endParaRPr lang="en-US" sz="1500" dirty="0"/>
          </a:p>
        </p:txBody>
      </p:sp>
      <p:sp>
        <p:nvSpPr>
          <p:cNvPr id="17" name="map-card-3"/>
          <p:cNvSpPr/>
          <p:nvPr/>
        </p:nvSpPr>
        <p:spPr>
          <a:xfrm>
            <a:off x="8997696" y="512064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180576" y="5193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Fires or not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9180576" y="5550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→ activation f(z)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47914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Figures: Chandra Prakash Bathula, Deep Learning series, Part 2 (Towards AI)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Learning lives in weighted connections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At birth: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relatively few connections in the cerebral cortex.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By about age six: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years of sensory, language, vision and hearing experience have multiplied them.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Teenage years: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unused connections are pruned, because every connection costs energy.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Every experience: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builds its own pathway, with its own weights.</a:t>
            </a:r>
            <a:endParaRPr lang="en-US" sz="1600" dirty="0"/>
          </a:p>
        </p:txBody>
      </p:sp>
      <p:pic>
        <p:nvPicPr>
          <p:cNvPr id="4" name="blog-blog-connection-sweet" descr="Connections formed for a sweet tas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463040"/>
            <a:ext cx="2834640" cy="30740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0" y="458277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Tasting something sweet</a:t>
            </a:r>
            <a:endParaRPr lang="en-US" sz="1300" dirty="0"/>
          </a:p>
        </p:txBody>
      </p:sp>
      <p:pic>
        <p:nvPicPr>
          <p:cNvPr id="6" name="blog-blog-connection-pain" descr="Connections formed for pain from a hot surf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463040"/>
            <a:ext cx="2834640" cy="307401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458277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Touching something hot</a:t>
            </a:r>
            <a:endParaRPr lang="en-US" sz="1300" dirty="0"/>
          </a:p>
        </p:txBody>
      </p:sp>
      <p:sp>
        <p:nvSpPr>
          <p:cNvPr id="8" name="weights-callout"/>
          <p:cNvSpPr/>
          <p:nvPr/>
        </p:nvSpPr>
        <p:spPr>
          <a:xfrm>
            <a:off x="548640" y="512064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6868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Biological learning = weighted connections.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Artificial learning is the same idea in numbers: training adjusts weights so the right inputs light up the right paths.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715000" y="484632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Figures: Chandra Prakash Bathula, Deep Learning series, Part 2 (Towards AI)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1958: the perceptron learns its own weights</a:t>
            </a:r>
            <a:endParaRPr lang="en-US" sz="3400" dirty="0"/>
          </a:p>
        </p:txBody>
      </p:sp>
      <p:sp>
        <p:nvSpPr>
          <p:cNvPr id="3" name="mark1-stat"/>
          <p:cNvSpPr/>
          <p:nvPr/>
        </p:nvSpPr>
        <p:spPr>
          <a:xfrm>
            <a:off x="548640" y="1508760"/>
            <a:ext cx="3291840" cy="452628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17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photocells in a 20 × 20 grid formed the Mark I Perceptron's "retina"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Conceived by Rosenblatt in 1957 at the Cornell Aeronautical Laboratory, shown publicly in 1958 with US Navy funding. Weights were motor-driven potentiometers.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5087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learning rule</a:t>
            </a:r>
            <a:endParaRPr lang="en-US" sz="2000" dirty="0"/>
          </a:p>
        </p:txBody>
      </p:sp>
      <p:sp>
        <p:nvSpPr>
          <p:cNvPr id="8" name="rule-card"/>
          <p:cNvSpPr/>
          <p:nvPr/>
        </p:nvSpPr>
        <p:spPr>
          <a:xfrm>
            <a:off x="4206240" y="2011680"/>
            <a:ext cx="74340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201168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= step(w · x + b)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 ←  w + η (y − ŷ) x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703320"/>
            <a:ext cx="7406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Correct prediction: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y − ŷ = 0, so nothing changes.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Wrong prediction: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the weights move toward the misclassified example.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Convergence theorem (Novikoff, 1962):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if a straight line can separate the classes, this rule is guaranteed to find one in a finite number of updates.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Perceptron vs logistic regression: same z, different last step</a:t>
            </a:r>
            <a:endParaRPr lang="en-US" sz="3400" dirty="0"/>
          </a:p>
        </p:txBody>
      </p:sp>
      <p:sp>
        <p:nvSpPr>
          <p:cNvPr id="3" name="perc-frame"/>
          <p:cNvSpPr/>
          <p:nvPr/>
        </p:nvSpPr>
        <p:spPr>
          <a:xfrm>
            <a:off x="548640" y="1417320"/>
            <a:ext cx="542239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lr-frame"/>
          <p:cNvSpPr/>
          <p:nvPr/>
        </p:nvSpPr>
        <p:spPr>
          <a:xfrm>
            <a:off x="6217920" y="1417320"/>
            <a:ext cx="542239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pic>
        <p:nvPicPr>
          <p:cNvPr id="5" name="blog-perceptron" descr="Perceptron neuron: inputs and weights feed z and a step activation function, output y-h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3566160" cy="2116574"/>
          </a:xfrm>
          <a:prstGeom prst="rect">
            <a:avLst/>
          </a:prstGeom>
        </p:spPr>
      </p:pic>
      <p:pic>
        <p:nvPicPr>
          <p:cNvPr id="6" name="blog-logreg" descr="Logistic regression neuron: inputs, weights and a bias weight feed a sigmoid function, output y-h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08760"/>
            <a:ext cx="3264408" cy="211657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0" y="20116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Perceptron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 switch: 0 or 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9738360" y="201168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Logistic regression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 dimmer: probability</a:t>
            </a:r>
            <a:endParaRPr lang="en-US" sz="1400" dirty="0"/>
          </a:p>
        </p:txBody>
      </p:sp>
      <p:graphicFrame>
        <p:nvGraphicFramePr>
          <p:cNvPr id="22" name="perc-lr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  <a:gridCol w="47823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Perceptron (1957)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Logistic regression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Score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z = W·X + b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z = W·X + b (identical)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step(z): 1 if z ≥ 0, else 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σ(z) = 1 / (1 + e⁻ᶻ), between 0 and 1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Update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w ← w + η (y − step(z)) x, only when wrong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w ← w + η (y − σ(z)) x, every example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Converges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Only if the classes are linearly separable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Convex loss: settles even when classes overlap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6053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Figures: Chandra Prakash Bathula, Deep Learning series, Part 3 (Towards AI)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hype arrived before the results</a:t>
            </a:r>
            <a:endParaRPr lang="en-US" sz="3400" dirty="0"/>
          </a:p>
        </p:txBody>
      </p:sp>
      <p:sp>
        <p:nvSpPr>
          <p:cNvPr id="3" name="hype-icon-circle"/>
          <p:cNvSpPr/>
          <p:nvPr/>
        </p:nvSpPr>
        <p:spPr>
          <a:xfrm>
            <a:off x="548640" y="16002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hype-icon" descr="Newspap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8059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50876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embryo of an electronic computer that [the Navy] expects will be able to walk, talk, see, write, reproduce itself and be conscious of its existence.”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3246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The New York Times, July 8, 1958, reporting on the perceptron demonstration</a:t>
            </a:r>
            <a:endParaRPr lang="en-US" sz="1300" dirty="0"/>
          </a:p>
        </p:txBody>
      </p:sp>
      <p:sp>
        <p:nvSpPr>
          <p:cNvPr id="7" name="hype-then"/>
          <p:cNvSpPr/>
          <p:nvPr/>
        </p:nvSpPr>
        <p:spPr>
          <a:xfrm>
            <a:off x="548640" y="4023360"/>
            <a:ext cx="542239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8" name="hype-now"/>
          <p:cNvSpPr/>
          <p:nvPr/>
        </p:nvSpPr>
        <p:spPr>
          <a:xfrm>
            <a:off x="6217920" y="4023360"/>
            <a:ext cx="542239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Then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617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single trainable layer that separated simple shapes was presented as the start of machine consciousness.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 contemporary issue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4617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Compare today's claims about AI. When promises outrun capability, the backlash can stall a whole field.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the perceptron worked</a:t>
            </a:r>
            <a:endParaRPr lang="en-US" sz="3400" dirty="0"/>
          </a:p>
        </p:txBody>
      </p:sp>
      <p:sp>
        <p:nvSpPr>
          <p:cNvPr id="3" name="worked-card-0"/>
          <p:cNvSpPr/>
          <p:nvPr/>
        </p:nvSpPr>
        <p:spPr>
          <a:xfrm>
            <a:off x="548640" y="1508760"/>
            <a:ext cx="542239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worked-icon-0-circle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worked-icon-0" descr="Ey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002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288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Simple pattern recognition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Learned to tell apart simple shapes and letters on its photocell grid, whenever a straight line could separate the classes.</a:t>
            </a:r>
            <a:endParaRPr lang="en-US" sz="1400" dirty="0"/>
          </a:p>
        </p:txBody>
      </p:sp>
      <p:sp>
        <p:nvSpPr>
          <p:cNvPr id="8" name="worked-card-1"/>
          <p:cNvSpPr/>
          <p:nvPr/>
        </p:nvSpPr>
        <p:spPr>
          <a:xfrm>
            <a:off x="6217920" y="1508760"/>
            <a:ext cx="542239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worked-icon-1-circle"/>
          <p:cNvSpPr/>
          <p:nvPr/>
        </p:nvSpPr>
        <p:spPr>
          <a:xfrm>
            <a:off x="6537960" y="18288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worked-icon-1" descr="WaveSquar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0" y="200025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8288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ADALINE (Widrow &amp; Hoff, 1960)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Trained with the least-mean-squares (delta) rule, which follows the gradient of a squared error. A direct ancestor of gradient descent in neural networks.</a:t>
            </a:r>
            <a:endParaRPr lang="en-US" sz="1400" dirty="0"/>
          </a:p>
        </p:txBody>
      </p:sp>
      <p:sp>
        <p:nvSpPr>
          <p:cNvPr id="13" name="worked-card-2"/>
          <p:cNvSpPr/>
          <p:nvPr/>
        </p:nvSpPr>
        <p:spPr>
          <a:xfrm>
            <a:off x="548640" y="3840480"/>
            <a:ext cx="542239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worked-icon-2-circle"/>
          <p:cNvSpPr/>
          <p:nvPr/>
        </p:nvSpPr>
        <p:spPr>
          <a:xfrm>
            <a:off x="868680" y="41605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worked-icon-2" descr="Phone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33197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4160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First real-world deployment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461772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MADALINE, a network of ADALINE units, was used to cancel echoes on telephone lines. Adaptive filters descended from this work are still in use.</a:t>
            </a:r>
            <a:endParaRPr lang="en-US" sz="1400" dirty="0"/>
          </a:p>
        </p:txBody>
      </p:sp>
      <p:sp>
        <p:nvSpPr>
          <p:cNvPr id="18" name="worked-card-3"/>
          <p:cNvSpPr/>
          <p:nvPr/>
        </p:nvSpPr>
        <p:spPr>
          <a:xfrm>
            <a:off x="6217920" y="3840480"/>
            <a:ext cx="542239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worked-icon-3-circle"/>
          <p:cNvSpPr/>
          <p:nvPr/>
        </p:nvSpPr>
        <p:spPr>
          <a:xfrm>
            <a:off x="6537960" y="41605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worked-icon-3" descr="CheckDoub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10" y="433197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52360" y="4160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mathematical guarantee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452360" y="461772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convergence theorem gave learning machines a proof, not only demonstrations: separable data is always learned.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it failed</a:t>
            </a:r>
            <a:endParaRPr lang="en-US" sz="3400" dirty="0"/>
          </a:p>
        </p:txBody>
      </p:sp>
      <p:sp>
        <p:nvSpPr>
          <p:cNvPr id="3" name="xor-card"/>
          <p:cNvSpPr/>
          <p:nvPr/>
        </p:nvSpPr>
        <p:spPr>
          <a:xfrm>
            <a:off x="548640" y="1508760"/>
            <a:ext cx="4206240" cy="452628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XOR: no single line works</a:t>
            </a:r>
            <a:endParaRPr lang="en-US" sz="1700" dirty="0"/>
          </a:p>
        </p:txBody>
      </p:sp>
      <p:sp>
        <p:nvSpPr>
          <p:cNvPr id="5" name="xor-plot"/>
          <p:cNvSpPr/>
          <p:nvPr/>
        </p:nvSpPr>
        <p:spPr>
          <a:xfrm>
            <a:off x="1234440" y="23317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6" name="xor-pt-00"/>
          <p:cNvSpPr/>
          <p:nvPr/>
        </p:nvSpPr>
        <p:spPr>
          <a:xfrm>
            <a:off x="1490472" y="4416552"/>
            <a:ext cx="402336" cy="40233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335C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4855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(0,0)</a:t>
            </a:r>
            <a:endParaRPr lang="en-US" sz="1100" dirty="0"/>
          </a:p>
        </p:txBody>
      </p:sp>
      <p:sp>
        <p:nvSpPr>
          <p:cNvPr id="8" name="xor-pt-11"/>
          <p:cNvSpPr/>
          <p:nvPr/>
        </p:nvSpPr>
        <p:spPr>
          <a:xfrm>
            <a:off x="3319272" y="2587752"/>
            <a:ext cx="402336" cy="40233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335C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63240" y="3026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(1,1)</a:t>
            </a:r>
            <a:endParaRPr lang="en-US" sz="1100" dirty="0"/>
          </a:p>
        </p:txBody>
      </p:sp>
      <p:sp>
        <p:nvSpPr>
          <p:cNvPr id="10" name="xor-pt-01"/>
          <p:cNvSpPr/>
          <p:nvPr/>
        </p:nvSpPr>
        <p:spPr>
          <a:xfrm>
            <a:off x="1490472" y="2587752"/>
            <a:ext cx="402336" cy="402336"/>
          </a:xfrm>
          <a:prstGeom prst="ellipse">
            <a:avLst/>
          </a:prstGeom>
          <a:solidFill>
            <a:srgbClr val="E09F3E"/>
          </a:solidFill>
          <a:ln w="31750">
            <a:solidFill>
              <a:srgbClr val="E09F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3026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(0,1)</a:t>
            </a:r>
            <a:endParaRPr lang="en-US" sz="1100" dirty="0"/>
          </a:p>
        </p:txBody>
      </p:sp>
      <p:sp>
        <p:nvSpPr>
          <p:cNvPr id="12" name="xor-pt-10"/>
          <p:cNvSpPr/>
          <p:nvPr/>
        </p:nvSpPr>
        <p:spPr>
          <a:xfrm>
            <a:off x="3319272" y="4416552"/>
            <a:ext cx="402336" cy="402336"/>
          </a:xfrm>
          <a:prstGeom prst="ellipse">
            <a:avLst/>
          </a:prstGeom>
          <a:solidFill>
            <a:srgbClr val="E09F3E"/>
          </a:solidFill>
          <a:ln w="31750">
            <a:solidFill>
              <a:srgbClr val="E09F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4855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(1,0)</a:t>
            </a:r>
            <a:endParaRPr lang="en-US" sz="1100" dirty="0"/>
          </a:p>
        </p:txBody>
      </p:sp>
      <p:sp>
        <p:nvSpPr>
          <p:cNvPr id="14" name="xor-try"/>
          <p:cNvSpPr/>
          <p:nvPr/>
        </p:nvSpPr>
        <p:spPr>
          <a:xfrm>
            <a:off x="1417320" y="2697480"/>
            <a:ext cx="2377440" cy="2011680"/>
          </a:xfrm>
          <a:prstGeom prst="line">
            <a:avLst/>
          </a:prstGeom>
          <a:noFill/>
          <a:ln w="25400">
            <a:solidFill>
              <a:srgbClr val="9E2A2B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440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● output 1    ○ output 0</a:t>
            </a:r>
            <a:endParaRPr lang="en-US" sz="1200" dirty="0"/>
          </a:p>
        </p:txBody>
      </p:sp>
      <p:sp>
        <p:nvSpPr>
          <p:cNvPr id="16" name="fail-icon-0-circle"/>
          <p:cNvSpPr/>
          <p:nvPr/>
        </p:nvSpPr>
        <p:spPr>
          <a:xfrm>
            <a:off x="5120640" y="1554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fail-icon-0" descr="Tim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4940" y="1668780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760720" y="1508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XOR and parity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760720" y="18745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single straight line separates the classes, so a single-layer perceptron cannot learn them at all.</a:t>
            </a:r>
            <a:endParaRPr lang="en-US" sz="1400" dirty="0"/>
          </a:p>
        </p:txBody>
      </p:sp>
      <p:sp>
        <p:nvSpPr>
          <p:cNvPr id="20" name="fail-icon-1-circle"/>
          <p:cNvSpPr/>
          <p:nvPr/>
        </p:nvSpPr>
        <p:spPr>
          <a:xfrm>
            <a:off x="5120640" y="2697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fail-icon-1" descr="Time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40" y="2811780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760720" y="2651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Connectedness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5760720" y="30175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Minsky &amp; Papert proved that perceptrons whose units each see only a small patch cannot tell whether a shape is connected.</a:t>
            </a:r>
            <a:endParaRPr lang="en-US" sz="1400" dirty="0"/>
          </a:p>
        </p:txBody>
      </p:sp>
      <p:sp>
        <p:nvSpPr>
          <p:cNvPr id="24" name="fail-icon-2-circle"/>
          <p:cNvSpPr/>
          <p:nvPr/>
        </p:nvSpPr>
        <p:spPr>
          <a:xfrm>
            <a:off x="5120640" y="3840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fail-icon-2" descr="Time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40" y="3954780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760720" y="3794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Hidden layers could not be trained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5760720" y="41605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credit assignment problem: when the output is wrong, which hidden unit is to blame? There was no rule for that.</a:t>
            </a:r>
            <a:endParaRPr lang="en-US" sz="1400" dirty="0"/>
          </a:p>
        </p:txBody>
      </p:sp>
      <p:sp>
        <p:nvSpPr>
          <p:cNvPr id="28" name="fail-icon-3-circle"/>
          <p:cNvSpPr/>
          <p:nvPr/>
        </p:nvSpPr>
        <p:spPr>
          <a:xfrm>
            <a:off x="5120640" y="4983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9" name="fail-icon-3" descr="Time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509778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760720" y="4937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gradient to follow</a:t>
            </a:r>
            <a:endParaRPr lang="en-US" sz="1700" dirty="0"/>
          </a:p>
        </p:txBody>
      </p:sp>
      <p:sp>
        <p:nvSpPr>
          <p:cNvPr id="31" name="Text 25"/>
          <p:cNvSpPr txBox="1"/>
          <p:nvPr/>
        </p:nvSpPr>
        <p:spPr>
          <a:xfrm>
            <a:off x="5760720" y="53035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step function is flat almost everywhere, so calculus gives no direction for improvement.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1969 to the early 1980s: the first AI winter</a:t>
            </a:r>
            <a:endParaRPr lang="en-US" sz="3400" dirty="0"/>
          </a:p>
        </p:txBody>
      </p:sp>
      <p:sp>
        <p:nvSpPr>
          <p:cNvPr id="3" name="winter-card"/>
          <p:cNvSpPr/>
          <p:nvPr/>
        </p:nvSpPr>
        <p:spPr>
          <a:xfrm>
            <a:off x="548640" y="1508760"/>
            <a:ext cx="3291840" cy="452628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4" name="winter-icon-circle"/>
          <p:cNvSpPr/>
          <p:nvPr/>
        </p:nvSpPr>
        <p:spPr>
          <a:xfrm>
            <a:off x="1508760" y="201168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winter-icon" descr="Snowflak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235458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657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 years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389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of sharply reduced neural network research and funding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15087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book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18745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"Perceptrons" (Minsky &amp; Papert, 1969) proved hard limits for single-layer perceptrons. It was widely read as a verdict on neural networks in general.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26517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money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30175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 the US, the Mansfield Amendment (1969) pushed military research funding toward direct mission needs. In the UK, the Lighthill Report (1973) led to deep cuts across AI.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37947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people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41605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Rosenblatt died in 1971. Neural network work continued in only a handful of labs, often under other names such as adaptive systems or pattern recognition.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206240" y="49377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The lesson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206240" y="53035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Overpromising, plus a real limitation, plus a famous proof, cost the field more than a decade.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quiet years planted the seeds of the revival</a:t>
            </a:r>
            <a:endParaRPr lang="en-US" sz="3400" dirty="0"/>
          </a:p>
        </p:txBody>
      </p:sp>
      <p:sp>
        <p:nvSpPr>
          <p:cNvPr id="3" name="seed-card-1974"/>
          <p:cNvSpPr/>
          <p:nvPr/>
        </p:nvSpPr>
        <p:spPr>
          <a:xfrm>
            <a:off x="548640" y="1508760"/>
            <a:ext cx="2606040" cy="45262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1974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Paul Werbos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Describes training networks by propagating error derivatives backward (backprop) in his Harvard PhD thesis. Few notice.</a:t>
            </a:r>
            <a:endParaRPr lang="en-US" sz="1400" dirty="0"/>
          </a:p>
        </p:txBody>
      </p:sp>
      <p:sp>
        <p:nvSpPr>
          <p:cNvPr id="7" name="seed-card-1980"/>
          <p:cNvSpPr/>
          <p:nvPr/>
        </p:nvSpPr>
        <p:spPr>
          <a:xfrm>
            <a:off x="3383280" y="1508760"/>
            <a:ext cx="2606040" cy="45262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1737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5603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Kunihiko Fukushima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29184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Neocognitron: a layered, shift-tolerant vision network and an ancestor of today's CNNs.</a:t>
            </a:r>
            <a:endParaRPr lang="en-US" sz="1400" dirty="0"/>
          </a:p>
        </p:txBody>
      </p:sp>
      <p:sp>
        <p:nvSpPr>
          <p:cNvPr id="11" name="seed-card-1982"/>
          <p:cNvSpPr/>
          <p:nvPr/>
        </p:nvSpPr>
        <p:spPr>
          <a:xfrm>
            <a:off x="6217920" y="1508760"/>
            <a:ext cx="2606040" cy="45262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1737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John Hopfield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29184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Recurrent networks as energy-minimizing systems. Brings physicists and new attention to the field.</a:t>
            </a:r>
            <a:endParaRPr lang="en-US" sz="1400" dirty="0"/>
          </a:p>
        </p:txBody>
      </p:sp>
      <p:sp>
        <p:nvSpPr>
          <p:cNvPr id="15" name="seed-card-1986"/>
          <p:cNvSpPr/>
          <p:nvPr/>
        </p:nvSpPr>
        <p:spPr>
          <a:xfrm>
            <a:off x="9052560" y="1508760"/>
            <a:ext cx="2606040" cy="452628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0" y="1737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1986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5603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Rumelhart, Hinton &amp; Williams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29184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"Learning representations by back-propagating errors" (Nature) and the PDP volumes: hidden layers can be trained.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stop at one neuron?</a:t>
            </a:r>
            <a:endParaRPr lang="en-US" sz="3400" dirty="0"/>
          </a:p>
        </p:txBody>
      </p:sp>
      <p:sp>
        <p:nvSpPr>
          <p:cNvPr id="3" name="network-frame"/>
          <p:cNvSpPr/>
          <p:nvPr/>
        </p:nvSpPr>
        <p:spPr>
          <a:xfrm>
            <a:off x="2118208" y="1371600"/>
            <a:ext cx="7955280" cy="3153583"/>
          </a:xfrm>
          <a:prstGeom prst="roundRect">
            <a:avLst>
              <a:gd name="adj" fmla="val 3479"/>
            </a:avLst>
          </a:prstGeom>
          <a:solidFill>
            <a:schemeClr val="bg2"/>
          </a:solidFill>
          <a:ln/>
        </p:spPr>
      </p:sp>
      <p:pic>
        <p:nvPicPr>
          <p:cNvPr id="4" name="blog-network" descr="Left: biological structure of interconnected neurons. Right: inspired network with an input layer, two hidden layers and an output lay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5368" y="1481328"/>
            <a:ext cx="7680960" cy="292498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89191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Figure: Chandra Prakash Bathula, Deep Learning series, Part 1 (Towards AI)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954951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 neuron never works alone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38999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 the brain, every neuron sits in a dense web of connections. So researchers asked: why limit the model to one?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4954951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1969: one layer hits a wall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5338999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single perceptron draws one straight line, so XOR is impossible. Layers can solve it, but nobody could train them.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4954951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1986: backprop trains the layers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5338999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Rumelhart, Hinton and Williams used the chain rule to send the error back through every hidden layer.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changed between 1958 and 1986</a:t>
            </a:r>
            <a:endParaRPr lang="en-US" sz="3400" dirty="0"/>
          </a:p>
        </p:txBody>
      </p:sp>
      <p:graphicFrame>
        <p:nvGraphicFramePr>
          <p:cNvPr id="29" name="compa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Perceptron (1958)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MLP + backprop (1986)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Trainable layers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One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Several, including hidden layers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Activation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Step: no useful gradient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Sigmoid: smooth and differentiable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Learning rule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Error correction on output weights only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Chain rule sends the error back to every weight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Features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Designed by hand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Learned as internal representations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XOR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Impossible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</a:rPr>
                        <a:t>Solved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mpare-callout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neuron barely changed. What changed was a differentiable activation and a way to assign blame to hidden units.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After 1986: deeper networks broke backprop, then came 2012</a:t>
            </a:r>
            <a:endParaRPr lang="en-US" sz="3400" dirty="0"/>
          </a:p>
        </p:txBody>
      </p:sp>
      <p:sp>
        <p:nvSpPr>
          <p:cNvPr id="3" name="depth-frame"/>
          <p:cNvSpPr/>
          <p:nvPr/>
        </p:nvSpPr>
        <p:spPr>
          <a:xfrm>
            <a:off x="548640" y="1417320"/>
            <a:ext cx="7772400" cy="2624300"/>
          </a:xfrm>
          <a:prstGeom prst="roundRect">
            <a:avLst>
              <a:gd name="adj" fmla="val 4181"/>
            </a:avLst>
          </a:prstGeom>
          <a:solidFill>
            <a:schemeClr val="bg2"/>
          </a:solidFill>
          <a:ln/>
        </p:spPr>
      </p:sp>
      <p:pic>
        <p:nvPicPr>
          <p:cNvPr id="4" name="blog-depth" descr="A 2-layered network and an N-layered network: as layers increase, backpropagation fa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27048"/>
            <a:ext cx="7498080" cy="23957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1056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Figure: Chandra Prakash Bathula, Deep Learning series, Part 1 (Towards AI)</a:t>
            </a:r>
            <a:endParaRPr lang="en-US" sz="1000" dirty="0"/>
          </a:p>
        </p:txBody>
      </p:sp>
      <p:sp>
        <p:nvSpPr>
          <p:cNvPr id="6" name="vanish-card"/>
          <p:cNvSpPr/>
          <p:nvPr/>
        </p:nvSpPr>
        <p:spPr>
          <a:xfrm>
            <a:off x="8595360" y="1417320"/>
            <a:ext cx="3044952" cy="2624300"/>
          </a:xfrm>
          <a:prstGeom prst="roundRect">
            <a:avLst>
              <a:gd name="adj" fmla="val 4181"/>
            </a:avLst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778240" y="15087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10⁻⁶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2240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gradient left after 10 sigmoid layers (0.25 per layer, at best)</a:t>
            </a:r>
            <a:endParaRPr lang="en-US" sz="1300" dirty="0"/>
          </a:p>
        </p:txBody>
      </p:sp>
      <p:sp>
        <p:nvSpPr>
          <p:cNvPr id="9" name="after-card-0"/>
          <p:cNvSpPr/>
          <p:nvPr/>
        </p:nvSpPr>
        <p:spPr>
          <a:xfrm>
            <a:off x="548640" y="4498820"/>
            <a:ext cx="3520440" cy="1581940"/>
          </a:xfrm>
          <a:prstGeom prst="roundRect">
            <a:avLst>
              <a:gd name="adj" fmla="val 6936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46359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1980s to 2000s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0017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Second slump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3675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Too little data and compute. Promises outran results, and SVMs, random forests and boosted trees took over.</a:t>
            </a:r>
            <a:endParaRPr lang="en-US" sz="1300" dirty="0"/>
          </a:p>
        </p:txBody>
      </p:sp>
      <p:sp>
        <p:nvSpPr>
          <p:cNvPr id="13" name="after-card-1"/>
          <p:cNvSpPr/>
          <p:nvPr/>
        </p:nvSpPr>
        <p:spPr>
          <a:xfrm>
            <a:off x="4297680" y="4498820"/>
            <a:ext cx="3520440" cy="1581940"/>
          </a:xfrm>
          <a:prstGeom prst="roundRect">
            <a:avLst>
              <a:gd name="adj" fmla="val 6936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26280" y="46359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50017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Deep belief nets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53675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Hinton and colleagues train deep networks one layer at a time, laying the groundwork for modern deep learning.</a:t>
            </a:r>
            <a:endParaRPr lang="en-US" sz="1300" dirty="0"/>
          </a:p>
        </p:txBody>
      </p:sp>
      <p:sp>
        <p:nvSpPr>
          <p:cNvPr id="17" name="after-card-2"/>
          <p:cNvSpPr/>
          <p:nvPr/>
        </p:nvSpPr>
        <p:spPr>
          <a:xfrm>
            <a:off x="8046720" y="4498820"/>
            <a:ext cx="3520440" cy="1581940"/>
          </a:xfrm>
          <a:prstGeom prst="roundRect">
            <a:avLst>
              <a:gd name="adj" fmla="val 6936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75320" y="46359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50017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ImageNet moment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53675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AlexNet, trained on GPUs with ~1.2 million labelled images, beats every traditional vision method by a wide margin.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</a:rPr>
              <a:t>PART 4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Finally, just an MLP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Stack perceptrons, put a non-linearity in between, train with backprop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Two hidden units solve XOR</a:t>
            </a:r>
            <a:endParaRPr lang="en-US" sz="3400" dirty="0"/>
          </a:p>
        </p:txBody>
      </p:sp>
      <p:sp>
        <p:nvSpPr>
          <p:cNvPr id="3" name="e-x1h1"/>
          <p:cNvSpPr/>
          <p:nvPr/>
        </p:nvSpPr>
        <p:spPr>
          <a:xfrm>
            <a:off x="1691640" y="2263140"/>
            <a:ext cx="1417320" cy="0"/>
          </a:xfrm>
          <a:prstGeom prst="line">
            <a:avLst/>
          </a:prstGeom>
          <a:noFill/>
          <a:ln w="19050">
            <a:solidFill>
              <a:srgbClr val="7A8793"/>
            </a:solidFill>
            <a:prstDash val="solid"/>
          </a:ln>
        </p:spPr>
      </p:sp>
      <p:sp>
        <p:nvSpPr>
          <p:cNvPr id="4" name="e-x1h2"/>
          <p:cNvSpPr/>
          <p:nvPr/>
        </p:nvSpPr>
        <p:spPr>
          <a:xfrm>
            <a:off x="1691640" y="2263140"/>
            <a:ext cx="1417320" cy="1920240"/>
          </a:xfrm>
          <a:prstGeom prst="line">
            <a:avLst/>
          </a:prstGeom>
          <a:noFill/>
          <a:ln w="19050">
            <a:solidFill>
              <a:srgbClr val="7A8793"/>
            </a:solidFill>
            <a:prstDash val="solid"/>
          </a:ln>
        </p:spPr>
      </p:sp>
      <p:sp>
        <p:nvSpPr>
          <p:cNvPr id="5" name="e-x2h1"/>
          <p:cNvSpPr/>
          <p:nvPr/>
        </p:nvSpPr>
        <p:spPr>
          <a:xfrm flipV="1">
            <a:off x="1691640" y="2263140"/>
            <a:ext cx="1417320" cy="1920240"/>
          </a:xfrm>
          <a:prstGeom prst="line">
            <a:avLst/>
          </a:prstGeom>
          <a:noFill/>
          <a:ln w="19050">
            <a:solidFill>
              <a:srgbClr val="7A8793"/>
            </a:solidFill>
            <a:prstDash val="solid"/>
          </a:ln>
        </p:spPr>
      </p:sp>
      <p:sp>
        <p:nvSpPr>
          <p:cNvPr id="6" name="e-x2h2"/>
          <p:cNvSpPr/>
          <p:nvPr/>
        </p:nvSpPr>
        <p:spPr>
          <a:xfrm>
            <a:off x="1691640" y="4183380"/>
            <a:ext cx="1417320" cy="0"/>
          </a:xfrm>
          <a:prstGeom prst="line">
            <a:avLst/>
          </a:prstGeom>
          <a:noFill/>
          <a:ln w="19050">
            <a:solidFill>
              <a:srgbClr val="7A8793"/>
            </a:solidFill>
            <a:prstDash val="solid"/>
          </a:ln>
        </p:spPr>
      </p:sp>
      <p:sp>
        <p:nvSpPr>
          <p:cNvPr id="7" name="e-h1y"/>
          <p:cNvSpPr/>
          <p:nvPr/>
        </p:nvSpPr>
        <p:spPr>
          <a:xfrm>
            <a:off x="3977640" y="2263140"/>
            <a:ext cx="1417320" cy="960120"/>
          </a:xfrm>
          <a:prstGeom prst="line">
            <a:avLst/>
          </a:prstGeom>
          <a:noFill/>
          <a:ln w="19050">
            <a:solidFill>
              <a:srgbClr val="7A8793"/>
            </a:solidFill>
            <a:prstDash val="solid"/>
          </a:ln>
        </p:spPr>
      </p:sp>
      <p:sp>
        <p:nvSpPr>
          <p:cNvPr id="8" name="e-h2y"/>
          <p:cNvSpPr/>
          <p:nvPr/>
        </p:nvSpPr>
        <p:spPr>
          <a:xfrm flipV="1">
            <a:off x="3977640" y="3223260"/>
            <a:ext cx="1417320" cy="960120"/>
          </a:xfrm>
          <a:prstGeom prst="line">
            <a:avLst/>
          </a:prstGeom>
          <a:noFill/>
          <a:ln w="19050">
            <a:solidFill>
              <a:srgbClr val="7A8793"/>
            </a:solidFill>
            <a:prstDash val="solid"/>
          </a:ln>
        </p:spPr>
      </p:sp>
      <p:sp>
        <p:nvSpPr>
          <p:cNvPr id="9" name="n-x1"/>
          <p:cNvSpPr/>
          <p:nvPr/>
        </p:nvSpPr>
        <p:spPr>
          <a:xfrm>
            <a:off x="822960" y="1828800"/>
            <a:ext cx="868680" cy="8686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x₁</a:t>
            </a:r>
            <a:endParaRPr lang="en-US" sz="1600" dirty="0"/>
          </a:p>
        </p:txBody>
      </p:sp>
      <p:sp>
        <p:nvSpPr>
          <p:cNvPr id="11" name="n-x2"/>
          <p:cNvSpPr/>
          <p:nvPr/>
        </p:nvSpPr>
        <p:spPr>
          <a:xfrm>
            <a:off x="822960" y="3749040"/>
            <a:ext cx="868680" cy="8686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749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x₂</a:t>
            </a:r>
            <a:endParaRPr lang="en-US" sz="1600" dirty="0"/>
          </a:p>
        </p:txBody>
      </p:sp>
      <p:sp>
        <p:nvSpPr>
          <p:cNvPr id="13" name="n-h1"/>
          <p:cNvSpPr/>
          <p:nvPr/>
        </p:nvSpPr>
        <p:spPr>
          <a:xfrm>
            <a:off x="3108960" y="182880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10896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h₁</a:t>
            </a:r>
            <a:endParaRPr lang="en-US" sz="1600" dirty="0"/>
          </a:p>
        </p:txBody>
      </p:sp>
      <p:sp>
        <p:nvSpPr>
          <p:cNvPr id="15" name="n-h2"/>
          <p:cNvSpPr/>
          <p:nvPr/>
        </p:nvSpPr>
        <p:spPr>
          <a:xfrm>
            <a:off x="3108960" y="374904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108960" y="3749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h₂</a:t>
            </a:r>
            <a:endParaRPr lang="en-US" sz="1600" dirty="0"/>
          </a:p>
        </p:txBody>
      </p:sp>
      <p:sp>
        <p:nvSpPr>
          <p:cNvPr id="17" name="n-y"/>
          <p:cNvSpPr/>
          <p:nvPr/>
        </p:nvSpPr>
        <p:spPr>
          <a:xfrm>
            <a:off x="5394960" y="27889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94960" y="2788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14173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46634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AND</a:t>
            </a:r>
            <a:endParaRPr lang="en-US" sz="1300" dirty="0"/>
          </a:p>
        </p:txBody>
      </p:sp>
      <p:sp>
        <p:nvSpPr>
          <p:cNvPr id="21" name="xor-eq"/>
          <p:cNvSpPr/>
          <p:nvPr/>
        </p:nvSpPr>
        <p:spPr>
          <a:xfrm>
            <a:off x="548640" y="5074920"/>
            <a:ext cx="58521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074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 = step(x₁ + x₂ − 0.5)     h₂ = step(x₁ + x₂ − 1.5)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step(h₁ − h₂ − 0.5)     "OR, but not AND"</a:t>
            </a:r>
            <a:endParaRPr lang="en-US" sz="1500" dirty="0"/>
          </a:p>
        </p:txBody>
      </p:sp>
      <p:graphicFrame>
        <p:nvGraphicFramePr>
          <p:cNvPr id="32" name="xor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508760"/>
          <a:ext cx="478231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1051560"/>
                <a:gridCol w="1078992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x₁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x₂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h₁ (OR)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h₂ (AND)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y = XOR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6858000" y="4251960"/>
            <a:ext cx="4782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Each hidden unit draws one straight line. The output unit combines the two lines into a region a single perceptron could never draw. These are exactly the 1958 step neurons, just stacked.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Today's MLP: 784 → 128 → 64 → 10</a:t>
            </a:r>
            <a:endParaRPr lang="en-US" sz="3400" dirty="0"/>
          </a:p>
        </p:txBody>
      </p:sp>
      <p:sp>
        <p:nvSpPr>
          <p:cNvPr id="3" name="layer-0"/>
          <p:cNvSpPr/>
          <p:nvPr/>
        </p:nvSpPr>
        <p:spPr>
          <a:xfrm>
            <a:off x="731520" y="173736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784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Input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74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28 × 28 pixels, flattened</a:t>
            </a:r>
            <a:endParaRPr lang="en-US" sz="1300" dirty="0"/>
          </a:p>
        </p:txBody>
      </p:sp>
      <p:sp>
        <p:nvSpPr>
          <p:cNvPr id="7" name="layer-1"/>
          <p:cNvSpPr/>
          <p:nvPr/>
        </p:nvSpPr>
        <p:spPr>
          <a:xfrm>
            <a:off x="3657600" y="2103120"/>
            <a:ext cx="1554480" cy="219456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4389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Hidden 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ReLU</a:t>
            </a:r>
            <a:endParaRPr lang="en-US" sz="1300" dirty="0"/>
          </a:p>
        </p:txBody>
      </p:sp>
      <p:sp>
        <p:nvSpPr>
          <p:cNvPr id="11" name="layer-2"/>
          <p:cNvSpPr/>
          <p:nvPr/>
        </p:nvSpPr>
        <p:spPr>
          <a:xfrm>
            <a:off x="6583680" y="2468880"/>
            <a:ext cx="155448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Hidden 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4343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ReLU</a:t>
            </a:r>
            <a:endParaRPr lang="en-US" sz="1300" dirty="0"/>
          </a:p>
        </p:txBody>
      </p:sp>
      <p:sp>
        <p:nvSpPr>
          <p:cNvPr id="15" name="layer-3"/>
          <p:cNvSpPr/>
          <p:nvPr/>
        </p:nvSpPr>
        <p:spPr>
          <a:xfrm>
            <a:off x="9509760" y="2788920"/>
            <a:ext cx="155448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0976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Output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logits, one per digit</a:t>
            </a:r>
            <a:endParaRPr lang="en-US" sz="1300" dirty="0"/>
          </a:p>
        </p:txBody>
      </p:sp>
      <p:sp>
        <p:nvSpPr>
          <p:cNvPr id="19" name="fc-arrow-0"/>
          <p:cNvSpPr/>
          <p:nvPr/>
        </p:nvSpPr>
        <p:spPr>
          <a:xfrm>
            <a:off x="2331720" y="3200400"/>
            <a:ext cx="1280160" cy="0"/>
          </a:xfrm>
          <a:prstGeom prst="line">
            <a:avLst/>
          </a:prstGeom>
          <a:noFill/>
          <a:ln w="25400">
            <a:solidFill>
              <a:srgbClr val="7A8793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331720" y="2514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fc1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28163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100,480 params</a:t>
            </a:r>
            <a:endParaRPr lang="en-US" sz="1300" dirty="0"/>
          </a:p>
        </p:txBody>
      </p:sp>
      <p:sp>
        <p:nvSpPr>
          <p:cNvPr id="22" name="fc-arrow-1"/>
          <p:cNvSpPr/>
          <p:nvPr/>
        </p:nvSpPr>
        <p:spPr>
          <a:xfrm>
            <a:off x="5257800" y="3200400"/>
            <a:ext cx="1280160" cy="0"/>
          </a:xfrm>
          <a:prstGeom prst="line">
            <a:avLst/>
          </a:prstGeom>
          <a:noFill/>
          <a:ln w="25400">
            <a:solidFill>
              <a:srgbClr val="7A8793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257800" y="2514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fc2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28163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8,256 params</a:t>
            </a:r>
            <a:endParaRPr lang="en-US" sz="1300" dirty="0"/>
          </a:p>
        </p:txBody>
      </p:sp>
      <p:sp>
        <p:nvSpPr>
          <p:cNvPr id="25" name="fc-arrow-2"/>
          <p:cNvSpPr/>
          <p:nvPr/>
        </p:nvSpPr>
        <p:spPr>
          <a:xfrm>
            <a:off x="8183880" y="3200400"/>
            <a:ext cx="1280160" cy="0"/>
          </a:xfrm>
          <a:prstGeom prst="line">
            <a:avLst/>
          </a:prstGeom>
          <a:noFill/>
          <a:ln w="25400">
            <a:solidFill>
              <a:srgbClr val="7A8793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8183880" y="2514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fc3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28163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650 params</a:t>
            </a:r>
            <a:endParaRPr lang="en-US" sz="1300" dirty="0"/>
          </a:p>
        </p:txBody>
      </p:sp>
      <p:sp>
        <p:nvSpPr>
          <p:cNvPr id="28" name="mlp-total"/>
          <p:cNvSpPr/>
          <p:nvPr/>
        </p:nvSpPr>
        <p:spPr>
          <a:xfrm>
            <a:off x="548640" y="5577840"/>
            <a:ext cx="11091672" cy="594360"/>
          </a:xfrm>
          <a:prstGeom prst="roundRect">
            <a:avLst>
              <a:gd name="adj" fmla="val 18462"/>
            </a:avLst>
          </a:prstGeom>
          <a:solidFill>
            <a:schemeClr val="tx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5577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109,386 parameters in total.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Softmax is applied inside CrossEntropyLoss, so the model outputs raw logits.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an MLP still cannot see</a:t>
            </a:r>
            <a:endParaRPr lang="en-US" sz="3400" dirty="0"/>
          </a:p>
        </p:txBody>
      </p:sp>
      <p:sp>
        <p:nvSpPr>
          <p:cNvPr id="3" name="grid-0-0"/>
          <p:cNvSpPr/>
          <p:nvPr/>
        </p:nvSpPr>
        <p:spPr>
          <a:xfrm>
            <a:off x="822960" y="1828800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" name="grid-0-1"/>
          <p:cNvSpPr/>
          <p:nvPr/>
        </p:nvSpPr>
        <p:spPr>
          <a:xfrm>
            <a:off x="1207008" y="1828800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" name="grid-0-2"/>
          <p:cNvSpPr/>
          <p:nvPr/>
        </p:nvSpPr>
        <p:spPr>
          <a:xfrm>
            <a:off x="1591056" y="1828800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6" name="grid-0-3"/>
          <p:cNvSpPr/>
          <p:nvPr/>
        </p:nvSpPr>
        <p:spPr>
          <a:xfrm>
            <a:off x="1975104" y="1828800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7" name="grid-0-4"/>
          <p:cNvSpPr/>
          <p:nvPr/>
        </p:nvSpPr>
        <p:spPr>
          <a:xfrm>
            <a:off x="2359152" y="1828800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8" name="grid-1-0"/>
          <p:cNvSpPr/>
          <p:nvPr/>
        </p:nvSpPr>
        <p:spPr>
          <a:xfrm>
            <a:off x="822960" y="2212848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9" name="grid-1-1"/>
          <p:cNvSpPr/>
          <p:nvPr/>
        </p:nvSpPr>
        <p:spPr>
          <a:xfrm>
            <a:off x="1207008" y="2212848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0" name="grid-1-2"/>
          <p:cNvSpPr/>
          <p:nvPr/>
        </p:nvSpPr>
        <p:spPr>
          <a:xfrm>
            <a:off x="1591056" y="2212848"/>
            <a:ext cx="347472" cy="347472"/>
          </a:xfrm>
          <a:prstGeom prst="rect">
            <a:avLst/>
          </a:prstGeom>
          <a:solidFill>
            <a:srgbClr val="E09F3E"/>
          </a:solidFill>
          <a:ln/>
        </p:spPr>
      </p:sp>
      <p:sp>
        <p:nvSpPr>
          <p:cNvPr id="11" name="grid-1-3"/>
          <p:cNvSpPr/>
          <p:nvPr/>
        </p:nvSpPr>
        <p:spPr>
          <a:xfrm>
            <a:off x="1975104" y="2212848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2" name="grid-1-4"/>
          <p:cNvSpPr/>
          <p:nvPr/>
        </p:nvSpPr>
        <p:spPr>
          <a:xfrm>
            <a:off x="2359152" y="2212848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3" name="grid-2-0"/>
          <p:cNvSpPr/>
          <p:nvPr/>
        </p:nvSpPr>
        <p:spPr>
          <a:xfrm>
            <a:off x="822960" y="2596896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4" name="grid-2-1"/>
          <p:cNvSpPr/>
          <p:nvPr/>
        </p:nvSpPr>
        <p:spPr>
          <a:xfrm>
            <a:off x="1207008" y="2596896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5" name="grid-2-2"/>
          <p:cNvSpPr/>
          <p:nvPr/>
        </p:nvSpPr>
        <p:spPr>
          <a:xfrm>
            <a:off x="1591056" y="2596896"/>
            <a:ext cx="347472" cy="347472"/>
          </a:xfrm>
          <a:prstGeom prst="rect">
            <a:avLst/>
          </a:prstGeom>
          <a:solidFill>
            <a:srgbClr val="E09F3E"/>
          </a:solidFill>
          <a:ln/>
        </p:spPr>
      </p:sp>
      <p:sp>
        <p:nvSpPr>
          <p:cNvPr id="16" name="grid-2-3"/>
          <p:cNvSpPr/>
          <p:nvPr/>
        </p:nvSpPr>
        <p:spPr>
          <a:xfrm>
            <a:off x="1975104" y="2596896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7" name="grid-2-4"/>
          <p:cNvSpPr/>
          <p:nvPr/>
        </p:nvSpPr>
        <p:spPr>
          <a:xfrm>
            <a:off x="2359152" y="2596896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8" name="grid-3-0"/>
          <p:cNvSpPr/>
          <p:nvPr/>
        </p:nvSpPr>
        <p:spPr>
          <a:xfrm>
            <a:off x="822960" y="2980944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9" name="grid-3-1"/>
          <p:cNvSpPr/>
          <p:nvPr/>
        </p:nvSpPr>
        <p:spPr>
          <a:xfrm>
            <a:off x="1207008" y="2980944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0" name="grid-3-2"/>
          <p:cNvSpPr/>
          <p:nvPr/>
        </p:nvSpPr>
        <p:spPr>
          <a:xfrm>
            <a:off x="1591056" y="2980944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1" name="grid-3-3"/>
          <p:cNvSpPr/>
          <p:nvPr/>
        </p:nvSpPr>
        <p:spPr>
          <a:xfrm>
            <a:off x="1975104" y="2980944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2" name="grid-3-4"/>
          <p:cNvSpPr/>
          <p:nvPr/>
        </p:nvSpPr>
        <p:spPr>
          <a:xfrm>
            <a:off x="2359152" y="2980944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3" name="grid-4-0"/>
          <p:cNvSpPr/>
          <p:nvPr/>
        </p:nvSpPr>
        <p:spPr>
          <a:xfrm>
            <a:off x="822960" y="3364992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4" name="grid-4-1"/>
          <p:cNvSpPr/>
          <p:nvPr/>
        </p:nvSpPr>
        <p:spPr>
          <a:xfrm>
            <a:off x="1207008" y="3364992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5" name="grid-4-2"/>
          <p:cNvSpPr/>
          <p:nvPr/>
        </p:nvSpPr>
        <p:spPr>
          <a:xfrm>
            <a:off x="1591056" y="3364992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6" name="grid-4-3"/>
          <p:cNvSpPr/>
          <p:nvPr/>
        </p:nvSpPr>
        <p:spPr>
          <a:xfrm>
            <a:off x="1975104" y="3364992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7" name="grid-4-4"/>
          <p:cNvSpPr/>
          <p:nvPr/>
        </p:nvSpPr>
        <p:spPr>
          <a:xfrm>
            <a:off x="2359152" y="3364992"/>
            <a:ext cx="347472" cy="34747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840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5 × 5 image: the two orange pixels are neighbours</a:t>
            </a:r>
            <a:endParaRPr lang="en-US" sz="1300" dirty="0"/>
          </a:p>
        </p:txBody>
      </p:sp>
      <p:sp>
        <p:nvSpPr>
          <p:cNvPr id="29" name="flatten-arrow"/>
          <p:cNvSpPr/>
          <p:nvPr/>
        </p:nvSpPr>
        <p:spPr>
          <a:xfrm>
            <a:off x="3108960" y="2560320"/>
            <a:ext cx="731520" cy="41148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97180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flatten</a:t>
            </a:r>
            <a:endParaRPr lang="en-US" sz="1200" dirty="0"/>
          </a:p>
        </p:txBody>
      </p:sp>
      <p:sp>
        <p:nvSpPr>
          <p:cNvPr id="31" name="flat-0"/>
          <p:cNvSpPr/>
          <p:nvPr/>
        </p:nvSpPr>
        <p:spPr>
          <a:xfrm>
            <a:off x="406908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2" name="flat-1"/>
          <p:cNvSpPr/>
          <p:nvPr/>
        </p:nvSpPr>
        <p:spPr>
          <a:xfrm>
            <a:off x="436626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3" name="flat-2"/>
          <p:cNvSpPr/>
          <p:nvPr/>
        </p:nvSpPr>
        <p:spPr>
          <a:xfrm>
            <a:off x="466344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4" name="flat-3"/>
          <p:cNvSpPr/>
          <p:nvPr/>
        </p:nvSpPr>
        <p:spPr>
          <a:xfrm>
            <a:off x="496062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5" name="flat-4"/>
          <p:cNvSpPr/>
          <p:nvPr/>
        </p:nvSpPr>
        <p:spPr>
          <a:xfrm>
            <a:off x="525780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6" name="flat-5"/>
          <p:cNvSpPr/>
          <p:nvPr/>
        </p:nvSpPr>
        <p:spPr>
          <a:xfrm>
            <a:off x="555498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7" name="flat-6"/>
          <p:cNvSpPr/>
          <p:nvPr/>
        </p:nvSpPr>
        <p:spPr>
          <a:xfrm>
            <a:off x="585216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8" name="flat-7"/>
          <p:cNvSpPr/>
          <p:nvPr/>
        </p:nvSpPr>
        <p:spPr>
          <a:xfrm>
            <a:off x="6149340" y="2606040"/>
            <a:ext cx="265176" cy="329184"/>
          </a:xfrm>
          <a:prstGeom prst="rect">
            <a:avLst/>
          </a:prstGeom>
          <a:solidFill>
            <a:srgbClr val="E09F3E"/>
          </a:solidFill>
          <a:ln/>
        </p:spPr>
      </p:sp>
      <p:sp>
        <p:nvSpPr>
          <p:cNvPr id="39" name="flat-8"/>
          <p:cNvSpPr/>
          <p:nvPr/>
        </p:nvSpPr>
        <p:spPr>
          <a:xfrm>
            <a:off x="644652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0" name="flat-9"/>
          <p:cNvSpPr/>
          <p:nvPr/>
        </p:nvSpPr>
        <p:spPr>
          <a:xfrm>
            <a:off x="674370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1" name="flat-10"/>
          <p:cNvSpPr/>
          <p:nvPr/>
        </p:nvSpPr>
        <p:spPr>
          <a:xfrm>
            <a:off x="704088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2" name="flat-11"/>
          <p:cNvSpPr/>
          <p:nvPr/>
        </p:nvSpPr>
        <p:spPr>
          <a:xfrm>
            <a:off x="733806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3" name="flat-12"/>
          <p:cNvSpPr/>
          <p:nvPr/>
        </p:nvSpPr>
        <p:spPr>
          <a:xfrm>
            <a:off x="7635240" y="2606040"/>
            <a:ext cx="265176" cy="329184"/>
          </a:xfrm>
          <a:prstGeom prst="rect">
            <a:avLst/>
          </a:prstGeom>
          <a:solidFill>
            <a:srgbClr val="E09F3E"/>
          </a:solidFill>
          <a:ln/>
        </p:spPr>
      </p:sp>
      <p:sp>
        <p:nvSpPr>
          <p:cNvPr id="44" name="flat-13"/>
          <p:cNvSpPr/>
          <p:nvPr/>
        </p:nvSpPr>
        <p:spPr>
          <a:xfrm>
            <a:off x="793242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5" name="flat-14"/>
          <p:cNvSpPr/>
          <p:nvPr/>
        </p:nvSpPr>
        <p:spPr>
          <a:xfrm>
            <a:off x="822960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6" name="flat-15"/>
          <p:cNvSpPr/>
          <p:nvPr/>
        </p:nvSpPr>
        <p:spPr>
          <a:xfrm>
            <a:off x="852678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7" name="flat-16"/>
          <p:cNvSpPr/>
          <p:nvPr/>
        </p:nvSpPr>
        <p:spPr>
          <a:xfrm>
            <a:off x="882396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8" name="flat-17"/>
          <p:cNvSpPr/>
          <p:nvPr/>
        </p:nvSpPr>
        <p:spPr>
          <a:xfrm>
            <a:off x="912114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9" name="flat-18"/>
          <p:cNvSpPr/>
          <p:nvPr/>
        </p:nvSpPr>
        <p:spPr>
          <a:xfrm>
            <a:off x="941832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0" name="flat-19"/>
          <p:cNvSpPr/>
          <p:nvPr/>
        </p:nvSpPr>
        <p:spPr>
          <a:xfrm>
            <a:off x="971550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1" name="flat-20"/>
          <p:cNvSpPr/>
          <p:nvPr/>
        </p:nvSpPr>
        <p:spPr>
          <a:xfrm>
            <a:off x="1001268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2" name="flat-21"/>
          <p:cNvSpPr/>
          <p:nvPr/>
        </p:nvSpPr>
        <p:spPr>
          <a:xfrm>
            <a:off x="1030986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3" name="flat-22"/>
          <p:cNvSpPr/>
          <p:nvPr/>
        </p:nvSpPr>
        <p:spPr>
          <a:xfrm>
            <a:off x="1060704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4" name="flat-23"/>
          <p:cNvSpPr/>
          <p:nvPr/>
        </p:nvSpPr>
        <p:spPr>
          <a:xfrm>
            <a:off x="1090422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5" name="flat-24"/>
          <p:cNvSpPr/>
          <p:nvPr/>
        </p:nvSpPr>
        <p:spPr>
          <a:xfrm>
            <a:off x="11201400" y="2606040"/>
            <a:ext cx="265176" cy="329184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069080" y="3063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After flattening they are inputs #7 and #12: to the MLP, no closer than any other pair</a:t>
            </a:r>
            <a:endParaRPr lang="en-US" sz="1300" dirty="0"/>
          </a:p>
        </p:txBody>
      </p:sp>
      <p:sp>
        <p:nvSpPr>
          <p:cNvPr id="57" name="limit-icon-0-circle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8" name="limit-icon-0" descr="ThLarg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663440"/>
            <a:ext cx="274320" cy="274320"/>
          </a:xfrm>
          <a:prstGeom prst="rect">
            <a:avLst/>
          </a:prstGeom>
        </p:spPr>
      </p:pic>
      <p:sp>
        <p:nvSpPr>
          <p:cNvPr id="59" name="Text 56"/>
          <p:cNvSpPr txBox="1"/>
          <p:nvPr/>
        </p:nvSpPr>
        <p:spPr>
          <a:xfrm>
            <a:off x="123444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sense of space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1234440" y="48920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Flattening throws away the 2D layout. Shuffle every image's pixels the same way and an MLP trains just as well.</a:t>
            </a:r>
            <a:endParaRPr lang="en-US" sz="1300" dirty="0"/>
          </a:p>
        </p:txBody>
      </p:sp>
      <p:sp>
        <p:nvSpPr>
          <p:cNvPr id="61" name="limit-icon-1-circle"/>
          <p:cNvSpPr/>
          <p:nvPr/>
        </p:nvSpPr>
        <p:spPr>
          <a:xfrm>
            <a:off x="4297680" y="45262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2" name="limit-icon-1" descr="ArrowsA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4663440"/>
            <a:ext cx="274320" cy="274320"/>
          </a:xfrm>
          <a:prstGeom prst="rect">
            <a:avLst/>
          </a:prstGeom>
        </p:spPr>
      </p:pic>
      <p:sp>
        <p:nvSpPr>
          <p:cNvPr id="63" name="Text 59"/>
          <p:cNvSpPr txBox="1"/>
          <p:nvPr/>
        </p:nvSpPr>
        <p:spPr>
          <a:xfrm>
            <a:off x="498348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Shifts look like new images</a:t>
            </a:r>
            <a:endParaRPr lang="en-US" sz="1600" dirty="0"/>
          </a:p>
        </p:txBody>
      </p:sp>
      <p:sp>
        <p:nvSpPr>
          <p:cNvPr id="64" name="Text 60"/>
          <p:cNvSpPr txBox="1"/>
          <p:nvPr/>
        </p:nvSpPr>
        <p:spPr>
          <a:xfrm>
            <a:off x="4983480" y="48920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digit moved two pixels activates a different set of weights, so shift tolerance must be learned from data: one reason augmentation matters.</a:t>
            </a:r>
            <a:endParaRPr lang="en-US" sz="1300" dirty="0"/>
          </a:p>
        </p:txBody>
      </p:sp>
      <p:sp>
        <p:nvSpPr>
          <p:cNvPr id="65" name="limit-icon-2-circle"/>
          <p:cNvSpPr/>
          <p:nvPr/>
        </p:nvSpPr>
        <p:spPr>
          <a:xfrm>
            <a:off x="8046720" y="45262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6" name="limit-icon-2" descr="Forwar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4663440"/>
            <a:ext cx="274320" cy="274320"/>
          </a:xfrm>
          <a:prstGeom prst="rect">
            <a:avLst/>
          </a:prstGeom>
        </p:spPr>
      </p:pic>
      <p:sp>
        <p:nvSpPr>
          <p:cNvPr id="67" name="Text 62"/>
          <p:cNvSpPr txBox="1"/>
          <p:nvPr/>
        </p:nvSpPr>
        <p:spPr>
          <a:xfrm>
            <a:off x="873252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Where the course goes next</a:t>
            </a:r>
            <a:endParaRPr lang="en-US" sz="1600" dirty="0"/>
          </a:p>
        </p:txBody>
      </p:sp>
      <p:sp>
        <p:nvSpPr>
          <p:cNvPr id="68" name="Text 63"/>
          <p:cNvSpPr txBox="1"/>
          <p:nvPr/>
        </p:nvSpPr>
        <p:spPr>
          <a:xfrm>
            <a:off x="8732520" y="48920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CNNs build spatial structure into the architecture. Later, Transformers learn which inputs to relate.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This week's work</a:t>
            </a:r>
            <a:endParaRPr lang="en-US" sz="3400" dirty="0"/>
          </a:p>
        </p:txBody>
      </p:sp>
      <p:sp>
        <p:nvSpPr>
          <p:cNvPr id="3" name="task-card-0"/>
          <p:cNvSpPr/>
          <p:nvPr/>
        </p:nvSpPr>
        <p:spPr>
          <a:xfrm>
            <a:off x="548640" y="1508760"/>
            <a:ext cx="542239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4" name="task-icon-0-circle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task-icon-0" descr="Cub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002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 foundations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2199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Notebook: tensor creation, indexing, reshaping and arithmetic in NumPy and PyTorch.</a:t>
            </a:r>
            <a:endParaRPr lang="en-US" sz="1400" dirty="0"/>
          </a:p>
        </p:txBody>
      </p:sp>
      <p:sp>
        <p:nvSpPr>
          <p:cNvPr id="8" name="task-card-1"/>
          <p:cNvSpPr/>
          <p:nvPr/>
        </p:nvSpPr>
        <p:spPr>
          <a:xfrm>
            <a:off x="6217920" y="1508760"/>
            <a:ext cx="542239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9" name="task-icon-1-circle"/>
          <p:cNvSpPr/>
          <p:nvPr/>
        </p:nvSpPr>
        <p:spPr>
          <a:xfrm>
            <a:off x="6537960" y="1828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task-icon-1" descr="Fon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0" y="200025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7830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Text augmentation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222199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Notebook: augment 10 sample reviews and reflect on which edits kept the label.</a:t>
            </a:r>
            <a:endParaRPr lang="en-US" sz="1400" dirty="0"/>
          </a:p>
        </p:txBody>
      </p:sp>
      <p:sp>
        <p:nvSpPr>
          <p:cNvPr id="13" name="task-card-2"/>
          <p:cNvSpPr/>
          <p:nvPr/>
        </p:nvSpPr>
        <p:spPr>
          <a:xfrm>
            <a:off x="548640" y="3520440"/>
            <a:ext cx="542239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task-icon-2-circle"/>
          <p:cNvSpPr/>
          <p:nvPr/>
        </p:nvSpPr>
        <p:spPr>
          <a:xfrm>
            <a:off x="868680" y="38404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task-icon-2" descr="Imag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01193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37947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Image augmentation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423367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Notebook: CIFAR-10 originals vs augmented images, with observations.</a:t>
            </a:r>
            <a:endParaRPr lang="en-US" sz="1400" dirty="0"/>
          </a:p>
        </p:txBody>
      </p:sp>
      <p:sp>
        <p:nvSpPr>
          <p:cNvPr id="18" name="task-card-3"/>
          <p:cNvSpPr/>
          <p:nvPr/>
        </p:nvSpPr>
        <p:spPr>
          <a:xfrm>
            <a:off x="6217920" y="3520440"/>
            <a:ext cx="5422392" cy="178308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19" name="task-icon-3-circle"/>
          <p:cNvSpPr/>
          <p:nvPr/>
        </p:nvSpPr>
        <p:spPr>
          <a:xfrm>
            <a:off x="6537960" y="3840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task-icon-3" descr="Flas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10" y="401193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52360" y="37947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Assignment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452360" y="423367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MLP on MNIST at 5k, 10k, 30k and 50k samples, plus CIFAR-10 with and without augmentation. Plot train and test curves.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Interactive guide: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open week1-site/index.html for live demos of tensors, augmentation and the MLP.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Three ideas to take away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Learning means generalizing, not memorizing.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Augmentation creates label-preserving data almost for free.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An MLP is perceptrons + a non-linearity + backprop: 43 years in the making.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A5750 Week 1">
  <a:themeElements>
    <a:clrScheme name="AA5750 Week 1">
      <a:dk1>
        <a:srgbClr val="1B1F24"/>
      </a:dk1>
      <a:lt1>
        <a:srgbClr val="FFFFFF"/>
      </a:lt1>
      <a:dk2>
        <a:srgbClr val="3A4651"/>
      </a:dk2>
      <a:lt2>
        <a:srgbClr val="EEF1F4"/>
      </a:lt2>
      <a:accent1>
        <a:srgbClr val="E09F3E"/>
      </a:accent1>
      <a:accent2>
        <a:srgbClr val="335C67"/>
      </a:accent2>
      <a:accent3>
        <a:srgbClr val="9E2A2B"/>
      </a:accent3>
      <a:accent4>
        <a:srgbClr val="4F7F6A"/>
      </a:accent4>
      <a:accent5>
        <a:srgbClr val="7A8793"/>
      </a:accent5>
      <a:accent6>
        <a:srgbClr val="D9DEE3"/>
      </a:accent6>
      <a:hlink>
        <a:srgbClr val="335C67"/>
      </a:hlink>
      <a:folHlink>
        <a:srgbClr val="7A8793"/>
      </a:folHlink>
    </a:clrScheme>
    <a:fontScheme name="AA5750 Week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AA-5750 Contemporary Issues in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1: Learning from Data, Augmentation and the Road to the MLP</dc:title>
  <dc:subject>PptxGenJS Presentation</dc:subject>
  <dc:creator>Chandra Prakash Bathula</dc:creator>
  <cp:lastModifiedBy>Chandra Prakash Bathula</cp:lastModifiedBy>
  <cp:revision>1</cp:revision>
  <dcterms:created xsi:type="dcterms:W3CDTF">2026-10-19T01:59:39Z</dcterms:created>
  <dcterms:modified xsi:type="dcterms:W3CDTF">2026-10-19T01:59:39Z</dcterms:modified>
</cp:coreProperties>
</file>