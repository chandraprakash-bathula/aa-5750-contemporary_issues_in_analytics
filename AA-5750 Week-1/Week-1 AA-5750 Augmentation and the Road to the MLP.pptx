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cd07dda-1d79-97ae-18db-4e746b0d7d6a}">
          <p14:sldIdLst>
            <p14:sldId id="256"/>
            <p14:sldId id="257"/>
          </p14:sldIdLst>
        </p14:section>
        <p14:section name="Machine learning" id="{3b4065b6-6ee6-40a4-8f5e-0be6ba203b85}">
          <p14:sldIdLst>
            <p14:sldId id="258"/>
            <p14:sldId id="259"/>
            <p14:sldId id="260"/>
          </p14:sldIdLst>
        </p14:section>
        <p14:section name="Data augmentation" id="{26f9d939-c9f9-fca9-af8f-9d364a64b4a2}">
          <p14:sldIdLst>
            <p14:sldId id="261"/>
            <p14:sldId id="262"/>
            <p14:sldId id="263"/>
            <p14:sldId id="264"/>
            <p14:sldId id="265"/>
            <p14:sldId id="266"/>
            <p14:sldId id="267"/>
            <p14:sldId id="268"/>
            <p14:sldId id="269"/>
          </p14:sldIdLst>
        </p14:section>
        <p14:section name="Limits of classical ML" id="{604849dd-5000-4181-13d3-c8e29bb8ad72}">
          <p14:sldIdLst>
            <p14:sldId id="270"/>
          </p14:sldIdLst>
        </p14:section>
        <p14:section name="Deep learning" id="{68e0b2fe-e1fd-8c42-b046-6902ce0d6a89}">
          <p14:sldIdLst>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Wrap-up" id="{52c5db59-8eb4-373e-0ec9-4f32979230fa}">
          <p14:sldIdLst>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 framing: today connects three ideas. What it means to learn from data, how we stretch a small dataset with augmentation, and how 43 years of neural network history (1943 to 1986) led to the MLP we train in this week's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Flow for today: machine learning basics, then data augmentation for small image and text datasets, then why classical ML struggles with large raw data, and finally deep learning from the neuron to the MLP.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in this course, from an MLP to a Transformer, is these three pieces. Only the model family changes as the course progresses.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set is a stand-in for the future. In the assignment, every plot you make is really a plot of this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question is the bridge to Part 2. The answer is yes, as long as the new examples keep the right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outputs from iris.jpeg in the Image Augmentation notebook. A human still says iris for every one of them, so the label is preserved.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from iris.jpeg. The model never sees exactly the same picture twice, so it cannot simply memorize the pixels. This is the core reason augmentation fights overfitting on small 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transform encodes one invariance. Pick the ones that match what changes in the real world for your data. The interactive pipeline in the Week 1 web guide lets students adjust each of these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standard CIFAR-10 recipe used in the assignment. Highlighted lines are the random augmentation steps. MEAN and STD are the CIFAR-10 channel statistics: (0.4914, 0.4822, 0.4465) and (0.2470, 0.2435, 0.2616).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EDA uses one knob, alpha, the share of words changed (around 0.05 to 0.1). Back-translation gives the most natural paraphrases because translation models are trained to preserve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 swap and random deletion are two of the four EDA operations; synonym replacement and random insertion use WordNet. The table gives the EDA paper's recommended settings: more augmented copies when the dataset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transformation that is safe for one dataset can corrupt another. Horizontal flips are standard for CIFAR-10 and wrong for MNIST.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PyTorch this means two transform pipelines: train_tf with random transforms and test_tf with only ToTensor and Normalize.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Theory: augmentation is a form of vicinal risk minimization (Chapelle et al., 2000), and training with small input noise approximates Tikhonov regularization (Bishop, 1995). The web guide has an interactive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from augmentation to deep learning. Augmentation stretches small datasets; but when data is large and raw (images, audio, text), classical models hit three walls: hand-made features, huge unstructured inputs, and training that does not scale. The chart is a schematic of the widely cited idea that classical methods plateau while deep networks keep improving with more data; it is not measured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colours as a story: a rise from 1943 to 1960, a fall after 1969, and a revival that started quietly in 1974 and became mainstream in 1986.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McCulloch and Pitts gave us the unit; Hebb gave us the idea of learning by adjusting connections. Rosenblatt combined the two in 1957 to 1958.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Part 2 of the Deep Learning blog series. Thicker dendrites in the sketch stand for stronger connections, which become larger weights. The output O = f(sum of w_i x_i + b) can feed many neurons in the next layer. Roughly inspired by biology, not a copy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sweet and pain diagrams show two experiences building two different weighted pathways. Ask students to keep this picture for the MLP at the end: a 3 and a 7 activate different weighted paths through the hidden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 change from 1943: the machine sets its own weights from labelled examples. The convergence guarantee holds only when the data is linearly separable, which is exactly where the trouble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Part 3 of the blog series. Both models compute the same weighted sum; only the activation differs. The update rules differ only in step(z) vs sigma(z): replace the hard switch with a smooth dimmer and the error becomes a continuous signal gradient descent can use. Generalized through layers with the chain rule, that is backpropagation. The web guide page 07 lets students train both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discussion prompt: which current AI claims look like the 1958 headline, and what evidence would separate real capability from hype?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common thread: everything that worked was linearly separable or linear by design. ADALINE matters because it used a continuous error signal, which is the idea backprop later generalizes.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are limits of representation; the last two are limits of training. Multi-layer networks could represent XOR in principle, but in 1969 nobody had a practical way to train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Historians still debate how much the book itself caused the winter versus broader funding changes and overpromising across all of AI. Its proofs were about single-layer perceptrons, not multi-layer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Backprop was discovered more than once; the 1986 paper mattered because it showed clearly, with experiments, that hidden units learn useful internal representations.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Part 1 of the blog series: the left side is the biological structure, the right side the network it inspired, with an input layer, two hidden layers and an output layer. That right-hand picture is exactly the shape of the MLP in Part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backprop numerical example in the earlier Week 1 slides shows the chain rule step by step. ReLU replaced sigmoid much later, around 2010 to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Part 1 of the blog series. Brains rely on many layers, so we want deep networks, but backprop kept failing as layers were added: the vanishing gradient. Hinton kept working on it for two decades; the 2006 deep belief net paper and the 2012 ImageNet result (data plus GPUs) brought neural networks back. Same lesson as the augmentation section today: data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one row live with the class: x = (1,1). h1 = step(2 - 0.5) = 1, h2 = step(2 - 1.5) = 1, y = step(1 - 1 - 0.5) = step(-0.5) = 0. Correct. The hard part in 1969 was not this network, it was learning these weights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idea as the XOR network, scaled up: two hidden layers, ReLU instead of step or sigmoid, trained with backprop and Adam. 92% of the parameters sit in the first layer because every pixel connects to every hidden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Parameter count: fc1 784x128+128 = 100,480; fc2 128x64+64 = 8,256; fc3 64x10+10 = 650. Total 109,386. Divided by 5,000 images gives about 22 parameters per training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Pixel (row 1, col 2) is index 7 and pixel (row 2, col 2) is index 12. Vertical neighbours end up five positions apart. This connects the MLP's weakness back to Part 2: augmentation supplies the invariances the architecture lacks.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this week: review the syllabus, explore the Week 1 module in Canvas, and post an introduction in the discussion forum.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1943 McCulloch and Pitts to 1986 backprop is 43 years. Next week builds on the MLP.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977640"/>
            <a:ext cx="10698480" cy="1097280"/>
          </a:xfrm>
          <a:prstGeom prst="rect">
            <a:avLst/>
          </a:prstGeom>
          <a:noFill/>
          <a:ln/>
        </p:spPr>
        <p:txBody>
          <a:bodyPr wrap="square" rtlCol="0"/>
          <a:lstStyle>
            <a:lvl1pPr algn="l" indent="0" marL="0">
              <a:buNone/>
              <a:defRPr lang="en-US" sz="2000" dirty="0">
                <a:solidFill>
                  <a:schemeClr val="accent1"/>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920240"/>
            <a:ext cx="10698480" cy="548640"/>
          </a:xfrm>
          <a:prstGeom prst="rect">
            <a:avLst/>
          </a:prstGeom>
          <a:noFill/>
          <a:ln/>
        </p:spPr>
        <p:txBody>
          <a:bodyPr wrap="square" rtlCol="0"/>
          <a:lstStyle>
            <a:lvl1pPr algn="l" indent="0" marL="0">
              <a:buNone/>
              <a:defRPr lang="en-US" sz="1800" b="1" spc="200" kern="0" dirty="0">
                <a:solidFill>
                  <a:schemeClr val="accent1"/>
                </a:solidFill>
              </a:defRPr>
            </a:lvl1pPr>
          </a:lstStyle>
          <a:p>
            <a:pPr algn="l" indent="0" marL="0">
              <a:buNone/>
            </a:pPr>
            <a:endParaRPr lang="en-US" sz="1800" dirty="0"/>
          </a:p>
        </p:txBody>
      </p:sp>
      <p:sp>
        <p:nvSpPr>
          <p:cNvPr id="3" name="Text 0"/>
          <p:cNvSpPr/>
          <p:nvPr>
            <p:ph idx="101" type="title" hasCustomPrompt="1"/>
          </p:nvPr>
        </p:nvSpPr>
        <p:spPr>
          <a:xfrm>
            <a:off x="731520" y="2514600"/>
            <a:ext cx="10698480" cy="12801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886200"/>
            <a:ext cx="10698480" cy="91440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AA-5750 · Week 1</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4.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4.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lIns="0" tIns="0" rIns="0" bIns="0" rtlCol="0" anchor="b"/>
          <a:lstStyle/>
          <a:p>
            <a:pPr algn="l" indent="0" marL="0">
              <a:buNone/>
            </a:pPr>
            <a:r>
              <a:rPr lang="en-US" sz="4400" b="1" dirty="0">
                <a:solidFill>
                  <a:schemeClr val="bg1"/>
                </a:solidFill>
              </a:rPr>
              <a:t>Learning from Data, Making More of It, and the Road to the MLP</a:t>
            </a:r>
            <a:endParaRPr lang="en-US" sz="4400" dirty="0"/>
          </a:p>
        </p:txBody>
      </p:sp>
      <p:sp>
        <p:nvSpPr>
          <p:cNvPr id="3" name="Text 0"/>
          <p:cNvSpPr/>
          <p:nvPr>
            <p:ph idx="101" type="body" hasCustomPrompt="1"/>
          </p:nvPr>
        </p:nvSpPr>
        <p:spPr>
          <a:xfrm>
            <a:off x="731520" y="3977640"/>
            <a:ext cx="10698480" cy="1097280"/>
          </a:xfrm>
          <a:prstGeom prst="rect">
            <a:avLst/>
          </a:prstGeom>
          <a:noFill/>
          <a:ln/>
        </p:spPr>
        <p:txBody>
          <a:bodyPr wrap="square" lIns="0" tIns="0" rIns="0" bIns="0" rtlCol="0" anchor="t"/>
          <a:lstStyle/>
          <a:p>
            <a:pPr algn="l" indent="0" marL="0">
              <a:buNone/>
            </a:pPr>
            <a:r>
              <a:rPr lang="en-US" sz="2000" dirty="0">
                <a:solidFill>
                  <a:schemeClr val="accent1"/>
                </a:solidFill>
              </a:rPr>
              <a:t>AA-5750 Contemporary Issues in Analytics · Week 1 · Chandra Prakash Bathula</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Today's journey</a:t>
            </a:r>
            <a:endParaRPr lang="en-US" sz="3400" dirty="0"/>
          </a:p>
        </p:txBody>
      </p:sp>
      <p:sp>
        <p:nvSpPr>
          <p:cNvPr id="3" name="journey-card-01"/>
          <p:cNvSpPr/>
          <p:nvPr/>
        </p:nvSpPr>
        <p:spPr>
          <a:xfrm>
            <a:off x="548640" y="1508760"/>
            <a:ext cx="2606040" cy="4206240"/>
          </a:xfrm>
          <a:prstGeom prst="roundRect">
            <a:avLst>
              <a:gd name="adj" fmla="val 4211"/>
            </a:avLst>
          </a:prstGeom>
          <a:solidFill>
            <a:schemeClr val="bg2"/>
          </a:solidFill>
          <a:ln/>
        </p:spPr>
      </p:sp>
      <p:sp>
        <p:nvSpPr>
          <p:cNvPr id="4" name="Text 2"/>
          <p:cNvSpPr txBox="1"/>
          <p:nvPr/>
        </p:nvSpPr>
        <p:spPr>
          <a:xfrm>
            <a:off x="822960" y="1783080"/>
            <a:ext cx="1097280" cy="45720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01</a:t>
            </a:r>
            <a:endParaRPr lang="en-US" sz="2800" dirty="0"/>
          </a:p>
        </p:txBody>
      </p:sp>
      <p:sp>
        <p:nvSpPr>
          <p:cNvPr id="5" name="Text 3"/>
          <p:cNvSpPr txBox="1"/>
          <p:nvPr/>
        </p:nvSpPr>
        <p:spPr>
          <a:xfrm>
            <a:off x="822960" y="3154680"/>
            <a:ext cx="2103120" cy="731520"/>
          </a:xfrm>
          <a:prstGeom prst="rect">
            <a:avLst/>
          </a:prstGeom>
          <a:noFill/>
          <a:ln/>
        </p:spPr>
        <p:txBody>
          <a:bodyPr wrap="square" lIns="0" tIns="0" rIns="0" bIns="0" rtlCol="0" anchor="t"/>
          <a:lstStyle/>
          <a:p>
            <a:pPr indent="0" marL="0">
              <a:buNone/>
            </a:pPr>
            <a:r>
              <a:rPr lang="en-US" sz="1900" b="1" dirty="0">
                <a:solidFill>
                  <a:schemeClr val="tx1"/>
                </a:solidFill>
              </a:rPr>
              <a:t>Machine learning</a:t>
            </a:r>
            <a:endParaRPr lang="en-US" sz="1900" dirty="0"/>
          </a:p>
        </p:txBody>
      </p:sp>
      <p:sp>
        <p:nvSpPr>
          <p:cNvPr id="6" name="Text 4"/>
          <p:cNvSpPr txBox="1"/>
          <p:nvPr/>
        </p:nvSpPr>
        <p:spPr>
          <a:xfrm>
            <a:off x="822960" y="3931920"/>
            <a:ext cx="2103120" cy="1645920"/>
          </a:xfrm>
          <a:prstGeom prst="rect">
            <a:avLst/>
          </a:prstGeom>
          <a:noFill/>
          <a:ln/>
        </p:spPr>
        <p:txBody>
          <a:bodyPr wrap="square" lIns="0" tIns="0" rIns="0" bIns="0" rtlCol="0" anchor="t"/>
          <a:lstStyle/>
          <a:p>
            <a:pPr indent="0" marL="0">
              <a:buNone/>
            </a:pPr>
            <a:r>
              <a:rPr lang="en-US" sz="1400" dirty="0">
                <a:solidFill>
                  <a:schemeClr val="tx2"/>
                </a:solidFill>
              </a:rPr>
              <a:t>What a model really learns, and why labelled data is the bottleneck.</a:t>
            </a:r>
            <a:endParaRPr lang="en-US" sz="1400" dirty="0"/>
          </a:p>
        </p:txBody>
      </p:sp>
      <p:sp>
        <p:nvSpPr>
          <p:cNvPr id="7" name="journey-card-02"/>
          <p:cNvSpPr/>
          <p:nvPr/>
        </p:nvSpPr>
        <p:spPr>
          <a:xfrm>
            <a:off x="3383280" y="1508760"/>
            <a:ext cx="2606040" cy="4206240"/>
          </a:xfrm>
          <a:prstGeom prst="roundRect">
            <a:avLst>
              <a:gd name="adj" fmla="val 4211"/>
            </a:avLst>
          </a:prstGeom>
          <a:solidFill>
            <a:schemeClr val="bg2"/>
          </a:solidFill>
          <a:ln/>
        </p:spPr>
      </p:sp>
      <p:sp>
        <p:nvSpPr>
          <p:cNvPr id="8" name="Text 6"/>
          <p:cNvSpPr txBox="1"/>
          <p:nvPr/>
        </p:nvSpPr>
        <p:spPr>
          <a:xfrm>
            <a:off x="3657600" y="1783080"/>
            <a:ext cx="1097280" cy="45720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02</a:t>
            </a:r>
            <a:endParaRPr lang="en-US" sz="2800" dirty="0"/>
          </a:p>
        </p:txBody>
      </p:sp>
      <p:sp>
        <p:nvSpPr>
          <p:cNvPr id="9" name="Text 7"/>
          <p:cNvSpPr txBox="1"/>
          <p:nvPr/>
        </p:nvSpPr>
        <p:spPr>
          <a:xfrm>
            <a:off x="3657600" y="3154680"/>
            <a:ext cx="2103120" cy="731520"/>
          </a:xfrm>
          <a:prstGeom prst="rect">
            <a:avLst/>
          </a:prstGeom>
          <a:noFill/>
          <a:ln/>
        </p:spPr>
        <p:txBody>
          <a:bodyPr wrap="square" lIns="0" tIns="0" rIns="0" bIns="0" rtlCol="0" anchor="t"/>
          <a:lstStyle/>
          <a:p>
            <a:pPr indent="0" marL="0">
              <a:buNone/>
            </a:pPr>
            <a:r>
              <a:rPr lang="en-US" sz="1900" b="1" dirty="0">
                <a:solidFill>
                  <a:schemeClr val="tx1"/>
                </a:solidFill>
              </a:rPr>
              <a:t>Data augmentation</a:t>
            </a:r>
            <a:endParaRPr lang="en-US" sz="1900" dirty="0"/>
          </a:p>
        </p:txBody>
      </p:sp>
      <p:sp>
        <p:nvSpPr>
          <p:cNvPr id="10" name="Text 8"/>
          <p:cNvSpPr txBox="1"/>
          <p:nvPr/>
        </p:nvSpPr>
        <p:spPr>
          <a:xfrm>
            <a:off x="3657600" y="3931920"/>
            <a:ext cx="2103120" cy="1645920"/>
          </a:xfrm>
          <a:prstGeom prst="rect">
            <a:avLst/>
          </a:prstGeom>
          <a:noFill/>
          <a:ln/>
        </p:spPr>
        <p:txBody>
          <a:bodyPr wrap="square" lIns="0" tIns="0" rIns="0" bIns="0" rtlCol="0" anchor="t"/>
          <a:lstStyle/>
          <a:p>
            <a:pPr indent="0" marL="0">
              <a:buNone/>
            </a:pPr>
            <a:r>
              <a:rPr lang="en-US" sz="1400" dirty="0">
                <a:solidFill>
                  <a:schemeClr val="tx2"/>
                </a:solidFill>
              </a:rPr>
              <a:t>When data is scarce: new image and text examples that keep their labels.</a:t>
            </a:r>
            <a:endParaRPr lang="en-US" sz="1400" dirty="0"/>
          </a:p>
        </p:txBody>
      </p:sp>
      <p:sp>
        <p:nvSpPr>
          <p:cNvPr id="11" name="journey-card-03"/>
          <p:cNvSpPr/>
          <p:nvPr/>
        </p:nvSpPr>
        <p:spPr>
          <a:xfrm>
            <a:off x="6217920" y="1508760"/>
            <a:ext cx="2606040" cy="4206240"/>
          </a:xfrm>
          <a:prstGeom prst="roundRect">
            <a:avLst>
              <a:gd name="adj" fmla="val 4211"/>
            </a:avLst>
          </a:prstGeom>
          <a:solidFill>
            <a:schemeClr val="bg2"/>
          </a:solidFill>
          <a:ln/>
        </p:spPr>
      </p:sp>
      <p:sp>
        <p:nvSpPr>
          <p:cNvPr id="12" name="Text 10"/>
          <p:cNvSpPr txBox="1"/>
          <p:nvPr/>
        </p:nvSpPr>
        <p:spPr>
          <a:xfrm>
            <a:off x="6492240" y="1783080"/>
            <a:ext cx="1097280" cy="45720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03</a:t>
            </a:r>
            <a:endParaRPr lang="en-US" sz="2800" dirty="0"/>
          </a:p>
        </p:txBody>
      </p:sp>
      <p:sp>
        <p:nvSpPr>
          <p:cNvPr id="13" name="Text 11"/>
          <p:cNvSpPr txBox="1"/>
          <p:nvPr/>
        </p:nvSpPr>
        <p:spPr>
          <a:xfrm>
            <a:off x="6492240" y="3154680"/>
            <a:ext cx="2103120" cy="731520"/>
          </a:xfrm>
          <a:prstGeom prst="rect">
            <a:avLst/>
          </a:prstGeom>
          <a:noFill/>
          <a:ln/>
        </p:spPr>
        <p:txBody>
          <a:bodyPr wrap="square" lIns="0" tIns="0" rIns="0" bIns="0" rtlCol="0" anchor="t"/>
          <a:lstStyle/>
          <a:p>
            <a:pPr indent="0" marL="0">
              <a:buNone/>
            </a:pPr>
            <a:r>
              <a:rPr lang="en-US" sz="1900" b="1" dirty="0">
                <a:solidFill>
                  <a:schemeClr val="tx1"/>
                </a:solidFill>
              </a:rPr>
              <a:t>Where classical ML breaks</a:t>
            </a:r>
            <a:endParaRPr lang="en-US" sz="1900" dirty="0"/>
          </a:p>
        </p:txBody>
      </p:sp>
      <p:sp>
        <p:nvSpPr>
          <p:cNvPr id="14" name="Text 12"/>
          <p:cNvSpPr txBox="1"/>
          <p:nvPr/>
        </p:nvSpPr>
        <p:spPr>
          <a:xfrm>
            <a:off x="6492240" y="3931920"/>
            <a:ext cx="2103120" cy="1645920"/>
          </a:xfrm>
          <a:prstGeom prst="rect">
            <a:avLst/>
          </a:prstGeom>
          <a:noFill/>
          <a:ln/>
        </p:spPr>
        <p:txBody>
          <a:bodyPr wrap="square" lIns="0" tIns="0" rIns="0" bIns="0" rtlCol="0" anchor="t"/>
          <a:lstStyle/>
          <a:p>
            <a:pPr indent="0" marL="0">
              <a:buNone/>
            </a:pPr>
            <a:r>
              <a:rPr lang="en-US" sz="1400" dirty="0">
                <a:solidFill>
                  <a:schemeClr val="tx2"/>
                </a:solidFill>
              </a:rPr>
              <a:t>Why hand-made features and classical models stall on large, raw data.</a:t>
            </a:r>
            <a:endParaRPr lang="en-US" sz="1400" dirty="0"/>
          </a:p>
        </p:txBody>
      </p:sp>
      <p:sp>
        <p:nvSpPr>
          <p:cNvPr id="15" name="journey-card-04"/>
          <p:cNvSpPr/>
          <p:nvPr/>
        </p:nvSpPr>
        <p:spPr>
          <a:xfrm>
            <a:off x="9052560" y="1508760"/>
            <a:ext cx="2606040" cy="4206240"/>
          </a:xfrm>
          <a:prstGeom prst="roundRect">
            <a:avLst>
              <a:gd name="adj" fmla="val 4211"/>
            </a:avLst>
          </a:prstGeom>
          <a:solidFill>
            <a:schemeClr val="bg2"/>
          </a:solidFill>
          <a:ln/>
        </p:spPr>
      </p:sp>
      <p:sp>
        <p:nvSpPr>
          <p:cNvPr id="16" name="Text 14"/>
          <p:cNvSpPr txBox="1"/>
          <p:nvPr/>
        </p:nvSpPr>
        <p:spPr>
          <a:xfrm>
            <a:off x="9326880" y="1783080"/>
            <a:ext cx="1097280" cy="45720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04</a:t>
            </a:r>
            <a:endParaRPr lang="en-US" sz="2800" dirty="0"/>
          </a:p>
        </p:txBody>
      </p:sp>
      <p:sp>
        <p:nvSpPr>
          <p:cNvPr id="17" name="Text 15"/>
          <p:cNvSpPr txBox="1"/>
          <p:nvPr/>
        </p:nvSpPr>
        <p:spPr>
          <a:xfrm>
            <a:off x="9326880" y="3154680"/>
            <a:ext cx="2103120" cy="731520"/>
          </a:xfrm>
          <a:prstGeom prst="rect">
            <a:avLst/>
          </a:prstGeom>
          <a:noFill/>
          <a:ln/>
        </p:spPr>
        <p:txBody>
          <a:bodyPr wrap="square" lIns="0" tIns="0" rIns="0" bIns="0" rtlCol="0" anchor="t"/>
          <a:lstStyle/>
          <a:p>
            <a:pPr indent="0" marL="0">
              <a:buNone/>
            </a:pPr>
            <a:r>
              <a:rPr lang="en-US" sz="1900" b="1" dirty="0">
                <a:solidFill>
                  <a:schemeClr val="tx1"/>
                </a:solidFill>
              </a:rPr>
              <a:t>Deep learning</a:t>
            </a:r>
            <a:endParaRPr lang="en-US" sz="1900" dirty="0"/>
          </a:p>
        </p:txBody>
      </p:sp>
      <p:sp>
        <p:nvSpPr>
          <p:cNvPr id="18" name="Text 16"/>
          <p:cNvSpPr txBox="1"/>
          <p:nvPr/>
        </p:nvSpPr>
        <p:spPr>
          <a:xfrm>
            <a:off x="9326880" y="3931920"/>
            <a:ext cx="2103120" cy="1645920"/>
          </a:xfrm>
          <a:prstGeom prst="rect">
            <a:avLst/>
          </a:prstGeom>
          <a:noFill/>
          <a:ln/>
        </p:spPr>
        <p:txBody>
          <a:bodyPr wrap="square" lIns="0" tIns="0" rIns="0" bIns="0" rtlCol="0" anchor="t"/>
          <a:lstStyle/>
          <a:p>
            <a:pPr indent="0" marL="0">
              <a:buNone/>
            </a:pPr>
            <a:r>
              <a:rPr lang="en-US" sz="1400" dirty="0">
                <a:solidFill>
                  <a:schemeClr val="tx2"/>
                </a:solidFill>
              </a:rPr>
              <a:t>From the neuron and the perceptron to the MLP in this week's assignment.</a:t>
            </a:r>
            <a:endParaRPr lang="en-US" sz="1400" dirty="0"/>
          </a:p>
        </p:txBody>
      </p:sp>
      <p:sp>
        <p:nvSpPr>
          <p:cNvPr id="19" name="journey-icon-0-circle"/>
          <p:cNvSpPr/>
          <p:nvPr/>
        </p:nvSpPr>
        <p:spPr>
          <a:xfrm>
            <a:off x="822960" y="2377440"/>
            <a:ext cx="640080" cy="640080"/>
          </a:xfrm>
          <a:prstGeom prst="ellipse">
            <a:avLst/>
          </a:prstGeom>
          <a:solidFill>
            <a:schemeClr val="accent2"/>
          </a:solidFill>
          <a:ln/>
        </p:spPr>
      </p:sp>
      <p:pic>
        <p:nvPicPr>
          <p:cNvPr id="20" name="journey-icon-0" descr="ChartLine icon">    </p:cNvPr>
          <p:cNvPicPr>
            <a:picLocks noChangeAspect="1"/>
          </p:cNvPicPr>
          <p:nvPr/>
        </p:nvPicPr>
        <p:blipFill>
          <a:blip r:embed="rId1"/>
          <a:stretch>
            <a:fillRect/>
          </a:stretch>
        </p:blipFill>
        <p:spPr>
          <a:xfrm>
            <a:off x="982980" y="2537460"/>
            <a:ext cx="320040" cy="320040"/>
          </a:xfrm>
          <a:prstGeom prst="rect">
            <a:avLst/>
          </a:prstGeom>
        </p:spPr>
      </p:pic>
      <p:sp>
        <p:nvSpPr>
          <p:cNvPr id="21" name="journey-icon-1-circle"/>
          <p:cNvSpPr/>
          <p:nvPr/>
        </p:nvSpPr>
        <p:spPr>
          <a:xfrm>
            <a:off x="3657600" y="2377440"/>
            <a:ext cx="640080" cy="640080"/>
          </a:xfrm>
          <a:prstGeom prst="ellipse">
            <a:avLst/>
          </a:prstGeom>
          <a:solidFill>
            <a:schemeClr val="accent2"/>
          </a:solidFill>
          <a:ln/>
        </p:spPr>
      </p:sp>
      <p:pic>
        <p:nvPicPr>
          <p:cNvPr id="22" name="journey-icon-1" descr="Clone icon">    </p:cNvPr>
          <p:cNvPicPr>
            <a:picLocks noChangeAspect="1"/>
          </p:cNvPicPr>
          <p:nvPr/>
        </p:nvPicPr>
        <p:blipFill>
          <a:blip r:embed="rId2"/>
          <a:stretch>
            <a:fillRect/>
          </a:stretch>
        </p:blipFill>
        <p:spPr>
          <a:xfrm>
            <a:off x="3817620" y="2537460"/>
            <a:ext cx="320040" cy="320040"/>
          </a:xfrm>
          <a:prstGeom prst="rect">
            <a:avLst/>
          </a:prstGeom>
        </p:spPr>
      </p:pic>
      <p:sp>
        <p:nvSpPr>
          <p:cNvPr id="23" name="journey-icon-2-circle"/>
          <p:cNvSpPr/>
          <p:nvPr/>
        </p:nvSpPr>
        <p:spPr>
          <a:xfrm>
            <a:off x="6492240" y="2377440"/>
            <a:ext cx="640080" cy="640080"/>
          </a:xfrm>
          <a:prstGeom prst="ellipse">
            <a:avLst/>
          </a:prstGeom>
          <a:solidFill>
            <a:schemeClr val="accent2"/>
          </a:solidFill>
          <a:ln/>
        </p:spPr>
      </p:sp>
      <p:pic>
        <p:nvPicPr>
          <p:cNvPr id="24" name="journey-icon-2" descr="ExclamationTriangle icon">    </p:cNvPr>
          <p:cNvPicPr>
            <a:picLocks noChangeAspect="1"/>
          </p:cNvPicPr>
          <p:nvPr/>
        </p:nvPicPr>
        <p:blipFill>
          <a:blip r:embed="rId3"/>
          <a:stretch>
            <a:fillRect/>
          </a:stretch>
        </p:blipFill>
        <p:spPr>
          <a:xfrm>
            <a:off x="6652260" y="2537460"/>
            <a:ext cx="320040" cy="320040"/>
          </a:xfrm>
          <a:prstGeom prst="rect">
            <a:avLst/>
          </a:prstGeom>
        </p:spPr>
      </p:pic>
      <p:sp>
        <p:nvSpPr>
          <p:cNvPr id="25" name="journey-icon-3-circle"/>
          <p:cNvSpPr/>
          <p:nvPr/>
        </p:nvSpPr>
        <p:spPr>
          <a:xfrm>
            <a:off x="9326880" y="2377440"/>
            <a:ext cx="640080" cy="640080"/>
          </a:xfrm>
          <a:prstGeom prst="ellipse">
            <a:avLst/>
          </a:prstGeom>
          <a:solidFill>
            <a:schemeClr val="accent2"/>
          </a:solidFill>
          <a:ln/>
        </p:spPr>
      </p:sp>
      <p:pic>
        <p:nvPicPr>
          <p:cNvPr id="26" name="journey-icon-3" descr="ProjectDiagram icon">    </p:cNvPr>
          <p:cNvPicPr>
            <a:picLocks noChangeAspect="1"/>
          </p:cNvPicPr>
          <p:nvPr/>
        </p:nvPicPr>
        <p:blipFill>
          <a:blip r:embed="rId4"/>
          <a:stretch>
            <a:fillRect/>
          </a:stretch>
        </p:blipFill>
        <p:spPr>
          <a:xfrm>
            <a:off x="9486900" y="2537460"/>
            <a:ext cx="320040" cy="320040"/>
          </a:xfrm>
          <a:prstGeom prst="rect">
            <a:avLst/>
          </a:prstGeom>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Machine learning in one line: find f so that f(x) ≈ y</a:t>
            </a:r>
            <a:endParaRPr lang="en-US" sz="3400" dirty="0"/>
          </a:p>
        </p:txBody>
      </p:sp>
      <p:sp>
        <p:nvSpPr>
          <p:cNvPr id="3" name="formula-card"/>
          <p:cNvSpPr/>
          <p:nvPr/>
        </p:nvSpPr>
        <p:spPr>
          <a:xfrm>
            <a:off x="548640" y="1508760"/>
            <a:ext cx="4846320" cy="4206240"/>
          </a:xfrm>
          <a:prstGeom prst="roundRect">
            <a:avLst>
              <a:gd name="adj" fmla="val 2609"/>
            </a:avLst>
          </a:prstGeom>
          <a:solidFill>
            <a:schemeClr val="tx1"/>
          </a:solidFill>
          <a:ln/>
        </p:spPr>
      </p:sp>
      <p:sp>
        <p:nvSpPr>
          <p:cNvPr id="4" name="Text 2"/>
          <p:cNvSpPr txBox="1"/>
          <p:nvPr/>
        </p:nvSpPr>
        <p:spPr>
          <a:xfrm>
            <a:off x="822960" y="2103120"/>
            <a:ext cx="4297680" cy="1097280"/>
          </a:xfrm>
          <a:prstGeom prst="rect">
            <a:avLst/>
          </a:prstGeom>
          <a:noFill/>
          <a:ln/>
        </p:spPr>
        <p:txBody>
          <a:bodyPr wrap="square" lIns="0" tIns="0" rIns="0" bIns="0" rtlCol="0" anchor="ctr"/>
          <a:lstStyle/>
          <a:p>
            <a:pPr algn="ctr" indent="0" marL="0">
              <a:buNone/>
            </a:pPr>
            <a:r>
              <a:rPr lang="en-US" sz="5400" b="1" dirty="0">
                <a:solidFill>
                  <a:schemeClr val="bg1"/>
                </a:solidFill>
                <a:latin typeface="Cambria" pitchFamily="34" charset="0"/>
                <a:ea typeface="Cambria" pitchFamily="34" charset="-122"/>
                <a:cs typeface="Cambria" pitchFamily="34" charset="-120"/>
              </a:rPr>
              <a:t>f(x) ≈ y</a:t>
            </a:r>
            <a:endParaRPr lang="en-US" sz="5400" dirty="0"/>
          </a:p>
        </p:txBody>
      </p:sp>
      <p:sp>
        <p:nvSpPr>
          <p:cNvPr id="5" name="Text 3"/>
          <p:cNvSpPr txBox="1"/>
          <p:nvPr/>
        </p:nvSpPr>
        <p:spPr>
          <a:xfrm>
            <a:off x="868680" y="3566160"/>
            <a:ext cx="4297680" cy="173736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x</a:t>
            </a:r>
            <a:pPr indent="0" marL="0">
              <a:spcAft>
                <a:spcPts val="600"/>
              </a:spcAft>
              <a:buNone/>
            </a:pPr>
            <a:r>
              <a:rPr lang="en-US" sz="1600" dirty="0">
                <a:solidFill>
                  <a:schemeClr val="accent6"/>
                </a:solidFill>
              </a:rPr>
              <a:t>  an input: pixels, words, a customer record</a:t>
            </a:r>
            <a:endParaRPr lang="en-US" sz="1600" dirty="0"/>
          </a:p>
          <a:p>
            <a:pPr indent="0" marL="0">
              <a:spcAft>
                <a:spcPts val="600"/>
              </a:spcAft>
              <a:buNone/>
            </a:pPr>
            <a:r>
              <a:rPr lang="en-US" sz="1600" b="1" dirty="0">
                <a:solidFill>
                  <a:schemeClr val="accent1"/>
                </a:solidFill>
              </a:rPr>
              <a:t>y</a:t>
            </a:r>
            <a:pPr indent="0" marL="0">
              <a:spcAft>
                <a:spcPts val="600"/>
              </a:spcAft>
              <a:buNone/>
            </a:pPr>
            <a:r>
              <a:rPr lang="en-US" sz="1600" dirty="0">
                <a:solidFill>
                  <a:schemeClr val="accent6"/>
                </a:solidFill>
              </a:rPr>
              <a:t>  the answer we want: a digit, a sentiment, a price</a:t>
            </a:r>
            <a:endParaRPr lang="en-US" sz="1600" dirty="0"/>
          </a:p>
          <a:p>
            <a:pPr indent="0" marL="0">
              <a:spcAft>
                <a:spcPts val="600"/>
              </a:spcAft>
              <a:buNone/>
            </a:pPr>
            <a:r>
              <a:rPr lang="en-US" sz="1600" b="1" dirty="0">
                <a:solidFill>
                  <a:schemeClr val="accent1"/>
                </a:solidFill>
              </a:rPr>
              <a:t>f</a:t>
            </a:r>
            <a:pPr indent="0" marL="0">
              <a:spcAft>
                <a:spcPts val="600"/>
              </a:spcAft>
              <a:buNone/>
            </a:pPr>
            <a:r>
              <a:rPr lang="en-US" sz="1600" dirty="0">
                <a:solidFill>
                  <a:schemeClr val="accent6"/>
                </a:solidFill>
              </a:rPr>
              <a:t>  the function we learn from examples</a:t>
            </a:r>
            <a:endParaRPr lang="en-US" sz="1600" dirty="0"/>
          </a:p>
        </p:txBody>
      </p:sp>
      <p:sp>
        <p:nvSpPr>
          <p:cNvPr id="6" name="ingredient-icon-0-circle"/>
          <p:cNvSpPr/>
          <p:nvPr/>
        </p:nvSpPr>
        <p:spPr>
          <a:xfrm>
            <a:off x="5852160" y="1600200"/>
            <a:ext cx="685800" cy="685800"/>
          </a:xfrm>
          <a:prstGeom prst="ellipse">
            <a:avLst/>
          </a:prstGeom>
          <a:solidFill>
            <a:schemeClr val="accent1"/>
          </a:solidFill>
          <a:ln/>
        </p:spPr>
      </p:sp>
      <p:pic>
        <p:nvPicPr>
          <p:cNvPr id="7" name="ingredient-icon-0" descr="Shapes icon">    </p:cNvPr>
          <p:cNvPicPr>
            <a:picLocks noChangeAspect="1"/>
          </p:cNvPicPr>
          <p:nvPr/>
        </p:nvPicPr>
        <p:blipFill>
          <a:blip r:embed="rId1"/>
          <a:stretch>
            <a:fillRect/>
          </a:stretch>
        </p:blipFill>
        <p:spPr>
          <a:xfrm>
            <a:off x="6023610" y="1771650"/>
            <a:ext cx="342900" cy="342900"/>
          </a:xfrm>
          <a:prstGeom prst="rect">
            <a:avLst/>
          </a:prstGeom>
        </p:spPr>
      </p:pic>
      <p:sp>
        <p:nvSpPr>
          <p:cNvPr id="8" name="Text 5"/>
          <p:cNvSpPr txBox="1"/>
          <p:nvPr/>
        </p:nvSpPr>
        <p:spPr>
          <a:xfrm>
            <a:off x="6766560" y="1554480"/>
            <a:ext cx="4846320" cy="411480"/>
          </a:xfrm>
          <a:prstGeom prst="rect">
            <a:avLst/>
          </a:prstGeom>
          <a:noFill/>
          <a:ln/>
        </p:spPr>
        <p:txBody>
          <a:bodyPr wrap="square" lIns="0" tIns="0" rIns="0" bIns="0" rtlCol="0" anchor="t"/>
          <a:lstStyle/>
          <a:p>
            <a:pPr indent="0" marL="0">
              <a:buNone/>
            </a:pPr>
            <a:r>
              <a:rPr lang="en-US" sz="1900" b="1" dirty="0">
                <a:solidFill>
                  <a:schemeClr val="tx1"/>
                </a:solidFill>
              </a:rPr>
              <a:t>Model</a:t>
            </a:r>
            <a:endParaRPr lang="en-US" sz="1900" dirty="0"/>
          </a:p>
        </p:txBody>
      </p:sp>
      <p:sp>
        <p:nvSpPr>
          <p:cNvPr id="9" name="Text 6"/>
          <p:cNvSpPr txBox="1"/>
          <p:nvPr/>
        </p:nvSpPr>
        <p:spPr>
          <a:xfrm>
            <a:off x="6766560" y="1965960"/>
            <a:ext cx="4846320" cy="868680"/>
          </a:xfrm>
          <a:prstGeom prst="rect">
            <a:avLst/>
          </a:prstGeom>
          <a:noFill/>
          <a:ln/>
        </p:spPr>
        <p:txBody>
          <a:bodyPr wrap="square" lIns="0" tIns="0" rIns="0" bIns="0" rtlCol="0" anchor="t"/>
          <a:lstStyle/>
          <a:p>
            <a:pPr indent="0" marL="0">
              <a:buNone/>
            </a:pPr>
            <a:r>
              <a:rPr lang="en-US" sz="1500" dirty="0">
                <a:solidFill>
                  <a:schemeClr val="tx2"/>
                </a:solidFill>
              </a:rPr>
              <a:t>A family of candidate functions: lines, trees, neural networks. Choosing the family decides what f can express.</a:t>
            </a:r>
            <a:endParaRPr lang="en-US" sz="1500" dirty="0"/>
          </a:p>
        </p:txBody>
      </p:sp>
      <p:sp>
        <p:nvSpPr>
          <p:cNvPr id="10" name="ingredient-icon-1-circle"/>
          <p:cNvSpPr/>
          <p:nvPr/>
        </p:nvSpPr>
        <p:spPr>
          <a:xfrm>
            <a:off x="5852160" y="3063240"/>
            <a:ext cx="685800" cy="685800"/>
          </a:xfrm>
          <a:prstGeom prst="ellipse">
            <a:avLst/>
          </a:prstGeom>
          <a:solidFill>
            <a:schemeClr val="accent1"/>
          </a:solidFill>
          <a:ln/>
        </p:spPr>
      </p:sp>
      <p:pic>
        <p:nvPicPr>
          <p:cNvPr id="11" name="ingredient-icon-1" descr="Bullseye icon">    </p:cNvPr>
          <p:cNvPicPr>
            <a:picLocks noChangeAspect="1"/>
          </p:cNvPicPr>
          <p:nvPr/>
        </p:nvPicPr>
        <p:blipFill>
          <a:blip r:embed="rId2"/>
          <a:stretch>
            <a:fillRect/>
          </a:stretch>
        </p:blipFill>
        <p:spPr>
          <a:xfrm>
            <a:off x="6023610" y="3234690"/>
            <a:ext cx="342900" cy="342900"/>
          </a:xfrm>
          <a:prstGeom prst="rect">
            <a:avLst/>
          </a:prstGeom>
        </p:spPr>
      </p:pic>
      <p:sp>
        <p:nvSpPr>
          <p:cNvPr id="12" name="Text 8"/>
          <p:cNvSpPr txBox="1"/>
          <p:nvPr/>
        </p:nvSpPr>
        <p:spPr>
          <a:xfrm>
            <a:off x="6766560" y="3017520"/>
            <a:ext cx="4846320" cy="411480"/>
          </a:xfrm>
          <a:prstGeom prst="rect">
            <a:avLst/>
          </a:prstGeom>
          <a:noFill/>
          <a:ln/>
        </p:spPr>
        <p:txBody>
          <a:bodyPr wrap="square" lIns="0" tIns="0" rIns="0" bIns="0" rtlCol="0" anchor="t"/>
          <a:lstStyle/>
          <a:p>
            <a:pPr indent="0" marL="0">
              <a:buNone/>
            </a:pPr>
            <a:r>
              <a:rPr lang="en-US" sz="1900" b="1" dirty="0">
                <a:solidFill>
                  <a:schemeClr val="tx1"/>
                </a:solidFill>
              </a:rPr>
              <a:t>Loss</a:t>
            </a:r>
            <a:endParaRPr lang="en-US" sz="1900" dirty="0"/>
          </a:p>
        </p:txBody>
      </p:sp>
      <p:sp>
        <p:nvSpPr>
          <p:cNvPr id="13" name="Text 9"/>
          <p:cNvSpPr txBox="1"/>
          <p:nvPr/>
        </p:nvSpPr>
        <p:spPr>
          <a:xfrm>
            <a:off x="6766560" y="3429000"/>
            <a:ext cx="4846320" cy="868680"/>
          </a:xfrm>
          <a:prstGeom prst="rect">
            <a:avLst/>
          </a:prstGeom>
          <a:noFill/>
          <a:ln/>
        </p:spPr>
        <p:txBody>
          <a:bodyPr wrap="square" lIns="0" tIns="0" rIns="0" bIns="0" rtlCol="0" anchor="t"/>
          <a:lstStyle/>
          <a:p>
            <a:pPr indent="0" marL="0">
              <a:buNone/>
            </a:pPr>
            <a:r>
              <a:rPr lang="en-US" sz="1500" dirty="0">
                <a:solidFill>
                  <a:schemeClr val="tx2"/>
                </a:solidFill>
              </a:rPr>
              <a:t>A single number that measures how wrong f is on the training data, such as cross-entropy for classification.</a:t>
            </a:r>
            <a:endParaRPr lang="en-US" sz="1500" dirty="0"/>
          </a:p>
        </p:txBody>
      </p:sp>
      <p:sp>
        <p:nvSpPr>
          <p:cNvPr id="14" name="ingredient-icon-2-circle"/>
          <p:cNvSpPr/>
          <p:nvPr/>
        </p:nvSpPr>
        <p:spPr>
          <a:xfrm>
            <a:off x="5852160" y="4526280"/>
            <a:ext cx="685800" cy="685800"/>
          </a:xfrm>
          <a:prstGeom prst="ellipse">
            <a:avLst/>
          </a:prstGeom>
          <a:solidFill>
            <a:schemeClr val="accent1"/>
          </a:solidFill>
          <a:ln/>
        </p:spPr>
      </p:sp>
      <p:pic>
        <p:nvPicPr>
          <p:cNvPr id="15" name="ingredient-icon-2" descr="SlidersH icon">    </p:cNvPr>
          <p:cNvPicPr>
            <a:picLocks noChangeAspect="1"/>
          </p:cNvPicPr>
          <p:nvPr/>
        </p:nvPicPr>
        <p:blipFill>
          <a:blip r:embed="rId3"/>
          <a:stretch>
            <a:fillRect/>
          </a:stretch>
        </p:blipFill>
        <p:spPr>
          <a:xfrm>
            <a:off x="6023610" y="4697730"/>
            <a:ext cx="342900" cy="342900"/>
          </a:xfrm>
          <a:prstGeom prst="rect">
            <a:avLst/>
          </a:prstGeom>
        </p:spPr>
      </p:pic>
      <p:sp>
        <p:nvSpPr>
          <p:cNvPr id="16" name="Text 11"/>
          <p:cNvSpPr txBox="1"/>
          <p:nvPr/>
        </p:nvSpPr>
        <p:spPr>
          <a:xfrm>
            <a:off x="6766560" y="4480560"/>
            <a:ext cx="4846320" cy="411480"/>
          </a:xfrm>
          <a:prstGeom prst="rect">
            <a:avLst/>
          </a:prstGeom>
          <a:noFill/>
          <a:ln/>
        </p:spPr>
        <p:txBody>
          <a:bodyPr wrap="square" lIns="0" tIns="0" rIns="0" bIns="0" rtlCol="0" anchor="t"/>
          <a:lstStyle/>
          <a:p>
            <a:pPr indent="0" marL="0">
              <a:buNone/>
            </a:pPr>
            <a:r>
              <a:rPr lang="en-US" sz="1900" b="1" dirty="0">
                <a:solidFill>
                  <a:schemeClr val="tx1"/>
                </a:solidFill>
              </a:rPr>
              <a:t>Optimizer</a:t>
            </a:r>
            <a:endParaRPr lang="en-US" sz="1900" dirty="0"/>
          </a:p>
        </p:txBody>
      </p:sp>
      <p:sp>
        <p:nvSpPr>
          <p:cNvPr id="17" name="Text 12"/>
          <p:cNvSpPr txBox="1"/>
          <p:nvPr/>
        </p:nvSpPr>
        <p:spPr>
          <a:xfrm>
            <a:off x="6766560" y="4892040"/>
            <a:ext cx="4846320" cy="868680"/>
          </a:xfrm>
          <a:prstGeom prst="rect">
            <a:avLst/>
          </a:prstGeom>
          <a:noFill/>
          <a:ln/>
        </p:spPr>
        <p:txBody>
          <a:bodyPr wrap="square" lIns="0" tIns="0" rIns="0" bIns="0" rtlCol="0" anchor="t"/>
          <a:lstStyle/>
          <a:p>
            <a:pPr indent="0" marL="0">
              <a:buNone/>
            </a:pPr>
            <a:r>
              <a:rPr lang="en-US" sz="1500" dirty="0">
                <a:solidFill>
                  <a:schemeClr val="tx2"/>
                </a:solidFill>
              </a:rPr>
              <a:t>A procedure that nudges f's parameters to lower the loss, such as gradient descent or Adam.</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The goal is not the training set, it's the next example</a:t>
            </a:r>
            <a:endParaRPr lang="en-US" sz="3400" dirty="0"/>
          </a:p>
        </p:txBody>
      </p:sp>
      <p:sp>
        <p:nvSpPr>
          <p:cNvPr id="3" name="learner-card-0"/>
          <p:cNvSpPr/>
          <p:nvPr/>
        </p:nvSpPr>
        <p:spPr>
          <a:xfrm>
            <a:off x="548640" y="1508760"/>
            <a:ext cx="5422392" cy="3429000"/>
          </a:xfrm>
          <a:prstGeom prst="roundRect">
            <a:avLst>
              <a:gd name="adj" fmla="val 3200"/>
            </a:avLst>
          </a:prstGeom>
          <a:solidFill>
            <a:schemeClr val="bg2"/>
          </a:solidFill>
          <a:ln/>
        </p:spPr>
      </p:sp>
      <p:sp>
        <p:nvSpPr>
          <p:cNvPr id="4" name="learner-icon-0-circle"/>
          <p:cNvSpPr/>
          <p:nvPr/>
        </p:nvSpPr>
        <p:spPr>
          <a:xfrm>
            <a:off x="868680" y="1783080"/>
            <a:ext cx="640080" cy="640080"/>
          </a:xfrm>
          <a:prstGeom prst="ellipse">
            <a:avLst/>
          </a:prstGeom>
          <a:solidFill>
            <a:schemeClr val="accent3"/>
          </a:solidFill>
          <a:ln/>
        </p:spPr>
      </p:sp>
      <p:pic>
        <p:nvPicPr>
          <p:cNvPr id="5" name="learner-icon-0" descr="TimesCircle icon">    </p:cNvPr>
          <p:cNvPicPr>
            <a:picLocks noChangeAspect="1"/>
          </p:cNvPicPr>
          <p:nvPr/>
        </p:nvPicPr>
        <p:blipFill>
          <a:blip r:embed="rId1"/>
          <a:stretch>
            <a:fillRect/>
          </a:stretch>
        </p:blipFill>
        <p:spPr>
          <a:xfrm>
            <a:off x="1028700" y="1943100"/>
            <a:ext cx="320040" cy="320040"/>
          </a:xfrm>
          <a:prstGeom prst="rect">
            <a:avLst/>
          </a:prstGeom>
        </p:spPr>
      </p:pic>
      <p:sp>
        <p:nvSpPr>
          <p:cNvPr id="6" name="Text 3"/>
          <p:cNvSpPr txBox="1"/>
          <p:nvPr/>
        </p:nvSpPr>
        <p:spPr>
          <a:xfrm>
            <a:off x="1691640" y="1874520"/>
            <a:ext cx="4023360" cy="457200"/>
          </a:xfrm>
          <a:prstGeom prst="rect">
            <a:avLst/>
          </a:prstGeom>
          <a:noFill/>
          <a:ln/>
        </p:spPr>
        <p:txBody>
          <a:bodyPr wrap="square" lIns="0" tIns="0" rIns="0" bIns="0" rtlCol="0" anchor="t"/>
          <a:lstStyle/>
          <a:p>
            <a:pPr indent="0" marL="0">
              <a:buNone/>
            </a:pPr>
            <a:r>
              <a:rPr lang="en-US" sz="2200" b="1" dirty="0">
                <a:solidFill>
                  <a:schemeClr val="tx1"/>
                </a:solidFill>
              </a:rPr>
              <a:t>The memorizer</a:t>
            </a:r>
            <a:endParaRPr lang="en-US" sz="2200" dirty="0"/>
          </a:p>
        </p:txBody>
      </p:sp>
      <p:sp>
        <p:nvSpPr>
          <p:cNvPr id="7" name="Text 4"/>
          <p:cNvSpPr txBox="1"/>
          <p:nvPr/>
        </p:nvSpPr>
        <p:spPr>
          <a:xfrm>
            <a:off x="914400" y="2651760"/>
            <a:ext cx="475488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Scores near 100% on training data</a:t>
            </a:r>
            <a:endParaRPr lang="en-US" sz="1600" dirty="0"/>
          </a:p>
          <a:p>
            <a:pPr marL="342900" indent="-342900">
              <a:spcAft>
                <a:spcPts val="800"/>
              </a:spcAft>
              <a:buSzPct val="100000"/>
              <a:buChar char="•"/>
            </a:pPr>
            <a:r>
              <a:rPr lang="en-US" sz="1600" dirty="0">
                <a:solidFill>
                  <a:schemeClr val="tx2"/>
                </a:solidFill>
              </a:rPr>
              <a:t>Learns quirks, noise and coincidences</a:t>
            </a:r>
            <a:endParaRPr lang="en-US" sz="1600" dirty="0"/>
          </a:p>
          <a:p>
            <a:pPr marL="342900" indent="-342900">
              <a:spcAft>
                <a:spcPts val="800"/>
              </a:spcAft>
              <a:buSzPct val="100000"/>
              <a:buChar char="•"/>
            </a:pPr>
            <a:r>
              <a:rPr lang="en-US" sz="1600" dirty="0">
                <a:solidFill>
                  <a:schemeClr val="tx2"/>
                </a:solidFill>
              </a:rPr>
              <a:t>Falls apart on new examples</a:t>
            </a:r>
            <a:endParaRPr lang="en-US" sz="1600" dirty="0"/>
          </a:p>
          <a:p>
            <a:pPr marL="342900" indent="-342900">
              <a:spcAft>
                <a:spcPts val="800"/>
              </a:spcAft>
              <a:buSzPct val="100000"/>
              <a:buChar char="•"/>
            </a:pPr>
            <a:r>
              <a:rPr lang="en-US" sz="1600" dirty="0">
                <a:solidFill>
                  <a:schemeClr val="tx2"/>
                </a:solidFill>
              </a:rPr>
              <a:t>Like a student who memorizes past exam answers</a:t>
            </a:r>
            <a:endParaRPr lang="en-US" sz="1600" dirty="0"/>
          </a:p>
        </p:txBody>
      </p:sp>
      <p:sp>
        <p:nvSpPr>
          <p:cNvPr id="8" name="learner-card-1"/>
          <p:cNvSpPr/>
          <p:nvPr/>
        </p:nvSpPr>
        <p:spPr>
          <a:xfrm>
            <a:off x="6217920" y="1508760"/>
            <a:ext cx="5422392" cy="3429000"/>
          </a:xfrm>
          <a:prstGeom prst="roundRect">
            <a:avLst>
              <a:gd name="adj" fmla="val 3200"/>
            </a:avLst>
          </a:prstGeom>
          <a:solidFill>
            <a:schemeClr val="bg2"/>
          </a:solidFill>
          <a:ln/>
        </p:spPr>
      </p:sp>
      <p:sp>
        <p:nvSpPr>
          <p:cNvPr id="9" name="learner-icon-1-circle"/>
          <p:cNvSpPr/>
          <p:nvPr/>
        </p:nvSpPr>
        <p:spPr>
          <a:xfrm>
            <a:off x="6537960" y="1783080"/>
            <a:ext cx="640080" cy="640080"/>
          </a:xfrm>
          <a:prstGeom prst="ellipse">
            <a:avLst/>
          </a:prstGeom>
          <a:solidFill>
            <a:schemeClr val="accent4"/>
          </a:solidFill>
          <a:ln/>
        </p:spPr>
      </p:sp>
      <p:pic>
        <p:nvPicPr>
          <p:cNvPr id="10" name="learner-icon-1" descr="CheckCircle icon">    </p:cNvPr>
          <p:cNvPicPr>
            <a:picLocks noChangeAspect="1"/>
          </p:cNvPicPr>
          <p:nvPr/>
        </p:nvPicPr>
        <p:blipFill>
          <a:blip r:embed="rId2"/>
          <a:stretch>
            <a:fillRect/>
          </a:stretch>
        </p:blipFill>
        <p:spPr>
          <a:xfrm>
            <a:off x="6697980" y="1943100"/>
            <a:ext cx="320040" cy="320040"/>
          </a:xfrm>
          <a:prstGeom prst="rect">
            <a:avLst/>
          </a:prstGeom>
        </p:spPr>
      </p:pic>
      <p:sp>
        <p:nvSpPr>
          <p:cNvPr id="11" name="Text 7"/>
          <p:cNvSpPr txBox="1"/>
          <p:nvPr/>
        </p:nvSpPr>
        <p:spPr>
          <a:xfrm>
            <a:off x="7360920" y="1874520"/>
            <a:ext cx="4023360" cy="457200"/>
          </a:xfrm>
          <a:prstGeom prst="rect">
            <a:avLst/>
          </a:prstGeom>
          <a:noFill/>
          <a:ln/>
        </p:spPr>
        <p:txBody>
          <a:bodyPr wrap="square" lIns="0" tIns="0" rIns="0" bIns="0" rtlCol="0" anchor="t"/>
          <a:lstStyle/>
          <a:p>
            <a:pPr indent="0" marL="0">
              <a:buNone/>
            </a:pPr>
            <a:r>
              <a:rPr lang="en-US" sz="2200" b="1" dirty="0">
                <a:solidFill>
                  <a:schemeClr val="tx1"/>
                </a:solidFill>
              </a:rPr>
              <a:t>The learner</a:t>
            </a:r>
            <a:endParaRPr lang="en-US" sz="2200" dirty="0"/>
          </a:p>
        </p:txBody>
      </p:sp>
      <p:sp>
        <p:nvSpPr>
          <p:cNvPr id="12" name="Text 8"/>
          <p:cNvSpPr txBox="1"/>
          <p:nvPr/>
        </p:nvSpPr>
        <p:spPr>
          <a:xfrm>
            <a:off x="6583680" y="2651760"/>
            <a:ext cx="475488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Scores a little lower on training data</a:t>
            </a:r>
            <a:endParaRPr lang="en-US" sz="1600" dirty="0"/>
          </a:p>
          <a:p>
            <a:pPr marL="342900" indent="-342900">
              <a:spcAft>
                <a:spcPts val="800"/>
              </a:spcAft>
              <a:buSzPct val="100000"/>
              <a:buChar char="•"/>
            </a:pPr>
            <a:r>
              <a:rPr lang="en-US" sz="1600" dirty="0">
                <a:solidFill>
                  <a:schemeClr val="tx2"/>
                </a:solidFill>
              </a:rPr>
              <a:t>Learns patterns that repeat across examples</a:t>
            </a:r>
            <a:endParaRPr lang="en-US" sz="1600" dirty="0"/>
          </a:p>
          <a:p>
            <a:pPr marL="342900" indent="-342900">
              <a:spcAft>
                <a:spcPts val="800"/>
              </a:spcAft>
              <a:buSzPct val="100000"/>
              <a:buChar char="•"/>
            </a:pPr>
            <a:r>
              <a:rPr lang="en-US" sz="1600" dirty="0">
                <a:solidFill>
                  <a:schemeClr val="tx2"/>
                </a:solidFill>
              </a:rPr>
              <a:t>Holds up on data it has never seen</a:t>
            </a:r>
            <a:endParaRPr lang="en-US" sz="1600" dirty="0"/>
          </a:p>
          <a:p>
            <a:pPr marL="342900" indent="-342900">
              <a:spcAft>
                <a:spcPts val="800"/>
              </a:spcAft>
              <a:buSzPct val="100000"/>
              <a:buChar char="•"/>
            </a:pPr>
            <a:r>
              <a:rPr lang="en-US" sz="1600" dirty="0">
                <a:solidFill>
                  <a:schemeClr val="tx2"/>
                </a:solidFill>
              </a:rPr>
              <a:t>Like a student who understands the method</a:t>
            </a:r>
            <a:endParaRPr lang="en-US" sz="1600" dirty="0"/>
          </a:p>
        </p:txBody>
      </p:sp>
      <p:sp>
        <p:nvSpPr>
          <p:cNvPr id="13" name="gap-callout"/>
          <p:cNvSpPr/>
          <p:nvPr/>
        </p:nvSpPr>
        <p:spPr>
          <a:xfrm>
            <a:off x="548640" y="5166360"/>
            <a:ext cx="11091672" cy="868680"/>
          </a:xfrm>
          <a:prstGeom prst="roundRect">
            <a:avLst>
              <a:gd name="adj" fmla="val 12632"/>
            </a:avLst>
          </a:prstGeom>
          <a:solidFill>
            <a:schemeClr val="tx1"/>
          </a:solidFill>
          <a:ln/>
        </p:spPr>
      </p:sp>
      <p:sp>
        <p:nvSpPr>
          <p:cNvPr id="14" name="Text 10"/>
          <p:cNvSpPr txBox="1"/>
          <p:nvPr/>
        </p:nvSpPr>
        <p:spPr>
          <a:xfrm>
            <a:off x="868680" y="5166360"/>
            <a:ext cx="10515600" cy="868680"/>
          </a:xfrm>
          <a:prstGeom prst="rect">
            <a:avLst/>
          </a:prstGeom>
          <a:noFill/>
          <a:ln/>
        </p:spPr>
        <p:txBody>
          <a:bodyPr wrap="square" lIns="0" tIns="0" rIns="0" bIns="0" rtlCol="0" anchor="ctr"/>
          <a:lstStyle/>
          <a:p>
            <a:pPr indent="0" marL="0">
              <a:buNone/>
            </a:pPr>
            <a:r>
              <a:rPr lang="en-US" sz="1800" b="1" dirty="0">
                <a:solidFill>
                  <a:schemeClr val="accent1"/>
                </a:solidFill>
              </a:rPr>
              <a:t>Generalization gap</a:t>
            </a:r>
            <a:pPr indent="0" marL="0">
              <a:buNone/>
            </a:pPr>
            <a:r>
              <a:rPr lang="en-US" sz="1800" dirty="0">
                <a:solidFill>
                  <a:schemeClr val="bg1"/>
                </a:solidFill>
              </a:rPr>
              <a:t>  =  training accuracy  −  test accuracy.  A large gap means the model is memorizing.</a:t>
            </a:r>
            <a:endParaRPr lang="en-US" sz="1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Labelled data is the bottleneck</a:t>
            </a:r>
            <a:endParaRPr lang="en-US" sz="3400" dirty="0"/>
          </a:p>
        </p:txBody>
      </p:sp>
      <p:sp>
        <p:nvSpPr>
          <p:cNvPr id="3" name="bottleneck-card-0"/>
          <p:cNvSpPr/>
          <p:nvPr/>
        </p:nvSpPr>
        <p:spPr>
          <a:xfrm>
            <a:off x="548640" y="1508760"/>
            <a:ext cx="3502152" cy="3200400"/>
          </a:xfrm>
          <a:prstGeom prst="roundRect">
            <a:avLst>
              <a:gd name="adj" fmla="val 3429"/>
            </a:avLst>
          </a:prstGeom>
          <a:solidFill>
            <a:schemeClr val="bg2"/>
          </a:solidFill>
          <a:ln/>
        </p:spPr>
      </p:sp>
      <p:sp>
        <p:nvSpPr>
          <p:cNvPr id="4" name="bottleneck-icon-0-circle"/>
          <p:cNvSpPr/>
          <p:nvPr/>
        </p:nvSpPr>
        <p:spPr>
          <a:xfrm>
            <a:off x="868680" y="1783080"/>
            <a:ext cx="685800" cy="685800"/>
          </a:xfrm>
          <a:prstGeom prst="ellipse">
            <a:avLst/>
          </a:prstGeom>
          <a:solidFill>
            <a:schemeClr val="accent2"/>
          </a:solidFill>
          <a:ln/>
        </p:spPr>
      </p:sp>
      <p:pic>
        <p:nvPicPr>
          <p:cNvPr id="5" name="bottleneck-icon-0" descr="UserClock icon">    </p:cNvPr>
          <p:cNvPicPr>
            <a:picLocks noChangeAspect="1"/>
          </p:cNvPicPr>
          <p:nvPr/>
        </p:nvPicPr>
        <p:blipFill>
          <a:blip r:embed="rId1"/>
          <a:stretch>
            <a:fillRect/>
          </a:stretch>
        </p:blipFill>
        <p:spPr>
          <a:xfrm>
            <a:off x="1040130" y="1954530"/>
            <a:ext cx="342900" cy="342900"/>
          </a:xfrm>
          <a:prstGeom prst="rect">
            <a:avLst/>
          </a:prstGeom>
        </p:spPr>
      </p:pic>
      <p:sp>
        <p:nvSpPr>
          <p:cNvPr id="6" name="Text 3"/>
          <p:cNvSpPr txBox="1"/>
          <p:nvPr/>
        </p:nvSpPr>
        <p:spPr>
          <a:xfrm>
            <a:off x="868680" y="2697480"/>
            <a:ext cx="2926080" cy="457200"/>
          </a:xfrm>
          <a:prstGeom prst="rect">
            <a:avLst/>
          </a:prstGeom>
          <a:noFill/>
          <a:ln/>
        </p:spPr>
        <p:txBody>
          <a:bodyPr wrap="square" lIns="0" tIns="0" rIns="0" bIns="0" rtlCol="0" anchor="t"/>
          <a:lstStyle/>
          <a:p>
            <a:pPr indent="0" marL="0">
              <a:buNone/>
            </a:pPr>
            <a:r>
              <a:rPr lang="en-US" sz="2000" b="1" dirty="0">
                <a:solidFill>
                  <a:schemeClr val="tx1"/>
                </a:solidFill>
              </a:rPr>
              <a:t>Expensive</a:t>
            </a:r>
            <a:endParaRPr lang="en-US" sz="2000" dirty="0"/>
          </a:p>
        </p:txBody>
      </p:sp>
      <p:sp>
        <p:nvSpPr>
          <p:cNvPr id="7" name="Text 4"/>
          <p:cNvSpPr txBox="1"/>
          <p:nvPr/>
        </p:nvSpPr>
        <p:spPr>
          <a:xfrm>
            <a:off x="868680" y="3200400"/>
            <a:ext cx="2926080" cy="1371600"/>
          </a:xfrm>
          <a:prstGeom prst="rect">
            <a:avLst/>
          </a:prstGeom>
          <a:noFill/>
          <a:ln/>
        </p:spPr>
        <p:txBody>
          <a:bodyPr wrap="square" lIns="0" tIns="0" rIns="0" bIns="0" rtlCol="0" anchor="t"/>
          <a:lstStyle/>
          <a:p>
            <a:pPr indent="0" marL="0">
              <a:buNone/>
            </a:pPr>
            <a:r>
              <a:rPr lang="en-US" sz="1500" dirty="0">
                <a:solidFill>
                  <a:schemeClr val="tx2"/>
                </a:solidFill>
              </a:rPr>
              <a:t>Every label needs a person. Medical, legal and financial labels need specialists whose time is scarce.</a:t>
            </a:r>
            <a:endParaRPr lang="en-US" sz="1500" dirty="0"/>
          </a:p>
        </p:txBody>
      </p:sp>
      <p:sp>
        <p:nvSpPr>
          <p:cNvPr id="8" name="bottleneck-card-1"/>
          <p:cNvSpPr/>
          <p:nvPr/>
        </p:nvSpPr>
        <p:spPr>
          <a:xfrm>
            <a:off x="4297680" y="1508760"/>
            <a:ext cx="3502152" cy="3200400"/>
          </a:xfrm>
          <a:prstGeom prst="roundRect">
            <a:avLst>
              <a:gd name="adj" fmla="val 3429"/>
            </a:avLst>
          </a:prstGeom>
          <a:solidFill>
            <a:schemeClr val="bg2"/>
          </a:solidFill>
          <a:ln/>
        </p:spPr>
      </p:sp>
      <p:sp>
        <p:nvSpPr>
          <p:cNvPr id="9" name="bottleneck-icon-1-circle"/>
          <p:cNvSpPr/>
          <p:nvPr/>
        </p:nvSpPr>
        <p:spPr>
          <a:xfrm>
            <a:off x="4617720" y="1783080"/>
            <a:ext cx="685800" cy="685800"/>
          </a:xfrm>
          <a:prstGeom prst="ellipse">
            <a:avLst/>
          </a:prstGeom>
          <a:solidFill>
            <a:schemeClr val="accent2"/>
          </a:solidFill>
          <a:ln/>
        </p:spPr>
      </p:sp>
      <p:pic>
        <p:nvPicPr>
          <p:cNvPr id="10" name="bottleneck-icon-1" descr="HourglassHalf icon">    </p:cNvPr>
          <p:cNvPicPr>
            <a:picLocks noChangeAspect="1"/>
          </p:cNvPicPr>
          <p:nvPr/>
        </p:nvPicPr>
        <p:blipFill>
          <a:blip r:embed="rId2"/>
          <a:stretch>
            <a:fillRect/>
          </a:stretch>
        </p:blipFill>
        <p:spPr>
          <a:xfrm>
            <a:off x="4789170" y="1954530"/>
            <a:ext cx="342900" cy="342900"/>
          </a:xfrm>
          <a:prstGeom prst="rect">
            <a:avLst/>
          </a:prstGeom>
        </p:spPr>
      </p:pic>
      <p:sp>
        <p:nvSpPr>
          <p:cNvPr id="11" name="Text 7"/>
          <p:cNvSpPr txBox="1"/>
          <p:nvPr/>
        </p:nvSpPr>
        <p:spPr>
          <a:xfrm>
            <a:off x="4617720" y="2697480"/>
            <a:ext cx="2926080" cy="457200"/>
          </a:xfrm>
          <a:prstGeom prst="rect">
            <a:avLst/>
          </a:prstGeom>
          <a:noFill/>
          <a:ln/>
        </p:spPr>
        <p:txBody>
          <a:bodyPr wrap="square" lIns="0" tIns="0" rIns="0" bIns="0" rtlCol="0" anchor="t"/>
          <a:lstStyle/>
          <a:p>
            <a:pPr indent="0" marL="0">
              <a:buNone/>
            </a:pPr>
            <a:r>
              <a:rPr lang="en-US" sz="2000" b="1" dirty="0">
                <a:solidFill>
                  <a:schemeClr val="tx1"/>
                </a:solidFill>
              </a:rPr>
              <a:t>Slow</a:t>
            </a:r>
            <a:endParaRPr lang="en-US" sz="2000" dirty="0"/>
          </a:p>
        </p:txBody>
      </p:sp>
      <p:sp>
        <p:nvSpPr>
          <p:cNvPr id="12" name="Text 8"/>
          <p:cNvSpPr txBox="1"/>
          <p:nvPr/>
        </p:nvSpPr>
        <p:spPr>
          <a:xfrm>
            <a:off x="4617720" y="3200400"/>
            <a:ext cx="2926080" cy="1371600"/>
          </a:xfrm>
          <a:prstGeom prst="rect">
            <a:avLst/>
          </a:prstGeom>
          <a:noFill/>
          <a:ln/>
        </p:spPr>
        <p:txBody>
          <a:bodyPr wrap="square" lIns="0" tIns="0" rIns="0" bIns="0" rtlCol="0" anchor="t"/>
          <a:lstStyle/>
          <a:p>
            <a:pPr indent="0" marL="0">
              <a:buNone/>
            </a:pPr>
            <a:r>
              <a:rPr lang="en-US" sz="1500" dirty="0">
                <a:solidFill>
                  <a:schemeClr val="tx2"/>
                </a:solidFill>
              </a:rPr>
              <a:t>ImageNet's ~14 million labelled images took several years of crowdsourced work to build.</a:t>
            </a:r>
            <a:endParaRPr lang="en-US" sz="1500" dirty="0"/>
          </a:p>
        </p:txBody>
      </p:sp>
      <p:sp>
        <p:nvSpPr>
          <p:cNvPr id="13" name="bottleneck-card-2"/>
          <p:cNvSpPr/>
          <p:nvPr/>
        </p:nvSpPr>
        <p:spPr>
          <a:xfrm>
            <a:off x="8046720" y="1508760"/>
            <a:ext cx="3502152" cy="3200400"/>
          </a:xfrm>
          <a:prstGeom prst="roundRect">
            <a:avLst>
              <a:gd name="adj" fmla="val 3429"/>
            </a:avLst>
          </a:prstGeom>
          <a:solidFill>
            <a:schemeClr val="bg2"/>
          </a:solidFill>
          <a:ln/>
        </p:spPr>
      </p:sp>
      <p:sp>
        <p:nvSpPr>
          <p:cNvPr id="14" name="bottleneck-icon-2-circle"/>
          <p:cNvSpPr/>
          <p:nvPr/>
        </p:nvSpPr>
        <p:spPr>
          <a:xfrm>
            <a:off x="8366760" y="1783080"/>
            <a:ext cx="685800" cy="685800"/>
          </a:xfrm>
          <a:prstGeom prst="ellipse">
            <a:avLst/>
          </a:prstGeom>
          <a:solidFill>
            <a:schemeClr val="accent2"/>
          </a:solidFill>
          <a:ln/>
        </p:spPr>
      </p:sp>
      <p:pic>
        <p:nvPicPr>
          <p:cNvPr id="15" name="bottleneck-icon-2" descr="BalanceScale icon">    </p:cNvPr>
          <p:cNvPicPr>
            <a:picLocks noChangeAspect="1"/>
          </p:cNvPicPr>
          <p:nvPr/>
        </p:nvPicPr>
        <p:blipFill>
          <a:blip r:embed="rId3"/>
          <a:stretch>
            <a:fillRect/>
          </a:stretch>
        </p:blipFill>
        <p:spPr>
          <a:xfrm>
            <a:off x="8538210" y="1954530"/>
            <a:ext cx="342900" cy="342900"/>
          </a:xfrm>
          <a:prstGeom prst="rect">
            <a:avLst/>
          </a:prstGeom>
        </p:spPr>
      </p:pic>
      <p:sp>
        <p:nvSpPr>
          <p:cNvPr id="16" name="Text 11"/>
          <p:cNvSpPr txBox="1"/>
          <p:nvPr/>
        </p:nvSpPr>
        <p:spPr>
          <a:xfrm>
            <a:off x="8366760" y="2697480"/>
            <a:ext cx="2926080" cy="457200"/>
          </a:xfrm>
          <a:prstGeom prst="rect">
            <a:avLst/>
          </a:prstGeom>
          <a:noFill/>
          <a:ln/>
        </p:spPr>
        <p:txBody>
          <a:bodyPr wrap="square" lIns="0" tIns="0" rIns="0" bIns="0" rtlCol="0" anchor="t"/>
          <a:lstStyle/>
          <a:p>
            <a:pPr indent="0" marL="0">
              <a:buNone/>
            </a:pPr>
            <a:r>
              <a:rPr lang="en-US" sz="2000" b="1" dirty="0">
                <a:solidFill>
                  <a:schemeClr val="tx1"/>
                </a:solidFill>
              </a:rPr>
              <a:t>Imbalanced</a:t>
            </a:r>
            <a:endParaRPr lang="en-US" sz="2000" dirty="0"/>
          </a:p>
        </p:txBody>
      </p:sp>
      <p:sp>
        <p:nvSpPr>
          <p:cNvPr id="17" name="Text 12"/>
          <p:cNvSpPr txBox="1"/>
          <p:nvPr/>
        </p:nvSpPr>
        <p:spPr>
          <a:xfrm>
            <a:off x="8366760" y="3200400"/>
            <a:ext cx="2926080" cy="1371600"/>
          </a:xfrm>
          <a:prstGeom prst="rect">
            <a:avLst/>
          </a:prstGeom>
          <a:noFill/>
          <a:ln/>
        </p:spPr>
        <p:txBody>
          <a:bodyPr wrap="square" lIns="0" tIns="0" rIns="0" bIns="0" rtlCol="0" anchor="t"/>
          <a:lstStyle/>
          <a:p>
            <a:pPr indent="0" marL="0">
              <a:buNone/>
            </a:pPr>
            <a:r>
              <a:rPr lang="en-US" sz="1500" dirty="0">
                <a:solidFill>
                  <a:schemeClr val="tx2"/>
                </a:solidFill>
              </a:rPr>
              <a:t>Rare classes such as fraud or rare diseases have few examples by definition, exactly where we need them most.</a:t>
            </a:r>
            <a:endParaRPr lang="en-US" sz="1500" dirty="0"/>
          </a:p>
        </p:txBody>
      </p:sp>
      <p:sp>
        <p:nvSpPr>
          <p:cNvPr id="18" name="bottleneck-question"/>
          <p:cNvSpPr/>
          <p:nvPr/>
        </p:nvSpPr>
        <p:spPr>
          <a:xfrm>
            <a:off x="548640" y="5029200"/>
            <a:ext cx="11091672" cy="1005840"/>
          </a:xfrm>
          <a:prstGeom prst="roundRect">
            <a:avLst>
              <a:gd name="adj" fmla="val 10909"/>
            </a:avLst>
          </a:prstGeom>
          <a:solidFill>
            <a:schemeClr val="accent1"/>
          </a:solidFill>
          <a:ln/>
        </p:spPr>
      </p:sp>
      <p:sp>
        <p:nvSpPr>
          <p:cNvPr id="19" name="Text 14"/>
          <p:cNvSpPr txBox="1"/>
          <p:nvPr/>
        </p:nvSpPr>
        <p:spPr>
          <a:xfrm>
            <a:off x="868680" y="5029200"/>
            <a:ext cx="10515600" cy="1005840"/>
          </a:xfrm>
          <a:prstGeom prst="rect">
            <a:avLst/>
          </a:prstGeom>
          <a:noFill/>
          <a:ln/>
        </p:spPr>
        <p:txBody>
          <a:bodyPr wrap="square" lIns="0" tIns="0" rIns="0" bIns="0" rtlCol="0" anchor="ctr"/>
          <a:lstStyle/>
          <a:p>
            <a:pPr indent="0" marL="0">
              <a:buNone/>
            </a:pPr>
            <a:r>
              <a:rPr lang="en-US" sz="2200" b="1" i="1" dirty="0">
                <a:solidFill>
                  <a:schemeClr val="tx1"/>
                </a:solidFill>
                <a:latin typeface="Cambria" pitchFamily="34" charset="0"/>
                <a:ea typeface="Cambria" pitchFamily="34" charset="-122"/>
                <a:cs typeface="Cambria" pitchFamily="34" charset="-120"/>
              </a:rPr>
              <a:t>If we can't collect more data, can we create more from the data we already have?</a:t>
            </a:r>
            <a:endParaRPr lang="en-US" sz="2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Augmentation: transform the input, keep the label</a:t>
            </a:r>
            <a:endParaRPr lang="en-US" sz="3400" dirty="0"/>
          </a:p>
        </p:txBody>
      </p:sp>
      <p:pic>
        <p:nvPicPr>
          <p:cNvPr id="3" name="aug-original" descr="Original iris flower photo">    </p:cNvPr>
          <p:cNvPicPr>
            <a:picLocks noChangeAspect="1"/>
          </p:cNvPicPr>
          <p:nvPr/>
        </p:nvPicPr>
        <p:blipFill>
          <a:blip r:embed="rId1"/>
          <a:stretch>
            <a:fillRect/>
          </a:stretch>
        </p:blipFill>
        <p:spPr>
          <a:xfrm>
            <a:off x="548640" y="1508760"/>
            <a:ext cx="2085772" cy="2651760"/>
          </a:xfrm>
          <a:prstGeom prst="rect">
            <a:avLst/>
          </a:prstGeom>
        </p:spPr>
      </p:pic>
      <p:sp>
        <p:nvSpPr>
          <p:cNvPr id="4" name="Text 1"/>
          <p:cNvSpPr txBox="1"/>
          <p:nvPr/>
        </p:nvSpPr>
        <p:spPr>
          <a:xfrm>
            <a:off x="548640" y="4206240"/>
            <a:ext cx="2634412" cy="320040"/>
          </a:xfrm>
          <a:prstGeom prst="rect">
            <a:avLst/>
          </a:prstGeom>
          <a:noFill/>
          <a:ln/>
        </p:spPr>
        <p:txBody>
          <a:bodyPr wrap="square" lIns="0" tIns="0" rIns="0" bIns="0" rtlCol="0" anchor="t"/>
          <a:lstStyle/>
          <a:p>
            <a:pPr indent="0" marL="0">
              <a:buNone/>
            </a:pPr>
            <a:r>
              <a:rPr lang="en-US" sz="1300" b="1" dirty="0">
                <a:solidFill>
                  <a:schemeClr val="tx1"/>
                </a:solidFill>
              </a:rPr>
              <a:t>Original  ·  label: iris</a:t>
            </a:r>
            <a:endParaRPr lang="en-US" sz="1300" dirty="0"/>
          </a:p>
        </p:txBody>
      </p:sp>
      <p:sp>
        <p:nvSpPr>
          <p:cNvPr id="5" name="aug-arrow"/>
          <p:cNvSpPr/>
          <p:nvPr/>
        </p:nvSpPr>
        <p:spPr>
          <a:xfrm>
            <a:off x="2880360" y="2606040"/>
            <a:ext cx="731520" cy="457200"/>
          </a:xfrm>
          <a:prstGeom prst="rightArrow">
            <a:avLst/>
          </a:prstGeom>
          <a:solidFill>
            <a:schemeClr val="accent1"/>
          </a:solidFill>
          <a:ln/>
        </p:spPr>
      </p:sp>
      <p:pic>
        <p:nvPicPr>
          <p:cNvPr id="6" name="aug-hflip" descr="Flipped iris photo">    </p:cNvPr>
          <p:cNvPicPr>
            <a:picLocks noChangeAspect="1"/>
          </p:cNvPicPr>
          <p:nvPr/>
        </p:nvPicPr>
        <p:blipFill>
          <a:blip r:embed="rId2"/>
          <a:stretch>
            <a:fillRect/>
          </a:stretch>
        </p:blipFill>
        <p:spPr>
          <a:xfrm>
            <a:off x="3886200" y="1508760"/>
            <a:ext cx="2085772" cy="2651760"/>
          </a:xfrm>
          <a:prstGeom prst="rect">
            <a:avLst/>
          </a:prstGeom>
        </p:spPr>
      </p:pic>
      <p:sp>
        <p:nvSpPr>
          <p:cNvPr id="7" name="Text 3"/>
          <p:cNvSpPr txBox="1"/>
          <p:nvPr/>
        </p:nvSpPr>
        <p:spPr>
          <a:xfrm>
            <a:off x="3886200" y="4206240"/>
            <a:ext cx="2360092" cy="320040"/>
          </a:xfrm>
          <a:prstGeom prst="rect">
            <a:avLst/>
          </a:prstGeom>
          <a:noFill/>
          <a:ln/>
        </p:spPr>
        <p:txBody>
          <a:bodyPr wrap="square" lIns="0" tIns="0" rIns="0" bIns="0" rtlCol="0" anchor="t"/>
          <a:lstStyle/>
          <a:p>
            <a:pPr indent="0" marL="0">
              <a:buNone/>
            </a:pPr>
            <a:r>
              <a:rPr lang="en-US" sz="1300" dirty="0">
                <a:solidFill>
                  <a:schemeClr val="tx2"/>
                </a:solidFill>
              </a:rPr>
              <a:t>Flipped  ·  label: iris</a:t>
            </a:r>
            <a:endParaRPr lang="en-US" sz="1300" dirty="0"/>
          </a:p>
        </p:txBody>
      </p:sp>
      <p:pic>
        <p:nvPicPr>
          <p:cNvPr id="8" name="aug-rotate" descr="Rotated 20° iris photo">    </p:cNvPr>
          <p:cNvPicPr>
            <a:picLocks noChangeAspect="1"/>
          </p:cNvPicPr>
          <p:nvPr/>
        </p:nvPicPr>
        <p:blipFill>
          <a:blip r:embed="rId3"/>
          <a:stretch>
            <a:fillRect/>
          </a:stretch>
        </p:blipFill>
        <p:spPr>
          <a:xfrm>
            <a:off x="6292012" y="1508760"/>
            <a:ext cx="2085772" cy="2651760"/>
          </a:xfrm>
          <a:prstGeom prst="rect">
            <a:avLst/>
          </a:prstGeom>
        </p:spPr>
      </p:pic>
      <p:sp>
        <p:nvSpPr>
          <p:cNvPr id="9" name="Text 4"/>
          <p:cNvSpPr txBox="1"/>
          <p:nvPr/>
        </p:nvSpPr>
        <p:spPr>
          <a:xfrm>
            <a:off x="6292012" y="4206240"/>
            <a:ext cx="2360092" cy="320040"/>
          </a:xfrm>
          <a:prstGeom prst="rect">
            <a:avLst/>
          </a:prstGeom>
          <a:noFill/>
          <a:ln/>
        </p:spPr>
        <p:txBody>
          <a:bodyPr wrap="square" lIns="0" tIns="0" rIns="0" bIns="0" rtlCol="0" anchor="t"/>
          <a:lstStyle/>
          <a:p>
            <a:pPr indent="0" marL="0">
              <a:buNone/>
            </a:pPr>
            <a:r>
              <a:rPr lang="en-US" sz="1300" dirty="0">
                <a:solidFill>
                  <a:schemeClr val="tx2"/>
                </a:solidFill>
              </a:rPr>
              <a:t>Rotated 20°  ·  label: iris</a:t>
            </a:r>
            <a:endParaRPr lang="en-US" sz="1300" dirty="0"/>
          </a:p>
        </p:txBody>
      </p:sp>
      <p:pic>
        <p:nvPicPr>
          <p:cNvPr id="10" name="aug-jitter" descr="Colour jitter iris photo">    </p:cNvPr>
          <p:cNvPicPr>
            <a:picLocks noChangeAspect="1"/>
          </p:cNvPicPr>
          <p:nvPr/>
        </p:nvPicPr>
        <p:blipFill>
          <a:blip r:embed="rId4"/>
          <a:stretch>
            <a:fillRect/>
          </a:stretch>
        </p:blipFill>
        <p:spPr>
          <a:xfrm>
            <a:off x="8697823" y="1508760"/>
            <a:ext cx="2085772" cy="2651760"/>
          </a:xfrm>
          <a:prstGeom prst="rect">
            <a:avLst/>
          </a:prstGeom>
        </p:spPr>
      </p:pic>
      <p:sp>
        <p:nvSpPr>
          <p:cNvPr id="11" name="Text 5"/>
          <p:cNvSpPr txBox="1"/>
          <p:nvPr/>
        </p:nvSpPr>
        <p:spPr>
          <a:xfrm>
            <a:off x="8697823" y="4206240"/>
            <a:ext cx="2360092" cy="320040"/>
          </a:xfrm>
          <a:prstGeom prst="rect">
            <a:avLst/>
          </a:prstGeom>
          <a:noFill/>
          <a:ln/>
        </p:spPr>
        <p:txBody>
          <a:bodyPr wrap="square" lIns="0" tIns="0" rIns="0" bIns="0" rtlCol="0" anchor="t"/>
          <a:lstStyle/>
          <a:p>
            <a:pPr indent="0" marL="0">
              <a:buNone/>
            </a:pPr>
            <a:r>
              <a:rPr lang="en-US" sz="1300" dirty="0">
                <a:solidFill>
                  <a:schemeClr val="tx2"/>
                </a:solidFill>
              </a:rPr>
              <a:t>Colour jitter  ·  label: iris</a:t>
            </a:r>
            <a:endParaRPr lang="en-US" sz="1300" dirty="0"/>
          </a:p>
        </p:txBody>
      </p:sp>
      <p:sp>
        <p:nvSpPr>
          <p:cNvPr id="12" name="aug-rule"/>
          <p:cNvSpPr/>
          <p:nvPr/>
        </p:nvSpPr>
        <p:spPr>
          <a:xfrm>
            <a:off x="548640" y="4754880"/>
            <a:ext cx="11091672" cy="1325880"/>
          </a:xfrm>
          <a:prstGeom prst="roundRect">
            <a:avLst>
              <a:gd name="adj" fmla="val 8276"/>
            </a:avLst>
          </a:prstGeom>
          <a:solidFill>
            <a:schemeClr val="bg2"/>
          </a:solidFill>
          <a:ln/>
        </p:spPr>
      </p:sp>
      <p:sp>
        <p:nvSpPr>
          <p:cNvPr id="13" name="Text 7"/>
          <p:cNvSpPr txBox="1"/>
          <p:nvPr/>
        </p:nvSpPr>
        <p:spPr>
          <a:xfrm>
            <a:off x="868680" y="4754880"/>
            <a:ext cx="3840480" cy="132588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(x, y)  →  (T(x), y)</a:t>
            </a:r>
            <a:endParaRPr lang="en-US" sz="2800" dirty="0"/>
          </a:p>
        </p:txBody>
      </p:sp>
      <p:sp>
        <p:nvSpPr>
          <p:cNvPr id="14" name="Text 8"/>
          <p:cNvSpPr txBox="1"/>
          <p:nvPr/>
        </p:nvSpPr>
        <p:spPr>
          <a:xfrm>
            <a:off x="4846320" y="4754880"/>
            <a:ext cx="6583680" cy="1325880"/>
          </a:xfrm>
          <a:prstGeom prst="rect">
            <a:avLst/>
          </a:prstGeom>
          <a:noFill/>
          <a:ln/>
        </p:spPr>
        <p:txBody>
          <a:bodyPr wrap="square" lIns="0" tIns="0" rIns="0" bIns="0" rtlCol="0" anchor="ctr"/>
          <a:lstStyle/>
          <a:p>
            <a:pPr indent="0" marL="0">
              <a:buNone/>
            </a:pPr>
            <a:r>
              <a:rPr lang="en-US" sz="1600" dirty="0">
                <a:solidFill>
                  <a:schemeClr val="tx2"/>
                </a:solidFill>
              </a:rPr>
              <a:t>Each transformation T is a claim: "this change does not affect the label." Applied randomly every epoch, it shows the model many plausible versions of every training example.</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Small dataset? Show every image many ways</a:t>
            </a:r>
            <a:endParaRPr lang="en-US" sz="3400" dirty="0"/>
          </a:p>
        </p:txBody>
      </p:sp>
      <p:pic>
        <p:nvPicPr>
          <p:cNvPr id="3" name="views-original" descr="Original iris training image">    </p:cNvPr>
          <p:cNvPicPr>
            <a:picLocks noChangeAspect="1"/>
          </p:cNvPicPr>
          <p:nvPr/>
        </p:nvPicPr>
        <p:blipFill>
          <a:blip r:embed="rId1"/>
          <a:stretch>
            <a:fillRect/>
          </a:stretch>
        </p:blipFill>
        <p:spPr>
          <a:xfrm>
            <a:off x="548640" y="1463040"/>
            <a:ext cx="2805003" cy="3566160"/>
          </a:xfrm>
          <a:prstGeom prst="rect">
            <a:avLst/>
          </a:prstGeom>
        </p:spPr>
      </p:pic>
      <p:sp>
        <p:nvSpPr>
          <p:cNvPr id="4" name="Text 1"/>
          <p:cNvSpPr txBox="1"/>
          <p:nvPr/>
        </p:nvSpPr>
        <p:spPr>
          <a:xfrm>
            <a:off x="548640" y="5074920"/>
            <a:ext cx="3170763" cy="320040"/>
          </a:xfrm>
          <a:prstGeom prst="rect">
            <a:avLst/>
          </a:prstGeom>
          <a:noFill/>
          <a:ln/>
        </p:spPr>
        <p:txBody>
          <a:bodyPr wrap="square" lIns="0" tIns="0" rIns="0" bIns="0" rtlCol="0" anchor="t"/>
          <a:lstStyle/>
          <a:p>
            <a:pPr indent="0" marL="0">
              <a:buNone/>
            </a:pPr>
            <a:r>
              <a:rPr lang="en-US" sz="1400" b="1" dirty="0">
                <a:solidFill>
                  <a:schemeClr val="tx1"/>
                </a:solidFill>
              </a:rPr>
              <a:t>1 labelled training image</a:t>
            </a:r>
            <a:endParaRPr lang="en-US" sz="1400" dirty="0"/>
          </a:p>
        </p:txBody>
      </p:sp>
      <p:sp>
        <p:nvSpPr>
          <p:cNvPr id="5" name="views-arrow"/>
          <p:cNvSpPr/>
          <p:nvPr/>
        </p:nvSpPr>
        <p:spPr>
          <a:xfrm>
            <a:off x="3520440" y="3017520"/>
            <a:ext cx="548640" cy="411480"/>
          </a:xfrm>
          <a:prstGeom prst="rightArrow">
            <a:avLst/>
          </a:prstGeom>
          <a:solidFill>
            <a:schemeClr val="accent1"/>
          </a:solidFill>
          <a:ln/>
        </p:spPr>
      </p:sp>
      <p:pic>
        <p:nvPicPr>
          <p:cNvPr id="6" name="views-hflip" descr="Augmented iris image, epoch 1">    </p:cNvPr>
          <p:cNvPicPr>
            <a:picLocks noChangeAspect="1"/>
          </p:cNvPicPr>
          <p:nvPr/>
        </p:nvPicPr>
        <p:blipFill>
          <a:blip r:embed="rId2"/>
          <a:stretch>
            <a:fillRect/>
          </a:stretch>
        </p:blipFill>
        <p:spPr>
          <a:xfrm>
            <a:off x="4206240" y="1463040"/>
            <a:ext cx="1165155" cy="1481328"/>
          </a:xfrm>
          <a:prstGeom prst="rect">
            <a:avLst/>
          </a:prstGeom>
        </p:spPr>
      </p:pic>
      <p:sp>
        <p:nvSpPr>
          <p:cNvPr id="7" name="Text 3"/>
          <p:cNvSpPr txBox="1"/>
          <p:nvPr/>
        </p:nvSpPr>
        <p:spPr>
          <a:xfrm>
            <a:off x="4206240" y="2971800"/>
            <a:ext cx="1165155" cy="274320"/>
          </a:xfrm>
          <a:prstGeom prst="rect">
            <a:avLst/>
          </a:prstGeom>
          <a:noFill/>
          <a:ln/>
        </p:spPr>
        <p:txBody>
          <a:bodyPr wrap="square" lIns="0" tIns="0" rIns="0" bIns="0" rtlCol="0" anchor="t"/>
          <a:lstStyle/>
          <a:p>
            <a:pPr algn="ctr" indent="0" marL="0">
              <a:buNone/>
            </a:pPr>
            <a:r>
              <a:rPr lang="en-US" sz="1100" dirty="0">
                <a:solidFill>
                  <a:schemeClr val="accent5"/>
                </a:solidFill>
              </a:rPr>
              <a:t>epoch 1</a:t>
            </a:r>
            <a:endParaRPr lang="en-US" sz="1100" dirty="0"/>
          </a:p>
        </p:txBody>
      </p:sp>
      <p:pic>
        <p:nvPicPr>
          <p:cNvPr id="8" name="views-rotate" descr="Augmented iris image, epoch 2">    </p:cNvPr>
          <p:cNvPicPr>
            <a:picLocks noChangeAspect="1"/>
          </p:cNvPicPr>
          <p:nvPr/>
        </p:nvPicPr>
        <p:blipFill>
          <a:blip r:embed="rId3"/>
          <a:stretch>
            <a:fillRect/>
          </a:stretch>
        </p:blipFill>
        <p:spPr>
          <a:xfrm>
            <a:off x="5508555" y="1463040"/>
            <a:ext cx="1165155" cy="1481328"/>
          </a:xfrm>
          <a:prstGeom prst="rect">
            <a:avLst/>
          </a:prstGeom>
        </p:spPr>
      </p:pic>
      <p:sp>
        <p:nvSpPr>
          <p:cNvPr id="9" name="Text 4"/>
          <p:cNvSpPr txBox="1"/>
          <p:nvPr/>
        </p:nvSpPr>
        <p:spPr>
          <a:xfrm>
            <a:off x="5508555" y="2971800"/>
            <a:ext cx="1165155" cy="274320"/>
          </a:xfrm>
          <a:prstGeom prst="rect">
            <a:avLst/>
          </a:prstGeom>
          <a:noFill/>
          <a:ln/>
        </p:spPr>
        <p:txBody>
          <a:bodyPr wrap="square" lIns="0" tIns="0" rIns="0" bIns="0" rtlCol="0" anchor="t"/>
          <a:lstStyle/>
          <a:p>
            <a:pPr algn="ctr" indent="0" marL="0">
              <a:buNone/>
            </a:pPr>
            <a:r>
              <a:rPr lang="en-US" sz="1100" dirty="0">
                <a:solidFill>
                  <a:schemeClr val="accent5"/>
                </a:solidFill>
              </a:rPr>
              <a:t>epoch 2</a:t>
            </a:r>
            <a:endParaRPr lang="en-US" sz="1100" dirty="0"/>
          </a:p>
        </p:txBody>
      </p:sp>
      <p:pic>
        <p:nvPicPr>
          <p:cNvPr id="10" name="views-crop" descr="Augmented iris image, epoch 3">    </p:cNvPr>
          <p:cNvPicPr>
            <a:picLocks noChangeAspect="1"/>
          </p:cNvPicPr>
          <p:nvPr/>
        </p:nvPicPr>
        <p:blipFill>
          <a:blip r:embed="rId4"/>
          <a:stretch>
            <a:fillRect/>
          </a:stretch>
        </p:blipFill>
        <p:spPr>
          <a:xfrm>
            <a:off x="6810870" y="1463040"/>
            <a:ext cx="1165155" cy="1481328"/>
          </a:xfrm>
          <a:prstGeom prst="rect">
            <a:avLst/>
          </a:prstGeom>
        </p:spPr>
      </p:pic>
      <p:sp>
        <p:nvSpPr>
          <p:cNvPr id="11" name="Text 5"/>
          <p:cNvSpPr txBox="1"/>
          <p:nvPr/>
        </p:nvSpPr>
        <p:spPr>
          <a:xfrm>
            <a:off x="6810870" y="2971800"/>
            <a:ext cx="1165155" cy="274320"/>
          </a:xfrm>
          <a:prstGeom prst="rect">
            <a:avLst/>
          </a:prstGeom>
          <a:noFill/>
          <a:ln/>
        </p:spPr>
        <p:txBody>
          <a:bodyPr wrap="square" lIns="0" tIns="0" rIns="0" bIns="0" rtlCol="0" anchor="t"/>
          <a:lstStyle/>
          <a:p>
            <a:pPr algn="ctr" indent="0" marL="0">
              <a:buNone/>
            </a:pPr>
            <a:r>
              <a:rPr lang="en-US" sz="1100" dirty="0">
                <a:solidFill>
                  <a:schemeClr val="accent5"/>
                </a:solidFill>
              </a:rPr>
              <a:t>epoch 3</a:t>
            </a:r>
            <a:endParaRPr lang="en-US" sz="1100" dirty="0"/>
          </a:p>
        </p:txBody>
      </p:sp>
      <p:pic>
        <p:nvPicPr>
          <p:cNvPr id="12" name="views-jitter" descr="Augmented iris image, epoch 4">    </p:cNvPr>
          <p:cNvPicPr>
            <a:picLocks noChangeAspect="1"/>
          </p:cNvPicPr>
          <p:nvPr/>
        </p:nvPicPr>
        <p:blipFill>
          <a:blip r:embed="rId5"/>
          <a:stretch>
            <a:fillRect/>
          </a:stretch>
        </p:blipFill>
        <p:spPr>
          <a:xfrm>
            <a:off x="8113186" y="1463040"/>
            <a:ext cx="1165155" cy="1481328"/>
          </a:xfrm>
          <a:prstGeom prst="rect">
            <a:avLst/>
          </a:prstGeom>
        </p:spPr>
      </p:pic>
      <p:sp>
        <p:nvSpPr>
          <p:cNvPr id="13" name="Text 6"/>
          <p:cNvSpPr txBox="1"/>
          <p:nvPr/>
        </p:nvSpPr>
        <p:spPr>
          <a:xfrm>
            <a:off x="8113186" y="2971800"/>
            <a:ext cx="1165155" cy="274320"/>
          </a:xfrm>
          <a:prstGeom prst="rect">
            <a:avLst/>
          </a:prstGeom>
          <a:noFill/>
          <a:ln/>
        </p:spPr>
        <p:txBody>
          <a:bodyPr wrap="square" lIns="0" tIns="0" rIns="0" bIns="0" rtlCol="0" anchor="t"/>
          <a:lstStyle/>
          <a:p>
            <a:pPr algn="ctr" indent="0" marL="0">
              <a:buNone/>
            </a:pPr>
            <a:r>
              <a:rPr lang="en-US" sz="1100" dirty="0">
                <a:solidFill>
                  <a:schemeClr val="accent5"/>
                </a:solidFill>
              </a:rPr>
              <a:t>epoch 4</a:t>
            </a:r>
            <a:endParaRPr lang="en-US" sz="1100" dirty="0"/>
          </a:p>
        </p:txBody>
      </p:sp>
      <p:pic>
        <p:nvPicPr>
          <p:cNvPr id="14" name="views-noise" descr="Augmented iris image, epoch 5">    </p:cNvPr>
          <p:cNvPicPr>
            <a:picLocks noChangeAspect="1"/>
          </p:cNvPicPr>
          <p:nvPr/>
        </p:nvPicPr>
        <p:blipFill>
          <a:blip r:embed="rId6"/>
          <a:stretch>
            <a:fillRect/>
          </a:stretch>
        </p:blipFill>
        <p:spPr>
          <a:xfrm>
            <a:off x="4206240" y="3355848"/>
            <a:ext cx="1165155" cy="1481328"/>
          </a:xfrm>
          <a:prstGeom prst="rect">
            <a:avLst/>
          </a:prstGeom>
        </p:spPr>
      </p:pic>
      <p:sp>
        <p:nvSpPr>
          <p:cNvPr id="15" name="Text 7"/>
          <p:cNvSpPr txBox="1"/>
          <p:nvPr/>
        </p:nvSpPr>
        <p:spPr>
          <a:xfrm>
            <a:off x="4206240" y="4864608"/>
            <a:ext cx="1165155" cy="274320"/>
          </a:xfrm>
          <a:prstGeom prst="rect">
            <a:avLst/>
          </a:prstGeom>
          <a:noFill/>
          <a:ln/>
        </p:spPr>
        <p:txBody>
          <a:bodyPr wrap="square" lIns="0" tIns="0" rIns="0" bIns="0" rtlCol="0" anchor="t"/>
          <a:lstStyle/>
          <a:p>
            <a:pPr algn="ctr" indent="0" marL="0">
              <a:buNone/>
            </a:pPr>
            <a:r>
              <a:rPr lang="en-US" sz="1100" dirty="0">
                <a:solidFill>
                  <a:schemeClr val="accent5"/>
                </a:solidFill>
              </a:rPr>
              <a:t>epoch 5</a:t>
            </a:r>
            <a:endParaRPr lang="en-US" sz="1100" dirty="0"/>
          </a:p>
        </p:txBody>
      </p:sp>
      <p:pic>
        <p:nvPicPr>
          <p:cNvPr id="16" name="views-blur" descr="Augmented iris image, epoch 6">    </p:cNvPr>
          <p:cNvPicPr>
            <a:picLocks noChangeAspect="1"/>
          </p:cNvPicPr>
          <p:nvPr/>
        </p:nvPicPr>
        <p:blipFill>
          <a:blip r:embed="rId7"/>
          <a:stretch>
            <a:fillRect/>
          </a:stretch>
        </p:blipFill>
        <p:spPr>
          <a:xfrm>
            <a:off x="5508555" y="3355848"/>
            <a:ext cx="1165155" cy="1481328"/>
          </a:xfrm>
          <a:prstGeom prst="rect">
            <a:avLst/>
          </a:prstGeom>
        </p:spPr>
      </p:pic>
      <p:sp>
        <p:nvSpPr>
          <p:cNvPr id="17" name="Text 8"/>
          <p:cNvSpPr txBox="1"/>
          <p:nvPr/>
        </p:nvSpPr>
        <p:spPr>
          <a:xfrm>
            <a:off x="5508555" y="4864608"/>
            <a:ext cx="1165155" cy="274320"/>
          </a:xfrm>
          <a:prstGeom prst="rect">
            <a:avLst/>
          </a:prstGeom>
          <a:noFill/>
          <a:ln/>
        </p:spPr>
        <p:txBody>
          <a:bodyPr wrap="square" lIns="0" tIns="0" rIns="0" bIns="0" rtlCol="0" anchor="t"/>
          <a:lstStyle/>
          <a:p>
            <a:pPr algn="ctr" indent="0" marL="0">
              <a:buNone/>
            </a:pPr>
            <a:r>
              <a:rPr lang="en-US" sz="1100" dirty="0">
                <a:solidFill>
                  <a:schemeClr val="accent5"/>
                </a:solidFill>
              </a:rPr>
              <a:t>epoch 6</a:t>
            </a:r>
            <a:endParaRPr lang="en-US" sz="1100" dirty="0"/>
          </a:p>
        </p:txBody>
      </p:sp>
      <p:pic>
        <p:nvPicPr>
          <p:cNvPr id="18" name="views-erase" descr="Augmented iris image, epoch 7">    </p:cNvPr>
          <p:cNvPicPr>
            <a:picLocks noChangeAspect="1"/>
          </p:cNvPicPr>
          <p:nvPr/>
        </p:nvPicPr>
        <p:blipFill>
          <a:blip r:embed="rId8"/>
          <a:stretch>
            <a:fillRect/>
          </a:stretch>
        </p:blipFill>
        <p:spPr>
          <a:xfrm>
            <a:off x="6810870" y="3355848"/>
            <a:ext cx="1165155" cy="1481328"/>
          </a:xfrm>
          <a:prstGeom prst="rect">
            <a:avLst/>
          </a:prstGeom>
        </p:spPr>
      </p:pic>
      <p:sp>
        <p:nvSpPr>
          <p:cNvPr id="19" name="Text 9"/>
          <p:cNvSpPr txBox="1"/>
          <p:nvPr/>
        </p:nvSpPr>
        <p:spPr>
          <a:xfrm>
            <a:off x="6810870" y="4864608"/>
            <a:ext cx="1165155" cy="274320"/>
          </a:xfrm>
          <a:prstGeom prst="rect">
            <a:avLst/>
          </a:prstGeom>
          <a:noFill/>
          <a:ln/>
        </p:spPr>
        <p:txBody>
          <a:bodyPr wrap="square" lIns="0" tIns="0" rIns="0" bIns="0" rtlCol="0" anchor="t"/>
          <a:lstStyle/>
          <a:p>
            <a:pPr algn="ctr" indent="0" marL="0">
              <a:buNone/>
            </a:pPr>
            <a:r>
              <a:rPr lang="en-US" sz="1100" dirty="0">
                <a:solidFill>
                  <a:schemeClr val="accent5"/>
                </a:solidFill>
              </a:rPr>
              <a:t>epoch 7</a:t>
            </a:r>
            <a:endParaRPr lang="en-US" sz="1100" dirty="0"/>
          </a:p>
        </p:txBody>
      </p:sp>
      <p:pic>
        <p:nvPicPr>
          <p:cNvPr id="20" name="views-gray" descr="Augmented iris image, epoch 8">    </p:cNvPr>
          <p:cNvPicPr>
            <a:picLocks noChangeAspect="1"/>
          </p:cNvPicPr>
          <p:nvPr/>
        </p:nvPicPr>
        <p:blipFill>
          <a:blip r:embed="rId9"/>
          <a:stretch>
            <a:fillRect/>
          </a:stretch>
        </p:blipFill>
        <p:spPr>
          <a:xfrm>
            <a:off x="8113186" y="3355848"/>
            <a:ext cx="1165155" cy="1481328"/>
          </a:xfrm>
          <a:prstGeom prst="rect">
            <a:avLst/>
          </a:prstGeom>
        </p:spPr>
      </p:pic>
      <p:sp>
        <p:nvSpPr>
          <p:cNvPr id="21" name="Text 10"/>
          <p:cNvSpPr txBox="1"/>
          <p:nvPr/>
        </p:nvSpPr>
        <p:spPr>
          <a:xfrm>
            <a:off x="8113186" y="4864608"/>
            <a:ext cx="1165155" cy="274320"/>
          </a:xfrm>
          <a:prstGeom prst="rect">
            <a:avLst/>
          </a:prstGeom>
          <a:noFill/>
          <a:ln/>
        </p:spPr>
        <p:txBody>
          <a:bodyPr wrap="square" lIns="0" tIns="0" rIns="0" bIns="0" rtlCol="0" anchor="t"/>
          <a:lstStyle/>
          <a:p>
            <a:pPr algn="ctr" indent="0" marL="0">
              <a:buNone/>
            </a:pPr>
            <a:r>
              <a:rPr lang="en-US" sz="1100" dirty="0">
                <a:solidFill>
                  <a:schemeClr val="accent5"/>
                </a:solidFill>
              </a:rPr>
              <a:t>epoch 8</a:t>
            </a:r>
            <a:endParaRPr lang="en-US" sz="1100" dirty="0"/>
          </a:p>
        </p:txBody>
      </p:sp>
      <p:sp>
        <p:nvSpPr>
          <p:cNvPr id="22" name="views-stat"/>
          <p:cNvSpPr/>
          <p:nvPr/>
        </p:nvSpPr>
        <p:spPr>
          <a:xfrm>
            <a:off x="9555480" y="1463040"/>
            <a:ext cx="2084832" cy="3886200"/>
          </a:xfrm>
          <a:prstGeom prst="roundRect">
            <a:avLst>
              <a:gd name="adj" fmla="val 5263"/>
            </a:avLst>
          </a:prstGeom>
          <a:solidFill>
            <a:schemeClr val="tx1"/>
          </a:solidFill>
          <a:ln/>
        </p:spPr>
      </p:sp>
      <p:sp>
        <p:nvSpPr>
          <p:cNvPr id="23" name="Text 12"/>
          <p:cNvSpPr txBox="1"/>
          <p:nvPr/>
        </p:nvSpPr>
        <p:spPr>
          <a:xfrm>
            <a:off x="9738360" y="1645920"/>
            <a:ext cx="1737360" cy="1005840"/>
          </a:xfrm>
          <a:prstGeom prst="rect">
            <a:avLst/>
          </a:prstGeom>
          <a:noFill/>
          <a:ln/>
        </p:spPr>
        <p:txBody>
          <a:bodyPr wrap="square" lIns="0" tIns="0" rIns="0" bIns="0" rtlCol="0" anchor="t"/>
          <a:lstStyle/>
          <a:p>
            <a:pPr indent="0" marL="0">
              <a:buNone/>
            </a:pPr>
            <a:r>
              <a:rPr lang="en-US" sz="6600" b="1" dirty="0">
                <a:solidFill>
                  <a:schemeClr val="accent1"/>
                </a:solidFill>
                <a:latin typeface="Cambria" pitchFamily="34" charset="0"/>
                <a:ea typeface="Cambria" pitchFamily="34" charset="-122"/>
                <a:cs typeface="Cambria" pitchFamily="34" charset="-120"/>
              </a:rPr>
              <a:t>8</a:t>
            </a:r>
            <a:endParaRPr lang="en-US" sz="6600" dirty="0"/>
          </a:p>
        </p:txBody>
      </p:sp>
      <p:sp>
        <p:nvSpPr>
          <p:cNvPr id="24" name="Text 13"/>
          <p:cNvSpPr txBox="1"/>
          <p:nvPr/>
        </p:nvSpPr>
        <p:spPr>
          <a:xfrm>
            <a:off x="9738360" y="2697480"/>
            <a:ext cx="1737360" cy="2377440"/>
          </a:xfrm>
          <a:prstGeom prst="rect">
            <a:avLst/>
          </a:prstGeom>
          <a:noFill/>
          <a:ln/>
        </p:spPr>
        <p:txBody>
          <a:bodyPr wrap="square" lIns="0" tIns="0" rIns="0" bIns="0" rtlCol="0" anchor="t"/>
          <a:lstStyle/>
          <a:p>
            <a:pPr indent="0" marL="0">
              <a:buNone/>
            </a:pPr>
            <a:r>
              <a:rPr lang="en-US" sz="1500" dirty="0">
                <a:solidFill>
                  <a:schemeClr val="bg1"/>
                </a:solidFill>
              </a:rPr>
              <a:t>different views in 8 epochs, from one label someone paid for once</a:t>
            </a:r>
            <a:endParaRPr lang="en-US" sz="1500" dirty="0"/>
          </a:p>
        </p:txBody>
      </p:sp>
      <p:sp>
        <p:nvSpPr>
          <p:cNvPr id="25" name="views-callout"/>
          <p:cNvSpPr/>
          <p:nvPr/>
        </p:nvSpPr>
        <p:spPr>
          <a:xfrm>
            <a:off x="548640" y="5486400"/>
            <a:ext cx="11091672" cy="640080"/>
          </a:xfrm>
          <a:prstGeom prst="roundRect">
            <a:avLst>
              <a:gd name="adj" fmla="val 17143"/>
            </a:avLst>
          </a:prstGeom>
          <a:solidFill>
            <a:schemeClr val="bg2"/>
          </a:solidFill>
          <a:ln/>
        </p:spPr>
      </p:sp>
      <p:sp>
        <p:nvSpPr>
          <p:cNvPr id="26" name="Text 15"/>
          <p:cNvSpPr txBox="1"/>
          <p:nvPr/>
        </p:nvSpPr>
        <p:spPr>
          <a:xfrm>
            <a:off x="822960" y="5486400"/>
            <a:ext cx="10607040" cy="640080"/>
          </a:xfrm>
          <a:prstGeom prst="rect">
            <a:avLst/>
          </a:prstGeom>
          <a:noFill/>
          <a:ln/>
        </p:spPr>
        <p:txBody>
          <a:bodyPr wrap="square" lIns="0" tIns="0" rIns="0" bIns="0" rtlCol="0" anchor="ctr"/>
          <a:lstStyle/>
          <a:p>
            <a:pPr indent="0" marL="0">
              <a:buNone/>
            </a:pPr>
            <a:r>
              <a:rPr lang="en-US" sz="1500" b="1" dirty="0">
                <a:solidFill>
                  <a:schemeClr val="tx1"/>
                </a:solidFill>
              </a:rPr>
              <a:t>Augmentation helps most when data is scarce: </a:t>
            </a:r>
            <a:pPr indent="0" marL="0">
              <a:buNone/>
            </a:pPr>
            <a:r>
              <a:rPr lang="en-US" sz="1500" dirty="0">
                <a:solidFill>
                  <a:schemeClr val="tx2"/>
                </a:solidFill>
              </a:rPr>
              <a:t>hundreds to a few thousand examples per class. With millions of images, the gain shrinks.</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Image toolbox: what each transform teaches</a:t>
            </a:r>
            <a:endParaRPr lang="en-US" sz="3400" dirty="0"/>
          </a:p>
        </p:txBody>
      </p:sp>
      <p:pic>
        <p:nvPicPr>
          <p:cNvPr id="3" name="tool-hflip" descr="Horizontal flip applied to iris photo">    </p:cNvPr>
          <p:cNvPicPr>
            <a:picLocks noChangeAspect="1"/>
          </p:cNvPicPr>
          <p:nvPr/>
        </p:nvPicPr>
        <p:blipFill>
          <a:blip r:embed="rId1"/>
          <a:stretch>
            <a:fillRect/>
          </a:stretch>
        </p:blipFill>
        <p:spPr>
          <a:xfrm>
            <a:off x="548640" y="1463040"/>
            <a:ext cx="1600200" cy="2034425"/>
          </a:xfrm>
          <a:prstGeom prst="rect">
            <a:avLst/>
          </a:prstGeom>
        </p:spPr>
      </p:pic>
      <p:sp>
        <p:nvSpPr>
          <p:cNvPr id="4" name="Text 1"/>
          <p:cNvSpPr txBox="1"/>
          <p:nvPr/>
        </p:nvSpPr>
        <p:spPr>
          <a:xfrm>
            <a:off x="548640" y="3634625"/>
            <a:ext cx="1783080" cy="365760"/>
          </a:xfrm>
          <a:prstGeom prst="rect">
            <a:avLst/>
          </a:prstGeom>
          <a:noFill/>
          <a:ln/>
        </p:spPr>
        <p:txBody>
          <a:bodyPr wrap="square" lIns="0" tIns="0" rIns="0" bIns="0" rtlCol="0" anchor="t"/>
          <a:lstStyle/>
          <a:p>
            <a:pPr indent="0" marL="0">
              <a:buNone/>
            </a:pPr>
            <a:r>
              <a:rPr lang="en-US" sz="1500" b="1" dirty="0">
                <a:solidFill>
                  <a:schemeClr val="tx1"/>
                </a:solidFill>
              </a:rPr>
              <a:t>Horizontal flip</a:t>
            </a:r>
            <a:endParaRPr lang="en-US" sz="1500" dirty="0"/>
          </a:p>
        </p:txBody>
      </p:sp>
      <p:sp>
        <p:nvSpPr>
          <p:cNvPr id="5" name="Text 2"/>
          <p:cNvSpPr txBox="1"/>
          <p:nvPr/>
        </p:nvSpPr>
        <p:spPr>
          <a:xfrm>
            <a:off x="548640" y="4000385"/>
            <a:ext cx="1737360" cy="685800"/>
          </a:xfrm>
          <a:prstGeom prst="rect">
            <a:avLst/>
          </a:prstGeom>
          <a:noFill/>
          <a:ln/>
        </p:spPr>
        <p:txBody>
          <a:bodyPr wrap="square" lIns="0" tIns="0" rIns="0" bIns="0" rtlCol="0" anchor="t"/>
          <a:lstStyle/>
          <a:p>
            <a:pPr indent="0" marL="0">
              <a:buNone/>
            </a:pPr>
            <a:r>
              <a:rPr lang="en-US" sz="1300" dirty="0">
                <a:solidFill>
                  <a:schemeClr val="tx2"/>
                </a:solidFill>
              </a:rPr>
              <a:t>Left vs right doesn't matter</a:t>
            </a:r>
            <a:endParaRPr lang="en-US" sz="1300" dirty="0"/>
          </a:p>
        </p:txBody>
      </p:sp>
      <p:pic>
        <p:nvPicPr>
          <p:cNvPr id="6" name="tool-rotate" descr="Rotation applied to iris photo">    </p:cNvPr>
          <p:cNvPicPr>
            <a:picLocks noChangeAspect="1"/>
          </p:cNvPicPr>
          <p:nvPr/>
        </p:nvPicPr>
        <p:blipFill>
          <a:blip r:embed="rId2"/>
          <a:stretch>
            <a:fillRect/>
          </a:stretch>
        </p:blipFill>
        <p:spPr>
          <a:xfrm>
            <a:off x="2441448" y="1463040"/>
            <a:ext cx="1600200" cy="2034425"/>
          </a:xfrm>
          <a:prstGeom prst="rect">
            <a:avLst/>
          </a:prstGeom>
        </p:spPr>
      </p:pic>
      <p:sp>
        <p:nvSpPr>
          <p:cNvPr id="7" name="Text 3"/>
          <p:cNvSpPr txBox="1"/>
          <p:nvPr/>
        </p:nvSpPr>
        <p:spPr>
          <a:xfrm>
            <a:off x="2441448" y="3634625"/>
            <a:ext cx="1783080" cy="365760"/>
          </a:xfrm>
          <a:prstGeom prst="rect">
            <a:avLst/>
          </a:prstGeom>
          <a:noFill/>
          <a:ln/>
        </p:spPr>
        <p:txBody>
          <a:bodyPr wrap="square" lIns="0" tIns="0" rIns="0" bIns="0" rtlCol="0" anchor="t"/>
          <a:lstStyle/>
          <a:p>
            <a:pPr indent="0" marL="0">
              <a:buNone/>
            </a:pPr>
            <a:r>
              <a:rPr lang="en-US" sz="1500" b="1" dirty="0">
                <a:solidFill>
                  <a:schemeClr val="tx1"/>
                </a:solidFill>
              </a:rPr>
              <a:t>Rotation</a:t>
            </a:r>
            <a:endParaRPr lang="en-US" sz="1500" dirty="0"/>
          </a:p>
        </p:txBody>
      </p:sp>
      <p:sp>
        <p:nvSpPr>
          <p:cNvPr id="8" name="Text 4"/>
          <p:cNvSpPr txBox="1"/>
          <p:nvPr/>
        </p:nvSpPr>
        <p:spPr>
          <a:xfrm>
            <a:off x="2441448" y="4000385"/>
            <a:ext cx="1737360" cy="685800"/>
          </a:xfrm>
          <a:prstGeom prst="rect">
            <a:avLst/>
          </a:prstGeom>
          <a:noFill/>
          <a:ln/>
        </p:spPr>
        <p:txBody>
          <a:bodyPr wrap="square" lIns="0" tIns="0" rIns="0" bIns="0" rtlCol="0" anchor="t"/>
          <a:lstStyle/>
          <a:p>
            <a:pPr indent="0" marL="0">
              <a:buNone/>
            </a:pPr>
            <a:r>
              <a:rPr lang="en-US" sz="1300" dirty="0">
                <a:solidFill>
                  <a:schemeClr val="tx2"/>
                </a:solidFill>
              </a:rPr>
              <a:t>Tilted camera or page</a:t>
            </a:r>
            <a:endParaRPr lang="en-US" sz="1300" dirty="0"/>
          </a:p>
        </p:txBody>
      </p:sp>
      <p:pic>
        <p:nvPicPr>
          <p:cNvPr id="9" name="tool-crop" descr="Random crop applied to iris photo">    </p:cNvPr>
          <p:cNvPicPr>
            <a:picLocks noChangeAspect="1"/>
          </p:cNvPicPr>
          <p:nvPr/>
        </p:nvPicPr>
        <p:blipFill>
          <a:blip r:embed="rId3"/>
          <a:stretch>
            <a:fillRect/>
          </a:stretch>
        </p:blipFill>
        <p:spPr>
          <a:xfrm>
            <a:off x="4334256" y="1463040"/>
            <a:ext cx="1600200" cy="2034425"/>
          </a:xfrm>
          <a:prstGeom prst="rect">
            <a:avLst/>
          </a:prstGeom>
        </p:spPr>
      </p:pic>
      <p:sp>
        <p:nvSpPr>
          <p:cNvPr id="10" name="Text 5"/>
          <p:cNvSpPr txBox="1"/>
          <p:nvPr/>
        </p:nvSpPr>
        <p:spPr>
          <a:xfrm>
            <a:off x="4334256" y="3634625"/>
            <a:ext cx="1783080" cy="365760"/>
          </a:xfrm>
          <a:prstGeom prst="rect">
            <a:avLst/>
          </a:prstGeom>
          <a:noFill/>
          <a:ln/>
        </p:spPr>
        <p:txBody>
          <a:bodyPr wrap="square" lIns="0" tIns="0" rIns="0" bIns="0" rtlCol="0" anchor="t"/>
          <a:lstStyle/>
          <a:p>
            <a:pPr indent="0" marL="0">
              <a:buNone/>
            </a:pPr>
            <a:r>
              <a:rPr lang="en-US" sz="1500" b="1" dirty="0">
                <a:solidFill>
                  <a:schemeClr val="tx1"/>
                </a:solidFill>
              </a:rPr>
              <a:t>Random crop</a:t>
            </a:r>
            <a:endParaRPr lang="en-US" sz="1500" dirty="0"/>
          </a:p>
        </p:txBody>
      </p:sp>
      <p:sp>
        <p:nvSpPr>
          <p:cNvPr id="11" name="Text 6"/>
          <p:cNvSpPr txBox="1"/>
          <p:nvPr/>
        </p:nvSpPr>
        <p:spPr>
          <a:xfrm>
            <a:off x="4334256" y="4000385"/>
            <a:ext cx="1737360" cy="685800"/>
          </a:xfrm>
          <a:prstGeom prst="rect">
            <a:avLst/>
          </a:prstGeom>
          <a:noFill/>
          <a:ln/>
        </p:spPr>
        <p:txBody>
          <a:bodyPr wrap="square" lIns="0" tIns="0" rIns="0" bIns="0" rtlCol="0" anchor="t"/>
          <a:lstStyle/>
          <a:p>
            <a:pPr indent="0" marL="0">
              <a:buNone/>
            </a:pPr>
            <a:r>
              <a:rPr lang="en-US" sz="1300" dirty="0">
                <a:solidFill>
                  <a:schemeClr val="tx2"/>
                </a:solidFill>
              </a:rPr>
              <a:t>Object position and scale vary</a:t>
            </a:r>
            <a:endParaRPr lang="en-US" sz="1300" dirty="0"/>
          </a:p>
        </p:txBody>
      </p:sp>
      <p:pic>
        <p:nvPicPr>
          <p:cNvPr id="12" name="tool-jitter" descr="Colour jitter applied to iris photo">    </p:cNvPr>
          <p:cNvPicPr>
            <a:picLocks noChangeAspect="1"/>
          </p:cNvPicPr>
          <p:nvPr/>
        </p:nvPicPr>
        <p:blipFill>
          <a:blip r:embed="rId4"/>
          <a:stretch>
            <a:fillRect/>
          </a:stretch>
        </p:blipFill>
        <p:spPr>
          <a:xfrm>
            <a:off x="6227064" y="1463040"/>
            <a:ext cx="1600200" cy="2034425"/>
          </a:xfrm>
          <a:prstGeom prst="rect">
            <a:avLst/>
          </a:prstGeom>
        </p:spPr>
      </p:pic>
      <p:sp>
        <p:nvSpPr>
          <p:cNvPr id="13" name="Text 7"/>
          <p:cNvSpPr txBox="1"/>
          <p:nvPr/>
        </p:nvSpPr>
        <p:spPr>
          <a:xfrm>
            <a:off x="6227064" y="3634625"/>
            <a:ext cx="1783080" cy="365760"/>
          </a:xfrm>
          <a:prstGeom prst="rect">
            <a:avLst/>
          </a:prstGeom>
          <a:noFill/>
          <a:ln/>
        </p:spPr>
        <p:txBody>
          <a:bodyPr wrap="square" lIns="0" tIns="0" rIns="0" bIns="0" rtlCol="0" anchor="t"/>
          <a:lstStyle/>
          <a:p>
            <a:pPr indent="0" marL="0">
              <a:buNone/>
            </a:pPr>
            <a:r>
              <a:rPr lang="en-US" sz="1500" b="1" dirty="0">
                <a:solidFill>
                  <a:schemeClr val="tx1"/>
                </a:solidFill>
              </a:rPr>
              <a:t>Colour jitter</a:t>
            </a:r>
            <a:endParaRPr lang="en-US" sz="1500" dirty="0"/>
          </a:p>
        </p:txBody>
      </p:sp>
      <p:sp>
        <p:nvSpPr>
          <p:cNvPr id="14" name="Text 8"/>
          <p:cNvSpPr txBox="1"/>
          <p:nvPr/>
        </p:nvSpPr>
        <p:spPr>
          <a:xfrm>
            <a:off x="6227064" y="4000385"/>
            <a:ext cx="1737360" cy="685800"/>
          </a:xfrm>
          <a:prstGeom prst="rect">
            <a:avLst/>
          </a:prstGeom>
          <a:noFill/>
          <a:ln/>
        </p:spPr>
        <p:txBody>
          <a:bodyPr wrap="square" lIns="0" tIns="0" rIns="0" bIns="0" rtlCol="0" anchor="t"/>
          <a:lstStyle/>
          <a:p>
            <a:pPr indent="0" marL="0">
              <a:buNone/>
            </a:pPr>
            <a:r>
              <a:rPr lang="en-US" sz="1300" dirty="0">
                <a:solidFill>
                  <a:schemeClr val="tx2"/>
                </a:solidFill>
              </a:rPr>
              <a:t>Lighting and camera differences</a:t>
            </a:r>
            <a:endParaRPr lang="en-US" sz="1300" dirty="0"/>
          </a:p>
        </p:txBody>
      </p:sp>
      <p:pic>
        <p:nvPicPr>
          <p:cNvPr id="15" name="tool-noise" descr="Noise applied to iris photo">    </p:cNvPr>
          <p:cNvPicPr>
            <a:picLocks noChangeAspect="1"/>
          </p:cNvPicPr>
          <p:nvPr/>
        </p:nvPicPr>
        <p:blipFill>
          <a:blip r:embed="rId5"/>
          <a:stretch>
            <a:fillRect/>
          </a:stretch>
        </p:blipFill>
        <p:spPr>
          <a:xfrm>
            <a:off x="8119872" y="1463040"/>
            <a:ext cx="1600200" cy="2034425"/>
          </a:xfrm>
          <a:prstGeom prst="rect">
            <a:avLst/>
          </a:prstGeom>
        </p:spPr>
      </p:pic>
      <p:sp>
        <p:nvSpPr>
          <p:cNvPr id="16" name="Text 9"/>
          <p:cNvSpPr txBox="1"/>
          <p:nvPr/>
        </p:nvSpPr>
        <p:spPr>
          <a:xfrm>
            <a:off x="8119872" y="3634625"/>
            <a:ext cx="1783080" cy="365760"/>
          </a:xfrm>
          <a:prstGeom prst="rect">
            <a:avLst/>
          </a:prstGeom>
          <a:noFill/>
          <a:ln/>
        </p:spPr>
        <p:txBody>
          <a:bodyPr wrap="square" lIns="0" tIns="0" rIns="0" bIns="0" rtlCol="0" anchor="t"/>
          <a:lstStyle/>
          <a:p>
            <a:pPr indent="0" marL="0">
              <a:buNone/>
            </a:pPr>
            <a:r>
              <a:rPr lang="en-US" sz="1500" b="1" dirty="0">
                <a:solidFill>
                  <a:schemeClr val="tx1"/>
                </a:solidFill>
              </a:rPr>
              <a:t>Noise</a:t>
            </a:r>
            <a:endParaRPr lang="en-US" sz="1500" dirty="0"/>
          </a:p>
        </p:txBody>
      </p:sp>
      <p:sp>
        <p:nvSpPr>
          <p:cNvPr id="17" name="Text 10"/>
          <p:cNvSpPr txBox="1"/>
          <p:nvPr/>
        </p:nvSpPr>
        <p:spPr>
          <a:xfrm>
            <a:off x="8119872" y="4000385"/>
            <a:ext cx="1737360" cy="685800"/>
          </a:xfrm>
          <a:prstGeom prst="rect">
            <a:avLst/>
          </a:prstGeom>
          <a:noFill/>
          <a:ln/>
        </p:spPr>
        <p:txBody>
          <a:bodyPr wrap="square" lIns="0" tIns="0" rIns="0" bIns="0" rtlCol="0" anchor="t"/>
          <a:lstStyle/>
          <a:p>
            <a:pPr indent="0" marL="0">
              <a:buNone/>
            </a:pPr>
            <a:r>
              <a:rPr lang="en-US" sz="1300" dirty="0">
                <a:solidFill>
                  <a:schemeClr val="tx2"/>
                </a:solidFill>
              </a:rPr>
              <a:t>Sensor noise in low light</a:t>
            </a:r>
            <a:endParaRPr lang="en-US" sz="1300" dirty="0"/>
          </a:p>
        </p:txBody>
      </p:sp>
      <p:pic>
        <p:nvPicPr>
          <p:cNvPr id="18" name="tool-erase" descr="Random erasing applied to iris photo">    </p:cNvPr>
          <p:cNvPicPr>
            <a:picLocks noChangeAspect="1"/>
          </p:cNvPicPr>
          <p:nvPr/>
        </p:nvPicPr>
        <p:blipFill>
          <a:blip r:embed="rId6"/>
          <a:stretch>
            <a:fillRect/>
          </a:stretch>
        </p:blipFill>
        <p:spPr>
          <a:xfrm>
            <a:off x="10012680" y="1463040"/>
            <a:ext cx="1600200" cy="2034425"/>
          </a:xfrm>
          <a:prstGeom prst="rect">
            <a:avLst/>
          </a:prstGeom>
        </p:spPr>
      </p:pic>
      <p:sp>
        <p:nvSpPr>
          <p:cNvPr id="19" name="Text 11"/>
          <p:cNvSpPr txBox="1"/>
          <p:nvPr/>
        </p:nvSpPr>
        <p:spPr>
          <a:xfrm>
            <a:off x="10012680" y="3634625"/>
            <a:ext cx="1783080" cy="365760"/>
          </a:xfrm>
          <a:prstGeom prst="rect">
            <a:avLst/>
          </a:prstGeom>
          <a:noFill/>
          <a:ln/>
        </p:spPr>
        <p:txBody>
          <a:bodyPr wrap="square" lIns="0" tIns="0" rIns="0" bIns="0" rtlCol="0" anchor="t"/>
          <a:lstStyle/>
          <a:p>
            <a:pPr indent="0" marL="0">
              <a:buNone/>
            </a:pPr>
            <a:r>
              <a:rPr lang="en-US" sz="1500" b="1" dirty="0">
                <a:solidFill>
                  <a:schemeClr val="tx1"/>
                </a:solidFill>
              </a:rPr>
              <a:t>Random erasing</a:t>
            </a:r>
            <a:endParaRPr lang="en-US" sz="1500" dirty="0"/>
          </a:p>
        </p:txBody>
      </p:sp>
      <p:sp>
        <p:nvSpPr>
          <p:cNvPr id="20" name="Text 12"/>
          <p:cNvSpPr txBox="1"/>
          <p:nvPr/>
        </p:nvSpPr>
        <p:spPr>
          <a:xfrm>
            <a:off x="10012680" y="4000385"/>
            <a:ext cx="1737360" cy="685800"/>
          </a:xfrm>
          <a:prstGeom prst="rect">
            <a:avLst/>
          </a:prstGeom>
          <a:noFill/>
          <a:ln/>
        </p:spPr>
        <p:txBody>
          <a:bodyPr wrap="square" lIns="0" tIns="0" rIns="0" bIns="0" rtlCol="0" anchor="t"/>
          <a:lstStyle/>
          <a:p>
            <a:pPr indent="0" marL="0">
              <a:buNone/>
            </a:pPr>
            <a:r>
              <a:rPr lang="en-US" sz="1300" dirty="0">
                <a:solidFill>
                  <a:schemeClr val="tx2"/>
                </a:solidFill>
              </a:rPr>
              <a:t>Occlusion: use more than one cue</a:t>
            </a:r>
            <a:endParaRPr lang="en-US" sz="1300" dirty="0"/>
          </a:p>
        </p:txBody>
      </p:sp>
      <p:sp>
        <p:nvSpPr>
          <p:cNvPr id="21" name="tool-cifar"/>
          <p:cNvSpPr/>
          <p:nvPr/>
        </p:nvSpPr>
        <p:spPr>
          <a:xfrm>
            <a:off x="548640" y="5349240"/>
            <a:ext cx="11091672" cy="731520"/>
          </a:xfrm>
          <a:prstGeom prst="roundRect">
            <a:avLst>
              <a:gd name="adj" fmla="val 15000"/>
            </a:avLst>
          </a:prstGeom>
          <a:solidFill>
            <a:schemeClr val="bg2"/>
          </a:solidFill>
          <a:ln/>
        </p:spPr>
      </p:sp>
      <p:sp>
        <p:nvSpPr>
          <p:cNvPr id="22" name="Text 14"/>
          <p:cNvSpPr txBox="1"/>
          <p:nvPr/>
        </p:nvSpPr>
        <p:spPr>
          <a:xfrm>
            <a:off x="868680" y="5349240"/>
            <a:ext cx="10515600" cy="731520"/>
          </a:xfrm>
          <a:prstGeom prst="rect">
            <a:avLst/>
          </a:prstGeom>
          <a:noFill/>
          <a:ln/>
        </p:spPr>
        <p:txBody>
          <a:bodyPr wrap="square" lIns="0" tIns="0" rIns="0" bIns="0" rtlCol="0" anchor="ctr"/>
          <a:lstStyle/>
          <a:p>
            <a:pPr indent="0" marL="0">
              <a:buNone/>
            </a:pPr>
            <a:r>
              <a:rPr lang="en-US" sz="1600" b="1" dirty="0">
                <a:solidFill>
                  <a:schemeClr val="tx1"/>
                </a:solidFill>
              </a:rPr>
              <a:t>Standard CIFAR-10 recipe: </a:t>
            </a:r>
            <a:pPr indent="0" marL="0">
              <a:buNone/>
            </a:pPr>
            <a:r>
              <a:rPr lang="en-US" sz="1600" dirty="0">
                <a:solidFill>
                  <a:schemeClr val="tx2"/>
                </a:solidFill>
              </a:rPr>
              <a:t>RandomCrop(32, padding=4) + RandomHorizontalFlip(), applied to training images only.</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Image augmentation in code: torchvision</a:t>
            </a:r>
            <a:endParaRPr lang="en-US" sz="3400" dirty="0"/>
          </a:p>
        </p:txBody>
      </p:sp>
      <p:sp>
        <p:nvSpPr>
          <p:cNvPr id="3" name="imgcode-card"/>
          <p:cNvSpPr/>
          <p:nvPr/>
        </p:nvSpPr>
        <p:spPr>
          <a:xfrm>
            <a:off x="548640" y="1463040"/>
            <a:ext cx="6949440" cy="4617720"/>
          </a:xfrm>
          <a:prstGeom prst="roundRect">
            <a:avLst>
              <a:gd name="adj" fmla="val 2376"/>
            </a:avLst>
          </a:prstGeom>
          <a:solidFill>
            <a:schemeClr val="tx1"/>
          </a:solidFill>
          <a:ln/>
        </p:spPr>
      </p:sp>
      <p:sp>
        <p:nvSpPr>
          <p:cNvPr id="4" name="Text 2"/>
          <p:cNvSpPr txBox="1"/>
          <p:nvPr/>
        </p:nvSpPr>
        <p:spPr>
          <a:xfrm>
            <a:off x="777240" y="1600200"/>
            <a:ext cx="6583680" cy="4389120"/>
          </a:xfrm>
          <a:prstGeom prst="rect">
            <a:avLst/>
          </a:prstGeom>
          <a:noFill/>
          <a:ln/>
        </p:spPr>
        <p:txBody>
          <a:bodyPr wrap="square" lIns="0" tIns="0" rIns="0" bIns="0" rtlCol="0" anchor="t"/>
          <a:lstStyle/>
          <a:p>
            <a:pPr indent="0" marL="0">
              <a:buNone/>
            </a:pPr>
            <a:r>
              <a:rPr lang="en-US" sz="1200" dirty="0">
                <a:solidFill>
                  <a:schemeClr val="accent6"/>
                </a:solidFill>
                <a:latin typeface="Courier New" pitchFamily="34" charset="0"/>
                <a:ea typeface="Courier New" pitchFamily="34" charset="-122"/>
                <a:cs typeface="Courier New" pitchFamily="34" charset="-120"/>
              </a:rPr>
              <a:t>from torchvision import datasets, transforms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train_tf = transforms.Compose([</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transforms.RandomCrop(32, padding=4),</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transforms.RandomHorizontalFlip(),</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transforms.ColorJitter(0.2, 0.2, 0.2),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transforms.ToTensor(),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transforms.Normalize(MEAN, STD),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test_tf = transforms.Compose([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transforms.ToTensor(),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transforms.Normalize(MEAN, STD),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train = datasets.CIFAR10('./data', train=True,  transform=train_tf)</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test  = datasets.CIFAR10('./data', train=False, transform=test_tf)</a:t>
            </a:r>
            <a:endParaRPr lang="en-US" sz="1200" dirty="0"/>
          </a:p>
        </p:txBody>
      </p:sp>
      <p:sp>
        <p:nvSpPr>
          <p:cNvPr id="5" name="imgcode-icon-0-circle"/>
          <p:cNvSpPr/>
          <p:nvPr/>
        </p:nvSpPr>
        <p:spPr>
          <a:xfrm>
            <a:off x="7772400" y="1508760"/>
            <a:ext cx="548640" cy="548640"/>
          </a:xfrm>
          <a:prstGeom prst="ellipse">
            <a:avLst/>
          </a:prstGeom>
          <a:solidFill>
            <a:schemeClr val="accent2"/>
          </a:solidFill>
          <a:ln/>
        </p:spPr>
      </p:sp>
      <p:pic>
        <p:nvPicPr>
          <p:cNvPr id="6" name="imgcode-icon-0" descr="Random icon">    </p:cNvPr>
          <p:cNvPicPr>
            <a:picLocks noChangeAspect="1"/>
          </p:cNvPicPr>
          <p:nvPr/>
        </p:nvPicPr>
        <p:blipFill>
          <a:blip r:embed="rId1"/>
          <a:stretch>
            <a:fillRect/>
          </a:stretch>
        </p:blipFill>
        <p:spPr>
          <a:xfrm>
            <a:off x="7909560" y="1645920"/>
            <a:ext cx="274320" cy="274320"/>
          </a:xfrm>
          <a:prstGeom prst="rect">
            <a:avLst/>
          </a:prstGeom>
        </p:spPr>
      </p:pic>
      <p:sp>
        <p:nvSpPr>
          <p:cNvPr id="7" name="Text 4"/>
          <p:cNvSpPr txBox="1"/>
          <p:nvPr/>
        </p:nvSpPr>
        <p:spPr>
          <a:xfrm>
            <a:off x="8458200" y="1463040"/>
            <a:ext cx="3182112" cy="365760"/>
          </a:xfrm>
          <a:prstGeom prst="rect">
            <a:avLst/>
          </a:prstGeom>
          <a:noFill/>
          <a:ln/>
        </p:spPr>
        <p:txBody>
          <a:bodyPr wrap="square" lIns="0" tIns="0" rIns="0" bIns="0" rtlCol="0" anchor="t"/>
          <a:lstStyle/>
          <a:p>
            <a:pPr indent="0" marL="0">
              <a:buNone/>
            </a:pPr>
            <a:r>
              <a:rPr lang="en-US" sz="1600" b="1" dirty="0">
                <a:solidFill>
                  <a:schemeClr val="tx1"/>
                </a:solidFill>
              </a:rPr>
              <a:t>Random on every fetch</a:t>
            </a:r>
            <a:endParaRPr lang="en-US" sz="1600" dirty="0"/>
          </a:p>
        </p:txBody>
      </p:sp>
      <p:sp>
        <p:nvSpPr>
          <p:cNvPr id="8" name="Text 5"/>
          <p:cNvSpPr txBox="1"/>
          <p:nvPr/>
        </p:nvSpPr>
        <p:spPr>
          <a:xfrm>
            <a:off x="8458200" y="1847088"/>
            <a:ext cx="3182112" cy="1143000"/>
          </a:xfrm>
          <a:prstGeom prst="rect">
            <a:avLst/>
          </a:prstGeom>
          <a:noFill/>
          <a:ln/>
        </p:spPr>
        <p:txBody>
          <a:bodyPr wrap="square" lIns="0" tIns="0" rIns="0" bIns="0" rtlCol="0" anchor="t"/>
          <a:lstStyle/>
          <a:p>
            <a:pPr indent="0" marL="0">
              <a:buNone/>
            </a:pPr>
            <a:r>
              <a:rPr lang="en-US" sz="1300" dirty="0">
                <a:solidFill>
                  <a:schemeClr val="tx2"/>
                </a:solidFill>
              </a:rPr>
              <a:t>The DataLoader calls train_tf each time it loads an image, so every epoch sees a new version. Nothing is saved to disk.</a:t>
            </a:r>
            <a:endParaRPr lang="en-US" sz="1300" dirty="0"/>
          </a:p>
        </p:txBody>
      </p:sp>
      <p:sp>
        <p:nvSpPr>
          <p:cNvPr id="9" name="imgcode-icon-1-circle"/>
          <p:cNvSpPr/>
          <p:nvPr/>
        </p:nvSpPr>
        <p:spPr>
          <a:xfrm>
            <a:off x="7772400" y="3081528"/>
            <a:ext cx="548640" cy="548640"/>
          </a:xfrm>
          <a:prstGeom prst="ellipse">
            <a:avLst/>
          </a:prstGeom>
          <a:solidFill>
            <a:schemeClr val="accent2"/>
          </a:solidFill>
          <a:ln/>
        </p:spPr>
      </p:sp>
      <p:pic>
        <p:nvPicPr>
          <p:cNvPr id="10" name="imgcode-icon-1" descr="ShieldAlt icon">    </p:cNvPr>
          <p:cNvPicPr>
            <a:picLocks noChangeAspect="1"/>
          </p:cNvPicPr>
          <p:nvPr/>
        </p:nvPicPr>
        <p:blipFill>
          <a:blip r:embed="rId2"/>
          <a:stretch>
            <a:fillRect/>
          </a:stretch>
        </p:blipFill>
        <p:spPr>
          <a:xfrm>
            <a:off x="7909560" y="3218688"/>
            <a:ext cx="274320" cy="274320"/>
          </a:xfrm>
          <a:prstGeom prst="rect">
            <a:avLst/>
          </a:prstGeom>
        </p:spPr>
      </p:pic>
      <p:sp>
        <p:nvSpPr>
          <p:cNvPr id="11" name="Text 7"/>
          <p:cNvSpPr txBox="1"/>
          <p:nvPr/>
        </p:nvSpPr>
        <p:spPr>
          <a:xfrm>
            <a:off x="8458200" y="3035808"/>
            <a:ext cx="3182112" cy="365760"/>
          </a:xfrm>
          <a:prstGeom prst="rect">
            <a:avLst/>
          </a:prstGeom>
          <a:noFill/>
          <a:ln/>
        </p:spPr>
        <p:txBody>
          <a:bodyPr wrap="square" lIns="0" tIns="0" rIns="0" bIns="0" rtlCol="0" anchor="t"/>
          <a:lstStyle/>
          <a:p>
            <a:pPr indent="0" marL="0">
              <a:buNone/>
            </a:pPr>
            <a:r>
              <a:rPr lang="en-US" sz="1600" b="1" dirty="0">
                <a:solidFill>
                  <a:schemeClr val="tx1"/>
                </a:solidFill>
              </a:rPr>
              <a:t>Test set stays clean</a:t>
            </a:r>
            <a:endParaRPr lang="en-US" sz="1600" dirty="0"/>
          </a:p>
        </p:txBody>
      </p:sp>
      <p:sp>
        <p:nvSpPr>
          <p:cNvPr id="12" name="Text 8"/>
          <p:cNvSpPr txBox="1"/>
          <p:nvPr/>
        </p:nvSpPr>
        <p:spPr>
          <a:xfrm>
            <a:off x="8458200" y="3419856"/>
            <a:ext cx="3182112" cy="1143000"/>
          </a:xfrm>
          <a:prstGeom prst="rect">
            <a:avLst/>
          </a:prstGeom>
          <a:noFill/>
          <a:ln/>
        </p:spPr>
        <p:txBody>
          <a:bodyPr wrap="square" lIns="0" tIns="0" rIns="0" bIns="0" rtlCol="0" anchor="t"/>
          <a:lstStyle/>
          <a:p>
            <a:pPr indent="0" marL="0">
              <a:buNone/>
            </a:pPr>
            <a:r>
              <a:rPr lang="en-US" sz="1300" dirty="0">
                <a:solidFill>
                  <a:schemeClr val="tx2"/>
                </a:solidFill>
              </a:rPr>
              <a:t>test_tf has no random steps. We measure accuracy on real, unmodified images.</a:t>
            </a:r>
            <a:endParaRPr lang="en-US" sz="1300" dirty="0"/>
          </a:p>
        </p:txBody>
      </p:sp>
      <p:sp>
        <p:nvSpPr>
          <p:cNvPr id="13" name="imgcode-icon-2-circle"/>
          <p:cNvSpPr/>
          <p:nvPr/>
        </p:nvSpPr>
        <p:spPr>
          <a:xfrm>
            <a:off x="7772400" y="4654296"/>
            <a:ext cx="548640" cy="548640"/>
          </a:xfrm>
          <a:prstGeom prst="ellipse">
            <a:avLst/>
          </a:prstGeom>
          <a:solidFill>
            <a:schemeClr val="accent2"/>
          </a:solidFill>
          <a:ln/>
        </p:spPr>
      </p:sp>
      <p:pic>
        <p:nvPicPr>
          <p:cNvPr id="14" name="imgcode-icon-2" descr="ListOl icon">    </p:cNvPr>
          <p:cNvPicPr>
            <a:picLocks noChangeAspect="1"/>
          </p:cNvPicPr>
          <p:nvPr/>
        </p:nvPicPr>
        <p:blipFill>
          <a:blip r:embed="rId3"/>
          <a:stretch>
            <a:fillRect/>
          </a:stretch>
        </p:blipFill>
        <p:spPr>
          <a:xfrm>
            <a:off x="7909560" y="4791456"/>
            <a:ext cx="274320" cy="274320"/>
          </a:xfrm>
          <a:prstGeom prst="rect">
            <a:avLst/>
          </a:prstGeom>
        </p:spPr>
      </p:pic>
      <p:sp>
        <p:nvSpPr>
          <p:cNvPr id="15" name="Text 10"/>
          <p:cNvSpPr txBox="1"/>
          <p:nvPr/>
        </p:nvSpPr>
        <p:spPr>
          <a:xfrm>
            <a:off x="8458200" y="4608576"/>
            <a:ext cx="3182112" cy="365760"/>
          </a:xfrm>
          <a:prstGeom prst="rect">
            <a:avLst/>
          </a:prstGeom>
          <a:noFill/>
          <a:ln/>
        </p:spPr>
        <p:txBody>
          <a:bodyPr wrap="square" lIns="0" tIns="0" rIns="0" bIns="0" rtlCol="0" anchor="t"/>
          <a:lstStyle/>
          <a:p>
            <a:pPr indent="0" marL="0">
              <a:buNone/>
            </a:pPr>
            <a:r>
              <a:rPr lang="en-US" sz="1600" b="1" dirty="0">
                <a:solidFill>
                  <a:schemeClr val="tx1"/>
                </a:solidFill>
              </a:rPr>
              <a:t>Order matters</a:t>
            </a:r>
            <a:endParaRPr lang="en-US" sz="1600" dirty="0"/>
          </a:p>
        </p:txBody>
      </p:sp>
      <p:sp>
        <p:nvSpPr>
          <p:cNvPr id="16" name="Text 11"/>
          <p:cNvSpPr txBox="1"/>
          <p:nvPr/>
        </p:nvSpPr>
        <p:spPr>
          <a:xfrm>
            <a:off x="8458200" y="4992624"/>
            <a:ext cx="3182112" cy="1143000"/>
          </a:xfrm>
          <a:prstGeom prst="rect">
            <a:avLst/>
          </a:prstGeom>
          <a:noFill/>
          <a:ln/>
        </p:spPr>
        <p:txBody>
          <a:bodyPr wrap="square" lIns="0" tIns="0" rIns="0" bIns="0" rtlCol="0" anchor="t"/>
          <a:lstStyle/>
          <a:p>
            <a:pPr indent="0" marL="0">
              <a:buNone/>
            </a:pPr>
            <a:r>
              <a:rPr lang="en-US" sz="1300" dirty="0">
                <a:solidFill>
                  <a:schemeClr val="tx2"/>
                </a:solidFill>
              </a:rPr>
              <a:t>Image transforms first, then ToTensor, then Normalize. RandomErasing, if used, goes after ToTensor.</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Text toolbox: four cheap edits and one expensive one</a:t>
            </a:r>
            <a:endParaRPr lang="en-US" sz="3400" dirty="0"/>
          </a:p>
        </p:txBody>
      </p:sp>
      <p:sp>
        <p:nvSpPr>
          <p:cNvPr id="3" name="Text 1"/>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700" b="1" dirty="0">
                <a:solidFill>
                  <a:schemeClr val="tx1"/>
                </a:solidFill>
              </a:rPr>
              <a:t>Original: </a:t>
            </a:r>
            <a:pPr indent="0" marL="0">
              <a:buNone/>
            </a:pPr>
            <a:r>
              <a:rPr lang="en-US" sz="1700" i="1" dirty="0">
                <a:solidFill>
                  <a:schemeClr val="tx2"/>
                </a:solidFill>
              </a:rPr>
              <a:t>"The plot was boring and the acting was terrible."  (negative)</a:t>
            </a:r>
            <a:endParaRPr lang="en-US" sz="1700" dirty="0"/>
          </a:p>
        </p:txBody>
      </p:sp>
      <p:graphicFrame>
        <p:nvGraphicFramePr>
          <p:cNvPr id="11" name="text-aug-table"/>
          <p:cNvGraphicFramePr>
            <a:graphicFrameLocks noGrp="1"/>
          </p:cNvGraphicFramePr>
          <p:nvPr>
            <p:extLst>
              <p:ext uri="{D42A27DB-BD31-4B8C-83A1-F6EECF244321}">
                <p14:modId xmlns:p14="http://schemas.microsoft.com/office/powerpoint/2010/main" val="1579011935"/>
              </p:ext>
            </p:extLst>
          </p:nvPr>
        </p:nvGraphicFramePr>
        <p:xfrm>
          <a:off x="548640" y="1965960"/>
          <a:ext cx="11091672" cy="914400"/>
        </p:xfrm>
        <a:graphic>
          <a:graphicData uri="http://schemas.openxmlformats.org/drawingml/2006/table">
            <a:tbl>
              <a:tblPr/>
              <a:tblGrid>
                <a:gridCol w="3108960"/>
                <a:gridCol w="5239512"/>
                <a:gridCol w="2743200"/>
              </a:tblGrid>
              <a:tr h="457200">
                <a:tc>
                  <a:txBody>
                    <a:bodyPr/>
                    <a:lstStyle/>
                    <a:p>
                      <a:pPr indent="0" marL="0">
                        <a:buNone/>
                      </a:pPr>
                      <a:r>
                        <a:rPr lang="en-US" sz="1500" b="1" dirty="0">
                          <a:solidFill>
                            <a:schemeClr val="bg1"/>
                          </a:solidFill>
                        </a:rPr>
                        <a:t>Technique</a:t>
                      </a:r>
                      <a:endParaRPr lang="en-US" sz="15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accent2"/>
                    </a:solidFill>
                  </a:tcPr>
                </a:tc>
                <a:tc>
                  <a:txBody>
                    <a:bodyPr/>
                    <a:lstStyle/>
                    <a:p>
                      <a:pPr indent="0" marL="0">
                        <a:buNone/>
                      </a:pPr>
                      <a:r>
                        <a:rPr lang="en-US" sz="1500" b="1" dirty="0">
                          <a:solidFill>
                            <a:schemeClr val="bg1"/>
                          </a:solidFill>
                        </a:rPr>
                        <a:t>Augmented sentence</a:t>
                      </a:r>
                      <a:endParaRPr lang="en-US" sz="15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accent2"/>
                    </a:solidFill>
                  </a:tcPr>
                </a:tc>
                <a:tc>
                  <a:txBody>
                    <a:bodyPr/>
                    <a:lstStyle/>
                    <a:p>
                      <a:pPr indent="0" marL="0">
                        <a:buNone/>
                      </a:pPr>
                      <a:r>
                        <a:rPr lang="en-US" sz="1500" b="1" dirty="0">
                          <a:solidFill>
                            <a:schemeClr val="bg1"/>
                          </a:solidFill>
                        </a:rPr>
                        <a:t>Label risk</a:t>
                      </a:r>
                      <a:endParaRPr lang="en-US" sz="15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accent2"/>
                    </a:solidFill>
                  </a:tcPr>
                </a:tc>
              </a:tr>
              <a:tr h="457200">
                <a:tc>
                  <a:txBody>
                    <a:bodyPr/>
                    <a:lstStyle/>
                    <a:p>
                      <a:pPr indent="0" marL="0">
                        <a:buNone/>
                      </a:pPr>
                      <a:r>
                        <a:rPr lang="en-US" sz="1400" b="1" dirty="0">
                          <a:solidFill>
                            <a:schemeClr val="tx1"/>
                          </a:solidFill>
                        </a:rPr>
                        <a:t>Synonym replacement</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The storyline was dull and the acting was terrible.</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4"/>
                          </a:solidFill>
                        </a:rPr>
                        <a:t>Low</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chemeClr val="tx1"/>
                          </a:solidFill>
                        </a:rPr>
                        <a:t>Random insertion</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The plot was boring tedious and the acting was terrible.</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4"/>
                          </a:solidFill>
                        </a:rPr>
                        <a:t>Low</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chemeClr val="tx1"/>
                          </a:solidFill>
                        </a:rPr>
                        <a:t>Random swap</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The acting was boring and the plot was terrible.</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Medium: meaning can shift</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chemeClr val="tx1"/>
                          </a:solidFill>
                        </a:rPr>
                        <a:t>Random deletion</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The plot was boring and the acting terrible.</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Medium: may drop "not"</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chemeClr val="tx1"/>
                          </a:solidFill>
                        </a:rPr>
                        <a:t>Back-translation (EN → FR → EN)</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The storyline was dull and the performance was awful.</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4"/>
                          </a:solidFill>
                        </a:rPr>
                        <a:t>Low, but needs a translation model</a:t>
                      </a:r>
                      <a:endParaRPr lang="en-US" sz="1400" dirty="0"/>
                    </a:p>
                  </a:txBody>
                  <a:tcPr marL="109728" marR="109728"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394960"/>
            <a:ext cx="11064240" cy="365760"/>
          </a:xfrm>
          <a:prstGeom prst="rect">
            <a:avLst/>
          </a:prstGeom>
          <a:noFill/>
          <a:ln/>
        </p:spPr>
        <p:txBody>
          <a:bodyPr wrap="square" lIns="0" tIns="0" rIns="0" bIns="0" rtlCol="0" anchor="t"/>
          <a:lstStyle/>
          <a:p>
            <a:pPr indent="0" marL="0">
              <a:buNone/>
            </a:pPr>
            <a:r>
              <a:rPr lang="en-US" sz="1200" i="1" dirty="0">
                <a:solidFill>
                  <a:schemeClr val="accent5"/>
                </a:solidFill>
              </a:rPr>
              <a:t>The first four are the EDA operations (Wei &amp; Zou, 2019). Back-translation sentence shown is illustrative.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Text augmentation in code: a few lines of Python</a:t>
            </a:r>
            <a:endParaRPr lang="en-US" sz="3400" dirty="0"/>
          </a:p>
        </p:txBody>
      </p:sp>
      <p:sp>
        <p:nvSpPr>
          <p:cNvPr id="3" name="txtcode-card"/>
          <p:cNvSpPr/>
          <p:nvPr/>
        </p:nvSpPr>
        <p:spPr>
          <a:xfrm>
            <a:off x="548640" y="1463040"/>
            <a:ext cx="6309360" cy="4617720"/>
          </a:xfrm>
          <a:prstGeom prst="roundRect">
            <a:avLst>
              <a:gd name="adj" fmla="val 2376"/>
            </a:avLst>
          </a:prstGeom>
          <a:solidFill>
            <a:schemeClr val="tx1"/>
          </a:solidFill>
          <a:ln/>
        </p:spPr>
      </p:sp>
      <p:sp>
        <p:nvSpPr>
          <p:cNvPr id="4" name="Text 2"/>
          <p:cNvSpPr txBox="1"/>
          <p:nvPr/>
        </p:nvSpPr>
        <p:spPr>
          <a:xfrm>
            <a:off x="777240" y="1600200"/>
            <a:ext cx="5943600" cy="438912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import random</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def random_swap(s, n=1):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w = s.split()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for _ in range(n):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 j = random.sample(range(len(w)), 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w[i], w[j] = w[j], w[i]</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return ' '.join(w)</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def random_deletion(s, p=0.1):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w = s.split()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kept = [x for x in w if random.random() &gt; p]</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return ' '.join(kept or [random.choice(w)])</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synonyms: nltk WordNet</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back-translation: MarianMT, EN -&gt; FR -&gt; EN</a:t>
            </a:r>
            <a:endParaRPr lang="en-US" sz="1200" dirty="0"/>
          </a:p>
        </p:txBody>
      </p:sp>
      <p:sp>
        <p:nvSpPr>
          <p:cNvPr id="5" name="Text 3"/>
          <p:cNvSpPr txBox="1"/>
          <p:nvPr/>
        </p:nvSpPr>
        <p:spPr>
          <a:xfrm>
            <a:off x="7178040" y="1463040"/>
            <a:ext cx="4462272" cy="365760"/>
          </a:xfrm>
          <a:prstGeom prst="rect">
            <a:avLst/>
          </a:prstGeom>
          <a:noFill/>
          <a:ln/>
        </p:spPr>
        <p:txBody>
          <a:bodyPr wrap="square" lIns="0" tIns="0" rIns="0" bIns="0" rtlCol="0" anchor="t"/>
          <a:lstStyle/>
          <a:p>
            <a:pPr indent="0" marL="0">
              <a:buNone/>
            </a:pPr>
            <a:r>
              <a:rPr lang="en-US" sz="1600" b="1" dirty="0">
                <a:solidFill>
                  <a:schemeClr val="tx1"/>
                </a:solidFill>
              </a:rPr>
              <a:t>How much to augment (Wei &amp; Zou, 2019)</a:t>
            </a:r>
            <a:endParaRPr lang="en-US" sz="1600" dirty="0"/>
          </a:p>
        </p:txBody>
      </p:sp>
      <p:graphicFrame>
        <p:nvGraphicFramePr>
          <p:cNvPr id="12" name="eda-table"/>
          <p:cNvGraphicFramePr>
            <a:graphicFrameLocks noGrp="1"/>
          </p:cNvGraphicFramePr>
          <p:nvPr>
            <p:extLst>
              <p:ext uri="{D42A27DB-BD31-4B8C-83A1-F6EECF244321}">
                <p14:modId xmlns:p14="http://schemas.microsoft.com/office/powerpoint/2010/main" val="1579011935"/>
              </p:ext>
            </p:extLst>
          </p:nvPr>
        </p:nvGraphicFramePr>
        <p:xfrm>
          <a:off x="7178040" y="1920240"/>
          <a:ext cx="4462272" cy="914400"/>
        </p:xfrm>
        <a:graphic>
          <a:graphicData uri="http://schemas.openxmlformats.org/drawingml/2006/table">
            <a:tbl>
              <a:tblPr/>
              <a:tblGrid>
                <a:gridCol w="1600200"/>
                <a:gridCol w="1463040"/>
                <a:gridCol w="1399032"/>
              </a:tblGrid>
              <a:tr h="411480">
                <a:tc>
                  <a:txBody>
                    <a:bodyPr/>
                    <a:lstStyle/>
                    <a:p>
                      <a:pPr algn="ctr" indent="0" marL="0">
                        <a:buNone/>
                      </a:pPr>
                      <a:r>
                        <a:rPr lang="en-US" sz="1400" b="1" dirty="0">
                          <a:solidFill>
                            <a:schemeClr val="bg1"/>
                          </a:solidFill>
                        </a:rPr>
                        <a:t>Training sentences</a:t>
                      </a:r>
                      <a:endParaRPr lang="en-US" sz="14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accent2"/>
                    </a:solidFill>
                  </a:tcPr>
                </a:tc>
                <a:tc>
                  <a:txBody>
                    <a:bodyPr/>
                    <a:lstStyle/>
                    <a:p>
                      <a:pPr algn="ctr" indent="0" marL="0">
                        <a:buNone/>
                      </a:pPr>
                      <a:r>
                        <a:rPr lang="en-US" sz="1400" b="1" dirty="0">
                          <a:solidFill>
                            <a:schemeClr val="bg1"/>
                          </a:solidFill>
                        </a:rPr>
                        <a:t>α (share of words)</a:t>
                      </a:r>
                      <a:endParaRPr lang="en-US" sz="14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accent2"/>
                    </a:solidFill>
                  </a:tcPr>
                </a:tc>
                <a:tc>
                  <a:txBody>
                    <a:bodyPr/>
                    <a:lstStyle/>
                    <a:p>
                      <a:pPr algn="ctr" indent="0" marL="0">
                        <a:buNone/>
                      </a:pPr>
                      <a:r>
                        <a:rPr lang="en-US" sz="1400" b="1" dirty="0">
                          <a:solidFill>
                            <a:schemeClr val="bg1"/>
                          </a:solidFill>
                        </a:rPr>
                        <a:t>New per sentence</a:t>
                      </a:r>
                      <a:endParaRPr lang="en-US" sz="14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accent2"/>
                    </a:solidFill>
                  </a:tcPr>
                </a:tc>
              </a:tr>
              <a:tr h="411480">
                <a:tc>
                  <a:txBody>
                    <a:bodyPr/>
                    <a:lstStyle/>
                    <a:p>
                      <a:pPr algn="ctr" indent="0" marL="0">
                        <a:buNone/>
                      </a:pPr>
                      <a:r>
                        <a:rPr lang="en-US" sz="1400" b="1" dirty="0">
                          <a:solidFill>
                            <a:schemeClr val="tx1"/>
                          </a:solidFill>
                        </a:rPr>
                        <a:t>500</a:t>
                      </a:r>
                      <a:endParaRPr lang="en-US" sz="14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2"/>
                          </a:solidFill>
                        </a:rPr>
                        <a:t>0.05</a:t>
                      </a:r>
                      <a:endParaRPr lang="en-US" sz="14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2"/>
                          </a:solidFill>
                        </a:rPr>
                        <a:t>16</a:t>
                      </a:r>
                      <a:endParaRPr lang="en-US" sz="14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411480">
                <a:tc>
                  <a:txBody>
                    <a:bodyPr/>
                    <a:lstStyle/>
                    <a:p>
                      <a:pPr algn="ctr" indent="0" marL="0">
                        <a:buNone/>
                      </a:pPr>
                      <a:r>
                        <a:rPr lang="en-US" sz="1400" b="1" dirty="0">
                          <a:solidFill>
                            <a:schemeClr val="tx1"/>
                          </a:solidFill>
                        </a:rPr>
                        <a:t>2,000</a:t>
                      </a:r>
                      <a:endParaRPr lang="en-US" sz="14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2"/>
                          </a:solidFill>
                        </a:rPr>
                        <a:t>0.05</a:t>
                      </a:r>
                      <a:endParaRPr lang="en-US" sz="14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2"/>
                          </a:solidFill>
                        </a:rPr>
                        <a:t>8</a:t>
                      </a:r>
                      <a:endParaRPr lang="en-US" sz="14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411480">
                <a:tc>
                  <a:txBody>
                    <a:bodyPr/>
                    <a:lstStyle/>
                    <a:p>
                      <a:pPr algn="ctr" indent="0" marL="0">
                        <a:buNone/>
                      </a:pPr>
                      <a:r>
                        <a:rPr lang="en-US" sz="1400" b="1" dirty="0">
                          <a:solidFill>
                            <a:schemeClr val="tx1"/>
                          </a:solidFill>
                        </a:rPr>
                        <a:t>5,000 or more</a:t>
                      </a:r>
                      <a:endParaRPr lang="en-US" sz="14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2"/>
                          </a:solidFill>
                        </a:rPr>
                        <a:t>0.1</a:t>
                      </a:r>
                      <a:endParaRPr lang="en-US" sz="14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2"/>
                          </a:solidFill>
                        </a:rPr>
                        <a:t>4</a:t>
                      </a:r>
                      <a:endParaRPr lang="en-US" sz="14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sp>
        <p:nvSpPr>
          <p:cNvPr id="7" name="txt-rules"/>
          <p:cNvSpPr/>
          <p:nvPr/>
        </p:nvSpPr>
        <p:spPr>
          <a:xfrm>
            <a:off x="7178040" y="3886200"/>
            <a:ext cx="4462272" cy="2194560"/>
          </a:xfrm>
          <a:prstGeom prst="roundRect">
            <a:avLst>
              <a:gd name="adj" fmla="val 5000"/>
            </a:avLst>
          </a:prstGeom>
          <a:solidFill>
            <a:schemeClr val="bg2"/>
          </a:solidFill>
          <a:ln/>
        </p:spPr>
      </p:sp>
      <p:sp>
        <p:nvSpPr>
          <p:cNvPr id="8" name="Text 5"/>
          <p:cNvSpPr txBox="1"/>
          <p:nvPr/>
        </p:nvSpPr>
        <p:spPr>
          <a:xfrm>
            <a:off x="7406640" y="4023360"/>
            <a:ext cx="4023360" cy="1965960"/>
          </a:xfrm>
          <a:prstGeom prst="rect">
            <a:avLst/>
          </a:prstGeom>
          <a:noFill/>
          <a:ln/>
        </p:spPr>
        <p:txBody>
          <a:bodyPr wrap="square" lIns="0" tIns="0" rIns="0" bIns="0" rtlCol="0" anchor="t"/>
          <a:lstStyle/>
          <a:p>
            <a:pPr indent="0" marL="0">
              <a:spcAft>
                <a:spcPts val="800"/>
              </a:spcAft>
              <a:buNone/>
            </a:pPr>
            <a:r>
              <a:rPr lang="en-US" sz="1400" b="1" dirty="0">
                <a:solidFill>
                  <a:schemeClr val="tx1"/>
                </a:solidFill>
              </a:rPr>
              <a:t>Less data, more copies. </a:t>
            </a:r>
            <a:pPr indent="0" marL="0">
              <a:spcAft>
                <a:spcPts val="800"/>
              </a:spcAft>
              <a:buNone/>
            </a:pPr>
            <a:r>
              <a:rPr lang="en-US" sz="1400" dirty="0">
                <a:solidFill>
                  <a:schemeClr val="tx2"/>
                </a:solidFill>
              </a:rPr>
              <a:t>Small datasets gain the most.</a:t>
            </a:r>
            <a:endParaRPr lang="en-US" sz="1400" dirty="0"/>
          </a:p>
          <a:p>
            <a:pPr indent="0" marL="0">
              <a:spcAft>
                <a:spcPts val="800"/>
              </a:spcAft>
              <a:buNone/>
            </a:pPr>
            <a:r>
              <a:rPr lang="en-US" sz="1400" b="1" dirty="0">
                <a:solidFill>
                  <a:schemeClr val="tx1"/>
                </a:solidFill>
              </a:rPr>
              <a:t>Protect negations. </a:t>
            </a:r>
            <a:pPr indent="0" marL="0">
              <a:spcAft>
                <a:spcPts val="800"/>
              </a:spcAft>
              <a:buNone/>
            </a:pPr>
            <a:r>
              <a:rPr lang="en-US" sz="1400" dirty="0">
                <a:solidFill>
                  <a:schemeClr val="tx2"/>
                </a:solidFill>
              </a:rPr>
              <a:t>Never swap or delete "not", "never", "no".</a:t>
            </a:r>
            <a:endParaRPr lang="en-US" sz="1400" dirty="0"/>
          </a:p>
          <a:p>
            <a:pPr indent="0" marL="0">
              <a:spcAft>
                <a:spcPts val="800"/>
              </a:spcAft>
              <a:buNone/>
            </a:pPr>
            <a:r>
              <a:rPr lang="en-US" sz="1400" b="1" dirty="0">
                <a:solidFill>
                  <a:schemeClr val="tx1"/>
                </a:solidFill>
              </a:rPr>
              <a:t>Read before training. </a:t>
            </a:r>
            <a:pPr indent="0" marL="0">
              <a:spcAft>
                <a:spcPts val="800"/>
              </a:spcAft>
              <a:buNone/>
            </a:pPr>
            <a:r>
              <a:rPr lang="en-US" sz="1400" dirty="0">
                <a:solidFill>
                  <a:schemeClr val="tx2"/>
                </a:solidFill>
              </a:rPr>
              <a:t>Check 20 to 30 outputs by hand.</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The golden rule: would a human give it the same label?</a:t>
            </a:r>
            <a:endParaRPr lang="en-US" sz="3400" dirty="0"/>
          </a:p>
        </p:txBody>
      </p:sp>
      <p:sp>
        <p:nvSpPr>
          <p:cNvPr id="3" name="safe-card"/>
          <p:cNvSpPr/>
          <p:nvPr/>
        </p:nvSpPr>
        <p:spPr>
          <a:xfrm>
            <a:off x="548640" y="1508760"/>
            <a:ext cx="5422392" cy="4526280"/>
          </a:xfrm>
          <a:prstGeom prst="roundRect">
            <a:avLst>
              <a:gd name="adj" fmla="val 2424"/>
            </a:avLst>
          </a:prstGeom>
          <a:solidFill>
            <a:schemeClr val="bg2"/>
          </a:solidFill>
          <a:ln/>
        </p:spPr>
      </p:sp>
      <p:sp>
        <p:nvSpPr>
          <p:cNvPr id="4" name="unsafe-card"/>
          <p:cNvSpPr/>
          <p:nvPr/>
        </p:nvSpPr>
        <p:spPr>
          <a:xfrm>
            <a:off x="6217920" y="1508760"/>
            <a:ext cx="5422392" cy="4526280"/>
          </a:xfrm>
          <a:prstGeom prst="roundRect">
            <a:avLst>
              <a:gd name="adj" fmla="val 2424"/>
            </a:avLst>
          </a:prstGeom>
          <a:solidFill>
            <a:schemeClr val="bg2"/>
          </a:solidFill>
          <a:ln/>
        </p:spPr>
      </p:sp>
      <p:sp>
        <p:nvSpPr>
          <p:cNvPr id="5" name="safe-icon-circle"/>
          <p:cNvSpPr/>
          <p:nvPr/>
        </p:nvSpPr>
        <p:spPr>
          <a:xfrm>
            <a:off x="822960" y="1737360"/>
            <a:ext cx="548640" cy="548640"/>
          </a:xfrm>
          <a:prstGeom prst="ellipse">
            <a:avLst/>
          </a:prstGeom>
          <a:solidFill>
            <a:schemeClr val="accent4"/>
          </a:solidFill>
          <a:ln/>
        </p:spPr>
      </p:sp>
      <p:pic>
        <p:nvPicPr>
          <p:cNvPr id="6" name="safe-icon" descr="Check icon">    </p:cNvPr>
          <p:cNvPicPr>
            <a:picLocks noChangeAspect="1"/>
          </p:cNvPicPr>
          <p:nvPr/>
        </p:nvPicPr>
        <p:blipFill>
          <a:blip r:embed="rId1"/>
          <a:stretch>
            <a:fillRect/>
          </a:stretch>
        </p:blipFill>
        <p:spPr>
          <a:xfrm>
            <a:off x="960120" y="1874520"/>
            <a:ext cx="274320" cy="274320"/>
          </a:xfrm>
          <a:prstGeom prst="rect">
            <a:avLst/>
          </a:prstGeom>
        </p:spPr>
      </p:pic>
      <p:sp>
        <p:nvSpPr>
          <p:cNvPr id="7" name="unsafe-icon-circle"/>
          <p:cNvSpPr/>
          <p:nvPr/>
        </p:nvSpPr>
        <p:spPr>
          <a:xfrm>
            <a:off x="6492240" y="1737360"/>
            <a:ext cx="548640" cy="548640"/>
          </a:xfrm>
          <a:prstGeom prst="ellipse">
            <a:avLst/>
          </a:prstGeom>
          <a:solidFill>
            <a:schemeClr val="accent3"/>
          </a:solidFill>
          <a:ln/>
        </p:spPr>
      </p:sp>
      <p:pic>
        <p:nvPicPr>
          <p:cNvPr id="8" name="unsafe-icon" descr="Times icon">    </p:cNvPr>
          <p:cNvPicPr>
            <a:picLocks noChangeAspect="1"/>
          </p:cNvPicPr>
          <p:nvPr/>
        </p:nvPicPr>
        <p:blipFill>
          <a:blip r:embed="rId2"/>
          <a:stretch>
            <a:fillRect/>
          </a:stretch>
        </p:blipFill>
        <p:spPr>
          <a:xfrm>
            <a:off x="6629400" y="1874520"/>
            <a:ext cx="274320" cy="274320"/>
          </a:xfrm>
          <a:prstGeom prst="rect">
            <a:avLst/>
          </a:prstGeom>
        </p:spPr>
      </p:pic>
      <p:sp>
        <p:nvSpPr>
          <p:cNvPr id="9" name="Text 5"/>
          <p:cNvSpPr txBox="1"/>
          <p:nvPr/>
        </p:nvSpPr>
        <p:spPr>
          <a:xfrm>
            <a:off x="1554480" y="1783080"/>
            <a:ext cx="4206240" cy="457200"/>
          </a:xfrm>
          <a:prstGeom prst="rect">
            <a:avLst/>
          </a:prstGeom>
          <a:noFill/>
          <a:ln/>
        </p:spPr>
        <p:txBody>
          <a:bodyPr wrap="square" lIns="0" tIns="0" rIns="0" bIns="0" rtlCol="0" anchor="t"/>
          <a:lstStyle/>
          <a:p>
            <a:pPr indent="0" marL="0">
              <a:buNone/>
            </a:pPr>
            <a:r>
              <a:rPr lang="en-US" sz="2000" b="1" dirty="0">
                <a:solidFill>
                  <a:schemeClr val="tx1"/>
                </a:solidFill>
              </a:rPr>
              <a:t>Safe: label preserved</a:t>
            </a:r>
            <a:endParaRPr lang="en-US" sz="2000" dirty="0"/>
          </a:p>
        </p:txBody>
      </p:sp>
      <p:sp>
        <p:nvSpPr>
          <p:cNvPr id="10" name="Text 6"/>
          <p:cNvSpPr txBox="1"/>
          <p:nvPr/>
        </p:nvSpPr>
        <p:spPr>
          <a:xfrm>
            <a:off x="7223760" y="1783080"/>
            <a:ext cx="4206240" cy="457200"/>
          </a:xfrm>
          <a:prstGeom prst="rect">
            <a:avLst/>
          </a:prstGeom>
          <a:noFill/>
          <a:ln/>
        </p:spPr>
        <p:txBody>
          <a:bodyPr wrap="square" lIns="0" tIns="0" rIns="0" bIns="0" rtlCol="0" anchor="t"/>
          <a:lstStyle/>
          <a:p>
            <a:pPr indent="0" marL="0">
              <a:buNone/>
            </a:pPr>
            <a:r>
              <a:rPr lang="en-US" sz="2000" b="1" dirty="0">
                <a:solidFill>
                  <a:schemeClr val="tx1"/>
                </a:solidFill>
              </a:rPr>
              <a:t>Unsafe: label changes</a:t>
            </a:r>
            <a:endParaRPr lang="en-US" sz="2000" dirty="0"/>
          </a:p>
        </p:txBody>
      </p:sp>
      <p:sp>
        <p:nvSpPr>
          <p:cNvPr id="11" name="Text 7"/>
          <p:cNvSpPr txBox="1"/>
          <p:nvPr/>
        </p:nvSpPr>
        <p:spPr>
          <a:xfrm>
            <a:off x="868680" y="251460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2"/>
                </a:solidFill>
              </a:rPr>
              <a:t>Flipping a photo of a cat or a car</a:t>
            </a:r>
            <a:endParaRPr lang="en-US" sz="1600" dirty="0"/>
          </a:p>
          <a:p>
            <a:pPr marL="342900" indent="-342900">
              <a:spcAft>
                <a:spcPts val="1000"/>
              </a:spcAft>
              <a:buSzPct val="100000"/>
              <a:buChar char="•"/>
            </a:pPr>
            <a:r>
              <a:rPr lang="en-US" sz="1600" dirty="0">
                <a:solidFill>
                  <a:schemeClr val="tx2"/>
                </a:solidFill>
              </a:rPr>
              <a:t>Rotating a handwritten digit by 10°</a:t>
            </a:r>
            <a:endParaRPr lang="en-US" sz="1600" dirty="0"/>
          </a:p>
          <a:p>
            <a:pPr marL="342900" indent="-342900">
              <a:spcAft>
                <a:spcPts val="1000"/>
              </a:spcAft>
              <a:buSzPct val="100000"/>
              <a:buChar char="•"/>
            </a:pPr>
            <a:r>
              <a:rPr lang="en-US" sz="1600" dirty="0">
                <a:solidFill>
                  <a:schemeClr val="tx2"/>
                </a:solidFill>
              </a:rPr>
              <a:t>"boring" → "dull" in a review</a:t>
            </a:r>
            <a:endParaRPr lang="en-US" sz="1600" dirty="0"/>
          </a:p>
          <a:p>
            <a:pPr marL="342900" indent="-342900">
              <a:spcAft>
                <a:spcPts val="1000"/>
              </a:spcAft>
              <a:buSzPct val="100000"/>
              <a:buChar char="•"/>
            </a:pPr>
            <a:r>
              <a:rPr lang="en-US" sz="1600" dirty="0">
                <a:solidFill>
                  <a:schemeClr val="tx2"/>
                </a:solidFill>
              </a:rPr>
              <a:t>Brightness changes on street scenes</a:t>
            </a:r>
            <a:endParaRPr lang="en-US" sz="1600" dirty="0"/>
          </a:p>
        </p:txBody>
      </p:sp>
      <p:sp>
        <p:nvSpPr>
          <p:cNvPr id="12" name="Text 8"/>
          <p:cNvSpPr txBox="1"/>
          <p:nvPr/>
        </p:nvSpPr>
        <p:spPr>
          <a:xfrm>
            <a:off x="6537960" y="251460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2"/>
                </a:solidFill>
              </a:rPr>
              <a:t>Rotating a "6" by 180°: it becomes a "9"</a:t>
            </a:r>
            <a:endParaRPr lang="en-US" sz="1600" dirty="0"/>
          </a:p>
          <a:p>
            <a:pPr marL="342900" indent="-342900">
              <a:spcAft>
                <a:spcPts val="1000"/>
              </a:spcAft>
              <a:buSzPct val="100000"/>
              <a:buChar char="•"/>
            </a:pPr>
            <a:r>
              <a:rPr lang="en-US" sz="1600" dirty="0">
                <a:solidFill>
                  <a:schemeClr val="tx2"/>
                </a:solidFill>
              </a:rPr>
              <a:t>Flipping a "b": it becomes a "d"</a:t>
            </a:r>
            <a:endParaRPr lang="en-US" sz="1600" dirty="0"/>
          </a:p>
          <a:p>
            <a:pPr marL="342900" indent="-342900">
              <a:spcAft>
                <a:spcPts val="1000"/>
              </a:spcAft>
              <a:buSzPct val="100000"/>
              <a:buChar char="•"/>
            </a:pPr>
            <a:r>
              <a:rPr lang="en-US" sz="1600" dirty="0">
                <a:solidFill>
                  <a:schemeClr val="tx2"/>
                </a:solidFill>
              </a:rPr>
              <a:t>Deleting "not" from "not good"</a:t>
            </a:r>
            <a:endParaRPr lang="en-US" sz="1600" dirty="0"/>
          </a:p>
          <a:p>
            <a:pPr marL="342900" indent="-342900">
              <a:spcAft>
                <a:spcPts val="1000"/>
              </a:spcAft>
              <a:buSzPct val="100000"/>
              <a:buChar char="•"/>
            </a:pPr>
            <a:r>
              <a:rPr lang="en-US" sz="1600" dirty="0">
                <a:solidFill>
                  <a:schemeClr val="tx2"/>
                </a:solidFill>
              </a:rPr>
              <a:t>Embedding swap "good" → "bad" (close vectors, opposite meaning)</a:t>
            </a:r>
            <a:endParaRPr lang="en-US" sz="1600" dirty="0"/>
          </a:p>
          <a:p>
            <a:pPr marL="342900" indent="-342900">
              <a:spcAft>
                <a:spcPts val="1000"/>
              </a:spcAft>
              <a:buSzPct val="100000"/>
              <a:buChar char="•"/>
            </a:pPr>
            <a:r>
              <a:rPr lang="en-US" sz="1600" dirty="0">
                <a:solidFill>
                  <a:schemeClr val="tx2"/>
                </a:solidFill>
              </a:rPr>
              <a:t>Big hue shifts when colour defines the class (ripe vs unripe fruit)</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Where augmentation lives in the pipeline</a:t>
            </a:r>
            <a:endParaRPr lang="en-US" sz="3400" dirty="0"/>
          </a:p>
        </p:txBody>
      </p:sp>
      <p:sp>
        <p:nvSpPr>
          <p:cNvPr id="3" name="pipe-raw"/>
          <p:cNvSpPr/>
          <p:nvPr/>
        </p:nvSpPr>
        <p:spPr>
          <a:xfrm>
            <a:off x="548640" y="2606040"/>
            <a:ext cx="1737360" cy="868680"/>
          </a:xfrm>
          <a:prstGeom prst="roundRect">
            <a:avLst>
              <a:gd name="adj" fmla="val 10526"/>
            </a:avLst>
          </a:prstGeom>
          <a:solidFill>
            <a:schemeClr val="bg2"/>
          </a:solidFill>
          <a:ln/>
        </p:spPr>
      </p:sp>
      <p:sp>
        <p:nvSpPr>
          <p:cNvPr id="4" name="Text 2"/>
          <p:cNvSpPr txBox="1"/>
          <p:nvPr/>
        </p:nvSpPr>
        <p:spPr>
          <a:xfrm>
            <a:off x="640080" y="2606040"/>
            <a:ext cx="1554480" cy="868680"/>
          </a:xfrm>
          <a:prstGeom prst="rect">
            <a:avLst/>
          </a:prstGeom>
          <a:noFill/>
          <a:ln/>
        </p:spPr>
        <p:txBody>
          <a:bodyPr wrap="square" lIns="0" tIns="0" rIns="0" bIns="0" rtlCol="0" anchor="ctr"/>
          <a:lstStyle/>
          <a:p>
            <a:pPr algn="ctr" indent="0" marL="0">
              <a:buNone/>
            </a:pPr>
            <a:r>
              <a:rPr lang="en-US" sz="1500" b="1" dirty="0">
                <a:solidFill>
                  <a:schemeClr val="tx1"/>
                </a:solidFill>
              </a:rPr>
              <a:t>Raw data</a:t>
            </a:r>
            <a:endParaRPr lang="en-US" sz="1500" dirty="0"/>
          </a:p>
        </p:txBody>
      </p:sp>
      <p:sp>
        <p:nvSpPr>
          <p:cNvPr id="5" name="pipe-a1"/>
          <p:cNvSpPr/>
          <p:nvPr/>
        </p:nvSpPr>
        <p:spPr>
          <a:xfrm>
            <a:off x="2331720" y="3035808"/>
            <a:ext cx="502920" cy="0"/>
          </a:xfrm>
          <a:prstGeom prst="line">
            <a:avLst/>
          </a:prstGeom>
          <a:noFill/>
          <a:ln w="25400">
            <a:solidFill>
              <a:srgbClr val="7A8793"/>
            </a:solidFill>
            <a:prstDash val="solid"/>
            <a:tailEnd type="triangle"/>
          </a:ln>
        </p:spPr>
      </p:sp>
      <p:sp>
        <p:nvSpPr>
          <p:cNvPr id="6" name="pipe-split"/>
          <p:cNvSpPr/>
          <p:nvPr/>
        </p:nvSpPr>
        <p:spPr>
          <a:xfrm>
            <a:off x="2880360" y="2606040"/>
            <a:ext cx="1920240" cy="868680"/>
          </a:xfrm>
          <a:prstGeom prst="roundRect">
            <a:avLst>
              <a:gd name="adj" fmla="val 10526"/>
            </a:avLst>
          </a:prstGeom>
          <a:solidFill>
            <a:schemeClr val="tx1"/>
          </a:solidFill>
          <a:ln/>
        </p:spPr>
      </p:sp>
      <p:sp>
        <p:nvSpPr>
          <p:cNvPr id="7" name="Text 5"/>
          <p:cNvSpPr txBox="1"/>
          <p:nvPr/>
        </p:nvSpPr>
        <p:spPr>
          <a:xfrm>
            <a:off x="2971800" y="2606040"/>
            <a:ext cx="1737360" cy="868680"/>
          </a:xfrm>
          <a:prstGeom prst="rect">
            <a:avLst/>
          </a:prstGeom>
          <a:noFill/>
          <a:ln/>
        </p:spPr>
        <p:txBody>
          <a:bodyPr wrap="square" lIns="0" tIns="0" rIns="0" bIns="0" rtlCol="0" anchor="ctr"/>
          <a:lstStyle/>
          <a:p>
            <a:pPr algn="ctr" indent="0" marL="0">
              <a:buNone/>
            </a:pPr>
            <a:r>
              <a:rPr lang="en-US" sz="1500" b="1" dirty="0">
                <a:solidFill>
                  <a:schemeClr val="bg1"/>
                </a:solidFill>
              </a:rPr>
              <a:t>Split train / test</a:t>
            </a:r>
            <a:endParaRPr lang="en-US" sz="1500" dirty="0"/>
          </a:p>
        </p:txBody>
      </p:sp>
      <p:sp>
        <p:nvSpPr>
          <p:cNvPr id="8" name="pipe-a2"/>
          <p:cNvSpPr/>
          <p:nvPr/>
        </p:nvSpPr>
        <p:spPr>
          <a:xfrm flipV="1">
            <a:off x="4846320" y="2057400"/>
            <a:ext cx="502920" cy="978408"/>
          </a:xfrm>
          <a:prstGeom prst="line">
            <a:avLst/>
          </a:prstGeom>
          <a:noFill/>
          <a:ln w="25400">
            <a:solidFill>
              <a:srgbClr val="7A8793"/>
            </a:solidFill>
            <a:prstDash val="solid"/>
            <a:tailEnd type="triangle"/>
          </a:ln>
        </p:spPr>
      </p:sp>
      <p:sp>
        <p:nvSpPr>
          <p:cNvPr id="9" name="pipe-a3"/>
          <p:cNvSpPr/>
          <p:nvPr/>
        </p:nvSpPr>
        <p:spPr>
          <a:xfrm>
            <a:off x="4846320" y="3035808"/>
            <a:ext cx="502920" cy="987552"/>
          </a:xfrm>
          <a:prstGeom prst="line">
            <a:avLst/>
          </a:prstGeom>
          <a:noFill/>
          <a:ln w="25400">
            <a:solidFill>
              <a:srgbClr val="7A8793"/>
            </a:solidFill>
            <a:prstDash val="solid"/>
            <a:tailEnd type="triangle"/>
          </a:ln>
        </p:spPr>
      </p:sp>
      <p:sp>
        <p:nvSpPr>
          <p:cNvPr id="10" name="pipe-aug"/>
          <p:cNvSpPr/>
          <p:nvPr/>
        </p:nvSpPr>
        <p:spPr>
          <a:xfrm>
            <a:off x="5394960" y="1645920"/>
            <a:ext cx="2834640" cy="868680"/>
          </a:xfrm>
          <a:prstGeom prst="roundRect">
            <a:avLst>
              <a:gd name="adj" fmla="val 10526"/>
            </a:avLst>
          </a:prstGeom>
          <a:solidFill>
            <a:schemeClr val="accent1"/>
          </a:solidFill>
          <a:ln/>
        </p:spPr>
      </p:sp>
      <p:sp>
        <p:nvSpPr>
          <p:cNvPr id="11" name="Text 9"/>
          <p:cNvSpPr txBox="1"/>
          <p:nvPr/>
        </p:nvSpPr>
        <p:spPr>
          <a:xfrm>
            <a:off x="5486400" y="1645920"/>
            <a:ext cx="2651760" cy="868680"/>
          </a:xfrm>
          <a:prstGeom prst="rect">
            <a:avLst/>
          </a:prstGeom>
          <a:noFill/>
          <a:ln/>
        </p:spPr>
        <p:txBody>
          <a:bodyPr wrap="square" lIns="0" tIns="0" rIns="0" bIns="0" rtlCol="0" anchor="ctr"/>
          <a:lstStyle/>
          <a:p>
            <a:pPr algn="ctr" indent="0" marL="0">
              <a:buNone/>
            </a:pPr>
            <a:r>
              <a:rPr lang="en-US" sz="1500" b="1" dirty="0">
                <a:solidFill>
                  <a:schemeClr val="tx1"/>
                </a:solidFill>
              </a:rPr>
              <a:t>Train: augment on the fly</a:t>
            </a:r>
            <a:endParaRPr lang="en-US" sz="1500" dirty="0"/>
          </a:p>
        </p:txBody>
      </p:sp>
      <p:sp>
        <p:nvSpPr>
          <p:cNvPr id="12" name="pipe-test"/>
          <p:cNvSpPr/>
          <p:nvPr/>
        </p:nvSpPr>
        <p:spPr>
          <a:xfrm>
            <a:off x="5394960" y="3611880"/>
            <a:ext cx="2834640" cy="868680"/>
          </a:xfrm>
          <a:prstGeom prst="roundRect">
            <a:avLst>
              <a:gd name="adj" fmla="val 10526"/>
            </a:avLst>
          </a:prstGeom>
          <a:solidFill>
            <a:schemeClr val="bg2"/>
          </a:solidFill>
          <a:ln/>
        </p:spPr>
      </p:sp>
      <p:sp>
        <p:nvSpPr>
          <p:cNvPr id="13" name="Text 11"/>
          <p:cNvSpPr txBox="1"/>
          <p:nvPr/>
        </p:nvSpPr>
        <p:spPr>
          <a:xfrm>
            <a:off x="5486400" y="3611880"/>
            <a:ext cx="2651760" cy="868680"/>
          </a:xfrm>
          <a:prstGeom prst="rect">
            <a:avLst/>
          </a:prstGeom>
          <a:noFill/>
          <a:ln/>
        </p:spPr>
        <p:txBody>
          <a:bodyPr wrap="square" lIns="0" tIns="0" rIns="0" bIns="0" rtlCol="0" anchor="ctr"/>
          <a:lstStyle/>
          <a:p>
            <a:pPr algn="ctr" indent="0" marL="0">
              <a:buNone/>
            </a:pPr>
            <a:r>
              <a:rPr lang="en-US" sz="1500" b="1" dirty="0">
                <a:solidFill>
                  <a:schemeClr val="tx1"/>
                </a:solidFill>
              </a:rPr>
              <a:t>Test: fixed preprocessing only</a:t>
            </a:r>
            <a:endParaRPr lang="en-US" sz="1500" dirty="0"/>
          </a:p>
        </p:txBody>
      </p:sp>
      <p:sp>
        <p:nvSpPr>
          <p:cNvPr id="14" name="pipe-a4"/>
          <p:cNvSpPr/>
          <p:nvPr/>
        </p:nvSpPr>
        <p:spPr>
          <a:xfrm>
            <a:off x="8275320" y="2075688"/>
            <a:ext cx="457200" cy="0"/>
          </a:xfrm>
          <a:prstGeom prst="line">
            <a:avLst/>
          </a:prstGeom>
          <a:noFill/>
          <a:ln w="25400">
            <a:solidFill>
              <a:srgbClr val="7A8793"/>
            </a:solidFill>
            <a:prstDash val="solid"/>
            <a:tailEnd type="triangle"/>
          </a:ln>
        </p:spPr>
      </p:sp>
      <p:sp>
        <p:nvSpPr>
          <p:cNvPr id="15" name="pipe-a5"/>
          <p:cNvSpPr/>
          <p:nvPr/>
        </p:nvSpPr>
        <p:spPr>
          <a:xfrm>
            <a:off x="8275320" y="4041648"/>
            <a:ext cx="457200" cy="0"/>
          </a:xfrm>
          <a:prstGeom prst="line">
            <a:avLst/>
          </a:prstGeom>
          <a:noFill/>
          <a:ln w="25400">
            <a:solidFill>
              <a:srgbClr val="7A8793"/>
            </a:solidFill>
            <a:prstDash val="solid"/>
            <a:tailEnd type="triangle"/>
          </a:ln>
        </p:spPr>
      </p:sp>
      <p:sp>
        <p:nvSpPr>
          <p:cNvPr id="16" name="pipe-train"/>
          <p:cNvSpPr/>
          <p:nvPr/>
        </p:nvSpPr>
        <p:spPr>
          <a:xfrm>
            <a:off x="8778240" y="1645920"/>
            <a:ext cx="2862072" cy="868680"/>
          </a:xfrm>
          <a:prstGeom prst="roundRect">
            <a:avLst>
              <a:gd name="adj" fmla="val 10526"/>
            </a:avLst>
          </a:prstGeom>
          <a:solidFill>
            <a:schemeClr val="accent2"/>
          </a:solidFill>
          <a:ln/>
        </p:spPr>
      </p:sp>
      <p:sp>
        <p:nvSpPr>
          <p:cNvPr id="17" name="Text 15"/>
          <p:cNvSpPr txBox="1"/>
          <p:nvPr/>
        </p:nvSpPr>
        <p:spPr>
          <a:xfrm>
            <a:off x="8869680" y="1645920"/>
            <a:ext cx="2679192" cy="868680"/>
          </a:xfrm>
          <a:prstGeom prst="rect">
            <a:avLst/>
          </a:prstGeom>
          <a:noFill/>
          <a:ln/>
        </p:spPr>
        <p:txBody>
          <a:bodyPr wrap="square" lIns="0" tIns="0" rIns="0" bIns="0" rtlCol="0" anchor="ctr"/>
          <a:lstStyle/>
          <a:p>
            <a:pPr algn="ctr" indent="0" marL="0">
              <a:buNone/>
            </a:pPr>
            <a:r>
              <a:rPr lang="en-US" sz="1500" b="1" dirty="0">
                <a:solidFill>
                  <a:schemeClr val="bg1"/>
                </a:solidFill>
              </a:rPr>
              <a:t>Train the model</a:t>
            </a:r>
            <a:endParaRPr lang="en-US" sz="1500" dirty="0"/>
          </a:p>
        </p:txBody>
      </p:sp>
      <p:sp>
        <p:nvSpPr>
          <p:cNvPr id="18" name="pipe-eval"/>
          <p:cNvSpPr/>
          <p:nvPr/>
        </p:nvSpPr>
        <p:spPr>
          <a:xfrm>
            <a:off x="8778240" y="3611880"/>
            <a:ext cx="2862072" cy="868680"/>
          </a:xfrm>
          <a:prstGeom prst="roundRect">
            <a:avLst>
              <a:gd name="adj" fmla="val 10526"/>
            </a:avLst>
          </a:prstGeom>
          <a:solidFill>
            <a:schemeClr val="accent2"/>
          </a:solidFill>
          <a:ln/>
        </p:spPr>
      </p:sp>
      <p:sp>
        <p:nvSpPr>
          <p:cNvPr id="19" name="Text 17"/>
          <p:cNvSpPr txBox="1"/>
          <p:nvPr/>
        </p:nvSpPr>
        <p:spPr>
          <a:xfrm>
            <a:off x="8869680" y="3611880"/>
            <a:ext cx="2679192" cy="868680"/>
          </a:xfrm>
          <a:prstGeom prst="rect">
            <a:avLst/>
          </a:prstGeom>
          <a:noFill/>
          <a:ln/>
        </p:spPr>
        <p:txBody>
          <a:bodyPr wrap="square" lIns="0" tIns="0" rIns="0" bIns="0" rtlCol="0" anchor="ctr"/>
          <a:lstStyle/>
          <a:p>
            <a:pPr algn="ctr" indent="0" marL="0">
              <a:buNone/>
            </a:pPr>
            <a:r>
              <a:rPr lang="en-US" sz="1500" b="1" dirty="0">
                <a:solidFill>
                  <a:schemeClr val="bg1"/>
                </a:solidFill>
              </a:rPr>
              <a:t>Evaluate honestly</a:t>
            </a:r>
            <a:endParaRPr lang="en-US" sz="1500" dirty="0"/>
          </a:p>
        </p:txBody>
      </p:sp>
      <p:sp>
        <p:nvSpPr>
          <p:cNvPr id="20" name="Text 18"/>
          <p:cNvSpPr txBox="1"/>
          <p:nvPr/>
        </p:nvSpPr>
        <p:spPr>
          <a:xfrm>
            <a:off x="548640" y="484632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a:t>
            </a:r>
            <a:endParaRPr lang="en-US" sz="3000" dirty="0"/>
          </a:p>
        </p:txBody>
      </p:sp>
      <p:sp>
        <p:nvSpPr>
          <p:cNvPr id="21" name="Text 19"/>
          <p:cNvSpPr txBox="1"/>
          <p:nvPr/>
        </p:nvSpPr>
        <p:spPr>
          <a:xfrm>
            <a:off x="1051560" y="4846320"/>
            <a:ext cx="3017520" cy="365760"/>
          </a:xfrm>
          <a:prstGeom prst="rect">
            <a:avLst/>
          </a:prstGeom>
          <a:noFill/>
          <a:ln/>
        </p:spPr>
        <p:txBody>
          <a:bodyPr wrap="square" lIns="0" tIns="0" rIns="0" bIns="0" rtlCol="0" anchor="t"/>
          <a:lstStyle/>
          <a:p>
            <a:pPr indent="0" marL="0">
              <a:buNone/>
            </a:pPr>
            <a:r>
              <a:rPr lang="en-US" sz="1700" b="1" dirty="0">
                <a:solidFill>
                  <a:schemeClr val="tx1"/>
                </a:solidFill>
              </a:rPr>
              <a:t>Split first</a:t>
            </a:r>
            <a:endParaRPr lang="en-US" sz="1700" dirty="0"/>
          </a:p>
        </p:txBody>
      </p:sp>
      <p:sp>
        <p:nvSpPr>
          <p:cNvPr id="22" name="Text 20"/>
          <p:cNvSpPr txBox="1"/>
          <p:nvPr/>
        </p:nvSpPr>
        <p:spPr>
          <a:xfrm>
            <a:off x="1051560" y="5212080"/>
            <a:ext cx="3017520" cy="822960"/>
          </a:xfrm>
          <a:prstGeom prst="rect">
            <a:avLst/>
          </a:prstGeom>
          <a:noFill/>
          <a:ln/>
        </p:spPr>
        <p:txBody>
          <a:bodyPr wrap="square" lIns="0" tIns="0" rIns="0" bIns="0" rtlCol="0" anchor="t"/>
          <a:lstStyle/>
          <a:p>
            <a:pPr indent="0" marL="0">
              <a:buNone/>
            </a:pPr>
            <a:r>
              <a:rPr lang="en-US" sz="1400" dirty="0">
                <a:solidFill>
                  <a:schemeClr val="tx2"/>
                </a:solidFill>
              </a:rPr>
              <a:t>Augmented copies of a test example must never leak into training.</a:t>
            </a:r>
            <a:endParaRPr lang="en-US" sz="1400" dirty="0"/>
          </a:p>
        </p:txBody>
      </p:sp>
      <p:sp>
        <p:nvSpPr>
          <p:cNvPr id="23" name="Text 21"/>
          <p:cNvSpPr txBox="1"/>
          <p:nvPr/>
        </p:nvSpPr>
        <p:spPr>
          <a:xfrm>
            <a:off x="4297680" y="484632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2</a:t>
            </a:r>
            <a:endParaRPr lang="en-US" sz="3000" dirty="0"/>
          </a:p>
        </p:txBody>
      </p:sp>
      <p:sp>
        <p:nvSpPr>
          <p:cNvPr id="24" name="Text 22"/>
          <p:cNvSpPr txBox="1"/>
          <p:nvPr/>
        </p:nvSpPr>
        <p:spPr>
          <a:xfrm>
            <a:off x="4800600" y="4846320"/>
            <a:ext cx="3017520" cy="365760"/>
          </a:xfrm>
          <a:prstGeom prst="rect">
            <a:avLst/>
          </a:prstGeom>
          <a:noFill/>
          <a:ln/>
        </p:spPr>
        <p:txBody>
          <a:bodyPr wrap="square" lIns="0" tIns="0" rIns="0" bIns="0" rtlCol="0" anchor="t"/>
          <a:lstStyle/>
          <a:p>
            <a:pPr indent="0" marL="0">
              <a:buNone/>
            </a:pPr>
            <a:r>
              <a:rPr lang="en-US" sz="1700" b="1" dirty="0">
                <a:solidFill>
                  <a:schemeClr val="tx1"/>
                </a:solidFill>
              </a:rPr>
              <a:t>Train only</a:t>
            </a:r>
            <a:endParaRPr lang="en-US" sz="1700" dirty="0"/>
          </a:p>
        </p:txBody>
      </p:sp>
      <p:sp>
        <p:nvSpPr>
          <p:cNvPr id="25" name="Text 23"/>
          <p:cNvSpPr txBox="1"/>
          <p:nvPr/>
        </p:nvSpPr>
        <p:spPr>
          <a:xfrm>
            <a:off x="4800600" y="5212080"/>
            <a:ext cx="3017520" cy="822960"/>
          </a:xfrm>
          <a:prstGeom prst="rect">
            <a:avLst/>
          </a:prstGeom>
          <a:noFill/>
          <a:ln/>
        </p:spPr>
        <p:txBody>
          <a:bodyPr wrap="square" lIns="0" tIns="0" rIns="0" bIns="0" rtlCol="0" anchor="t"/>
          <a:lstStyle/>
          <a:p>
            <a:pPr indent="0" marL="0">
              <a:buNone/>
            </a:pPr>
            <a:r>
              <a:rPr lang="en-US" sz="1400" dirty="0">
                <a:solidFill>
                  <a:schemeClr val="tx2"/>
                </a:solidFill>
              </a:rPr>
              <a:t>The test set measures real data, so it is never augmented.</a:t>
            </a:r>
            <a:endParaRPr lang="en-US" sz="1400" dirty="0"/>
          </a:p>
        </p:txBody>
      </p:sp>
      <p:sp>
        <p:nvSpPr>
          <p:cNvPr id="26" name="Text 24"/>
          <p:cNvSpPr txBox="1"/>
          <p:nvPr/>
        </p:nvSpPr>
        <p:spPr>
          <a:xfrm>
            <a:off x="8046720" y="484632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a:t>
            </a:r>
            <a:endParaRPr lang="en-US" sz="3000" dirty="0"/>
          </a:p>
        </p:txBody>
      </p:sp>
      <p:sp>
        <p:nvSpPr>
          <p:cNvPr id="27" name="Text 25"/>
          <p:cNvSpPr txBox="1"/>
          <p:nvPr/>
        </p:nvSpPr>
        <p:spPr>
          <a:xfrm>
            <a:off x="8549640" y="4846320"/>
            <a:ext cx="3017520" cy="365760"/>
          </a:xfrm>
          <a:prstGeom prst="rect">
            <a:avLst/>
          </a:prstGeom>
          <a:noFill/>
          <a:ln/>
        </p:spPr>
        <p:txBody>
          <a:bodyPr wrap="square" lIns="0" tIns="0" rIns="0" bIns="0" rtlCol="0" anchor="t"/>
          <a:lstStyle/>
          <a:p>
            <a:pPr indent="0" marL="0">
              <a:buNone/>
            </a:pPr>
            <a:r>
              <a:rPr lang="en-US" sz="1700" b="1" dirty="0">
                <a:solidFill>
                  <a:schemeClr val="tx1"/>
                </a:solidFill>
              </a:rPr>
              <a:t>On the fly</a:t>
            </a:r>
            <a:endParaRPr lang="en-US" sz="1700" dirty="0"/>
          </a:p>
        </p:txBody>
      </p:sp>
      <p:sp>
        <p:nvSpPr>
          <p:cNvPr id="28" name="Text 26"/>
          <p:cNvSpPr txBox="1"/>
          <p:nvPr/>
        </p:nvSpPr>
        <p:spPr>
          <a:xfrm>
            <a:off x="8549640" y="5212080"/>
            <a:ext cx="3017520" cy="822960"/>
          </a:xfrm>
          <a:prstGeom prst="rect">
            <a:avLst/>
          </a:prstGeom>
          <a:noFill/>
          <a:ln/>
        </p:spPr>
        <p:txBody>
          <a:bodyPr wrap="square" lIns="0" tIns="0" rIns="0" bIns="0" rtlCol="0" anchor="t"/>
          <a:lstStyle/>
          <a:p>
            <a:pPr indent="0" marL="0">
              <a:buNone/>
            </a:pPr>
            <a:r>
              <a:rPr lang="en-US" sz="1400" dirty="0">
                <a:solidFill>
                  <a:schemeClr val="tx2"/>
                </a:solidFill>
              </a:rPr>
              <a:t>A new random version every epoch, nothing saved to disk.</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Why augmentation works</a:t>
            </a:r>
            <a:endParaRPr lang="en-US" sz="3400" dirty="0"/>
          </a:p>
        </p:txBody>
      </p:sp>
      <p:sp>
        <p:nvSpPr>
          <p:cNvPr id="3" name="why-card-0"/>
          <p:cNvSpPr/>
          <p:nvPr/>
        </p:nvSpPr>
        <p:spPr>
          <a:xfrm>
            <a:off x="548640" y="1508760"/>
            <a:ext cx="3502152" cy="3291840"/>
          </a:xfrm>
          <a:prstGeom prst="roundRect">
            <a:avLst>
              <a:gd name="adj" fmla="val 3333"/>
            </a:avLst>
          </a:prstGeom>
          <a:solidFill>
            <a:schemeClr val="bg2"/>
          </a:solidFill>
          <a:ln/>
        </p:spPr>
      </p:sp>
      <p:sp>
        <p:nvSpPr>
          <p:cNvPr id="4" name="why-icon-0-circle"/>
          <p:cNvSpPr/>
          <p:nvPr/>
        </p:nvSpPr>
        <p:spPr>
          <a:xfrm>
            <a:off x="868680" y="1783080"/>
            <a:ext cx="685800" cy="685800"/>
          </a:xfrm>
          <a:prstGeom prst="ellipse">
            <a:avLst/>
          </a:prstGeom>
          <a:solidFill>
            <a:schemeClr val="accent1"/>
          </a:solidFill>
          <a:ln/>
        </p:spPr>
      </p:sp>
      <p:pic>
        <p:nvPicPr>
          <p:cNvPr id="5" name="why-icon-0" descr="LayerGroup icon">    </p:cNvPr>
          <p:cNvPicPr>
            <a:picLocks noChangeAspect="1"/>
          </p:cNvPicPr>
          <p:nvPr/>
        </p:nvPicPr>
        <p:blipFill>
          <a:blip r:embed="rId1"/>
          <a:stretch>
            <a:fillRect/>
          </a:stretch>
        </p:blipFill>
        <p:spPr>
          <a:xfrm>
            <a:off x="1040130" y="1954530"/>
            <a:ext cx="342900" cy="342900"/>
          </a:xfrm>
          <a:prstGeom prst="rect">
            <a:avLst/>
          </a:prstGeom>
        </p:spPr>
      </p:pic>
      <p:sp>
        <p:nvSpPr>
          <p:cNvPr id="6" name="Text 3"/>
          <p:cNvSpPr txBox="1"/>
          <p:nvPr/>
        </p:nvSpPr>
        <p:spPr>
          <a:xfrm>
            <a:off x="868680" y="2697480"/>
            <a:ext cx="2926080" cy="457200"/>
          </a:xfrm>
          <a:prstGeom prst="rect">
            <a:avLst/>
          </a:prstGeom>
          <a:noFill/>
          <a:ln/>
        </p:spPr>
        <p:txBody>
          <a:bodyPr wrap="square" lIns="0" tIns="0" rIns="0" bIns="0" rtlCol="0" anchor="t"/>
          <a:lstStyle/>
          <a:p>
            <a:pPr indent="0" marL="0">
              <a:buNone/>
            </a:pPr>
            <a:r>
              <a:rPr lang="en-US" sz="1900" b="1" dirty="0">
                <a:solidFill>
                  <a:schemeClr val="tx1"/>
                </a:solidFill>
              </a:rPr>
              <a:t>More effective data</a:t>
            </a:r>
            <a:endParaRPr lang="en-US" sz="1900" dirty="0"/>
          </a:p>
        </p:txBody>
      </p:sp>
      <p:sp>
        <p:nvSpPr>
          <p:cNvPr id="7" name="Text 4"/>
          <p:cNvSpPr txBox="1"/>
          <p:nvPr/>
        </p:nvSpPr>
        <p:spPr>
          <a:xfrm>
            <a:off x="868680" y="3200400"/>
            <a:ext cx="2926080" cy="1508760"/>
          </a:xfrm>
          <a:prstGeom prst="rect">
            <a:avLst/>
          </a:prstGeom>
          <a:noFill/>
          <a:ln/>
        </p:spPr>
        <p:txBody>
          <a:bodyPr wrap="square" lIns="0" tIns="0" rIns="0" bIns="0" rtlCol="0" anchor="t"/>
          <a:lstStyle/>
          <a:p>
            <a:pPr indent="0" marL="0">
              <a:buNone/>
            </a:pPr>
            <a:r>
              <a:rPr lang="en-US" sz="1400" dirty="0">
                <a:solidFill>
                  <a:schemeClr val="tx2"/>
                </a:solidFill>
              </a:rPr>
              <a:t>Every epoch sees new variants, so 5k images act like a larger dataset. The copies are correlated, so they are worth less than new real images.</a:t>
            </a:r>
            <a:endParaRPr lang="en-US" sz="1400" dirty="0"/>
          </a:p>
        </p:txBody>
      </p:sp>
      <p:sp>
        <p:nvSpPr>
          <p:cNvPr id="8" name="why-card-1"/>
          <p:cNvSpPr/>
          <p:nvPr/>
        </p:nvSpPr>
        <p:spPr>
          <a:xfrm>
            <a:off x="4297680" y="1508760"/>
            <a:ext cx="3502152" cy="3291840"/>
          </a:xfrm>
          <a:prstGeom prst="roundRect">
            <a:avLst>
              <a:gd name="adj" fmla="val 3333"/>
            </a:avLst>
          </a:prstGeom>
          <a:solidFill>
            <a:schemeClr val="bg2"/>
          </a:solidFill>
          <a:ln/>
        </p:spPr>
      </p:sp>
      <p:sp>
        <p:nvSpPr>
          <p:cNvPr id="9" name="why-icon-1-circle"/>
          <p:cNvSpPr/>
          <p:nvPr/>
        </p:nvSpPr>
        <p:spPr>
          <a:xfrm>
            <a:off x="4617720" y="1783080"/>
            <a:ext cx="685800" cy="685800"/>
          </a:xfrm>
          <a:prstGeom prst="ellipse">
            <a:avLst/>
          </a:prstGeom>
          <a:solidFill>
            <a:schemeClr val="accent1"/>
          </a:solidFill>
          <a:ln/>
        </p:spPr>
      </p:sp>
      <p:pic>
        <p:nvPicPr>
          <p:cNvPr id="10" name="why-icon-1" descr="ShieldAlt icon">    </p:cNvPr>
          <p:cNvPicPr>
            <a:picLocks noChangeAspect="1"/>
          </p:cNvPicPr>
          <p:nvPr/>
        </p:nvPicPr>
        <p:blipFill>
          <a:blip r:embed="rId2"/>
          <a:stretch>
            <a:fillRect/>
          </a:stretch>
        </p:blipFill>
        <p:spPr>
          <a:xfrm>
            <a:off x="4789170" y="1954530"/>
            <a:ext cx="342900" cy="342900"/>
          </a:xfrm>
          <a:prstGeom prst="rect">
            <a:avLst/>
          </a:prstGeom>
        </p:spPr>
      </p:pic>
      <p:sp>
        <p:nvSpPr>
          <p:cNvPr id="11" name="Text 7"/>
          <p:cNvSpPr txBox="1"/>
          <p:nvPr/>
        </p:nvSpPr>
        <p:spPr>
          <a:xfrm>
            <a:off x="4617720" y="2697480"/>
            <a:ext cx="2926080" cy="457200"/>
          </a:xfrm>
          <a:prstGeom prst="rect">
            <a:avLst/>
          </a:prstGeom>
          <a:noFill/>
          <a:ln/>
        </p:spPr>
        <p:txBody>
          <a:bodyPr wrap="square" lIns="0" tIns="0" rIns="0" bIns="0" rtlCol="0" anchor="t"/>
          <a:lstStyle/>
          <a:p>
            <a:pPr indent="0" marL="0">
              <a:buNone/>
            </a:pPr>
            <a:r>
              <a:rPr lang="en-US" sz="1900" b="1" dirty="0">
                <a:solidFill>
                  <a:schemeClr val="tx1"/>
                </a:solidFill>
              </a:rPr>
              <a:t>Encodes invariance</a:t>
            </a:r>
            <a:endParaRPr lang="en-US" sz="1900" dirty="0"/>
          </a:p>
        </p:txBody>
      </p:sp>
      <p:sp>
        <p:nvSpPr>
          <p:cNvPr id="12" name="Text 8"/>
          <p:cNvSpPr txBox="1"/>
          <p:nvPr/>
        </p:nvSpPr>
        <p:spPr>
          <a:xfrm>
            <a:off x="4617720" y="3200400"/>
            <a:ext cx="2926080" cy="1508760"/>
          </a:xfrm>
          <a:prstGeom prst="rect">
            <a:avLst/>
          </a:prstGeom>
          <a:noFill/>
          <a:ln/>
        </p:spPr>
        <p:txBody>
          <a:bodyPr wrap="square" lIns="0" tIns="0" rIns="0" bIns="0" rtlCol="0" anchor="t"/>
          <a:lstStyle/>
          <a:p>
            <a:pPr indent="0" marL="0">
              <a:buNone/>
            </a:pPr>
            <a:r>
              <a:rPr lang="en-US" sz="1400" dirty="0">
                <a:solidFill>
                  <a:schemeClr val="tx2"/>
                </a:solidFill>
              </a:rPr>
              <a:t>It tells the model what should not matter. An MLP has no built-in sense of shifts or flips, so it has to learn them from examples.</a:t>
            </a:r>
            <a:endParaRPr lang="en-US" sz="1400" dirty="0"/>
          </a:p>
        </p:txBody>
      </p:sp>
      <p:sp>
        <p:nvSpPr>
          <p:cNvPr id="13" name="why-card-2"/>
          <p:cNvSpPr/>
          <p:nvPr/>
        </p:nvSpPr>
        <p:spPr>
          <a:xfrm>
            <a:off x="8046720" y="1508760"/>
            <a:ext cx="3502152" cy="3291840"/>
          </a:xfrm>
          <a:prstGeom prst="roundRect">
            <a:avLst>
              <a:gd name="adj" fmla="val 3333"/>
            </a:avLst>
          </a:prstGeom>
          <a:solidFill>
            <a:schemeClr val="bg2"/>
          </a:solidFill>
          <a:ln/>
        </p:spPr>
      </p:sp>
      <p:sp>
        <p:nvSpPr>
          <p:cNvPr id="14" name="why-icon-2-circle"/>
          <p:cNvSpPr/>
          <p:nvPr/>
        </p:nvSpPr>
        <p:spPr>
          <a:xfrm>
            <a:off x="8366760" y="1783080"/>
            <a:ext cx="685800" cy="685800"/>
          </a:xfrm>
          <a:prstGeom prst="ellipse">
            <a:avLst/>
          </a:prstGeom>
          <a:solidFill>
            <a:schemeClr val="accent1"/>
          </a:solidFill>
          <a:ln/>
        </p:spPr>
      </p:sp>
      <p:pic>
        <p:nvPicPr>
          <p:cNvPr id="15" name="why-icon-2" descr="CompressAlt icon">    </p:cNvPr>
          <p:cNvPicPr>
            <a:picLocks noChangeAspect="1"/>
          </p:cNvPicPr>
          <p:nvPr/>
        </p:nvPicPr>
        <p:blipFill>
          <a:blip r:embed="rId3"/>
          <a:stretch>
            <a:fillRect/>
          </a:stretch>
        </p:blipFill>
        <p:spPr>
          <a:xfrm>
            <a:off x="8538210" y="1954530"/>
            <a:ext cx="342900" cy="342900"/>
          </a:xfrm>
          <a:prstGeom prst="rect">
            <a:avLst/>
          </a:prstGeom>
        </p:spPr>
      </p:pic>
      <p:sp>
        <p:nvSpPr>
          <p:cNvPr id="16" name="Text 11"/>
          <p:cNvSpPr txBox="1"/>
          <p:nvPr/>
        </p:nvSpPr>
        <p:spPr>
          <a:xfrm>
            <a:off x="8366760" y="2697480"/>
            <a:ext cx="2926080" cy="457200"/>
          </a:xfrm>
          <a:prstGeom prst="rect">
            <a:avLst/>
          </a:prstGeom>
          <a:noFill/>
          <a:ln/>
        </p:spPr>
        <p:txBody>
          <a:bodyPr wrap="square" lIns="0" tIns="0" rIns="0" bIns="0" rtlCol="0" anchor="t"/>
          <a:lstStyle/>
          <a:p>
            <a:pPr indent="0" marL="0">
              <a:buNone/>
            </a:pPr>
            <a:r>
              <a:rPr lang="en-US" sz="1900" b="1" dirty="0">
                <a:solidFill>
                  <a:schemeClr val="tx1"/>
                </a:solidFill>
              </a:rPr>
              <a:t>Acts as a regularizer</a:t>
            </a:r>
            <a:endParaRPr lang="en-US" sz="1900" dirty="0"/>
          </a:p>
        </p:txBody>
      </p:sp>
      <p:sp>
        <p:nvSpPr>
          <p:cNvPr id="17" name="Text 12"/>
          <p:cNvSpPr txBox="1"/>
          <p:nvPr/>
        </p:nvSpPr>
        <p:spPr>
          <a:xfrm>
            <a:off x="8366760" y="3200400"/>
            <a:ext cx="2926080" cy="1508760"/>
          </a:xfrm>
          <a:prstGeom prst="rect">
            <a:avLst/>
          </a:prstGeom>
          <a:noFill/>
          <a:ln/>
        </p:spPr>
        <p:txBody>
          <a:bodyPr wrap="square" lIns="0" tIns="0" rIns="0" bIns="0" rtlCol="0" anchor="t"/>
          <a:lstStyle/>
          <a:p>
            <a:pPr indent="0" marL="0">
              <a:buNone/>
            </a:pPr>
            <a:r>
              <a:rPr lang="en-US" sz="1400" dirty="0">
                <a:solidFill>
                  <a:schemeClr val="tx2"/>
                </a:solidFill>
              </a:rPr>
              <a:t>Training accuracy drops, test accuracy holds or rises, and the generalization gap shrinks. Judge it on the test set.</a:t>
            </a:r>
            <a:endParaRPr lang="en-US" sz="1400" dirty="0"/>
          </a:p>
        </p:txBody>
      </p:sp>
      <p:sp>
        <p:nvSpPr>
          <p:cNvPr id="18" name="eda-evidence"/>
          <p:cNvSpPr/>
          <p:nvPr/>
        </p:nvSpPr>
        <p:spPr>
          <a:xfrm>
            <a:off x="548640" y="5029200"/>
            <a:ext cx="11091672" cy="1005840"/>
          </a:xfrm>
          <a:prstGeom prst="roundRect">
            <a:avLst>
              <a:gd name="adj" fmla="val 10909"/>
            </a:avLst>
          </a:prstGeom>
          <a:solidFill>
            <a:schemeClr val="tx1"/>
          </a:solidFill>
          <a:ln/>
        </p:spPr>
      </p:sp>
      <p:sp>
        <p:nvSpPr>
          <p:cNvPr id="19" name="Text 14"/>
          <p:cNvSpPr txBox="1"/>
          <p:nvPr/>
        </p:nvSpPr>
        <p:spPr>
          <a:xfrm>
            <a:off x="868680" y="5029200"/>
            <a:ext cx="10515600" cy="1005840"/>
          </a:xfrm>
          <a:prstGeom prst="rect">
            <a:avLst/>
          </a:prstGeom>
          <a:noFill/>
          <a:ln/>
        </p:spPr>
        <p:txBody>
          <a:bodyPr wrap="square" lIns="0" tIns="0" rIns="0" bIns="0" rtlCol="0" anchor="ctr"/>
          <a:lstStyle/>
          <a:p>
            <a:pPr indent="0" marL="0">
              <a:buNone/>
            </a:pPr>
            <a:r>
              <a:rPr lang="en-US" sz="1600" b="1" dirty="0">
                <a:solidFill>
                  <a:schemeClr val="accent1"/>
                </a:solidFill>
              </a:rPr>
              <a:t>Evidence (Wei &amp; Zou, 2019): </a:t>
            </a:r>
            <a:pPr indent="0" marL="0">
              <a:buNone/>
            </a:pPr>
            <a:r>
              <a:rPr lang="en-US" sz="1600" dirty="0">
                <a:solidFill>
                  <a:schemeClr val="bg1"/>
                </a:solidFill>
              </a:rPr>
              <a:t>simple text augmentation added about 3 points of accuracy with 500 training sentences, and under 1 point on full datasets. It helps most when data is scarce.</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Where classical ML breaks down on large, raw data</a:t>
            </a:r>
            <a:endParaRPr lang="en-US" sz="3400" dirty="0"/>
          </a:p>
        </p:txBody>
      </p:sp>
      <p:sp>
        <p:nvSpPr>
          <p:cNvPr id="3" name="limit-ml-icon-0-circle"/>
          <p:cNvSpPr/>
          <p:nvPr/>
        </p:nvSpPr>
        <p:spPr>
          <a:xfrm>
            <a:off x="548640" y="1508760"/>
            <a:ext cx="594360" cy="594360"/>
          </a:xfrm>
          <a:prstGeom prst="ellipse">
            <a:avLst/>
          </a:prstGeom>
          <a:solidFill>
            <a:schemeClr val="accent3"/>
          </a:solidFill>
          <a:ln/>
        </p:spPr>
      </p:sp>
      <p:pic>
        <p:nvPicPr>
          <p:cNvPr id="4" name="limit-ml-icon-0" descr="Tools icon">    </p:cNvPr>
          <p:cNvPicPr>
            <a:picLocks noChangeAspect="1"/>
          </p:cNvPicPr>
          <p:nvPr/>
        </p:nvPicPr>
        <p:blipFill>
          <a:blip r:embed="rId1"/>
          <a:stretch>
            <a:fillRect/>
          </a:stretch>
        </p:blipFill>
        <p:spPr>
          <a:xfrm>
            <a:off x="697230" y="1657350"/>
            <a:ext cx="297180" cy="297180"/>
          </a:xfrm>
          <a:prstGeom prst="rect">
            <a:avLst/>
          </a:prstGeom>
        </p:spPr>
      </p:pic>
      <p:sp>
        <p:nvSpPr>
          <p:cNvPr id="5" name="Text 2"/>
          <p:cNvSpPr txBox="1"/>
          <p:nvPr/>
        </p:nvSpPr>
        <p:spPr>
          <a:xfrm>
            <a:off x="1325880" y="1463040"/>
            <a:ext cx="4572000" cy="365760"/>
          </a:xfrm>
          <a:prstGeom prst="rect">
            <a:avLst/>
          </a:prstGeom>
          <a:noFill/>
          <a:ln/>
        </p:spPr>
        <p:txBody>
          <a:bodyPr wrap="square" lIns="0" tIns="0" rIns="0" bIns="0" rtlCol="0" anchor="t"/>
          <a:lstStyle/>
          <a:p>
            <a:pPr indent="0" marL="0">
              <a:buNone/>
            </a:pPr>
            <a:r>
              <a:rPr lang="en-US" sz="1700" b="1" dirty="0">
                <a:solidFill>
                  <a:schemeClr val="tx1"/>
                </a:solidFill>
              </a:rPr>
              <a:t>Features must be hand-made</a:t>
            </a:r>
            <a:endParaRPr lang="en-US" sz="1700" dirty="0"/>
          </a:p>
        </p:txBody>
      </p:sp>
      <p:sp>
        <p:nvSpPr>
          <p:cNvPr id="6" name="Text 3"/>
          <p:cNvSpPr txBox="1"/>
          <p:nvPr/>
        </p:nvSpPr>
        <p:spPr>
          <a:xfrm>
            <a:off x="1325880" y="1847088"/>
            <a:ext cx="4572000" cy="914400"/>
          </a:xfrm>
          <a:prstGeom prst="rect">
            <a:avLst/>
          </a:prstGeom>
          <a:noFill/>
          <a:ln/>
        </p:spPr>
        <p:txBody>
          <a:bodyPr wrap="square" lIns="0" tIns="0" rIns="0" bIns="0" rtlCol="0" anchor="t"/>
          <a:lstStyle/>
          <a:p>
            <a:pPr indent="0" marL="0">
              <a:buNone/>
            </a:pPr>
            <a:r>
              <a:rPr lang="en-US" sz="1300" dirty="0">
                <a:solidFill>
                  <a:schemeClr val="tx2"/>
                </a:solidFill>
              </a:rPr>
              <a:t>Classical models need people to design features such as edge counts, word frequencies or ratios. For raw pixels, audio and text, good features are very hard to write by hand.</a:t>
            </a:r>
            <a:endParaRPr lang="en-US" sz="1300" dirty="0"/>
          </a:p>
        </p:txBody>
      </p:sp>
      <p:sp>
        <p:nvSpPr>
          <p:cNvPr id="7" name="limit-ml-icon-1-circle"/>
          <p:cNvSpPr/>
          <p:nvPr/>
        </p:nvSpPr>
        <p:spPr>
          <a:xfrm>
            <a:off x="548640" y="2834640"/>
            <a:ext cx="594360" cy="594360"/>
          </a:xfrm>
          <a:prstGeom prst="ellipse">
            <a:avLst/>
          </a:prstGeom>
          <a:solidFill>
            <a:schemeClr val="accent3"/>
          </a:solidFill>
          <a:ln/>
        </p:spPr>
      </p:sp>
      <p:pic>
        <p:nvPicPr>
          <p:cNvPr id="8" name="limit-ml-icon-1" descr="Expand icon">    </p:cNvPr>
          <p:cNvPicPr>
            <a:picLocks noChangeAspect="1"/>
          </p:cNvPicPr>
          <p:nvPr/>
        </p:nvPicPr>
        <p:blipFill>
          <a:blip r:embed="rId2"/>
          <a:stretch>
            <a:fillRect/>
          </a:stretch>
        </p:blipFill>
        <p:spPr>
          <a:xfrm>
            <a:off x="697230" y="2983230"/>
            <a:ext cx="297180" cy="297180"/>
          </a:xfrm>
          <a:prstGeom prst="rect">
            <a:avLst/>
          </a:prstGeom>
        </p:spPr>
      </p:pic>
      <p:sp>
        <p:nvSpPr>
          <p:cNvPr id="9" name="Text 5"/>
          <p:cNvSpPr txBox="1"/>
          <p:nvPr/>
        </p:nvSpPr>
        <p:spPr>
          <a:xfrm>
            <a:off x="1325880" y="2788920"/>
            <a:ext cx="4572000" cy="365760"/>
          </a:xfrm>
          <a:prstGeom prst="rect">
            <a:avLst/>
          </a:prstGeom>
          <a:noFill/>
          <a:ln/>
        </p:spPr>
        <p:txBody>
          <a:bodyPr wrap="square" lIns="0" tIns="0" rIns="0" bIns="0" rtlCol="0" anchor="t"/>
          <a:lstStyle/>
          <a:p>
            <a:pPr indent="0" marL="0">
              <a:buNone/>
            </a:pPr>
            <a:r>
              <a:rPr lang="en-US" sz="1700" b="1" dirty="0">
                <a:solidFill>
                  <a:schemeClr val="tx1"/>
                </a:solidFill>
              </a:rPr>
              <a:t>Raw data is huge and unstructured</a:t>
            </a:r>
            <a:endParaRPr lang="en-US" sz="1700" dirty="0"/>
          </a:p>
        </p:txBody>
      </p:sp>
      <p:sp>
        <p:nvSpPr>
          <p:cNvPr id="10" name="Text 6"/>
          <p:cNvSpPr txBox="1"/>
          <p:nvPr/>
        </p:nvSpPr>
        <p:spPr>
          <a:xfrm>
            <a:off x="1325880" y="3172968"/>
            <a:ext cx="4572000" cy="914400"/>
          </a:xfrm>
          <a:prstGeom prst="rect">
            <a:avLst/>
          </a:prstGeom>
          <a:noFill/>
          <a:ln/>
        </p:spPr>
        <p:txBody>
          <a:bodyPr wrap="square" lIns="0" tIns="0" rIns="0" bIns="0" rtlCol="0" anchor="t"/>
          <a:lstStyle/>
          <a:p>
            <a:pPr indent="0" marL="0">
              <a:buNone/>
            </a:pPr>
            <a:r>
              <a:rPr lang="en-US" sz="1300" dirty="0">
                <a:solidFill>
                  <a:schemeClr val="tx2"/>
                </a:solidFill>
              </a:rPr>
              <a:t>One 224 × 224 colour image is 150,528 numbers. Single pixels mean almost nothing; the meaning is in patterns across thousands of them.</a:t>
            </a:r>
            <a:endParaRPr lang="en-US" sz="1300" dirty="0"/>
          </a:p>
        </p:txBody>
      </p:sp>
      <p:sp>
        <p:nvSpPr>
          <p:cNvPr id="11" name="limit-ml-icon-2-circle"/>
          <p:cNvSpPr/>
          <p:nvPr/>
        </p:nvSpPr>
        <p:spPr>
          <a:xfrm>
            <a:off x="548640" y="4160520"/>
            <a:ext cx="594360" cy="594360"/>
          </a:xfrm>
          <a:prstGeom prst="ellipse">
            <a:avLst/>
          </a:prstGeom>
          <a:solidFill>
            <a:schemeClr val="accent3"/>
          </a:solidFill>
          <a:ln/>
        </p:spPr>
      </p:sp>
      <p:pic>
        <p:nvPicPr>
          <p:cNvPr id="12" name="limit-ml-icon-2" descr="HourglassEnd icon">    </p:cNvPr>
          <p:cNvPicPr>
            <a:picLocks noChangeAspect="1"/>
          </p:cNvPicPr>
          <p:nvPr/>
        </p:nvPicPr>
        <p:blipFill>
          <a:blip r:embed="rId3"/>
          <a:stretch>
            <a:fillRect/>
          </a:stretch>
        </p:blipFill>
        <p:spPr>
          <a:xfrm>
            <a:off x="697230" y="4309110"/>
            <a:ext cx="297180" cy="297180"/>
          </a:xfrm>
          <a:prstGeom prst="rect">
            <a:avLst/>
          </a:prstGeom>
        </p:spPr>
      </p:pic>
      <p:sp>
        <p:nvSpPr>
          <p:cNvPr id="13" name="Text 8"/>
          <p:cNvSpPr txBox="1"/>
          <p:nvPr/>
        </p:nvSpPr>
        <p:spPr>
          <a:xfrm>
            <a:off x="1325880" y="4114800"/>
            <a:ext cx="4572000" cy="365760"/>
          </a:xfrm>
          <a:prstGeom prst="rect">
            <a:avLst/>
          </a:prstGeom>
          <a:noFill/>
          <a:ln/>
        </p:spPr>
        <p:txBody>
          <a:bodyPr wrap="square" lIns="0" tIns="0" rIns="0" bIns="0" rtlCol="0" anchor="t"/>
          <a:lstStyle/>
          <a:p>
            <a:pPr indent="0" marL="0">
              <a:buNone/>
            </a:pPr>
            <a:r>
              <a:rPr lang="en-US" sz="1700" b="1" dirty="0">
                <a:solidFill>
                  <a:schemeClr val="tx1"/>
                </a:solidFill>
              </a:rPr>
              <a:t>More data stops helping</a:t>
            </a:r>
            <a:endParaRPr lang="en-US" sz="1700" dirty="0"/>
          </a:p>
        </p:txBody>
      </p:sp>
      <p:sp>
        <p:nvSpPr>
          <p:cNvPr id="14" name="Text 9"/>
          <p:cNvSpPr txBox="1"/>
          <p:nvPr/>
        </p:nvSpPr>
        <p:spPr>
          <a:xfrm>
            <a:off x="1325880" y="4498848"/>
            <a:ext cx="4572000" cy="914400"/>
          </a:xfrm>
          <a:prstGeom prst="rect">
            <a:avLst/>
          </a:prstGeom>
          <a:noFill/>
          <a:ln/>
        </p:spPr>
        <p:txBody>
          <a:bodyPr wrap="square" lIns="0" tIns="0" rIns="0" bIns="0" rtlCol="0" anchor="t"/>
          <a:lstStyle/>
          <a:p>
            <a:pPr indent="0" marL="0">
              <a:buNone/>
            </a:pPr>
            <a:r>
              <a:rPr lang="en-US" sz="1300" dirty="0">
                <a:solidFill>
                  <a:schemeClr val="tx2"/>
                </a:solidFill>
              </a:rPr>
              <a:t>Kernel SVMs need memory and time that grow with the square of the number of examples or worse, and accuracy tends to plateau as data grows.</a:t>
            </a:r>
            <a:endParaRPr lang="en-US" sz="1300" dirty="0"/>
          </a:p>
        </p:txBody>
      </p:sp>
      <p:sp>
        <p:nvSpPr>
          <p:cNvPr id="15" name="Text 10"/>
          <p:cNvSpPr txBox="1"/>
          <p:nvPr/>
        </p:nvSpPr>
        <p:spPr>
          <a:xfrm>
            <a:off x="6263640" y="1463040"/>
            <a:ext cx="5376672" cy="320040"/>
          </a:xfrm>
          <a:prstGeom prst="rect">
            <a:avLst/>
          </a:prstGeom>
          <a:noFill/>
          <a:ln/>
        </p:spPr>
        <p:txBody>
          <a:bodyPr wrap="square" lIns="0" tIns="0" rIns="0" bIns="0" rtlCol="0" anchor="t"/>
          <a:lstStyle/>
          <a:p>
            <a:pPr indent="0" marL="0">
              <a:buNone/>
            </a:pPr>
            <a:r>
              <a:rPr lang="en-US" sz="1400" b="1" dirty="0">
                <a:solidFill>
                  <a:schemeClr val="tx1"/>
                </a:solidFill>
              </a:rPr>
              <a:t>Schematic: performance as training data grows</a:t>
            </a:r>
            <a:endParaRPr lang="en-US" sz="1400" dirty="0"/>
          </a:p>
        </p:txBody>
      </p:sp>
      <p:sp>
        <p:nvSpPr>
          <p:cNvPr id="16" name="schem-yaxis"/>
          <p:cNvSpPr/>
          <p:nvPr/>
        </p:nvSpPr>
        <p:spPr>
          <a:xfrm>
            <a:off x="6812280" y="1874520"/>
            <a:ext cx="0" cy="2697480"/>
          </a:xfrm>
          <a:prstGeom prst="line">
            <a:avLst/>
          </a:prstGeom>
          <a:noFill/>
          <a:ln w="15875">
            <a:solidFill>
              <a:srgbClr val="7A8793"/>
            </a:solidFill>
            <a:prstDash val="solid"/>
          </a:ln>
        </p:spPr>
      </p:sp>
      <p:sp>
        <p:nvSpPr>
          <p:cNvPr id="17" name="schem-xaxis"/>
          <p:cNvSpPr/>
          <p:nvPr/>
        </p:nvSpPr>
        <p:spPr>
          <a:xfrm>
            <a:off x="6812280" y="4572000"/>
            <a:ext cx="4572000" cy="0"/>
          </a:xfrm>
          <a:prstGeom prst="line">
            <a:avLst/>
          </a:prstGeom>
          <a:noFill/>
          <a:ln w="15875">
            <a:solidFill>
              <a:srgbClr val="7A8793"/>
            </a:solidFill>
            <a:prstDash val="solid"/>
            <a:tailEnd type="triangle"/>
          </a:ln>
        </p:spPr>
      </p:sp>
      <p:sp>
        <p:nvSpPr>
          <p:cNvPr id="18" name="Text 13"/>
          <p:cNvSpPr txBox="1"/>
          <p:nvPr/>
        </p:nvSpPr>
        <p:spPr>
          <a:xfrm rot="16200000">
            <a:off x="5234940" y="3113532"/>
            <a:ext cx="2606040" cy="310896"/>
          </a:xfrm>
          <a:prstGeom prst="rect">
            <a:avLst/>
          </a:prstGeom>
          <a:noFill/>
          <a:ln/>
        </p:spPr>
        <p:txBody>
          <a:bodyPr wrap="square" lIns="0" tIns="0" rIns="0" bIns="0" rtlCol="0" anchor="ctr"/>
          <a:lstStyle/>
          <a:p>
            <a:pPr algn="ctr" indent="0" marL="0">
              <a:buNone/>
            </a:pPr>
            <a:r>
              <a:rPr lang="en-US" sz="1200" dirty="0">
                <a:solidFill>
                  <a:schemeClr val="tx2"/>
                </a:solidFill>
              </a:rPr>
              <a:t>Performance</a:t>
            </a:r>
            <a:endParaRPr lang="en-US" sz="1200" dirty="0"/>
          </a:p>
        </p:txBody>
      </p:sp>
      <p:sp>
        <p:nvSpPr>
          <p:cNvPr id="19" name="Text 14"/>
          <p:cNvSpPr txBox="1"/>
          <p:nvPr/>
        </p:nvSpPr>
        <p:spPr>
          <a:xfrm>
            <a:off x="6812280" y="4645152"/>
            <a:ext cx="4480560" cy="274320"/>
          </a:xfrm>
          <a:prstGeom prst="rect">
            <a:avLst/>
          </a:prstGeom>
          <a:noFill/>
          <a:ln/>
        </p:spPr>
        <p:txBody>
          <a:bodyPr wrap="square" lIns="0" tIns="0" rIns="0" bIns="0" rtlCol="0" anchor="t"/>
          <a:lstStyle/>
          <a:p>
            <a:pPr algn="ctr" indent="0" marL="0">
              <a:buNone/>
            </a:pPr>
            <a:r>
              <a:rPr lang="en-US" sz="1200" dirty="0">
                <a:solidFill>
                  <a:schemeClr val="tx2"/>
                </a:solidFill>
              </a:rPr>
              <a:t>Amount of training data →</a:t>
            </a:r>
            <a:endParaRPr lang="en-US" sz="1200" dirty="0"/>
          </a:p>
        </p:txBody>
      </p:sp>
      <p:sp>
        <p:nvSpPr>
          <p:cNvPr id="20" name="schem-classical-0"/>
          <p:cNvSpPr/>
          <p:nvPr/>
        </p:nvSpPr>
        <p:spPr>
          <a:xfrm flipV="1">
            <a:off x="6858000" y="4169647"/>
            <a:ext cx="182880" cy="272051"/>
          </a:xfrm>
          <a:prstGeom prst="line">
            <a:avLst/>
          </a:prstGeom>
          <a:noFill/>
          <a:ln w="44450">
            <a:solidFill>
              <a:srgbClr val="335C67"/>
            </a:solidFill>
            <a:prstDash val="solid"/>
          </a:ln>
        </p:spPr>
      </p:sp>
      <p:sp>
        <p:nvSpPr>
          <p:cNvPr id="21" name="schem-classical-1"/>
          <p:cNvSpPr/>
          <p:nvPr/>
        </p:nvSpPr>
        <p:spPr>
          <a:xfrm flipV="1">
            <a:off x="7040880" y="3939361"/>
            <a:ext cx="182880" cy="230286"/>
          </a:xfrm>
          <a:prstGeom prst="line">
            <a:avLst/>
          </a:prstGeom>
          <a:noFill/>
          <a:ln w="44450">
            <a:solidFill>
              <a:srgbClr val="335C67"/>
            </a:solidFill>
            <a:prstDash val="solid"/>
          </a:ln>
        </p:spPr>
      </p:sp>
      <p:sp>
        <p:nvSpPr>
          <p:cNvPr id="22" name="schem-classical-2"/>
          <p:cNvSpPr/>
          <p:nvPr/>
        </p:nvSpPr>
        <p:spPr>
          <a:xfrm flipV="1">
            <a:off x="7223760" y="3744428"/>
            <a:ext cx="182880" cy="194933"/>
          </a:xfrm>
          <a:prstGeom prst="line">
            <a:avLst/>
          </a:prstGeom>
          <a:noFill/>
          <a:ln w="44450">
            <a:solidFill>
              <a:srgbClr val="335C67"/>
            </a:solidFill>
            <a:prstDash val="solid"/>
          </a:ln>
        </p:spPr>
      </p:sp>
      <p:sp>
        <p:nvSpPr>
          <p:cNvPr id="23" name="schem-classical-3"/>
          <p:cNvSpPr/>
          <p:nvPr/>
        </p:nvSpPr>
        <p:spPr>
          <a:xfrm flipV="1">
            <a:off x="7406640" y="3579421"/>
            <a:ext cx="182880" cy="165007"/>
          </a:xfrm>
          <a:prstGeom prst="line">
            <a:avLst/>
          </a:prstGeom>
          <a:noFill/>
          <a:ln w="44450">
            <a:solidFill>
              <a:srgbClr val="335C67"/>
            </a:solidFill>
            <a:prstDash val="solid"/>
          </a:ln>
        </p:spPr>
      </p:sp>
      <p:sp>
        <p:nvSpPr>
          <p:cNvPr id="24" name="schem-classical-4"/>
          <p:cNvSpPr/>
          <p:nvPr/>
        </p:nvSpPr>
        <p:spPr>
          <a:xfrm flipV="1">
            <a:off x="7589520" y="3439745"/>
            <a:ext cx="182880" cy="139676"/>
          </a:xfrm>
          <a:prstGeom prst="line">
            <a:avLst/>
          </a:prstGeom>
          <a:noFill/>
          <a:ln w="44450">
            <a:solidFill>
              <a:srgbClr val="335C67"/>
            </a:solidFill>
            <a:prstDash val="solid"/>
          </a:ln>
        </p:spPr>
      </p:sp>
      <p:sp>
        <p:nvSpPr>
          <p:cNvPr id="25" name="schem-classical-5"/>
          <p:cNvSpPr/>
          <p:nvPr/>
        </p:nvSpPr>
        <p:spPr>
          <a:xfrm flipV="1">
            <a:off x="7772400" y="3321513"/>
            <a:ext cx="182880" cy="118233"/>
          </a:xfrm>
          <a:prstGeom prst="line">
            <a:avLst/>
          </a:prstGeom>
          <a:noFill/>
          <a:ln w="44450">
            <a:solidFill>
              <a:srgbClr val="335C67"/>
            </a:solidFill>
            <a:prstDash val="solid"/>
          </a:ln>
        </p:spPr>
      </p:sp>
      <p:sp>
        <p:nvSpPr>
          <p:cNvPr id="26" name="schem-classical-6"/>
          <p:cNvSpPr/>
          <p:nvPr/>
        </p:nvSpPr>
        <p:spPr>
          <a:xfrm flipV="1">
            <a:off x="7955280" y="3221431"/>
            <a:ext cx="182880" cy="100082"/>
          </a:xfrm>
          <a:prstGeom prst="line">
            <a:avLst/>
          </a:prstGeom>
          <a:noFill/>
          <a:ln w="44450">
            <a:solidFill>
              <a:srgbClr val="335C67"/>
            </a:solidFill>
            <a:prstDash val="solid"/>
          </a:ln>
        </p:spPr>
      </p:sp>
      <p:sp>
        <p:nvSpPr>
          <p:cNvPr id="27" name="schem-classical-7"/>
          <p:cNvSpPr/>
          <p:nvPr/>
        </p:nvSpPr>
        <p:spPr>
          <a:xfrm flipV="1">
            <a:off x="8138160" y="3136713"/>
            <a:ext cx="182880" cy="84718"/>
          </a:xfrm>
          <a:prstGeom prst="line">
            <a:avLst/>
          </a:prstGeom>
          <a:noFill/>
          <a:ln w="44450">
            <a:solidFill>
              <a:srgbClr val="335C67"/>
            </a:solidFill>
            <a:prstDash val="solid"/>
          </a:ln>
        </p:spPr>
      </p:sp>
      <p:sp>
        <p:nvSpPr>
          <p:cNvPr id="28" name="schem-classical-8"/>
          <p:cNvSpPr/>
          <p:nvPr/>
        </p:nvSpPr>
        <p:spPr>
          <a:xfrm flipV="1">
            <a:off x="8321040" y="3065001"/>
            <a:ext cx="182880" cy="71712"/>
          </a:xfrm>
          <a:prstGeom prst="line">
            <a:avLst/>
          </a:prstGeom>
          <a:noFill/>
          <a:ln w="44450">
            <a:solidFill>
              <a:srgbClr val="335C67"/>
            </a:solidFill>
            <a:prstDash val="solid"/>
          </a:ln>
        </p:spPr>
      </p:sp>
      <p:sp>
        <p:nvSpPr>
          <p:cNvPr id="29" name="schem-classical-9"/>
          <p:cNvSpPr/>
          <p:nvPr/>
        </p:nvSpPr>
        <p:spPr>
          <a:xfrm flipV="1">
            <a:off x="8503920" y="3004299"/>
            <a:ext cx="182880" cy="60703"/>
          </a:xfrm>
          <a:prstGeom prst="line">
            <a:avLst/>
          </a:prstGeom>
          <a:noFill/>
          <a:ln w="44450">
            <a:solidFill>
              <a:srgbClr val="335C67"/>
            </a:solidFill>
            <a:prstDash val="solid"/>
          </a:ln>
        </p:spPr>
      </p:sp>
      <p:sp>
        <p:nvSpPr>
          <p:cNvPr id="30" name="schem-classical-10"/>
          <p:cNvSpPr/>
          <p:nvPr/>
        </p:nvSpPr>
        <p:spPr>
          <a:xfrm flipV="1">
            <a:off x="8686800" y="2952915"/>
            <a:ext cx="182880" cy="51384"/>
          </a:xfrm>
          <a:prstGeom prst="line">
            <a:avLst/>
          </a:prstGeom>
          <a:noFill/>
          <a:ln w="44450">
            <a:solidFill>
              <a:srgbClr val="335C67"/>
            </a:solidFill>
            <a:prstDash val="solid"/>
          </a:ln>
        </p:spPr>
      </p:sp>
      <p:sp>
        <p:nvSpPr>
          <p:cNvPr id="31" name="schem-classical-11"/>
          <p:cNvSpPr/>
          <p:nvPr/>
        </p:nvSpPr>
        <p:spPr>
          <a:xfrm flipV="1">
            <a:off x="8869680" y="2909419"/>
            <a:ext cx="182880" cy="43495"/>
          </a:xfrm>
          <a:prstGeom prst="line">
            <a:avLst/>
          </a:prstGeom>
          <a:noFill/>
          <a:ln w="44450">
            <a:solidFill>
              <a:srgbClr val="335C67"/>
            </a:solidFill>
            <a:prstDash val="solid"/>
          </a:ln>
        </p:spPr>
      </p:sp>
      <p:sp>
        <p:nvSpPr>
          <p:cNvPr id="32" name="schem-classical-12"/>
          <p:cNvSpPr/>
          <p:nvPr/>
        </p:nvSpPr>
        <p:spPr>
          <a:xfrm flipV="1">
            <a:off x="9052560" y="2872601"/>
            <a:ext cx="182880" cy="36818"/>
          </a:xfrm>
          <a:prstGeom prst="line">
            <a:avLst/>
          </a:prstGeom>
          <a:noFill/>
          <a:ln w="44450">
            <a:solidFill>
              <a:srgbClr val="335C67"/>
            </a:solidFill>
            <a:prstDash val="solid"/>
          </a:ln>
        </p:spPr>
      </p:sp>
      <p:sp>
        <p:nvSpPr>
          <p:cNvPr id="33" name="schem-classical-13"/>
          <p:cNvSpPr/>
          <p:nvPr/>
        </p:nvSpPr>
        <p:spPr>
          <a:xfrm flipV="1">
            <a:off x="9235440" y="2841436"/>
            <a:ext cx="182880" cy="31166"/>
          </a:xfrm>
          <a:prstGeom prst="line">
            <a:avLst/>
          </a:prstGeom>
          <a:noFill/>
          <a:ln w="44450">
            <a:solidFill>
              <a:srgbClr val="335C67"/>
            </a:solidFill>
            <a:prstDash val="solid"/>
          </a:ln>
        </p:spPr>
      </p:sp>
      <p:sp>
        <p:nvSpPr>
          <p:cNvPr id="34" name="schem-classical-14"/>
          <p:cNvSpPr/>
          <p:nvPr/>
        </p:nvSpPr>
        <p:spPr>
          <a:xfrm flipV="1">
            <a:off x="9418320" y="2815054"/>
            <a:ext cx="182880" cy="26381"/>
          </a:xfrm>
          <a:prstGeom prst="line">
            <a:avLst/>
          </a:prstGeom>
          <a:noFill/>
          <a:ln w="44450">
            <a:solidFill>
              <a:srgbClr val="335C67"/>
            </a:solidFill>
            <a:prstDash val="solid"/>
          </a:ln>
        </p:spPr>
      </p:sp>
      <p:sp>
        <p:nvSpPr>
          <p:cNvPr id="35" name="schem-classical-15"/>
          <p:cNvSpPr/>
          <p:nvPr/>
        </p:nvSpPr>
        <p:spPr>
          <a:xfrm flipV="1">
            <a:off x="9601200" y="2792723"/>
            <a:ext cx="182880" cy="22331"/>
          </a:xfrm>
          <a:prstGeom prst="line">
            <a:avLst/>
          </a:prstGeom>
          <a:noFill/>
          <a:ln w="44450">
            <a:solidFill>
              <a:srgbClr val="335C67"/>
            </a:solidFill>
            <a:prstDash val="solid"/>
          </a:ln>
        </p:spPr>
      </p:sp>
      <p:sp>
        <p:nvSpPr>
          <p:cNvPr id="36" name="schem-classical-16"/>
          <p:cNvSpPr/>
          <p:nvPr/>
        </p:nvSpPr>
        <p:spPr>
          <a:xfrm flipV="1">
            <a:off x="9784080" y="2773820"/>
            <a:ext cx="182880" cy="18903"/>
          </a:xfrm>
          <a:prstGeom prst="line">
            <a:avLst/>
          </a:prstGeom>
          <a:noFill/>
          <a:ln w="44450">
            <a:solidFill>
              <a:srgbClr val="335C67"/>
            </a:solidFill>
            <a:prstDash val="solid"/>
          </a:ln>
        </p:spPr>
      </p:sp>
      <p:sp>
        <p:nvSpPr>
          <p:cNvPr id="37" name="schem-classical-17"/>
          <p:cNvSpPr/>
          <p:nvPr/>
        </p:nvSpPr>
        <p:spPr>
          <a:xfrm flipV="1">
            <a:off x="9966960" y="2757819"/>
            <a:ext cx="182880" cy="16001"/>
          </a:xfrm>
          <a:prstGeom prst="line">
            <a:avLst/>
          </a:prstGeom>
          <a:noFill/>
          <a:ln w="44450">
            <a:solidFill>
              <a:srgbClr val="335C67"/>
            </a:solidFill>
            <a:prstDash val="solid"/>
          </a:ln>
        </p:spPr>
      </p:sp>
      <p:sp>
        <p:nvSpPr>
          <p:cNvPr id="38" name="schem-classical-18"/>
          <p:cNvSpPr/>
          <p:nvPr/>
        </p:nvSpPr>
        <p:spPr>
          <a:xfrm flipV="1">
            <a:off x="10149840" y="2744274"/>
            <a:ext cx="182880" cy="13545"/>
          </a:xfrm>
          <a:prstGeom prst="line">
            <a:avLst/>
          </a:prstGeom>
          <a:noFill/>
          <a:ln w="44450">
            <a:solidFill>
              <a:srgbClr val="335C67"/>
            </a:solidFill>
            <a:prstDash val="solid"/>
          </a:ln>
        </p:spPr>
      </p:sp>
      <p:sp>
        <p:nvSpPr>
          <p:cNvPr id="39" name="schem-classical-19"/>
          <p:cNvSpPr/>
          <p:nvPr/>
        </p:nvSpPr>
        <p:spPr>
          <a:xfrm flipV="1">
            <a:off x="10332720" y="2732809"/>
            <a:ext cx="182880" cy="11465"/>
          </a:xfrm>
          <a:prstGeom prst="line">
            <a:avLst/>
          </a:prstGeom>
          <a:noFill/>
          <a:ln w="44450">
            <a:solidFill>
              <a:srgbClr val="335C67"/>
            </a:solidFill>
            <a:prstDash val="solid"/>
          </a:ln>
        </p:spPr>
      </p:sp>
      <p:sp>
        <p:nvSpPr>
          <p:cNvPr id="40" name="schem-classical-20"/>
          <p:cNvSpPr/>
          <p:nvPr/>
        </p:nvSpPr>
        <p:spPr>
          <a:xfrm flipV="1">
            <a:off x="10515600" y="2723104"/>
            <a:ext cx="182880" cy="9705"/>
          </a:xfrm>
          <a:prstGeom prst="line">
            <a:avLst/>
          </a:prstGeom>
          <a:noFill/>
          <a:ln w="44450">
            <a:solidFill>
              <a:srgbClr val="335C67"/>
            </a:solidFill>
            <a:prstDash val="solid"/>
          </a:ln>
        </p:spPr>
      </p:sp>
      <p:sp>
        <p:nvSpPr>
          <p:cNvPr id="41" name="schem-classical-21"/>
          <p:cNvSpPr/>
          <p:nvPr/>
        </p:nvSpPr>
        <p:spPr>
          <a:xfrm flipV="1">
            <a:off x="10698480" y="2714889"/>
            <a:ext cx="182880" cy="8215"/>
          </a:xfrm>
          <a:prstGeom prst="line">
            <a:avLst/>
          </a:prstGeom>
          <a:noFill/>
          <a:ln w="44450">
            <a:solidFill>
              <a:srgbClr val="335C67"/>
            </a:solidFill>
            <a:prstDash val="solid"/>
          </a:ln>
        </p:spPr>
      </p:sp>
      <p:sp>
        <p:nvSpPr>
          <p:cNvPr id="42" name="schem-classical-22"/>
          <p:cNvSpPr/>
          <p:nvPr/>
        </p:nvSpPr>
        <p:spPr>
          <a:xfrm flipV="1">
            <a:off x="10881360" y="2707935"/>
            <a:ext cx="182880" cy="6954"/>
          </a:xfrm>
          <a:prstGeom prst="line">
            <a:avLst/>
          </a:prstGeom>
          <a:noFill/>
          <a:ln w="44450">
            <a:solidFill>
              <a:srgbClr val="335C67"/>
            </a:solidFill>
            <a:prstDash val="solid"/>
          </a:ln>
        </p:spPr>
      </p:sp>
      <p:sp>
        <p:nvSpPr>
          <p:cNvPr id="43" name="schem-classical-23"/>
          <p:cNvSpPr/>
          <p:nvPr/>
        </p:nvSpPr>
        <p:spPr>
          <a:xfrm flipV="1">
            <a:off x="11064240" y="2702048"/>
            <a:ext cx="182880" cy="5886"/>
          </a:xfrm>
          <a:prstGeom prst="line">
            <a:avLst/>
          </a:prstGeom>
          <a:noFill/>
          <a:ln w="44450">
            <a:solidFill>
              <a:srgbClr val="335C67"/>
            </a:solidFill>
            <a:prstDash val="solid"/>
          </a:ln>
        </p:spPr>
      </p:sp>
      <p:sp>
        <p:nvSpPr>
          <p:cNvPr id="44" name="schem-deep-0"/>
          <p:cNvSpPr/>
          <p:nvPr/>
        </p:nvSpPr>
        <p:spPr>
          <a:xfrm flipV="1">
            <a:off x="6858000" y="4427181"/>
            <a:ext cx="182880" cy="14517"/>
          </a:xfrm>
          <a:prstGeom prst="line">
            <a:avLst/>
          </a:prstGeom>
          <a:noFill/>
          <a:ln w="44450">
            <a:solidFill>
              <a:srgbClr val="E09F3E"/>
            </a:solidFill>
            <a:prstDash val="solid"/>
          </a:ln>
        </p:spPr>
      </p:sp>
      <p:sp>
        <p:nvSpPr>
          <p:cNvPr id="45" name="schem-deep-1"/>
          <p:cNvSpPr/>
          <p:nvPr/>
        </p:nvSpPr>
        <p:spPr>
          <a:xfrm flipV="1">
            <a:off x="7040880" y="4397690"/>
            <a:ext cx="182880" cy="29491"/>
          </a:xfrm>
          <a:prstGeom prst="line">
            <a:avLst/>
          </a:prstGeom>
          <a:noFill/>
          <a:ln w="44450">
            <a:solidFill>
              <a:srgbClr val="E09F3E"/>
            </a:solidFill>
            <a:prstDash val="solid"/>
          </a:ln>
        </p:spPr>
      </p:sp>
      <p:sp>
        <p:nvSpPr>
          <p:cNvPr id="46" name="schem-deep-2"/>
          <p:cNvSpPr/>
          <p:nvPr/>
        </p:nvSpPr>
        <p:spPr>
          <a:xfrm flipV="1">
            <a:off x="7223760" y="4357504"/>
            <a:ext cx="182880" cy="40186"/>
          </a:xfrm>
          <a:prstGeom prst="line">
            <a:avLst/>
          </a:prstGeom>
          <a:noFill/>
          <a:ln w="44450">
            <a:solidFill>
              <a:srgbClr val="E09F3E"/>
            </a:solidFill>
            <a:prstDash val="solid"/>
          </a:ln>
        </p:spPr>
      </p:sp>
      <p:sp>
        <p:nvSpPr>
          <p:cNvPr id="47" name="schem-deep-3"/>
          <p:cNvSpPr/>
          <p:nvPr/>
        </p:nvSpPr>
        <p:spPr>
          <a:xfrm flipV="1">
            <a:off x="7406640" y="4308290"/>
            <a:ext cx="182880" cy="49214"/>
          </a:xfrm>
          <a:prstGeom prst="line">
            <a:avLst/>
          </a:prstGeom>
          <a:noFill/>
          <a:ln w="44450">
            <a:solidFill>
              <a:srgbClr val="E09F3E"/>
            </a:solidFill>
            <a:prstDash val="solid"/>
          </a:ln>
        </p:spPr>
      </p:sp>
      <p:sp>
        <p:nvSpPr>
          <p:cNvPr id="48" name="schem-deep-4"/>
          <p:cNvSpPr/>
          <p:nvPr/>
        </p:nvSpPr>
        <p:spPr>
          <a:xfrm flipV="1">
            <a:off x="7589520" y="4251048"/>
            <a:ext cx="182880" cy="57242"/>
          </a:xfrm>
          <a:prstGeom prst="line">
            <a:avLst/>
          </a:prstGeom>
          <a:noFill/>
          <a:ln w="44450">
            <a:solidFill>
              <a:srgbClr val="E09F3E"/>
            </a:solidFill>
            <a:prstDash val="solid"/>
          </a:ln>
        </p:spPr>
      </p:sp>
      <p:sp>
        <p:nvSpPr>
          <p:cNvPr id="49" name="schem-deep-5"/>
          <p:cNvSpPr/>
          <p:nvPr/>
        </p:nvSpPr>
        <p:spPr>
          <a:xfrm flipV="1">
            <a:off x="7772400" y="4186470"/>
            <a:ext cx="182880" cy="64577"/>
          </a:xfrm>
          <a:prstGeom prst="line">
            <a:avLst/>
          </a:prstGeom>
          <a:noFill/>
          <a:ln w="44450">
            <a:solidFill>
              <a:srgbClr val="E09F3E"/>
            </a:solidFill>
            <a:prstDash val="solid"/>
          </a:ln>
        </p:spPr>
      </p:sp>
      <p:sp>
        <p:nvSpPr>
          <p:cNvPr id="50" name="schem-deep-6"/>
          <p:cNvSpPr/>
          <p:nvPr/>
        </p:nvSpPr>
        <p:spPr>
          <a:xfrm flipV="1">
            <a:off x="7955280" y="4115078"/>
            <a:ext cx="182880" cy="71392"/>
          </a:xfrm>
          <a:prstGeom prst="line">
            <a:avLst/>
          </a:prstGeom>
          <a:noFill/>
          <a:ln w="44450">
            <a:solidFill>
              <a:srgbClr val="E09F3E"/>
            </a:solidFill>
            <a:prstDash val="solid"/>
          </a:ln>
        </p:spPr>
      </p:sp>
      <p:sp>
        <p:nvSpPr>
          <p:cNvPr id="51" name="schem-deep-7"/>
          <p:cNvSpPr/>
          <p:nvPr/>
        </p:nvSpPr>
        <p:spPr>
          <a:xfrm flipV="1">
            <a:off x="8138160" y="4037281"/>
            <a:ext cx="182880" cy="77797"/>
          </a:xfrm>
          <a:prstGeom prst="line">
            <a:avLst/>
          </a:prstGeom>
          <a:noFill/>
          <a:ln w="44450">
            <a:solidFill>
              <a:srgbClr val="E09F3E"/>
            </a:solidFill>
            <a:prstDash val="solid"/>
          </a:ln>
        </p:spPr>
      </p:sp>
      <p:sp>
        <p:nvSpPr>
          <p:cNvPr id="52" name="schem-deep-8"/>
          <p:cNvSpPr/>
          <p:nvPr/>
        </p:nvSpPr>
        <p:spPr>
          <a:xfrm flipV="1">
            <a:off x="8321040" y="3953413"/>
            <a:ext cx="182880" cy="83868"/>
          </a:xfrm>
          <a:prstGeom prst="line">
            <a:avLst/>
          </a:prstGeom>
          <a:noFill/>
          <a:ln w="44450">
            <a:solidFill>
              <a:srgbClr val="E09F3E"/>
            </a:solidFill>
            <a:prstDash val="solid"/>
          </a:ln>
        </p:spPr>
      </p:sp>
      <p:sp>
        <p:nvSpPr>
          <p:cNvPr id="53" name="schem-deep-9"/>
          <p:cNvSpPr/>
          <p:nvPr/>
        </p:nvSpPr>
        <p:spPr>
          <a:xfrm flipV="1">
            <a:off x="8503920" y="3863754"/>
            <a:ext cx="182880" cy="89659"/>
          </a:xfrm>
          <a:prstGeom prst="line">
            <a:avLst/>
          </a:prstGeom>
          <a:noFill/>
          <a:ln w="44450">
            <a:solidFill>
              <a:srgbClr val="E09F3E"/>
            </a:solidFill>
            <a:prstDash val="solid"/>
          </a:ln>
        </p:spPr>
      </p:sp>
      <p:sp>
        <p:nvSpPr>
          <p:cNvPr id="54" name="schem-deep-10"/>
          <p:cNvSpPr/>
          <p:nvPr/>
        </p:nvSpPr>
        <p:spPr>
          <a:xfrm flipV="1">
            <a:off x="8686800" y="3768545"/>
            <a:ext cx="182880" cy="95209"/>
          </a:xfrm>
          <a:prstGeom prst="line">
            <a:avLst/>
          </a:prstGeom>
          <a:noFill/>
          <a:ln w="44450">
            <a:solidFill>
              <a:srgbClr val="E09F3E"/>
            </a:solidFill>
            <a:prstDash val="solid"/>
          </a:ln>
        </p:spPr>
      </p:sp>
      <p:sp>
        <p:nvSpPr>
          <p:cNvPr id="55" name="schem-deep-11"/>
          <p:cNvSpPr/>
          <p:nvPr/>
        </p:nvSpPr>
        <p:spPr>
          <a:xfrm flipV="1">
            <a:off x="8869680" y="3667993"/>
            <a:ext cx="182880" cy="100552"/>
          </a:xfrm>
          <a:prstGeom prst="line">
            <a:avLst/>
          </a:prstGeom>
          <a:noFill/>
          <a:ln w="44450">
            <a:solidFill>
              <a:srgbClr val="E09F3E"/>
            </a:solidFill>
            <a:prstDash val="solid"/>
          </a:ln>
        </p:spPr>
      </p:sp>
      <p:sp>
        <p:nvSpPr>
          <p:cNvPr id="56" name="schem-deep-12"/>
          <p:cNvSpPr/>
          <p:nvPr/>
        </p:nvSpPr>
        <p:spPr>
          <a:xfrm flipV="1">
            <a:off x="9052560" y="3562281"/>
            <a:ext cx="182880" cy="105712"/>
          </a:xfrm>
          <a:prstGeom prst="line">
            <a:avLst/>
          </a:prstGeom>
          <a:noFill/>
          <a:ln w="44450">
            <a:solidFill>
              <a:srgbClr val="E09F3E"/>
            </a:solidFill>
            <a:prstDash val="solid"/>
          </a:ln>
        </p:spPr>
      </p:sp>
      <p:sp>
        <p:nvSpPr>
          <p:cNvPr id="57" name="schem-deep-13"/>
          <p:cNvSpPr/>
          <p:nvPr/>
        </p:nvSpPr>
        <p:spPr>
          <a:xfrm flipV="1">
            <a:off x="9235440" y="3451572"/>
            <a:ext cx="182880" cy="110709"/>
          </a:xfrm>
          <a:prstGeom prst="line">
            <a:avLst/>
          </a:prstGeom>
          <a:noFill/>
          <a:ln w="44450">
            <a:solidFill>
              <a:srgbClr val="E09F3E"/>
            </a:solidFill>
            <a:prstDash val="solid"/>
          </a:ln>
        </p:spPr>
      </p:sp>
      <p:sp>
        <p:nvSpPr>
          <p:cNvPr id="58" name="schem-deep-14"/>
          <p:cNvSpPr/>
          <p:nvPr/>
        </p:nvSpPr>
        <p:spPr>
          <a:xfrm flipV="1">
            <a:off x="9418320" y="3336012"/>
            <a:ext cx="182880" cy="115560"/>
          </a:xfrm>
          <a:prstGeom prst="line">
            <a:avLst/>
          </a:prstGeom>
          <a:noFill/>
          <a:ln w="44450">
            <a:solidFill>
              <a:srgbClr val="E09F3E"/>
            </a:solidFill>
            <a:prstDash val="solid"/>
          </a:ln>
        </p:spPr>
      </p:sp>
      <p:sp>
        <p:nvSpPr>
          <p:cNvPr id="59" name="schem-deep-15"/>
          <p:cNvSpPr/>
          <p:nvPr/>
        </p:nvSpPr>
        <p:spPr>
          <a:xfrm flipV="1">
            <a:off x="9601200" y="3215734"/>
            <a:ext cx="182880" cy="120278"/>
          </a:xfrm>
          <a:prstGeom prst="line">
            <a:avLst/>
          </a:prstGeom>
          <a:noFill/>
          <a:ln w="44450">
            <a:solidFill>
              <a:srgbClr val="E09F3E"/>
            </a:solidFill>
            <a:prstDash val="solid"/>
          </a:ln>
        </p:spPr>
      </p:sp>
      <p:sp>
        <p:nvSpPr>
          <p:cNvPr id="60" name="schem-deep-16"/>
          <p:cNvSpPr/>
          <p:nvPr/>
        </p:nvSpPr>
        <p:spPr>
          <a:xfrm flipV="1">
            <a:off x="9784080" y="3090858"/>
            <a:ext cx="182880" cy="124876"/>
          </a:xfrm>
          <a:prstGeom prst="line">
            <a:avLst/>
          </a:prstGeom>
          <a:noFill/>
          <a:ln w="44450">
            <a:solidFill>
              <a:srgbClr val="E09F3E"/>
            </a:solidFill>
            <a:prstDash val="solid"/>
          </a:ln>
        </p:spPr>
      </p:sp>
      <p:sp>
        <p:nvSpPr>
          <p:cNvPr id="61" name="schem-deep-17"/>
          <p:cNvSpPr/>
          <p:nvPr/>
        </p:nvSpPr>
        <p:spPr>
          <a:xfrm flipV="1">
            <a:off x="9966960" y="2961494"/>
            <a:ext cx="182880" cy="129364"/>
          </a:xfrm>
          <a:prstGeom prst="line">
            <a:avLst/>
          </a:prstGeom>
          <a:noFill/>
          <a:ln w="44450">
            <a:solidFill>
              <a:srgbClr val="E09F3E"/>
            </a:solidFill>
            <a:prstDash val="solid"/>
          </a:ln>
        </p:spPr>
      </p:sp>
      <p:sp>
        <p:nvSpPr>
          <p:cNvPr id="62" name="schem-deep-18"/>
          <p:cNvSpPr/>
          <p:nvPr/>
        </p:nvSpPr>
        <p:spPr>
          <a:xfrm flipV="1">
            <a:off x="10149840" y="2827743"/>
            <a:ext cx="182880" cy="133751"/>
          </a:xfrm>
          <a:prstGeom prst="line">
            <a:avLst/>
          </a:prstGeom>
          <a:noFill/>
          <a:ln w="44450">
            <a:solidFill>
              <a:srgbClr val="E09F3E"/>
            </a:solidFill>
            <a:prstDash val="solid"/>
          </a:ln>
        </p:spPr>
      </p:sp>
      <p:sp>
        <p:nvSpPr>
          <p:cNvPr id="63" name="schem-deep-19"/>
          <p:cNvSpPr/>
          <p:nvPr/>
        </p:nvSpPr>
        <p:spPr>
          <a:xfrm flipV="1">
            <a:off x="10332720" y="2689700"/>
            <a:ext cx="182880" cy="138043"/>
          </a:xfrm>
          <a:prstGeom prst="line">
            <a:avLst/>
          </a:prstGeom>
          <a:noFill/>
          <a:ln w="44450">
            <a:solidFill>
              <a:srgbClr val="E09F3E"/>
            </a:solidFill>
            <a:prstDash val="solid"/>
          </a:ln>
        </p:spPr>
      </p:sp>
      <p:sp>
        <p:nvSpPr>
          <p:cNvPr id="64" name="schem-deep-20"/>
          <p:cNvSpPr/>
          <p:nvPr/>
        </p:nvSpPr>
        <p:spPr>
          <a:xfrm flipV="1">
            <a:off x="10515600" y="2547452"/>
            <a:ext cx="182880" cy="142248"/>
          </a:xfrm>
          <a:prstGeom prst="line">
            <a:avLst/>
          </a:prstGeom>
          <a:noFill/>
          <a:ln w="44450">
            <a:solidFill>
              <a:srgbClr val="E09F3E"/>
            </a:solidFill>
            <a:prstDash val="solid"/>
          </a:ln>
        </p:spPr>
      </p:sp>
      <p:sp>
        <p:nvSpPr>
          <p:cNvPr id="65" name="schem-deep-21"/>
          <p:cNvSpPr/>
          <p:nvPr/>
        </p:nvSpPr>
        <p:spPr>
          <a:xfrm flipV="1">
            <a:off x="10698480" y="2401079"/>
            <a:ext cx="182880" cy="146372"/>
          </a:xfrm>
          <a:prstGeom prst="line">
            <a:avLst/>
          </a:prstGeom>
          <a:noFill/>
          <a:ln w="44450">
            <a:solidFill>
              <a:srgbClr val="E09F3E"/>
            </a:solidFill>
            <a:prstDash val="solid"/>
          </a:ln>
        </p:spPr>
      </p:sp>
      <p:sp>
        <p:nvSpPr>
          <p:cNvPr id="66" name="schem-deep-22"/>
          <p:cNvSpPr/>
          <p:nvPr/>
        </p:nvSpPr>
        <p:spPr>
          <a:xfrm flipV="1">
            <a:off x="10881360" y="2250659"/>
            <a:ext cx="182880" cy="150420"/>
          </a:xfrm>
          <a:prstGeom prst="line">
            <a:avLst/>
          </a:prstGeom>
          <a:noFill/>
          <a:ln w="44450">
            <a:solidFill>
              <a:srgbClr val="E09F3E"/>
            </a:solidFill>
            <a:prstDash val="solid"/>
          </a:ln>
        </p:spPr>
      </p:sp>
      <p:sp>
        <p:nvSpPr>
          <p:cNvPr id="67" name="schem-deep-23"/>
          <p:cNvSpPr/>
          <p:nvPr/>
        </p:nvSpPr>
        <p:spPr>
          <a:xfrm flipV="1">
            <a:off x="11064240" y="2096262"/>
            <a:ext cx="182880" cy="154397"/>
          </a:xfrm>
          <a:prstGeom prst="line">
            <a:avLst/>
          </a:prstGeom>
          <a:noFill/>
          <a:ln w="44450">
            <a:solidFill>
              <a:srgbClr val="E09F3E"/>
            </a:solidFill>
            <a:prstDash val="solid"/>
          </a:ln>
        </p:spPr>
      </p:sp>
      <p:sp>
        <p:nvSpPr>
          <p:cNvPr id="68" name="Text 63"/>
          <p:cNvSpPr txBox="1"/>
          <p:nvPr/>
        </p:nvSpPr>
        <p:spPr>
          <a:xfrm>
            <a:off x="9646920" y="1913382"/>
            <a:ext cx="1463040" cy="274320"/>
          </a:xfrm>
          <a:prstGeom prst="rect">
            <a:avLst/>
          </a:prstGeom>
          <a:noFill/>
          <a:ln/>
        </p:spPr>
        <p:txBody>
          <a:bodyPr wrap="square" lIns="0" tIns="0" rIns="0" bIns="0" rtlCol="0" anchor="t"/>
          <a:lstStyle/>
          <a:p>
            <a:pPr algn="r" indent="0" marL="0">
              <a:buNone/>
            </a:pPr>
            <a:r>
              <a:rPr lang="en-US" sz="1300" b="1" dirty="0">
                <a:solidFill>
                  <a:schemeClr val="tx1"/>
                </a:solidFill>
              </a:rPr>
              <a:t>Deep learning</a:t>
            </a:r>
            <a:endParaRPr lang="en-US" sz="1300" dirty="0"/>
          </a:p>
        </p:txBody>
      </p:sp>
      <p:sp>
        <p:nvSpPr>
          <p:cNvPr id="69" name="Text 64"/>
          <p:cNvSpPr txBox="1"/>
          <p:nvPr/>
        </p:nvSpPr>
        <p:spPr>
          <a:xfrm>
            <a:off x="9784080" y="2775200"/>
            <a:ext cx="1463040" cy="274320"/>
          </a:xfrm>
          <a:prstGeom prst="rect">
            <a:avLst/>
          </a:prstGeom>
          <a:noFill/>
          <a:ln/>
        </p:spPr>
        <p:txBody>
          <a:bodyPr wrap="square" lIns="0" tIns="0" rIns="0" bIns="0" rtlCol="0" anchor="t"/>
          <a:lstStyle/>
          <a:p>
            <a:pPr algn="r" indent="0" marL="0">
              <a:buNone/>
            </a:pPr>
            <a:r>
              <a:rPr lang="en-US" sz="1300" b="1" dirty="0">
                <a:solidFill>
                  <a:schemeClr val="tx1"/>
                </a:solidFill>
              </a:rPr>
              <a:t>Classical ML</a:t>
            </a:r>
            <a:endParaRPr lang="en-US" sz="1300" dirty="0"/>
          </a:p>
        </p:txBody>
      </p:sp>
      <p:sp>
        <p:nvSpPr>
          <p:cNvPr id="70" name="Text 65"/>
          <p:cNvSpPr txBox="1"/>
          <p:nvPr/>
        </p:nvSpPr>
        <p:spPr>
          <a:xfrm>
            <a:off x="6263640" y="5029200"/>
            <a:ext cx="5376672" cy="274320"/>
          </a:xfrm>
          <a:prstGeom prst="rect">
            <a:avLst/>
          </a:prstGeom>
          <a:noFill/>
          <a:ln/>
        </p:spPr>
        <p:txBody>
          <a:bodyPr wrap="square" lIns="0" tIns="0" rIns="0" bIns="0" rtlCol="0" anchor="t"/>
          <a:lstStyle/>
          <a:p>
            <a:pPr indent="0" marL="0">
              <a:buNone/>
            </a:pPr>
            <a:r>
              <a:rPr lang="en-US" sz="1000" i="1" dirty="0">
                <a:solidFill>
                  <a:schemeClr val="accent5"/>
                </a:solidFill>
              </a:rPr>
              <a:t>Illustrative shape only, not measured results.</a:t>
            </a:r>
            <a:endParaRPr lang="en-US" sz="1000" dirty="0"/>
          </a:p>
        </p:txBody>
      </p:sp>
      <p:sp>
        <p:nvSpPr>
          <p:cNvPr id="71" name="bridge-callout"/>
          <p:cNvSpPr/>
          <p:nvPr/>
        </p:nvSpPr>
        <p:spPr>
          <a:xfrm>
            <a:off x="548640" y="5486400"/>
            <a:ext cx="11091672" cy="640080"/>
          </a:xfrm>
          <a:prstGeom prst="roundRect">
            <a:avLst>
              <a:gd name="adj" fmla="val 17143"/>
            </a:avLst>
          </a:prstGeom>
          <a:solidFill>
            <a:schemeClr val="tx1"/>
          </a:solidFill>
          <a:ln/>
        </p:spPr>
      </p:sp>
      <p:sp>
        <p:nvSpPr>
          <p:cNvPr id="72" name="Text 67"/>
          <p:cNvSpPr txBox="1"/>
          <p:nvPr/>
        </p:nvSpPr>
        <p:spPr>
          <a:xfrm>
            <a:off x="822960" y="5486400"/>
            <a:ext cx="10607040" cy="640080"/>
          </a:xfrm>
          <a:prstGeom prst="rect">
            <a:avLst/>
          </a:prstGeom>
          <a:noFill/>
          <a:ln/>
        </p:spPr>
        <p:txBody>
          <a:bodyPr wrap="square" lIns="0" tIns="0" rIns="0" bIns="0" rtlCol="0" anchor="ctr"/>
          <a:lstStyle/>
          <a:p>
            <a:pPr indent="0" marL="0">
              <a:buNone/>
            </a:pPr>
            <a:r>
              <a:rPr lang="en-US" sz="1500" b="1" dirty="0">
                <a:solidFill>
                  <a:schemeClr val="accent1"/>
                </a:solidFill>
              </a:rPr>
              <a:t>Deep learning learns its own features from raw data </a:t>
            </a:r>
            <a:pPr indent="0" marL="0">
              <a:buNone/>
            </a:pPr>
            <a:r>
              <a:rPr lang="en-US" sz="1500" dirty="0">
                <a:solidFill>
                  <a:schemeClr val="bg1"/>
                </a:solidFill>
              </a:rPr>
              <a:t>and keeps improving as data and compute grow. That is where we go next.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Four decades from an idea to a working network</a:t>
            </a:r>
            <a:endParaRPr lang="en-US" sz="3400" dirty="0"/>
          </a:p>
        </p:txBody>
      </p:sp>
      <p:sp>
        <p:nvSpPr>
          <p:cNvPr id="3" name="timeline-axis"/>
          <p:cNvSpPr/>
          <p:nvPr/>
        </p:nvSpPr>
        <p:spPr>
          <a:xfrm>
            <a:off x="731520" y="3703320"/>
            <a:ext cx="10744200" cy="0"/>
          </a:xfrm>
          <a:prstGeom prst="line">
            <a:avLst/>
          </a:prstGeom>
          <a:noFill/>
          <a:ln w="25400">
            <a:solidFill>
              <a:srgbClr val="7A8793"/>
            </a:solidFill>
            <a:prstDash val="solid"/>
          </a:ln>
        </p:spPr>
      </p:sp>
      <p:sp>
        <p:nvSpPr>
          <p:cNvPr id="4" name="timeline-dot-1943"/>
          <p:cNvSpPr/>
          <p:nvPr/>
        </p:nvSpPr>
        <p:spPr>
          <a:xfrm>
            <a:off x="1389888" y="3584448"/>
            <a:ext cx="237744" cy="237744"/>
          </a:xfrm>
          <a:prstGeom prst="ellipse">
            <a:avLst/>
          </a:prstGeom>
          <a:solidFill>
            <a:schemeClr val="accent2"/>
          </a:solidFill>
          <a:ln w="25400">
            <a:solidFill>
              <a:srgbClr val="FFFFFF"/>
            </a:solidFill>
            <a:prstDash val="solid"/>
          </a:ln>
        </p:spPr>
      </p:sp>
      <p:sp>
        <p:nvSpPr>
          <p:cNvPr id="5" name="timeline-tick-1943"/>
          <p:cNvSpPr/>
          <p:nvPr/>
        </p:nvSpPr>
        <p:spPr>
          <a:xfrm>
            <a:off x="1508760" y="3246120"/>
            <a:ext cx="0" cy="320040"/>
          </a:xfrm>
          <a:prstGeom prst="line">
            <a:avLst/>
          </a:prstGeom>
          <a:noFill/>
          <a:ln w="12700">
            <a:solidFill>
              <a:srgbClr val="D9DEE3"/>
            </a:solidFill>
            <a:prstDash val="solid"/>
          </a:ln>
        </p:spPr>
      </p:sp>
      <p:sp>
        <p:nvSpPr>
          <p:cNvPr id="6" name="Text 4"/>
          <p:cNvSpPr txBox="1"/>
          <p:nvPr/>
        </p:nvSpPr>
        <p:spPr>
          <a:xfrm>
            <a:off x="502920" y="1463040"/>
            <a:ext cx="2011680" cy="411480"/>
          </a:xfrm>
          <a:prstGeom prst="rect">
            <a:avLst/>
          </a:prstGeom>
          <a:noFill/>
          <a:ln/>
        </p:spPr>
        <p:txBody>
          <a:bodyPr wrap="square" lIns="0" tIns="0" rIns="0" bIns="0" rtlCol="0" anchor="t"/>
          <a:lstStyle/>
          <a:p>
            <a:pPr algn="ctr" indent="0" marL="0">
              <a:buNone/>
            </a:pPr>
            <a:r>
              <a:rPr lang="en-US" sz="2000" b="1" dirty="0">
                <a:solidFill>
                  <a:schemeClr val="accent2"/>
                </a:solidFill>
                <a:latin typeface="Cambria" pitchFamily="34" charset="0"/>
                <a:ea typeface="Cambria" pitchFamily="34" charset="-122"/>
                <a:cs typeface="Cambria" pitchFamily="34" charset="-120"/>
              </a:rPr>
              <a:t>1943</a:t>
            </a:r>
            <a:endParaRPr lang="en-US" sz="2000" dirty="0"/>
          </a:p>
        </p:txBody>
      </p:sp>
      <p:sp>
        <p:nvSpPr>
          <p:cNvPr id="7" name="Text 5"/>
          <p:cNvSpPr txBox="1"/>
          <p:nvPr/>
        </p:nvSpPr>
        <p:spPr>
          <a:xfrm>
            <a:off x="502920" y="1874520"/>
            <a:ext cx="2011680" cy="594360"/>
          </a:xfrm>
          <a:prstGeom prst="rect">
            <a:avLst/>
          </a:prstGeom>
          <a:noFill/>
          <a:ln/>
        </p:spPr>
        <p:txBody>
          <a:bodyPr wrap="square" lIns="0" tIns="0" rIns="0" bIns="0" rtlCol="0" anchor="t"/>
          <a:lstStyle/>
          <a:p>
            <a:pPr algn="ctr" indent="0" marL="0">
              <a:buNone/>
            </a:pPr>
            <a:r>
              <a:rPr lang="en-US" sz="1300" b="1" dirty="0">
                <a:solidFill>
                  <a:schemeClr val="tx1"/>
                </a:solidFill>
              </a:rPr>
              <a:t>McCulloch &amp; Pitts</a:t>
            </a:r>
            <a:endParaRPr lang="en-US" sz="1300" dirty="0"/>
          </a:p>
        </p:txBody>
      </p:sp>
      <p:sp>
        <p:nvSpPr>
          <p:cNvPr id="8" name="Text 6"/>
          <p:cNvSpPr txBox="1"/>
          <p:nvPr/>
        </p:nvSpPr>
        <p:spPr>
          <a:xfrm>
            <a:off x="502920" y="2423160"/>
            <a:ext cx="2011680" cy="685800"/>
          </a:xfrm>
          <a:prstGeom prst="rect">
            <a:avLst/>
          </a:prstGeom>
          <a:noFill/>
          <a:ln/>
        </p:spPr>
        <p:txBody>
          <a:bodyPr wrap="square" lIns="0" tIns="0" rIns="0" bIns="0" rtlCol="0" anchor="t"/>
          <a:lstStyle/>
          <a:p>
            <a:pPr algn="ctr" indent="0" marL="0">
              <a:buNone/>
            </a:pPr>
            <a:r>
              <a:rPr lang="en-US" sz="1300" dirty="0">
                <a:solidFill>
                  <a:schemeClr val="tx2"/>
                </a:solidFill>
              </a:rPr>
              <a:t>Neurons as logic gates</a:t>
            </a:r>
            <a:endParaRPr lang="en-US" sz="1300" dirty="0"/>
          </a:p>
        </p:txBody>
      </p:sp>
      <p:sp>
        <p:nvSpPr>
          <p:cNvPr id="9" name="timeline-dot-1949"/>
          <p:cNvSpPr/>
          <p:nvPr/>
        </p:nvSpPr>
        <p:spPr>
          <a:xfrm>
            <a:off x="2532888" y="3584448"/>
            <a:ext cx="237744" cy="237744"/>
          </a:xfrm>
          <a:prstGeom prst="ellipse">
            <a:avLst/>
          </a:prstGeom>
          <a:solidFill>
            <a:schemeClr val="accent2"/>
          </a:solidFill>
          <a:ln w="25400">
            <a:solidFill>
              <a:srgbClr val="FFFFFF"/>
            </a:solidFill>
            <a:prstDash val="solid"/>
          </a:ln>
        </p:spPr>
      </p:sp>
      <p:sp>
        <p:nvSpPr>
          <p:cNvPr id="10" name="timeline-tick-1949"/>
          <p:cNvSpPr/>
          <p:nvPr/>
        </p:nvSpPr>
        <p:spPr>
          <a:xfrm>
            <a:off x="2651760" y="3840480"/>
            <a:ext cx="0" cy="320040"/>
          </a:xfrm>
          <a:prstGeom prst="line">
            <a:avLst/>
          </a:prstGeom>
          <a:noFill/>
          <a:ln w="12700">
            <a:solidFill>
              <a:srgbClr val="D9DEE3"/>
            </a:solidFill>
            <a:prstDash val="solid"/>
          </a:ln>
        </p:spPr>
      </p:sp>
      <p:sp>
        <p:nvSpPr>
          <p:cNvPr id="11" name="Text 9"/>
          <p:cNvSpPr txBox="1"/>
          <p:nvPr/>
        </p:nvSpPr>
        <p:spPr>
          <a:xfrm>
            <a:off x="1645920" y="4206240"/>
            <a:ext cx="2011680" cy="411480"/>
          </a:xfrm>
          <a:prstGeom prst="rect">
            <a:avLst/>
          </a:prstGeom>
          <a:noFill/>
          <a:ln/>
        </p:spPr>
        <p:txBody>
          <a:bodyPr wrap="square" lIns="0" tIns="0" rIns="0" bIns="0" rtlCol="0" anchor="t"/>
          <a:lstStyle/>
          <a:p>
            <a:pPr algn="ctr" indent="0" marL="0">
              <a:buNone/>
            </a:pPr>
            <a:r>
              <a:rPr lang="en-US" sz="2000" b="1" dirty="0">
                <a:solidFill>
                  <a:schemeClr val="accent2"/>
                </a:solidFill>
                <a:latin typeface="Cambria" pitchFamily="34" charset="0"/>
                <a:ea typeface="Cambria" pitchFamily="34" charset="-122"/>
                <a:cs typeface="Cambria" pitchFamily="34" charset="-120"/>
              </a:rPr>
              <a:t>1949</a:t>
            </a:r>
            <a:endParaRPr lang="en-US" sz="2000" dirty="0"/>
          </a:p>
        </p:txBody>
      </p:sp>
      <p:sp>
        <p:nvSpPr>
          <p:cNvPr id="12" name="Text 10"/>
          <p:cNvSpPr txBox="1"/>
          <p:nvPr/>
        </p:nvSpPr>
        <p:spPr>
          <a:xfrm>
            <a:off x="1645920" y="4617720"/>
            <a:ext cx="2011680" cy="594360"/>
          </a:xfrm>
          <a:prstGeom prst="rect">
            <a:avLst/>
          </a:prstGeom>
          <a:noFill/>
          <a:ln/>
        </p:spPr>
        <p:txBody>
          <a:bodyPr wrap="square" lIns="0" tIns="0" rIns="0" bIns="0" rtlCol="0" anchor="t"/>
          <a:lstStyle/>
          <a:p>
            <a:pPr algn="ctr" indent="0" marL="0">
              <a:buNone/>
            </a:pPr>
            <a:r>
              <a:rPr lang="en-US" sz="1300" b="1" dirty="0">
                <a:solidFill>
                  <a:schemeClr val="tx1"/>
                </a:solidFill>
              </a:rPr>
              <a:t>Hebb</a:t>
            </a:r>
            <a:endParaRPr lang="en-US" sz="1300" dirty="0"/>
          </a:p>
        </p:txBody>
      </p:sp>
      <p:sp>
        <p:nvSpPr>
          <p:cNvPr id="13" name="Text 11"/>
          <p:cNvSpPr txBox="1"/>
          <p:nvPr/>
        </p:nvSpPr>
        <p:spPr>
          <a:xfrm>
            <a:off x="1645920" y="5166360"/>
            <a:ext cx="2011680" cy="685800"/>
          </a:xfrm>
          <a:prstGeom prst="rect">
            <a:avLst/>
          </a:prstGeom>
          <a:noFill/>
          <a:ln/>
        </p:spPr>
        <p:txBody>
          <a:bodyPr wrap="square" lIns="0" tIns="0" rIns="0" bIns="0" rtlCol="0" anchor="t"/>
          <a:lstStyle/>
          <a:p>
            <a:pPr algn="ctr" indent="0" marL="0">
              <a:buNone/>
            </a:pPr>
            <a:r>
              <a:rPr lang="en-US" sz="1300" dirty="0">
                <a:solidFill>
                  <a:schemeClr val="tx2"/>
                </a:solidFill>
              </a:rPr>
              <a:t>Learning by strengthening connections</a:t>
            </a:r>
            <a:endParaRPr lang="en-US" sz="1300" dirty="0"/>
          </a:p>
        </p:txBody>
      </p:sp>
      <p:sp>
        <p:nvSpPr>
          <p:cNvPr id="14" name="timeline-dot-1958"/>
          <p:cNvSpPr/>
          <p:nvPr/>
        </p:nvSpPr>
        <p:spPr>
          <a:xfrm>
            <a:off x="3675888" y="3584448"/>
            <a:ext cx="237744" cy="237744"/>
          </a:xfrm>
          <a:prstGeom prst="ellipse">
            <a:avLst/>
          </a:prstGeom>
          <a:solidFill>
            <a:schemeClr val="accent2"/>
          </a:solidFill>
          <a:ln w="25400">
            <a:solidFill>
              <a:srgbClr val="FFFFFF"/>
            </a:solidFill>
            <a:prstDash val="solid"/>
          </a:ln>
        </p:spPr>
      </p:sp>
      <p:sp>
        <p:nvSpPr>
          <p:cNvPr id="15" name="timeline-tick-1958"/>
          <p:cNvSpPr/>
          <p:nvPr/>
        </p:nvSpPr>
        <p:spPr>
          <a:xfrm>
            <a:off x="3794760" y="3246120"/>
            <a:ext cx="0" cy="320040"/>
          </a:xfrm>
          <a:prstGeom prst="line">
            <a:avLst/>
          </a:prstGeom>
          <a:noFill/>
          <a:ln w="12700">
            <a:solidFill>
              <a:srgbClr val="D9DEE3"/>
            </a:solidFill>
            <a:prstDash val="solid"/>
          </a:ln>
        </p:spPr>
      </p:sp>
      <p:sp>
        <p:nvSpPr>
          <p:cNvPr id="16" name="Text 14"/>
          <p:cNvSpPr txBox="1"/>
          <p:nvPr/>
        </p:nvSpPr>
        <p:spPr>
          <a:xfrm>
            <a:off x="2788920" y="1463040"/>
            <a:ext cx="2011680" cy="411480"/>
          </a:xfrm>
          <a:prstGeom prst="rect">
            <a:avLst/>
          </a:prstGeom>
          <a:noFill/>
          <a:ln/>
        </p:spPr>
        <p:txBody>
          <a:bodyPr wrap="square" lIns="0" tIns="0" rIns="0" bIns="0" rtlCol="0" anchor="t"/>
          <a:lstStyle/>
          <a:p>
            <a:pPr algn="ctr" indent="0" marL="0">
              <a:buNone/>
            </a:pPr>
            <a:r>
              <a:rPr lang="en-US" sz="2000" b="1" dirty="0">
                <a:solidFill>
                  <a:schemeClr val="accent2"/>
                </a:solidFill>
                <a:latin typeface="Cambria" pitchFamily="34" charset="0"/>
                <a:ea typeface="Cambria" pitchFamily="34" charset="-122"/>
                <a:cs typeface="Cambria" pitchFamily="34" charset="-120"/>
              </a:rPr>
              <a:t>1958</a:t>
            </a:r>
            <a:endParaRPr lang="en-US" sz="2000" dirty="0"/>
          </a:p>
        </p:txBody>
      </p:sp>
      <p:sp>
        <p:nvSpPr>
          <p:cNvPr id="17" name="Text 15"/>
          <p:cNvSpPr txBox="1"/>
          <p:nvPr/>
        </p:nvSpPr>
        <p:spPr>
          <a:xfrm>
            <a:off x="2788920" y="1874520"/>
            <a:ext cx="2011680" cy="594360"/>
          </a:xfrm>
          <a:prstGeom prst="rect">
            <a:avLst/>
          </a:prstGeom>
          <a:noFill/>
          <a:ln/>
        </p:spPr>
        <p:txBody>
          <a:bodyPr wrap="square" lIns="0" tIns="0" rIns="0" bIns="0" rtlCol="0" anchor="t"/>
          <a:lstStyle/>
          <a:p>
            <a:pPr algn="ctr" indent="0" marL="0">
              <a:buNone/>
            </a:pPr>
            <a:r>
              <a:rPr lang="en-US" sz="1300" b="1" dirty="0">
                <a:solidFill>
                  <a:schemeClr val="tx1"/>
                </a:solidFill>
              </a:rPr>
              <a:t>Rosenblatt</a:t>
            </a:r>
            <a:endParaRPr lang="en-US" sz="1300" dirty="0"/>
          </a:p>
        </p:txBody>
      </p:sp>
      <p:sp>
        <p:nvSpPr>
          <p:cNvPr id="18" name="Text 16"/>
          <p:cNvSpPr txBox="1"/>
          <p:nvPr/>
        </p:nvSpPr>
        <p:spPr>
          <a:xfrm>
            <a:off x="2788920" y="2423160"/>
            <a:ext cx="2011680" cy="685800"/>
          </a:xfrm>
          <a:prstGeom prst="rect">
            <a:avLst/>
          </a:prstGeom>
          <a:noFill/>
          <a:ln/>
        </p:spPr>
        <p:txBody>
          <a:bodyPr wrap="square" lIns="0" tIns="0" rIns="0" bIns="0" rtlCol="0" anchor="t"/>
          <a:lstStyle/>
          <a:p>
            <a:pPr algn="ctr" indent="0" marL="0">
              <a:buNone/>
            </a:pPr>
            <a:r>
              <a:rPr lang="en-US" sz="1300" dirty="0">
                <a:solidFill>
                  <a:schemeClr val="tx2"/>
                </a:solidFill>
              </a:rPr>
              <a:t>The perceptron learns its own weights</a:t>
            </a:r>
            <a:endParaRPr lang="en-US" sz="1300" dirty="0"/>
          </a:p>
        </p:txBody>
      </p:sp>
      <p:sp>
        <p:nvSpPr>
          <p:cNvPr id="19" name="timeline-dot-1960"/>
          <p:cNvSpPr/>
          <p:nvPr/>
        </p:nvSpPr>
        <p:spPr>
          <a:xfrm>
            <a:off x="4818888" y="3584448"/>
            <a:ext cx="237744" cy="237744"/>
          </a:xfrm>
          <a:prstGeom prst="ellipse">
            <a:avLst/>
          </a:prstGeom>
          <a:solidFill>
            <a:schemeClr val="accent2"/>
          </a:solidFill>
          <a:ln w="25400">
            <a:solidFill>
              <a:srgbClr val="FFFFFF"/>
            </a:solidFill>
            <a:prstDash val="solid"/>
          </a:ln>
        </p:spPr>
      </p:sp>
      <p:sp>
        <p:nvSpPr>
          <p:cNvPr id="20" name="timeline-tick-1960"/>
          <p:cNvSpPr/>
          <p:nvPr/>
        </p:nvSpPr>
        <p:spPr>
          <a:xfrm>
            <a:off x="4937760" y="3840480"/>
            <a:ext cx="0" cy="320040"/>
          </a:xfrm>
          <a:prstGeom prst="line">
            <a:avLst/>
          </a:prstGeom>
          <a:noFill/>
          <a:ln w="12700">
            <a:solidFill>
              <a:srgbClr val="D9DEE3"/>
            </a:solidFill>
            <a:prstDash val="solid"/>
          </a:ln>
        </p:spPr>
      </p:sp>
      <p:sp>
        <p:nvSpPr>
          <p:cNvPr id="21" name="Text 19"/>
          <p:cNvSpPr txBox="1"/>
          <p:nvPr/>
        </p:nvSpPr>
        <p:spPr>
          <a:xfrm>
            <a:off x="3931920" y="4206240"/>
            <a:ext cx="2011680" cy="411480"/>
          </a:xfrm>
          <a:prstGeom prst="rect">
            <a:avLst/>
          </a:prstGeom>
          <a:noFill/>
          <a:ln/>
        </p:spPr>
        <p:txBody>
          <a:bodyPr wrap="square" lIns="0" tIns="0" rIns="0" bIns="0" rtlCol="0" anchor="t"/>
          <a:lstStyle/>
          <a:p>
            <a:pPr algn="ctr" indent="0" marL="0">
              <a:buNone/>
            </a:pPr>
            <a:r>
              <a:rPr lang="en-US" sz="2000" b="1" dirty="0">
                <a:solidFill>
                  <a:schemeClr val="accent2"/>
                </a:solidFill>
                <a:latin typeface="Cambria" pitchFamily="34" charset="0"/>
                <a:ea typeface="Cambria" pitchFamily="34" charset="-122"/>
                <a:cs typeface="Cambria" pitchFamily="34" charset="-120"/>
              </a:rPr>
              <a:t>1960</a:t>
            </a:r>
            <a:endParaRPr lang="en-US" sz="2000" dirty="0"/>
          </a:p>
        </p:txBody>
      </p:sp>
      <p:sp>
        <p:nvSpPr>
          <p:cNvPr id="22" name="Text 20"/>
          <p:cNvSpPr txBox="1"/>
          <p:nvPr/>
        </p:nvSpPr>
        <p:spPr>
          <a:xfrm>
            <a:off x="3931920" y="4617720"/>
            <a:ext cx="2011680" cy="594360"/>
          </a:xfrm>
          <a:prstGeom prst="rect">
            <a:avLst/>
          </a:prstGeom>
          <a:noFill/>
          <a:ln/>
        </p:spPr>
        <p:txBody>
          <a:bodyPr wrap="square" lIns="0" tIns="0" rIns="0" bIns="0" rtlCol="0" anchor="t"/>
          <a:lstStyle/>
          <a:p>
            <a:pPr algn="ctr" indent="0" marL="0">
              <a:buNone/>
            </a:pPr>
            <a:r>
              <a:rPr lang="en-US" sz="1300" b="1" dirty="0">
                <a:solidFill>
                  <a:schemeClr val="tx1"/>
                </a:solidFill>
              </a:rPr>
              <a:t>Widrow &amp; Hoff</a:t>
            </a:r>
            <a:endParaRPr lang="en-US" sz="1300" dirty="0"/>
          </a:p>
        </p:txBody>
      </p:sp>
      <p:sp>
        <p:nvSpPr>
          <p:cNvPr id="23" name="Text 21"/>
          <p:cNvSpPr txBox="1"/>
          <p:nvPr/>
        </p:nvSpPr>
        <p:spPr>
          <a:xfrm>
            <a:off x="3931920" y="5166360"/>
            <a:ext cx="2011680" cy="685800"/>
          </a:xfrm>
          <a:prstGeom prst="rect">
            <a:avLst/>
          </a:prstGeom>
          <a:noFill/>
          <a:ln/>
        </p:spPr>
        <p:txBody>
          <a:bodyPr wrap="square" lIns="0" tIns="0" rIns="0" bIns="0" rtlCol="0" anchor="t"/>
          <a:lstStyle/>
          <a:p>
            <a:pPr algn="ctr" indent="0" marL="0">
              <a:buNone/>
            </a:pPr>
            <a:r>
              <a:rPr lang="en-US" sz="1300" dirty="0">
                <a:solidFill>
                  <a:schemeClr val="tx2"/>
                </a:solidFill>
              </a:rPr>
              <a:t>ADALINE and the LMS rule</a:t>
            </a:r>
            <a:endParaRPr lang="en-US" sz="1300" dirty="0"/>
          </a:p>
        </p:txBody>
      </p:sp>
      <p:sp>
        <p:nvSpPr>
          <p:cNvPr id="24" name="timeline-dot-1969"/>
          <p:cNvSpPr/>
          <p:nvPr/>
        </p:nvSpPr>
        <p:spPr>
          <a:xfrm>
            <a:off x="5961888" y="3584448"/>
            <a:ext cx="237744" cy="237744"/>
          </a:xfrm>
          <a:prstGeom prst="ellipse">
            <a:avLst/>
          </a:prstGeom>
          <a:solidFill>
            <a:schemeClr val="accent3"/>
          </a:solidFill>
          <a:ln w="25400">
            <a:solidFill>
              <a:srgbClr val="FFFFFF"/>
            </a:solidFill>
            <a:prstDash val="solid"/>
          </a:ln>
        </p:spPr>
      </p:sp>
      <p:sp>
        <p:nvSpPr>
          <p:cNvPr id="25" name="timeline-tick-1969"/>
          <p:cNvSpPr/>
          <p:nvPr/>
        </p:nvSpPr>
        <p:spPr>
          <a:xfrm>
            <a:off x="6080760" y="3246120"/>
            <a:ext cx="0" cy="320040"/>
          </a:xfrm>
          <a:prstGeom prst="line">
            <a:avLst/>
          </a:prstGeom>
          <a:noFill/>
          <a:ln w="12700">
            <a:solidFill>
              <a:srgbClr val="D9DEE3"/>
            </a:solidFill>
            <a:prstDash val="solid"/>
          </a:ln>
        </p:spPr>
      </p:sp>
      <p:sp>
        <p:nvSpPr>
          <p:cNvPr id="26" name="Text 24"/>
          <p:cNvSpPr txBox="1"/>
          <p:nvPr/>
        </p:nvSpPr>
        <p:spPr>
          <a:xfrm>
            <a:off x="5074920" y="1463040"/>
            <a:ext cx="2011680" cy="411480"/>
          </a:xfrm>
          <a:prstGeom prst="rect">
            <a:avLst/>
          </a:prstGeom>
          <a:noFill/>
          <a:ln/>
        </p:spPr>
        <p:txBody>
          <a:bodyPr wrap="square" lIns="0" tIns="0" rIns="0" bIns="0" rtlCol="0" anchor="t"/>
          <a:lstStyle/>
          <a:p>
            <a:pPr algn="ctr" indent="0" marL="0">
              <a:buNone/>
            </a:pPr>
            <a:r>
              <a:rPr lang="en-US" sz="2000" b="1" dirty="0">
                <a:solidFill>
                  <a:schemeClr val="accent3"/>
                </a:solidFill>
                <a:latin typeface="Cambria" pitchFamily="34" charset="0"/>
                <a:ea typeface="Cambria" pitchFamily="34" charset="-122"/>
                <a:cs typeface="Cambria" pitchFamily="34" charset="-120"/>
              </a:rPr>
              <a:t>1969</a:t>
            </a:r>
            <a:endParaRPr lang="en-US" sz="2000" dirty="0"/>
          </a:p>
        </p:txBody>
      </p:sp>
      <p:sp>
        <p:nvSpPr>
          <p:cNvPr id="27" name="Text 25"/>
          <p:cNvSpPr txBox="1"/>
          <p:nvPr/>
        </p:nvSpPr>
        <p:spPr>
          <a:xfrm>
            <a:off x="5074920" y="1874520"/>
            <a:ext cx="2011680" cy="594360"/>
          </a:xfrm>
          <a:prstGeom prst="rect">
            <a:avLst/>
          </a:prstGeom>
          <a:noFill/>
          <a:ln/>
        </p:spPr>
        <p:txBody>
          <a:bodyPr wrap="square" lIns="0" tIns="0" rIns="0" bIns="0" rtlCol="0" anchor="t"/>
          <a:lstStyle/>
          <a:p>
            <a:pPr algn="ctr" indent="0" marL="0">
              <a:buNone/>
            </a:pPr>
            <a:r>
              <a:rPr lang="en-US" sz="1300" b="1" dirty="0">
                <a:solidFill>
                  <a:schemeClr val="tx1"/>
                </a:solidFill>
              </a:rPr>
              <a:t>Minsky &amp; Papert</a:t>
            </a:r>
            <a:endParaRPr lang="en-US" sz="1300" dirty="0"/>
          </a:p>
        </p:txBody>
      </p:sp>
      <p:sp>
        <p:nvSpPr>
          <p:cNvPr id="28" name="Text 26"/>
          <p:cNvSpPr txBox="1"/>
          <p:nvPr/>
        </p:nvSpPr>
        <p:spPr>
          <a:xfrm>
            <a:off x="5074920" y="2423160"/>
            <a:ext cx="2011680" cy="685800"/>
          </a:xfrm>
          <a:prstGeom prst="rect">
            <a:avLst/>
          </a:prstGeom>
          <a:noFill/>
          <a:ln/>
        </p:spPr>
        <p:txBody>
          <a:bodyPr wrap="square" lIns="0" tIns="0" rIns="0" bIns="0" rtlCol="0" anchor="t"/>
          <a:lstStyle/>
          <a:p>
            <a:pPr algn="ctr" indent="0" marL="0">
              <a:buNone/>
            </a:pPr>
            <a:r>
              <a:rPr lang="en-US" sz="1300" dirty="0">
                <a:solidFill>
                  <a:schemeClr val="tx2"/>
                </a:solidFill>
              </a:rPr>
              <a:t>"Perceptrons" proves single-layer limits</a:t>
            </a:r>
            <a:endParaRPr lang="en-US" sz="1300" dirty="0"/>
          </a:p>
        </p:txBody>
      </p:sp>
      <p:sp>
        <p:nvSpPr>
          <p:cNvPr id="29" name="timeline-dot-1970s"/>
          <p:cNvSpPr/>
          <p:nvPr/>
        </p:nvSpPr>
        <p:spPr>
          <a:xfrm>
            <a:off x="7104888" y="3584448"/>
            <a:ext cx="237744" cy="237744"/>
          </a:xfrm>
          <a:prstGeom prst="ellipse">
            <a:avLst/>
          </a:prstGeom>
          <a:solidFill>
            <a:schemeClr val="accent3"/>
          </a:solidFill>
          <a:ln w="25400">
            <a:solidFill>
              <a:srgbClr val="FFFFFF"/>
            </a:solidFill>
            <a:prstDash val="solid"/>
          </a:ln>
        </p:spPr>
      </p:sp>
      <p:sp>
        <p:nvSpPr>
          <p:cNvPr id="30" name="timeline-tick-1970s"/>
          <p:cNvSpPr/>
          <p:nvPr/>
        </p:nvSpPr>
        <p:spPr>
          <a:xfrm>
            <a:off x="7223760" y="3840480"/>
            <a:ext cx="0" cy="320040"/>
          </a:xfrm>
          <a:prstGeom prst="line">
            <a:avLst/>
          </a:prstGeom>
          <a:noFill/>
          <a:ln w="12700">
            <a:solidFill>
              <a:srgbClr val="D9DEE3"/>
            </a:solidFill>
            <a:prstDash val="solid"/>
          </a:ln>
        </p:spPr>
      </p:sp>
      <p:sp>
        <p:nvSpPr>
          <p:cNvPr id="31" name="Text 29"/>
          <p:cNvSpPr txBox="1"/>
          <p:nvPr/>
        </p:nvSpPr>
        <p:spPr>
          <a:xfrm>
            <a:off x="6217920" y="4206240"/>
            <a:ext cx="2011680" cy="411480"/>
          </a:xfrm>
          <a:prstGeom prst="rect">
            <a:avLst/>
          </a:prstGeom>
          <a:noFill/>
          <a:ln/>
        </p:spPr>
        <p:txBody>
          <a:bodyPr wrap="square" lIns="0" tIns="0" rIns="0" bIns="0" rtlCol="0" anchor="t"/>
          <a:lstStyle/>
          <a:p>
            <a:pPr algn="ctr" indent="0" marL="0">
              <a:buNone/>
            </a:pPr>
            <a:r>
              <a:rPr lang="en-US" sz="2000" b="1" dirty="0">
                <a:solidFill>
                  <a:schemeClr val="accent3"/>
                </a:solidFill>
                <a:latin typeface="Cambria" pitchFamily="34" charset="0"/>
                <a:ea typeface="Cambria" pitchFamily="34" charset="-122"/>
                <a:cs typeface="Cambria" pitchFamily="34" charset="-120"/>
              </a:rPr>
              <a:t>1970s</a:t>
            </a:r>
            <a:endParaRPr lang="en-US" sz="2000" dirty="0"/>
          </a:p>
        </p:txBody>
      </p:sp>
      <p:sp>
        <p:nvSpPr>
          <p:cNvPr id="32" name="Text 30"/>
          <p:cNvSpPr txBox="1"/>
          <p:nvPr/>
        </p:nvSpPr>
        <p:spPr>
          <a:xfrm>
            <a:off x="6217920" y="4617720"/>
            <a:ext cx="2011680" cy="594360"/>
          </a:xfrm>
          <a:prstGeom prst="rect">
            <a:avLst/>
          </a:prstGeom>
          <a:noFill/>
          <a:ln/>
        </p:spPr>
        <p:txBody>
          <a:bodyPr wrap="square" lIns="0" tIns="0" rIns="0" bIns="0" rtlCol="0" anchor="t"/>
          <a:lstStyle/>
          <a:p>
            <a:pPr algn="ctr" indent="0" marL="0">
              <a:buNone/>
            </a:pPr>
            <a:r>
              <a:rPr lang="en-US" sz="1300" b="1" dirty="0">
                <a:solidFill>
                  <a:schemeClr val="tx1"/>
                </a:solidFill>
              </a:rPr>
              <a:t>AI winter</a:t>
            </a:r>
            <a:endParaRPr lang="en-US" sz="1300" dirty="0"/>
          </a:p>
        </p:txBody>
      </p:sp>
      <p:sp>
        <p:nvSpPr>
          <p:cNvPr id="33" name="Text 31"/>
          <p:cNvSpPr txBox="1"/>
          <p:nvPr/>
        </p:nvSpPr>
        <p:spPr>
          <a:xfrm>
            <a:off x="6217920" y="5166360"/>
            <a:ext cx="2011680" cy="685800"/>
          </a:xfrm>
          <a:prstGeom prst="rect">
            <a:avLst/>
          </a:prstGeom>
          <a:noFill/>
          <a:ln/>
        </p:spPr>
        <p:txBody>
          <a:bodyPr wrap="square" lIns="0" tIns="0" rIns="0" bIns="0" rtlCol="0" anchor="t"/>
          <a:lstStyle/>
          <a:p>
            <a:pPr algn="ctr" indent="0" marL="0">
              <a:buNone/>
            </a:pPr>
            <a:r>
              <a:rPr lang="en-US" sz="1300" dirty="0">
                <a:solidFill>
                  <a:schemeClr val="tx2"/>
                </a:solidFill>
              </a:rPr>
              <a:t>Funding and interest collapse</a:t>
            </a:r>
            <a:endParaRPr lang="en-US" sz="1300" dirty="0"/>
          </a:p>
        </p:txBody>
      </p:sp>
      <p:sp>
        <p:nvSpPr>
          <p:cNvPr id="34" name="timeline-dot-1974"/>
          <p:cNvSpPr/>
          <p:nvPr/>
        </p:nvSpPr>
        <p:spPr>
          <a:xfrm>
            <a:off x="8247888" y="3584448"/>
            <a:ext cx="237744" cy="237744"/>
          </a:xfrm>
          <a:prstGeom prst="ellipse">
            <a:avLst/>
          </a:prstGeom>
          <a:solidFill>
            <a:schemeClr val="accent1"/>
          </a:solidFill>
          <a:ln w="25400">
            <a:solidFill>
              <a:srgbClr val="FFFFFF"/>
            </a:solidFill>
            <a:prstDash val="solid"/>
          </a:ln>
        </p:spPr>
      </p:sp>
      <p:sp>
        <p:nvSpPr>
          <p:cNvPr id="35" name="timeline-tick-1974"/>
          <p:cNvSpPr/>
          <p:nvPr/>
        </p:nvSpPr>
        <p:spPr>
          <a:xfrm>
            <a:off x="8366760" y="3246120"/>
            <a:ext cx="0" cy="320040"/>
          </a:xfrm>
          <a:prstGeom prst="line">
            <a:avLst/>
          </a:prstGeom>
          <a:noFill/>
          <a:ln w="12700">
            <a:solidFill>
              <a:srgbClr val="D9DEE3"/>
            </a:solidFill>
            <a:prstDash val="solid"/>
          </a:ln>
        </p:spPr>
      </p:sp>
      <p:sp>
        <p:nvSpPr>
          <p:cNvPr id="36" name="Text 34"/>
          <p:cNvSpPr txBox="1"/>
          <p:nvPr/>
        </p:nvSpPr>
        <p:spPr>
          <a:xfrm>
            <a:off x="7360920" y="1463040"/>
            <a:ext cx="2011680" cy="411480"/>
          </a:xfrm>
          <a:prstGeom prst="rect">
            <a:avLst/>
          </a:prstGeom>
          <a:noFill/>
          <a:ln/>
        </p:spPr>
        <p:txBody>
          <a:bodyPr wrap="square" lIns="0" tIns="0" rIns="0" bIns="0" rtlCol="0" anchor="t"/>
          <a:lstStyle/>
          <a:p>
            <a:pPr algn="ctr" indent="0" marL="0">
              <a:buNone/>
            </a:pPr>
            <a:r>
              <a:rPr lang="en-US" sz="2000" b="1" dirty="0">
                <a:solidFill>
                  <a:schemeClr val="accent1"/>
                </a:solidFill>
                <a:latin typeface="Cambria" pitchFamily="34" charset="0"/>
                <a:ea typeface="Cambria" pitchFamily="34" charset="-122"/>
                <a:cs typeface="Cambria" pitchFamily="34" charset="-120"/>
              </a:rPr>
              <a:t>1974</a:t>
            </a:r>
            <a:endParaRPr lang="en-US" sz="2000" dirty="0"/>
          </a:p>
        </p:txBody>
      </p:sp>
      <p:sp>
        <p:nvSpPr>
          <p:cNvPr id="37" name="Text 35"/>
          <p:cNvSpPr txBox="1"/>
          <p:nvPr/>
        </p:nvSpPr>
        <p:spPr>
          <a:xfrm>
            <a:off x="7360920" y="1874520"/>
            <a:ext cx="2011680" cy="594360"/>
          </a:xfrm>
          <a:prstGeom prst="rect">
            <a:avLst/>
          </a:prstGeom>
          <a:noFill/>
          <a:ln/>
        </p:spPr>
        <p:txBody>
          <a:bodyPr wrap="square" lIns="0" tIns="0" rIns="0" bIns="0" rtlCol="0" anchor="t"/>
          <a:lstStyle/>
          <a:p>
            <a:pPr algn="ctr" indent="0" marL="0">
              <a:buNone/>
            </a:pPr>
            <a:r>
              <a:rPr lang="en-US" sz="1300" b="1" dirty="0">
                <a:solidFill>
                  <a:schemeClr val="tx1"/>
                </a:solidFill>
              </a:rPr>
              <a:t>Werbos</a:t>
            </a:r>
            <a:endParaRPr lang="en-US" sz="1300" dirty="0"/>
          </a:p>
        </p:txBody>
      </p:sp>
      <p:sp>
        <p:nvSpPr>
          <p:cNvPr id="38" name="Text 36"/>
          <p:cNvSpPr txBox="1"/>
          <p:nvPr/>
        </p:nvSpPr>
        <p:spPr>
          <a:xfrm>
            <a:off x="7360920" y="2423160"/>
            <a:ext cx="2011680" cy="685800"/>
          </a:xfrm>
          <a:prstGeom prst="rect">
            <a:avLst/>
          </a:prstGeom>
          <a:noFill/>
          <a:ln/>
        </p:spPr>
        <p:txBody>
          <a:bodyPr wrap="square" lIns="0" tIns="0" rIns="0" bIns="0" rtlCol="0" anchor="t"/>
          <a:lstStyle/>
          <a:p>
            <a:pPr algn="ctr" indent="0" marL="0">
              <a:buNone/>
            </a:pPr>
            <a:r>
              <a:rPr lang="en-US" sz="1300" dirty="0">
                <a:solidFill>
                  <a:schemeClr val="tx2"/>
                </a:solidFill>
              </a:rPr>
              <a:t>Backprop in a PhD thesis, largely unnoticed</a:t>
            </a:r>
            <a:endParaRPr lang="en-US" sz="1300" dirty="0"/>
          </a:p>
        </p:txBody>
      </p:sp>
      <p:sp>
        <p:nvSpPr>
          <p:cNvPr id="39" name="timeline-dot-1982"/>
          <p:cNvSpPr/>
          <p:nvPr/>
        </p:nvSpPr>
        <p:spPr>
          <a:xfrm>
            <a:off x="9390888" y="3584448"/>
            <a:ext cx="237744" cy="237744"/>
          </a:xfrm>
          <a:prstGeom prst="ellipse">
            <a:avLst/>
          </a:prstGeom>
          <a:solidFill>
            <a:schemeClr val="accent1"/>
          </a:solidFill>
          <a:ln w="25400">
            <a:solidFill>
              <a:srgbClr val="FFFFFF"/>
            </a:solidFill>
            <a:prstDash val="solid"/>
          </a:ln>
        </p:spPr>
      </p:sp>
      <p:sp>
        <p:nvSpPr>
          <p:cNvPr id="40" name="timeline-tick-1982"/>
          <p:cNvSpPr/>
          <p:nvPr/>
        </p:nvSpPr>
        <p:spPr>
          <a:xfrm>
            <a:off x="9509760" y="3840480"/>
            <a:ext cx="0" cy="320040"/>
          </a:xfrm>
          <a:prstGeom prst="line">
            <a:avLst/>
          </a:prstGeom>
          <a:noFill/>
          <a:ln w="12700">
            <a:solidFill>
              <a:srgbClr val="D9DEE3"/>
            </a:solidFill>
            <a:prstDash val="solid"/>
          </a:ln>
        </p:spPr>
      </p:sp>
      <p:sp>
        <p:nvSpPr>
          <p:cNvPr id="41" name="Text 39"/>
          <p:cNvSpPr txBox="1"/>
          <p:nvPr/>
        </p:nvSpPr>
        <p:spPr>
          <a:xfrm>
            <a:off x="8503920" y="4206240"/>
            <a:ext cx="2011680" cy="411480"/>
          </a:xfrm>
          <a:prstGeom prst="rect">
            <a:avLst/>
          </a:prstGeom>
          <a:noFill/>
          <a:ln/>
        </p:spPr>
        <p:txBody>
          <a:bodyPr wrap="square" lIns="0" tIns="0" rIns="0" bIns="0" rtlCol="0" anchor="t"/>
          <a:lstStyle/>
          <a:p>
            <a:pPr algn="ctr" indent="0" marL="0">
              <a:buNone/>
            </a:pPr>
            <a:r>
              <a:rPr lang="en-US" sz="2000" b="1" dirty="0">
                <a:solidFill>
                  <a:schemeClr val="accent1"/>
                </a:solidFill>
                <a:latin typeface="Cambria" pitchFamily="34" charset="0"/>
                <a:ea typeface="Cambria" pitchFamily="34" charset="-122"/>
                <a:cs typeface="Cambria" pitchFamily="34" charset="-120"/>
              </a:rPr>
              <a:t>1982</a:t>
            </a:r>
            <a:endParaRPr lang="en-US" sz="2000" dirty="0"/>
          </a:p>
        </p:txBody>
      </p:sp>
      <p:sp>
        <p:nvSpPr>
          <p:cNvPr id="42" name="Text 40"/>
          <p:cNvSpPr txBox="1"/>
          <p:nvPr/>
        </p:nvSpPr>
        <p:spPr>
          <a:xfrm>
            <a:off x="8503920" y="4617720"/>
            <a:ext cx="2011680" cy="594360"/>
          </a:xfrm>
          <a:prstGeom prst="rect">
            <a:avLst/>
          </a:prstGeom>
          <a:noFill/>
          <a:ln/>
        </p:spPr>
        <p:txBody>
          <a:bodyPr wrap="square" lIns="0" tIns="0" rIns="0" bIns="0" rtlCol="0" anchor="t"/>
          <a:lstStyle/>
          <a:p>
            <a:pPr algn="ctr" indent="0" marL="0">
              <a:buNone/>
            </a:pPr>
            <a:r>
              <a:rPr lang="en-US" sz="1300" b="1" dirty="0">
                <a:solidFill>
                  <a:schemeClr val="tx1"/>
                </a:solidFill>
              </a:rPr>
              <a:t>Hopfield</a:t>
            </a:r>
            <a:endParaRPr lang="en-US" sz="1300" dirty="0"/>
          </a:p>
        </p:txBody>
      </p:sp>
      <p:sp>
        <p:nvSpPr>
          <p:cNvPr id="43" name="Text 41"/>
          <p:cNvSpPr txBox="1"/>
          <p:nvPr/>
        </p:nvSpPr>
        <p:spPr>
          <a:xfrm>
            <a:off x="8503920" y="5166360"/>
            <a:ext cx="2011680" cy="685800"/>
          </a:xfrm>
          <a:prstGeom prst="rect">
            <a:avLst/>
          </a:prstGeom>
          <a:noFill/>
          <a:ln/>
        </p:spPr>
        <p:txBody>
          <a:bodyPr wrap="square" lIns="0" tIns="0" rIns="0" bIns="0" rtlCol="0" anchor="t"/>
          <a:lstStyle/>
          <a:p>
            <a:pPr algn="ctr" indent="0" marL="0">
              <a:buNone/>
            </a:pPr>
            <a:r>
              <a:rPr lang="en-US" sz="1300" dirty="0">
                <a:solidFill>
                  <a:schemeClr val="tx2"/>
                </a:solidFill>
              </a:rPr>
              <a:t>Networks as energy systems</a:t>
            </a:r>
            <a:endParaRPr lang="en-US" sz="1300" dirty="0"/>
          </a:p>
        </p:txBody>
      </p:sp>
      <p:sp>
        <p:nvSpPr>
          <p:cNvPr id="44" name="timeline-dot-1986"/>
          <p:cNvSpPr/>
          <p:nvPr/>
        </p:nvSpPr>
        <p:spPr>
          <a:xfrm>
            <a:off x="10533888" y="3584448"/>
            <a:ext cx="237744" cy="237744"/>
          </a:xfrm>
          <a:prstGeom prst="ellipse">
            <a:avLst/>
          </a:prstGeom>
          <a:solidFill>
            <a:schemeClr val="accent1"/>
          </a:solidFill>
          <a:ln w="25400">
            <a:solidFill>
              <a:srgbClr val="FFFFFF"/>
            </a:solidFill>
            <a:prstDash val="solid"/>
          </a:ln>
        </p:spPr>
      </p:sp>
      <p:sp>
        <p:nvSpPr>
          <p:cNvPr id="45" name="timeline-tick-1986"/>
          <p:cNvSpPr/>
          <p:nvPr/>
        </p:nvSpPr>
        <p:spPr>
          <a:xfrm>
            <a:off x="10652760" y="3246120"/>
            <a:ext cx="0" cy="320040"/>
          </a:xfrm>
          <a:prstGeom prst="line">
            <a:avLst/>
          </a:prstGeom>
          <a:noFill/>
          <a:ln w="12700">
            <a:solidFill>
              <a:srgbClr val="D9DEE3"/>
            </a:solidFill>
            <a:prstDash val="solid"/>
          </a:ln>
        </p:spPr>
      </p:sp>
      <p:sp>
        <p:nvSpPr>
          <p:cNvPr id="46" name="Text 44"/>
          <p:cNvSpPr txBox="1"/>
          <p:nvPr/>
        </p:nvSpPr>
        <p:spPr>
          <a:xfrm>
            <a:off x="9646920" y="1463040"/>
            <a:ext cx="2011680" cy="411480"/>
          </a:xfrm>
          <a:prstGeom prst="rect">
            <a:avLst/>
          </a:prstGeom>
          <a:noFill/>
          <a:ln/>
        </p:spPr>
        <p:txBody>
          <a:bodyPr wrap="square" lIns="0" tIns="0" rIns="0" bIns="0" rtlCol="0" anchor="t"/>
          <a:lstStyle/>
          <a:p>
            <a:pPr algn="ctr" indent="0" marL="0">
              <a:buNone/>
            </a:pPr>
            <a:r>
              <a:rPr lang="en-US" sz="2000" b="1" dirty="0">
                <a:solidFill>
                  <a:schemeClr val="accent1"/>
                </a:solidFill>
                <a:latin typeface="Cambria" pitchFamily="34" charset="0"/>
                <a:ea typeface="Cambria" pitchFamily="34" charset="-122"/>
                <a:cs typeface="Cambria" pitchFamily="34" charset="-120"/>
              </a:rPr>
              <a:t>1986</a:t>
            </a:r>
            <a:endParaRPr lang="en-US" sz="2000" dirty="0"/>
          </a:p>
        </p:txBody>
      </p:sp>
      <p:sp>
        <p:nvSpPr>
          <p:cNvPr id="47" name="Text 45"/>
          <p:cNvSpPr txBox="1"/>
          <p:nvPr/>
        </p:nvSpPr>
        <p:spPr>
          <a:xfrm>
            <a:off x="9646920" y="1874520"/>
            <a:ext cx="2011680" cy="594360"/>
          </a:xfrm>
          <a:prstGeom prst="rect">
            <a:avLst/>
          </a:prstGeom>
          <a:noFill/>
          <a:ln/>
        </p:spPr>
        <p:txBody>
          <a:bodyPr wrap="square" lIns="0" tIns="0" rIns="0" bIns="0" rtlCol="0" anchor="t"/>
          <a:lstStyle/>
          <a:p>
            <a:pPr algn="ctr" indent="0" marL="0">
              <a:buNone/>
            </a:pPr>
            <a:r>
              <a:rPr lang="en-US" sz="1300" b="1" dirty="0">
                <a:solidFill>
                  <a:schemeClr val="tx1"/>
                </a:solidFill>
              </a:rPr>
              <a:t>Rumelhart, Hinton &amp; Williams</a:t>
            </a:r>
            <a:endParaRPr lang="en-US" sz="1300" dirty="0"/>
          </a:p>
        </p:txBody>
      </p:sp>
      <p:sp>
        <p:nvSpPr>
          <p:cNvPr id="48" name="Text 46"/>
          <p:cNvSpPr txBox="1"/>
          <p:nvPr/>
        </p:nvSpPr>
        <p:spPr>
          <a:xfrm>
            <a:off x="9646920" y="2423160"/>
            <a:ext cx="2011680" cy="685800"/>
          </a:xfrm>
          <a:prstGeom prst="rect">
            <a:avLst/>
          </a:prstGeom>
          <a:noFill/>
          <a:ln/>
        </p:spPr>
        <p:txBody>
          <a:bodyPr wrap="square" lIns="0" tIns="0" rIns="0" bIns="0" rtlCol="0" anchor="t"/>
          <a:lstStyle/>
          <a:p>
            <a:pPr algn="ctr" indent="0" marL="0">
              <a:buNone/>
            </a:pPr>
            <a:r>
              <a:rPr lang="en-US" sz="1300" dirty="0">
                <a:solidFill>
                  <a:schemeClr val="tx2"/>
                </a:solidFill>
              </a:rPr>
              <a:t>Backprop trains hidden layers</a:t>
            </a:r>
            <a:endParaRPr lang="en-US" sz="1300" dirty="0"/>
          </a:p>
        </p:txBody>
      </p:sp>
      <p:sp>
        <p:nvSpPr>
          <p:cNvPr id="49" name="legend-Rise"/>
          <p:cNvSpPr/>
          <p:nvPr/>
        </p:nvSpPr>
        <p:spPr>
          <a:xfrm>
            <a:off x="548640" y="6053328"/>
            <a:ext cx="164592" cy="164592"/>
          </a:xfrm>
          <a:prstGeom prst="ellipse">
            <a:avLst/>
          </a:prstGeom>
          <a:solidFill>
            <a:schemeClr val="accent2"/>
          </a:solidFill>
          <a:ln/>
        </p:spPr>
      </p:sp>
      <p:sp>
        <p:nvSpPr>
          <p:cNvPr id="50" name="Text 48"/>
          <p:cNvSpPr txBox="1"/>
          <p:nvPr/>
        </p:nvSpPr>
        <p:spPr>
          <a:xfrm>
            <a:off x="804672" y="5989320"/>
            <a:ext cx="1097280" cy="292608"/>
          </a:xfrm>
          <a:prstGeom prst="rect">
            <a:avLst/>
          </a:prstGeom>
          <a:noFill/>
          <a:ln/>
        </p:spPr>
        <p:txBody>
          <a:bodyPr wrap="square" lIns="0" tIns="0" rIns="0" bIns="0" rtlCol="0" anchor="ctr"/>
          <a:lstStyle/>
          <a:p>
            <a:pPr indent="0" marL="0">
              <a:buNone/>
            </a:pPr>
            <a:r>
              <a:rPr lang="en-US" sz="1200" dirty="0">
                <a:solidFill>
                  <a:schemeClr val="tx2"/>
                </a:solidFill>
              </a:rPr>
              <a:t>Rise</a:t>
            </a:r>
            <a:endParaRPr lang="en-US" sz="1200" dirty="0"/>
          </a:p>
        </p:txBody>
      </p:sp>
      <p:sp>
        <p:nvSpPr>
          <p:cNvPr id="51" name="legend-Fall"/>
          <p:cNvSpPr/>
          <p:nvPr/>
        </p:nvSpPr>
        <p:spPr>
          <a:xfrm>
            <a:off x="2011680" y="6053328"/>
            <a:ext cx="164592" cy="164592"/>
          </a:xfrm>
          <a:prstGeom prst="ellipse">
            <a:avLst/>
          </a:prstGeom>
          <a:solidFill>
            <a:schemeClr val="accent3"/>
          </a:solidFill>
          <a:ln/>
        </p:spPr>
      </p:sp>
      <p:sp>
        <p:nvSpPr>
          <p:cNvPr id="52" name="Text 50"/>
          <p:cNvSpPr txBox="1"/>
          <p:nvPr/>
        </p:nvSpPr>
        <p:spPr>
          <a:xfrm>
            <a:off x="2267712" y="5989320"/>
            <a:ext cx="1097280" cy="292608"/>
          </a:xfrm>
          <a:prstGeom prst="rect">
            <a:avLst/>
          </a:prstGeom>
          <a:noFill/>
          <a:ln/>
        </p:spPr>
        <p:txBody>
          <a:bodyPr wrap="square" lIns="0" tIns="0" rIns="0" bIns="0" rtlCol="0" anchor="ctr"/>
          <a:lstStyle/>
          <a:p>
            <a:pPr indent="0" marL="0">
              <a:buNone/>
            </a:pPr>
            <a:r>
              <a:rPr lang="en-US" sz="1200" dirty="0">
                <a:solidFill>
                  <a:schemeClr val="tx2"/>
                </a:solidFill>
              </a:rPr>
              <a:t>Fall</a:t>
            </a:r>
            <a:endParaRPr lang="en-US" sz="1200" dirty="0"/>
          </a:p>
        </p:txBody>
      </p:sp>
      <p:sp>
        <p:nvSpPr>
          <p:cNvPr id="53" name="legend-Revival"/>
          <p:cNvSpPr/>
          <p:nvPr/>
        </p:nvSpPr>
        <p:spPr>
          <a:xfrm>
            <a:off x="3474720" y="6053328"/>
            <a:ext cx="164592" cy="164592"/>
          </a:xfrm>
          <a:prstGeom prst="ellipse">
            <a:avLst/>
          </a:prstGeom>
          <a:solidFill>
            <a:schemeClr val="accent1"/>
          </a:solidFill>
          <a:ln/>
        </p:spPr>
      </p:sp>
      <p:sp>
        <p:nvSpPr>
          <p:cNvPr id="54" name="Text 52"/>
          <p:cNvSpPr txBox="1"/>
          <p:nvPr/>
        </p:nvSpPr>
        <p:spPr>
          <a:xfrm>
            <a:off x="3730752" y="5989320"/>
            <a:ext cx="1097280" cy="292608"/>
          </a:xfrm>
          <a:prstGeom prst="rect">
            <a:avLst/>
          </a:prstGeom>
          <a:noFill/>
          <a:ln/>
        </p:spPr>
        <p:txBody>
          <a:bodyPr wrap="square" lIns="0" tIns="0" rIns="0" bIns="0" rtlCol="0" anchor="ctr"/>
          <a:lstStyle/>
          <a:p>
            <a:pPr indent="0" marL="0">
              <a:buNone/>
            </a:pPr>
            <a:r>
              <a:rPr lang="en-US" sz="1200" dirty="0">
                <a:solidFill>
                  <a:schemeClr val="tx2"/>
                </a:solidFill>
              </a:rPr>
              <a:t>Revival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1943 to 1949: neurons as logic, learning as wiring</a:t>
            </a:r>
            <a:endParaRPr lang="en-US" sz="3400" dirty="0"/>
          </a:p>
        </p:txBody>
      </p:sp>
      <p:sp>
        <p:nvSpPr>
          <p:cNvPr id="3" name="early-card-0"/>
          <p:cNvSpPr/>
          <p:nvPr/>
        </p:nvSpPr>
        <p:spPr>
          <a:xfrm>
            <a:off x="548640" y="1508760"/>
            <a:ext cx="5422392" cy="4526280"/>
          </a:xfrm>
          <a:prstGeom prst="roundRect">
            <a:avLst>
              <a:gd name="adj" fmla="val 2424"/>
            </a:avLst>
          </a:prstGeom>
          <a:solidFill>
            <a:schemeClr val="bg2"/>
          </a:solidFill>
          <a:ln/>
        </p:spPr>
      </p:sp>
      <p:sp>
        <p:nvSpPr>
          <p:cNvPr id="4" name="early-icon-0-circle"/>
          <p:cNvSpPr/>
          <p:nvPr/>
        </p:nvSpPr>
        <p:spPr>
          <a:xfrm>
            <a:off x="868680" y="1783080"/>
            <a:ext cx="685800" cy="685800"/>
          </a:xfrm>
          <a:prstGeom prst="ellipse">
            <a:avLst/>
          </a:prstGeom>
          <a:solidFill>
            <a:schemeClr val="accent2"/>
          </a:solidFill>
          <a:ln/>
        </p:spPr>
      </p:sp>
      <p:pic>
        <p:nvPicPr>
          <p:cNvPr id="5" name="early-icon-0" descr="Microchip icon">    </p:cNvPr>
          <p:cNvPicPr>
            <a:picLocks noChangeAspect="1"/>
          </p:cNvPicPr>
          <p:nvPr/>
        </p:nvPicPr>
        <p:blipFill>
          <a:blip r:embed="rId1"/>
          <a:stretch>
            <a:fillRect/>
          </a:stretch>
        </p:blipFill>
        <p:spPr>
          <a:xfrm>
            <a:off x="1040130" y="1954530"/>
            <a:ext cx="342900" cy="342900"/>
          </a:xfrm>
          <a:prstGeom prst="rect">
            <a:avLst/>
          </a:prstGeom>
        </p:spPr>
      </p:pic>
      <p:sp>
        <p:nvSpPr>
          <p:cNvPr id="6" name="Text 3"/>
          <p:cNvSpPr txBox="1"/>
          <p:nvPr/>
        </p:nvSpPr>
        <p:spPr>
          <a:xfrm>
            <a:off x="1737360" y="1783080"/>
            <a:ext cx="4023360" cy="365760"/>
          </a:xfrm>
          <a:prstGeom prst="rect">
            <a:avLst/>
          </a:prstGeom>
          <a:noFill/>
          <a:ln/>
        </p:spPr>
        <p:txBody>
          <a:bodyPr wrap="square" lIns="0" tIns="0" rIns="0" bIns="0" rtlCol="0" anchor="t"/>
          <a:lstStyle/>
          <a:p>
            <a:pPr indent="0" marL="0">
              <a:buNone/>
            </a:pPr>
            <a:r>
              <a:rPr lang="en-US" sz="1500" b="1" dirty="0">
                <a:solidFill>
                  <a:schemeClr val="accent2"/>
                </a:solidFill>
              </a:rPr>
              <a:t>1943 · McCulloch &amp; Pitts</a:t>
            </a:r>
            <a:endParaRPr lang="en-US" sz="1500" dirty="0"/>
          </a:p>
        </p:txBody>
      </p:sp>
      <p:sp>
        <p:nvSpPr>
          <p:cNvPr id="7" name="Text 4"/>
          <p:cNvSpPr txBox="1"/>
          <p:nvPr/>
        </p:nvSpPr>
        <p:spPr>
          <a:xfrm>
            <a:off x="1737360" y="2103120"/>
            <a:ext cx="4023360" cy="45720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 logical neuron</a:t>
            </a:r>
            <a:endParaRPr lang="en-US" sz="2100" dirty="0"/>
          </a:p>
        </p:txBody>
      </p:sp>
      <p:sp>
        <p:nvSpPr>
          <p:cNvPr id="8" name="Text 5"/>
          <p:cNvSpPr txBox="1"/>
          <p:nvPr/>
        </p:nvSpPr>
        <p:spPr>
          <a:xfrm>
            <a:off x="914400" y="2880360"/>
            <a:ext cx="4754880" cy="29260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2"/>
                </a:solidFill>
              </a:rPr>
              <a:t>Binary threshold units: fire if enough inputs are on</a:t>
            </a:r>
            <a:endParaRPr lang="en-US" sz="1600" dirty="0"/>
          </a:p>
          <a:p>
            <a:pPr marL="342900" indent="-342900">
              <a:spcAft>
                <a:spcPts val="1000"/>
              </a:spcAft>
              <a:buSzPct val="100000"/>
              <a:buChar char="•"/>
            </a:pPr>
            <a:r>
              <a:rPr lang="en-US" sz="1600" dirty="0">
                <a:solidFill>
                  <a:schemeClr val="tx2"/>
                </a:solidFill>
              </a:rPr>
              <a:t>Showed that networks of them can compute logic such as AND, OR and NOT</a:t>
            </a:r>
            <a:endParaRPr lang="en-US" sz="1600" dirty="0"/>
          </a:p>
          <a:p>
            <a:pPr marL="342900" indent="-342900">
              <a:spcAft>
                <a:spcPts val="1000"/>
              </a:spcAft>
              <a:buSzPct val="100000"/>
              <a:buChar char="•"/>
            </a:pPr>
            <a:r>
              <a:rPr lang="en-US" sz="1600" dirty="0">
                <a:solidFill>
                  <a:schemeClr val="tx2"/>
                </a:solidFill>
              </a:rPr>
              <a:t>No learning: a human had to set every weight</a:t>
            </a:r>
            <a:endParaRPr lang="en-US" sz="1600" dirty="0"/>
          </a:p>
        </p:txBody>
      </p:sp>
      <p:sp>
        <p:nvSpPr>
          <p:cNvPr id="9" name="early-card-1"/>
          <p:cNvSpPr/>
          <p:nvPr/>
        </p:nvSpPr>
        <p:spPr>
          <a:xfrm>
            <a:off x="6217920" y="1508760"/>
            <a:ext cx="5422392" cy="4526280"/>
          </a:xfrm>
          <a:prstGeom prst="roundRect">
            <a:avLst>
              <a:gd name="adj" fmla="val 2424"/>
            </a:avLst>
          </a:prstGeom>
          <a:solidFill>
            <a:schemeClr val="bg2"/>
          </a:solidFill>
          <a:ln/>
        </p:spPr>
      </p:sp>
      <p:sp>
        <p:nvSpPr>
          <p:cNvPr id="10" name="early-icon-1-circle"/>
          <p:cNvSpPr/>
          <p:nvPr/>
        </p:nvSpPr>
        <p:spPr>
          <a:xfrm>
            <a:off x="6537960" y="1783080"/>
            <a:ext cx="685800" cy="685800"/>
          </a:xfrm>
          <a:prstGeom prst="ellipse">
            <a:avLst/>
          </a:prstGeom>
          <a:solidFill>
            <a:schemeClr val="accent2"/>
          </a:solidFill>
          <a:ln/>
        </p:spPr>
      </p:sp>
      <p:pic>
        <p:nvPicPr>
          <p:cNvPr id="11" name="early-icon-1" descr="Link icon">    </p:cNvPr>
          <p:cNvPicPr>
            <a:picLocks noChangeAspect="1"/>
          </p:cNvPicPr>
          <p:nvPr/>
        </p:nvPicPr>
        <p:blipFill>
          <a:blip r:embed="rId2"/>
          <a:stretch>
            <a:fillRect/>
          </a:stretch>
        </p:blipFill>
        <p:spPr>
          <a:xfrm>
            <a:off x="6709410" y="1954530"/>
            <a:ext cx="342900" cy="342900"/>
          </a:xfrm>
          <a:prstGeom prst="rect">
            <a:avLst/>
          </a:prstGeom>
        </p:spPr>
      </p:pic>
      <p:sp>
        <p:nvSpPr>
          <p:cNvPr id="12" name="Text 8"/>
          <p:cNvSpPr txBox="1"/>
          <p:nvPr/>
        </p:nvSpPr>
        <p:spPr>
          <a:xfrm>
            <a:off x="7406640" y="1783080"/>
            <a:ext cx="4023360" cy="365760"/>
          </a:xfrm>
          <a:prstGeom prst="rect">
            <a:avLst/>
          </a:prstGeom>
          <a:noFill/>
          <a:ln/>
        </p:spPr>
        <p:txBody>
          <a:bodyPr wrap="square" lIns="0" tIns="0" rIns="0" bIns="0" rtlCol="0" anchor="t"/>
          <a:lstStyle/>
          <a:p>
            <a:pPr indent="0" marL="0">
              <a:buNone/>
            </a:pPr>
            <a:r>
              <a:rPr lang="en-US" sz="1500" b="1" dirty="0">
                <a:solidFill>
                  <a:schemeClr val="accent2"/>
                </a:solidFill>
              </a:rPr>
              <a:t>1949 · Donald Hebb</a:t>
            </a:r>
            <a:endParaRPr lang="en-US" sz="1500" dirty="0"/>
          </a:p>
        </p:txBody>
      </p:sp>
      <p:sp>
        <p:nvSpPr>
          <p:cNvPr id="13" name="Text 9"/>
          <p:cNvSpPr txBox="1"/>
          <p:nvPr/>
        </p:nvSpPr>
        <p:spPr>
          <a:xfrm>
            <a:off x="7406640" y="2103120"/>
            <a:ext cx="4023360" cy="45720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The Organization of Behavior</a:t>
            </a:r>
            <a:endParaRPr lang="en-US" sz="2100" dirty="0"/>
          </a:p>
        </p:txBody>
      </p:sp>
      <p:sp>
        <p:nvSpPr>
          <p:cNvPr id="14" name="Text 10"/>
          <p:cNvSpPr txBox="1"/>
          <p:nvPr/>
        </p:nvSpPr>
        <p:spPr>
          <a:xfrm>
            <a:off x="6583680" y="2880360"/>
            <a:ext cx="4754880" cy="29260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2"/>
                </a:solidFill>
              </a:rPr>
              <a:t>Connections between neurons that are repeatedly active together grow stronger</a:t>
            </a:r>
            <a:endParaRPr lang="en-US" sz="1600" dirty="0"/>
          </a:p>
          <a:p>
            <a:pPr marL="342900" indent="-342900">
              <a:spcAft>
                <a:spcPts val="1000"/>
              </a:spcAft>
              <a:buSzPct val="100000"/>
              <a:buChar char="•"/>
            </a:pPr>
            <a:r>
              <a:rPr lang="en-US" sz="1600" dirty="0">
                <a:solidFill>
                  <a:schemeClr val="tx2"/>
                </a:solidFill>
              </a:rPr>
              <a:t>The first concrete rule for how a network could learn from experience</a:t>
            </a:r>
            <a:endParaRPr lang="en-US" sz="1600" dirty="0"/>
          </a:p>
          <a:p>
            <a:pPr marL="342900" indent="-342900">
              <a:spcAft>
                <a:spcPts val="1000"/>
              </a:spcAft>
              <a:buSzPct val="100000"/>
              <a:buChar char="•"/>
            </a:pPr>
            <a:r>
              <a:rPr lang="en-US" sz="1600" dirty="0">
                <a:solidFill>
                  <a:schemeClr val="tx2"/>
                </a:solidFill>
              </a:rPr>
              <a:t>Still the intuition behind "weights store what was learned"</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From a biological neuron to an artificial one</a:t>
            </a:r>
            <a:endParaRPr lang="en-US" sz="3400" dirty="0"/>
          </a:p>
        </p:txBody>
      </p:sp>
      <p:sp>
        <p:nvSpPr>
          <p:cNvPr id="3" name="bio-frame"/>
          <p:cNvSpPr/>
          <p:nvPr/>
        </p:nvSpPr>
        <p:spPr>
          <a:xfrm>
            <a:off x="548640" y="1463040"/>
            <a:ext cx="3383280" cy="3246120"/>
          </a:xfrm>
          <a:prstGeom prst="roundRect">
            <a:avLst>
              <a:gd name="adj" fmla="val 3380"/>
            </a:avLst>
          </a:prstGeom>
          <a:solidFill>
            <a:schemeClr val="bg2"/>
          </a:solidFill>
          <a:ln/>
        </p:spPr>
      </p:sp>
      <p:pic>
        <p:nvPicPr>
          <p:cNvPr id="4" name="blog-bio-neuron" descr="Sketch of a biological neuron: dendrites feed a cell body, which connects to other neurons">    </p:cNvPr>
          <p:cNvPicPr>
            <a:picLocks noChangeAspect="1"/>
          </p:cNvPicPr>
          <p:nvPr/>
        </p:nvPicPr>
        <p:blipFill>
          <a:blip r:embed="rId1"/>
          <a:stretch>
            <a:fillRect/>
          </a:stretch>
        </p:blipFill>
        <p:spPr>
          <a:xfrm>
            <a:off x="868680" y="1572768"/>
            <a:ext cx="2743200" cy="3011140"/>
          </a:xfrm>
          <a:prstGeom prst="rect">
            <a:avLst/>
          </a:prstGeom>
        </p:spPr>
      </p:pic>
      <p:sp>
        <p:nvSpPr>
          <p:cNvPr id="5" name="bio-arrow"/>
          <p:cNvSpPr/>
          <p:nvPr/>
        </p:nvSpPr>
        <p:spPr>
          <a:xfrm>
            <a:off x="4114800" y="2926080"/>
            <a:ext cx="685800" cy="457200"/>
          </a:xfrm>
          <a:prstGeom prst="rightArrow">
            <a:avLst/>
          </a:prstGeom>
          <a:solidFill>
            <a:schemeClr val="accent1"/>
          </a:solidFill>
          <a:ln/>
        </p:spPr>
      </p:sp>
      <p:sp>
        <p:nvSpPr>
          <p:cNvPr id="6" name="ann-frame"/>
          <p:cNvSpPr/>
          <p:nvPr/>
        </p:nvSpPr>
        <p:spPr>
          <a:xfrm>
            <a:off x="4983480" y="1463040"/>
            <a:ext cx="6656832" cy="3246120"/>
          </a:xfrm>
          <a:prstGeom prst="roundRect">
            <a:avLst>
              <a:gd name="adj" fmla="val 3380"/>
            </a:avLst>
          </a:prstGeom>
          <a:solidFill>
            <a:schemeClr val="bg2"/>
          </a:solidFill>
          <a:ln/>
        </p:spPr>
      </p:sp>
      <p:pic>
        <p:nvPicPr>
          <p:cNvPr id="7" name="blog-ann" descr="Artificial neuron: inputs x1 to xn with weights, plus bias b, give z, then activation f, then output">    </p:cNvPr>
          <p:cNvPicPr>
            <a:picLocks noChangeAspect="1"/>
          </p:cNvPicPr>
          <p:nvPr/>
        </p:nvPicPr>
        <p:blipFill>
          <a:blip r:embed="rId2"/>
          <a:stretch>
            <a:fillRect/>
          </a:stretch>
        </p:blipFill>
        <p:spPr>
          <a:xfrm>
            <a:off x="5431536" y="1554480"/>
            <a:ext cx="5760720" cy="3087532"/>
          </a:xfrm>
          <a:prstGeom prst="rect">
            <a:avLst/>
          </a:prstGeom>
        </p:spPr>
      </p:pic>
      <p:sp>
        <p:nvSpPr>
          <p:cNvPr id="8" name="map-card-0"/>
          <p:cNvSpPr/>
          <p:nvPr/>
        </p:nvSpPr>
        <p:spPr>
          <a:xfrm>
            <a:off x="548640" y="5120640"/>
            <a:ext cx="2651760" cy="914400"/>
          </a:xfrm>
          <a:prstGeom prst="roundRect">
            <a:avLst>
              <a:gd name="adj" fmla="val 12000"/>
            </a:avLst>
          </a:prstGeom>
          <a:solidFill>
            <a:schemeClr val="bg2"/>
          </a:solidFill>
          <a:ln/>
        </p:spPr>
      </p:sp>
      <p:sp>
        <p:nvSpPr>
          <p:cNvPr id="9" name="Text 5"/>
          <p:cNvSpPr txBox="1"/>
          <p:nvPr/>
        </p:nvSpPr>
        <p:spPr>
          <a:xfrm>
            <a:off x="731520" y="5193792"/>
            <a:ext cx="2286000" cy="347472"/>
          </a:xfrm>
          <a:prstGeom prst="rect">
            <a:avLst/>
          </a:prstGeom>
          <a:noFill/>
          <a:ln/>
        </p:spPr>
        <p:txBody>
          <a:bodyPr wrap="square" lIns="0" tIns="0" rIns="0" bIns="0" rtlCol="0" anchor="t"/>
          <a:lstStyle/>
          <a:p>
            <a:pPr indent="0" marL="0">
              <a:buNone/>
            </a:pPr>
            <a:r>
              <a:rPr lang="en-US" sz="1400" b="1" dirty="0">
                <a:solidFill>
                  <a:schemeClr val="accent2"/>
                </a:solidFill>
              </a:rPr>
              <a:t>Dendrites</a:t>
            </a:r>
            <a:endParaRPr lang="en-US" sz="1400" dirty="0"/>
          </a:p>
        </p:txBody>
      </p:sp>
      <p:sp>
        <p:nvSpPr>
          <p:cNvPr id="10" name="Text 6"/>
          <p:cNvSpPr txBox="1"/>
          <p:nvPr/>
        </p:nvSpPr>
        <p:spPr>
          <a:xfrm>
            <a:off x="731520" y="5550408"/>
            <a:ext cx="2286000" cy="384048"/>
          </a:xfrm>
          <a:prstGeom prst="rect">
            <a:avLst/>
          </a:prstGeom>
          <a:noFill/>
          <a:ln/>
        </p:spPr>
        <p:txBody>
          <a:bodyPr wrap="square" lIns="0" tIns="0" rIns="0" bIns="0" rtlCol="0" anchor="t"/>
          <a:lstStyle/>
          <a:p>
            <a:pPr indent="0" marL="0">
              <a:buNone/>
            </a:pPr>
            <a:r>
              <a:rPr lang="en-US" sz="1500" b="1" dirty="0">
                <a:solidFill>
                  <a:schemeClr val="tx1"/>
                </a:solidFill>
              </a:rPr>
              <a:t>→ inputs xᵢ</a:t>
            </a:r>
            <a:endParaRPr lang="en-US" sz="1500" dirty="0"/>
          </a:p>
        </p:txBody>
      </p:sp>
      <p:sp>
        <p:nvSpPr>
          <p:cNvPr id="11" name="map-card-1"/>
          <p:cNvSpPr/>
          <p:nvPr/>
        </p:nvSpPr>
        <p:spPr>
          <a:xfrm>
            <a:off x="3364992" y="5120640"/>
            <a:ext cx="2651760" cy="914400"/>
          </a:xfrm>
          <a:prstGeom prst="roundRect">
            <a:avLst>
              <a:gd name="adj" fmla="val 12000"/>
            </a:avLst>
          </a:prstGeom>
          <a:solidFill>
            <a:schemeClr val="bg2"/>
          </a:solidFill>
          <a:ln/>
        </p:spPr>
      </p:sp>
      <p:sp>
        <p:nvSpPr>
          <p:cNvPr id="12" name="Text 8"/>
          <p:cNvSpPr txBox="1"/>
          <p:nvPr/>
        </p:nvSpPr>
        <p:spPr>
          <a:xfrm>
            <a:off x="3547872" y="5193792"/>
            <a:ext cx="2286000" cy="347472"/>
          </a:xfrm>
          <a:prstGeom prst="rect">
            <a:avLst/>
          </a:prstGeom>
          <a:noFill/>
          <a:ln/>
        </p:spPr>
        <p:txBody>
          <a:bodyPr wrap="square" lIns="0" tIns="0" rIns="0" bIns="0" rtlCol="0" anchor="t"/>
          <a:lstStyle/>
          <a:p>
            <a:pPr indent="0" marL="0">
              <a:buNone/>
            </a:pPr>
            <a:r>
              <a:rPr lang="en-US" sz="1400" b="1" dirty="0">
                <a:solidFill>
                  <a:schemeClr val="accent2"/>
                </a:solidFill>
              </a:rPr>
              <a:t>Connection strength</a:t>
            </a:r>
            <a:endParaRPr lang="en-US" sz="1400" dirty="0"/>
          </a:p>
        </p:txBody>
      </p:sp>
      <p:sp>
        <p:nvSpPr>
          <p:cNvPr id="13" name="Text 9"/>
          <p:cNvSpPr txBox="1"/>
          <p:nvPr/>
        </p:nvSpPr>
        <p:spPr>
          <a:xfrm>
            <a:off x="3547872" y="5550408"/>
            <a:ext cx="2286000" cy="384048"/>
          </a:xfrm>
          <a:prstGeom prst="rect">
            <a:avLst/>
          </a:prstGeom>
          <a:noFill/>
          <a:ln/>
        </p:spPr>
        <p:txBody>
          <a:bodyPr wrap="square" lIns="0" tIns="0" rIns="0" bIns="0" rtlCol="0" anchor="t"/>
          <a:lstStyle/>
          <a:p>
            <a:pPr indent="0" marL="0">
              <a:buNone/>
            </a:pPr>
            <a:r>
              <a:rPr lang="en-US" sz="1500" b="1" dirty="0">
                <a:solidFill>
                  <a:schemeClr val="tx1"/>
                </a:solidFill>
              </a:rPr>
              <a:t>→ weights wᵢ</a:t>
            </a:r>
            <a:endParaRPr lang="en-US" sz="1500" dirty="0"/>
          </a:p>
        </p:txBody>
      </p:sp>
      <p:sp>
        <p:nvSpPr>
          <p:cNvPr id="14" name="map-card-2"/>
          <p:cNvSpPr/>
          <p:nvPr/>
        </p:nvSpPr>
        <p:spPr>
          <a:xfrm>
            <a:off x="6181344" y="5120640"/>
            <a:ext cx="2651760" cy="914400"/>
          </a:xfrm>
          <a:prstGeom prst="roundRect">
            <a:avLst>
              <a:gd name="adj" fmla="val 12000"/>
            </a:avLst>
          </a:prstGeom>
          <a:solidFill>
            <a:schemeClr val="bg2"/>
          </a:solidFill>
          <a:ln/>
        </p:spPr>
      </p:sp>
      <p:sp>
        <p:nvSpPr>
          <p:cNvPr id="15" name="Text 11"/>
          <p:cNvSpPr txBox="1"/>
          <p:nvPr/>
        </p:nvSpPr>
        <p:spPr>
          <a:xfrm>
            <a:off x="6364224" y="5193792"/>
            <a:ext cx="2286000" cy="347472"/>
          </a:xfrm>
          <a:prstGeom prst="rect">
            <a:avLst/>
          </a:prstGeom>
          <a:noFill/>
          <a:ln/>
        </p:spPr>
        <p:txBody>
          <a:bodyPr wrap="square" lIns="0" tIns="0" rIns="0" bIns="0" rtlCol="0" anchor="t"/>
          <a:lstStyle/>
          <a:p>
            <a:pPr indent="0" marL="0">
              <a:buNone/>
            </a:pPr>
            <a:r>
              <a:rPr lang="en-US" sz="1400" b="1" dirty="0">
                <a:solidFill>
                  <a:schemeClr val="accent2"/>
                </a:solidFill>
              </a:rPr>
              <a:t>Cell body</a:t>
            </a:r>
            <a:endParaRPr lang="en-US" sz="1400" dirty="0"/>
          </a:p>
        </p:txBody>
      </p:sp>
      <p:sp>
        <p:nvSpPr>
          <p:cNvPr id="16" name="Text 12"/>
          <p:cNvSpPr txBox="1"/>
          <p:nvPr/>
        </p:nvSpPr>
        <p:spPr>
          <a:xfrm>
            <a:off x="6364224" y="5550408"/>
            <a:ext cx="2286000" cy="384048"/>
          </a:xfrm>
          <a:prstGeom prst="rect">
            <a:avLst/>
          </a:prstGeom>
          <a:noFill/>
          <a:ln/>
        </p:spPr>
        <p:txBody>
          <a:bodyPr wrap="square" lIns="0" tIns="0" rIns="0" bIns="0" rtlCol="0" anchor="t"/>
          <a:lstStyle/>
          <a:p>
            <a:pPr indent="0" marL="0">
              <a:buNone/>
            </a:pPr>
            <a:r>
              <a:rPr lang="en-US" sz="1500" b="1" dirty="0">
                <a:solidFill>
                  <a:schemeClr val="tx1"/>
                </a:solidFill>
              </a:rPr>
              <a:t>→ z = Σ wᵢxᵢ + b</a:t>
            </a:r>
            <a:endParaRPr lang="en-US" sz="1500" dirty="0"/>
          </a:p>
        </p:txBody>
      </p:sp>
      <p:sp>
        <p:nvSpPr>
          <p:cNvPr id="17" name="map-card-3"/>
          <p:cNvSpPr/>
          <p:nvPr/>
        </p:nvSpPr>
        <p:spPr>
          <a:xfrm>
            <a:off x="8997696" y="5120640"/>
            <a:ext cx="2651760" cy="914400"/>
          </a:xfrm>
          <a:prstGeom prst="roundRect">
            <a:avLst>
              <a:gd name="adj" fmla="val 12000"/>
            </a:avLst>
          </a:prstGeom>
          <a:solidFill>
            <a:schemeClr val="bg2"/>
          </a:solidFill>
          <a:ln/>
        </p:spPr>
      </p:sp>
      <p:sp>
        <p:nvSpPr>
          <p:cNvPr id="18" name="Text 14"/>
          <p:cNvSpPr txBox="1"/>
          <p:nvPr/>
        </p:nvSpPr>
        <p:spPr>
          <a:xfrm>
            <a:off x="9180576" y="5193792"/>
            <a:ext cx="2286000" cy="347472"/>
          </a:xfrm>
          <a:prstGeom prst="rect">
            <a:avLst/>
          </a:prstGeom>
          <a:noFill/>
          <a:ln/>
        </p:spPr>
        <p:txBody>
          <a:bodyPr wrap="square" lIns="0" tIns="0" rIns="0" bIns="0" rtlCol="0" anchor="t"/>
          <a:lstStyle/>
          <a:p>
            <a:pPr indent="0" marL="0">
              <a:buNone/>
            </a:pPr>
            <a:r>
              <a:rPr lang="en-US" sz="1400" b="1" dirty="0">
                <a:solidFill>
                  <a:schemeClr val="accent2"/>
                </a:solidFill>
              </a:rPr>
              <a:t>Fires or not</a:t>
            </a:r>
            <a:endParaRPr lang="en-US" sz="1400" dirty="0"/>
          </a:p>
        </p:txBody>
      </p:sp>
      <p:sp>
        <p:nvSpPr>
          <p:cNvPr id="19" name="Text 15"/>
          <p:cNvSpPr txBox="1"/>
          <p:nvPr/>
        </p:nvSpPr>
        <p:spPr>
          <a:xfrm>
            <a:off x="9180576" y="5550408"/>
            <a:ext cx="2286000" cy="384048"/>
          </a:xfrm>
          <a:prstGeom prst="rect">
            <a:avLst/>
          </a:prstGeom>
          <a:noFill/>
          <a:ln/>
        </p:spPr>
        <p:txBody>
          <a:bodyPr wrap="square" lIns="0" tIns="0" rIns="0" bIns="0" rtlCol="0" anchor="t"/>
          <a:lstStyle/>
          <a:p>
            <a:pPr indent="0" marL="0">
              <a:buNone/>
            </a:pPr>
            <a:r>
              <a:rPr lang="en-US" sz="1500" b="1" dirty="0">
                <a:solidFill>
                  <a:schemeClr val="tx1"/>
                </a:solidFill>
              </a:rPr>
              <a:t>→ activation f(z)</a:t>
            </a:r>
            <a:endParaRPr lang="en-US" sz="1500" dirty="0"/>
          </a:p>
        </p:txBody>
      </p:sp>
      <p:sp>
        <p:nvSpPr>
          <p:cNvPr id="20" name="Text 16"/>
          <p:cNvSpPr txBox="1"/>
          <p:nvPr/>
        </p:nvSpPr>
        <p:spPr>
          <a:xfrm>
            <a:off x="548640" y="4791456"/>
            <a:ext cx="7315200" cy="201168"/>
          </a:xfrm>
          <a:prstGeom prst="rect">
            <a:avLst/>
          </a:prstGeom>
          <a:noFill/>
          <a:ln/>
        </p:spPr>
        <p:txBody>
          <a:bodyPr wrap="square" lIns="0" tIns="0" rIns="0" bIns="0" rtlCol="0" anchor="t"/>
          <a:lstStyle/>
          <a:p>
            <a:pPr indent="0" marL="0">
              <a:buNone/>
            </a:pPr>
            <a:r>
              <a:rPr lang="en-US" sz="1000" i="1" dirty="0">
                <a:solidFill>
                  <a:schemeClr val="accent5"/>
                </a:solidFill>
              </a:rPr>
              <a:t>Figures: Chandra Prakash Bathula, Deep Learning series, Part 2 (Towards AI)</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Learning lives in weighted connections</a:t>
            </a:r>
            <a:endParaRPr lang="en-US" sz="3400" dirty="0"/>
          </a:p>
        </p:txBody>
      </p:sp>
      <p:sp>
        <p:nvSpPr>
          <p:cNvPr id="3" name="Text 1"/>
          <p:cNvSpPr txBox="1"/>
          <p:nvPr/>
        </p:nvSpPr>
        <p:spPr>
          <a:xfrm>
            <a:off x="548640" y="1554480"/>
            <a:ext cx="4846320" cy="3291840"/>
          </a:xfrm>
          <a:prstGeom prst="rect">
            <a:avLst/>
          </a:prstGeom>
          <a:noFill/>
          <a:ln/>
        </p:spPr>
        <p:txBody>
          <a:bodyPr wrap="square" lIns="0" tIns="0" rIns="0" bIns="0" rtlCol="0" anchor="t"/>
          <a:lstStyle/>
          <a:p>
            <a:pPr indent="0" marL="0">
              <a:spcAft>
                <a:spcPts val="1200"/>
              </a:spcAft>
              <a:buNone/>
            </a:pPr>
            <a:r>
              <a:rPr lang="en-US" sz="1600" b="1" dirty="0">
                <a:solidFill>
                  <a:schemeClr val="tx1"/>
                </a:solidFill>
              </a:rPr>
              <a:t>At birth: </a:t>
            </a:r>
            <a:pPr indent="0" marL="0">
              <a:spcAft>
                <a:spcPts val="1200"/>
              </a:spcAft>
              <a:buNone/>
            </a:pPr>
            <a:r>
              <a:rPr lang="en-US" sz="1600" dirty="0">
                <a:solidFill>
                  <a:schemeClr val="tx2"/>
                </a:solidFill>
              </a:rPr>
              <a:t>relatively few connections in the cerebral cortex.</a:t>
            </a:r>
            <a:endParaRPr lang="en-US" sz="1600" dirty="0"/>
          </a:p>
          <a:p>
            <a:pPr indent="0" marL="0">
              <a:spcAft>
                <a:spcPts val="1200"/>
              </a:spcAft>
              <a:buNone/>
            </a:pPr>
            <a:r>
              <a:rPr lang="en-US" sz="1600" b="1" dirty="0">
                <a:solidFill>
                  <a:schemeClr val="tx1"/>
                </a:solidFill>
              </a:rPr>
              <a:t>By about age six: </a:t>
            </a:r>
            <a:pPr indent="0" marL="0">
              <a:spcAft>
                <a:spcPts val="1200"/>
              </a:spcAft>
              <a:buNone/>
            </a:pPr>
            <a:r>
              <a:rPr lang="en-US" sz="1600" dirty="0">
                <a:solidFill>
                  <a:schemeClr val="tx2"/>
                </a:solidFill>
              </a:rPr>
              <a:t>years of sensory, language, vision and hearing experience have multiplied them.</a:t>
            </a:r>
            <a:endParaRPr lang="en-US" sz="1600" dirty="0"/>
          </a:p>
          <a:p>
            <a:pPr indent="0" marL="0">
              <a:spcAft>
                <a:spcPts val="1200"/>
              </a:spcAft>
              <a:buNone/>
            </a:pPr>
            <a:r>
              <a:rPr lang="en-US" sz="1600" b="1" dirty="0">
                <a:solidFill>
                  <a:schemeClr val="tx1"/>
                </a:solidFill>
              </a:rPr>
              <a:t>Teenage years: </a:t>
            </a:r>
            <a:pPr indent="0" marL="0">
              <a:spcAft>
                <a:spcPts val="1200"/>
              </a:spcAft>
              <a:buNone/>
            </a:pPr>
            <a:r>
              <a:rPr lang="en-US" sz="1600" dirty="0">
                <a:solidFill>
                  <a:schemeClr val="tx2"/>
                </a:solidFill>
              </a:rPr>
              <a:t>unused connections are pruned, because every connection costs energy.</a:t>
            </a:r>
            <a:endParaRPr lang="en-US" sz="1600" dirty="0"/>
          </a:p>
          <a:p>
            <a:pPr indent="0" marL="0">
              <a:spcAft>
                <a:spcPts val="1200"/>
              </a:spcAft>
              <a:buNone/>
            </a:pPr>
            <a:r>
              <a:rPr lang="en-US" sz="1600" b="1" dirty="0">
                <a:solidFill>
                  <a:schemeClr val="tx1"/>
                </a:solidFill>
              </a:rPr>
              <a:t>Every experience: </a:t>
            </a:r>
            <a:pPr indent="0" marL="0">
              <a:spcAft>
                <a:spcPts val="1200"/>
              </a:spcAft>
              <a:buNone/>
            </a:pPr>
            <a:r>
              <a:rPr lang="en-US" sz="1600" dirty="0">
                <a:solidFill>
                  <a:schemeClr val="tx2"/>
                </a:solidFill>
              </a:rPr>
              <a:t>builds its own pathway, with its own weights.</a:t>
            </a:r>
            <a:endParaRPr lang="en-US" sz="1600" dirty="0"/>
          </a:p>
        </p:txBody>
      </p:sp>
      <p:pic>
        <p:nvPicPr>
          <p:cNvPr id="4" name="blog-blog-connection-sweet" descr="Connections formed for a sweet taste">    </p:cNvPr>
          <p:cNvPicPr>
            <a:picLocks noChangeAspect="1"/>
          </p:cNvPicPr>
          <p:nvPr/>
        </p:nvPicPr>
        <p:blipFill>
          <a:blip r:embed="rId1"/>
          <a:stretch>
            <a:fillRect/>
          </a:stretch>
        </p:blipFill>
        <p:spPr>
          <a:xfrm>
            <a:off x="5715000" y="1463040"/>
            <a:ext cx="2834640" cy="3074010"/>
          </a:xfrm>
          <a:prstGeom prst="rect">
            <a:avLst/>
          </a:prstGeom>
        </p:spPr>
      </p:pic>
      <p:sp>
        <p:nvSpPr>
          <p:cNvPr id="5" name="Text 2"/>
          <p:cNvSpPr txBox="1"/>
          <p:nvPr/>
        </p:nvSpPr>
        <p:spPr>
          <a:xfrm>
            <a:off x="5715000" y="4582770"/>
            <a:ext cx="2834640" cy="320040"/>
          </a:xfrm>
          <a:prstGeom prst="rect">
            <a:avLst/>
          </a:prstGeom>
          <a:noFill/>
          <a:ln/>
        </p:spPr>
        <p:txBody>
          <a:bodyPr wrap="square" lIns="0" tIns="0" rIns="0" bIns="0" rtlCol="0" anchor="t"/>
          <a:lstStyle/>
          <a:p>
            <a:pPr algn="ctr" indent="0" marL="0">
              <a:buNone/>
            </a:pPr>
            <a:r>
              <a:rPr lang="en-US" sz="1300" b="1" dirty="0">
                <a:solidFill>
                  <a:schemeClr val="tx1"/>
                </a:solidFill>
              </a:rPr>
              <a:t>Tasting something sweet</a:t>
            </a:r>
            <a:endParaRPr lang="en-US" sz="1300" dirty="0"/>
          </a:p>
        </p:txBody>
      </p:sp>
      <p:pic>
        <p:nvPicPr>
          <p:cNvPr id="6" name="blog-blog-connection-pain" descr="Connections formed for pain from a hot surface">    </p:cNvPr>
          <p:cNvPicPr>
            <a:picLocks noChangeAspect="1"/>
          </p:cNvPicPr>
          <p:nvPr/>
        </p:nvPicPr>
        <p:blipFill>
          <a:blip r:embed="rId2"/>
          <a:stretch>
            <a:fillRect/>
          </a:stretch>
        </p:blipFill>
        <p:spPr>
          <a:xfrm>
            <a:off x="8732520" y="1463040"/>
            <a:ext cx="2834640" cy="3074010"/>
          </a:xfrm>
          <a:prstGeom prst="rect">
            <a:avLst/>
          </a:prstGeom>
        </p:spPr>
      </p:pic>
      <p:sp>
        <p:nvSpPr>
          <p:cNvPr id="7" name="Text 3"/>
          <p:cNvSpPr txBox="1"/>
          <p:nvPr/>
        </p:nvSpPr>
        <p:spPr>
          <a:xfrm>
            <a:off x="8732520" y="4582770"/>
            <a:ext cx="2834640" cy="320040"/>
          </a:xfrm>
          <a:prstGeom prst="rect">
            <a:avLst/>
          </a:prstGeom>
          <a:noFill/>
          <a:ln/>
        </p:spPr>
        <p:txBody>
          <a:bodyPr wrap="square" lIns="0" tIns="0" rIns="0" bIns="0" rtlCol="0" anchor="t"/>
          <a:lstStyle/>
          <a:p>
            <a:pPr algn="ctr" indent="0" marL="0">
              <a:buNone/>
            </a:pPr>
            <a:r>
              <a:rPr lang="en-US" sz="1300" b="1" dirty="0">
                <a:solidFill>
                  <a:schemeClr val="tx1"/>
                </a:solidFill>
              </a:rPr>
              <a:t>Touching something hot</a:t>
            </a:r>
            <a:endParaRPr lang="en-US" sz="1300" dirty="0"/>
          </a:p>
        </p:txBody>
      </p:sp>
      <p:sp>
        <p:nvSpPr>
          <p:cNvPr id="8" name="weights-callout"/>
          <p:cNvSpPr/>
          <p:nvPr/>
        </p:nvSpPr>
        <p:spPr>
          <a:xfrm>
            <a:off x="548640" y="5120640"/>
            <a:ext cx="11091672" cy="914400"/>
          </a:xfrm>
          <a:prstGeom prst="roundRect">
            <a:avLst>
              <a:gd name="adj" fmla="val 12000"/>
            </a:avLst>
          </a:prstGeom>
          <a:solidFill>
            <a:schemeClr val="tx1"/>
          </a:solidFill>
          <a:ln/>
        </p:spPr>
      </p:sp>
      <p:sp>
        <p:nvSpPr>
          <p:cNvPr id="9" name="Text 5"/>
          <p:cNvSpPr txBox="1"/>
          <p:nvPr/>
        </p:nvSpPr>
        <p:spPr>
          <a:xfrm>
            <a:off x="868680" y="5120640"/>
            <a:ext cx="10515600" cy="914400"/>
          </a:xfrm>
          <a:prstGeom prst="rect">
            <a:avLst/>
          </a:prstGeom>
          <a:noFill/>
          <a:ln/>
        </p:spPr>
        <p:txBody>
          <a:bodyPr wrap="square" lIns="0" tIns="0" rIns="0" bIns="0" rtlCol="0" anchor="ctr"/>
          <a:lstStyle/>
          <a:p>
            <a:pPr indent="0" marL="0">
              <a:buNone/>
            </a:pPr>
            <a:r>
              <a:rPr lang="en-US" sz="1600" b="1" dirty="0">
                <a:solidFill>
                  <a:schemeClr val="accent1"/>
                </a:solidFill>
              </a:rPr>
              <a:t>Biological learning = weighted connections.  </a:t>
            </a:r>
            <a:pPr indent="0" marL="0">
              <a:buNone/>
            </a:pPr>
            <a:r>
              <a:rPr lang="en-US" sz="1600" dirty="0">
                <a:solidFill>
                  <a:schemeClr val="bg1"/>
                </a:solidFill>
              </a:rPr>
              <a:t>Artificial learning is the same idea in numbers: training adjusts weights so the right inputs light up the right paths.</a:t>
            </a:r>
            <a:endParaRPr lang="en-US" sz="1600" dirty="0"/>
          </a:p>
        </p:txBody>
      </p:sp>
      <p:sp>
        <p:nvSpPr>
          <p:cNvPr id="10" name="Text 6"/>
          <p:cNvSpPr txBox="1"/>
          <p:nvPr/>
        </p:nvSpPr>
        <p:spPr>
          <a:xfrm>
            <a:off x="5715000" y="4846320"/>
            <a:ext cx="5852160" cy="201168"/>
          </a:xfrm>
          <a:prstGeom prst="rect">
            <a:avLst/>
          </a:prstGeom>
          <a:noFill/>
          <a:ln/>
        </p:spPr>
        <p:txBody>
          <a:bodyPr wrap="square" lIns="0" tIns="0" rIns="0" bIns="0" rtlCol="0" anchor="t"/>
          <a:lstStyle/>
          <a:p>
            <a:pPr indent="0" marL="0">
              <a:buNone/>
            </a:pPr>
            <a:r>
              <a:rPr lang="en-US" sz="1000" i="1" dirty="0">
                <a:solidFill>
                  <a:schemeClr val="accent5"/>
                </a:solidFill>
              </a:rPr>
              <a:t>Figures: Chandra Prakash Bathula, Deep Learning series, Part 2 (Towards AI)</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1958: the perceptron learns its own weights</a:t>
            </a:r>
            <a:endParaRPr lang="en-US" sz="3400" dirty="0"/>
          </a:p>
        </p:txBody>
      </p:sp>
      <p:sp>
        <p:nvSpPr>
          <p:cNvPr id="3" name="mark1-stat"/>
          <p:cNvSpPr/>
          <p:nvPr/>
        </p:nvSpPr>
        <p:spPr>
          <a:xfrm>
            <a:off x="548640" y="1508760"/>
            <a:ext cx="3291840" cy="4526280"/>
          </a:xfrm>
          <a:prstGeom prst="roundRect">
            <a:avLst>
              <a:gd name="adj" fmla="val 3333"/>
            </a:avLst>
          </a:prstGeom>
          <a:solidFill>
            <a:schemeClr val="tx1"/>
          </a:solidFill>
          <a:ln/>
        </p:spPr>
      </p:sp>
      <p:sp>
        <p:nvSpPr>
          <p:cNvPr id="4" name="Text 2"/>
          <p:cNvSpPr txBox="1"/>
          <p:nvPr/>
        </p:nvSpPr>
        <p:spPr>
          <a:xfrm>
            <a:off x="822960" y="1783080"/>
            <a:ext cx="2743200" cy="1188720"/>
          </a:xfrm>
          <a:prstGeom prst="rect">
            <a:avLst/>
          </a:prstGeom>
          <a:noFill/>
          <a:ln/>
        </p:spPr>
        <p:txBody>
          <a:bodyPr wrap="square" lIns="0" tIns="0" rIns="0" bIns="0" rtlCol="0" anchor="t"/>
          <a:lstStyle/>
          <a:p>
            <a:pPr indent="0" marL="0">
              <a:buNone/>
            </a:pPr>
            <a:r>
              <a:rPr lang="en-US" sz="7200" b="1" dirty="0">
                <a:solidFill>
                  <a:schemeClr val="accent1"/>
                </a:solidFill>
                <a:latin typeface="Cambria" pitchFamily="34" charset="0"/>
                <a:ea typeface="Cambria" pitchFamily="34" charset="-122"/>
                <a:cs typeface="Cambria" pitchFamily="34" charset="-120"/>
              </a:rPr>
              <a:t>400</a:t>
            </a:r>
            <a:endParaRPr lang="en-US" sz="7200" dirty="0"/>
          </a:p>
        </p:txBody>
      </p:sp>
      <p:sp>
        <p:nvSpPr>
          <p:cNvPr id="5" name="Text 3"/>
          <p:cNvSpPr txBox="1"/>
          <p:nvPr/>
        </p:nvSpPr>
        <p:spPr>
          <a:xfrm>
            <a:off x="822960" y="3017520"/>
            <a:ext cx="2743200" cy="1097280"/>
          </a:xfrm>
          <a:prstGeom prst="rect">
            <a:avLst/>
          </a:prstGeom>
          <a:noFill/>
          <a:ln/>
        </p:spPr>
        <p:txBody>
          <a:bodyPr wrap="square" lIns="0" tIns="0" rIns="0" bIns="0" rtlCol="0" anchor="t"/>
          <a:lstStyle/>
          <a:p>
            <a:pPr indent="0" marL="0">
              <a:buNone/>
            </a:pPr>
            <a:r>
              <a:rPr lang="en-US" sz="1600" dirty="0">
                <a:solidFill>
                  <a:schemeClr val="bg1"/>
                </a:solidFill>
              </a:rPr>
              <a:t>photocells in a 20 × 20 grid formed the Mark I Perceptron's "retina"</a:t>
            </a:r>
            <a:endParaRPr lang="en-US" sz="1600" dirty="0"/>
          </a:p>
        </p:txBody>
      </p:sp>
      <p:sp>
        <p:nvSpPr>
          <p:cNvPr id="6" name="Text 4"/>
          <p:cNvSpPr txBox="1"/>
          <p:nvPr/>
        </p:nvSpPr>
        <p:spPr>
          <a:xfrm>
            <a:off x="822960" y="4206240"/>
            <a:ext cx="2743200" cy="1645920"/>
          </a:xfrm>
          <a:prstGeom prst="rect">
            <a:avLst/>
          </a:prstGeom>
          <a:noFill/>
          <a:ln/>
        </p:spPr>
        <p:txBody>
          <a:bodyPr wrap="square" lIns="0" tIns="0" rIns="0" bIns="0" rtlCol="0" anchor="t"/>
          <a:lstStyle/>
          <a:p>
            <a:pPr indent="0" marL="0">
              <a:buNone/>
            </a:pPr>
            <a:r>
              <a:rPr lang="en-US" sz="1300" dirty="0">
                <a:solidFill>
                  <a:schemeClr val="accent6"/>
                </a:solidFill>
              </a:rPr>
              <a:t>Conceived by Rosenblatt in 1957 at the Cornell Aeronautical Laboratory, shown publicly in 1958 with US Navy funding. Weights were motor-driven potentiometers.</a:t>
            </a:r>
            <a:endParaRPr lang="en-US" sz="1300" dirty="0"/>
          </a:p>
        </p:txBody>
      </p:sp>
      <p:sp>
        <p:nvSpPr>
          <p:cNvPr id="7" name="Text 5"/>
          <p:cNvSpPr txBox="1"/>
          <p:nvPr/>
        </p:nvSpPr>
        <p:spPr>
          <a:xfrm>
            <a:off x="4206240" y="1508760"/>
            <a:ext cx="7406640" cy="411480"/>
          </a:xfrm>
          <a:prstGeom prst="rect">
            <a:avLst/>
          </a:prstGeom>
          <a:noFill/>
          <a:ln/>
        </p:spPr>
        <p:txBody>
          <a:bodyPr wrap="square" lIns="0" tIns="0" rIns="0" bIns="0" rtlCol="0" anchor="t"/>
          <a:lstStyle/>
          <a:p>
            <a:pPr indent="0" marL="0">
              <a:buNone/>
            </a:pPr>
            <a:r>
              <a:rPr lang="en-US" sz="2000" b="1" dirty="0">
                <a:solidFill>
                  <a:schemeClr val="tx1"/>
                </a:solidFill>
              </a:rPr>
              <a:t>The learning rule</a:t>
            </a:r>
            <a:endParaRPr lang="en-US" sz="2000" dirty="0"/>
          </a:p>
        </p:txBody>
      </p:sp>
      <p:sp>
        <p:nvSpPr>
          <p:cNvPr id="8" name="rule-card"/>
          <p:cNvSpPr/>
          <p:nvPr/>
        </p:nvSpPr>
        <p:spPr>
          <a:xfrm>
            <a:off x="4206240" y="2011680"/>
            <a:ext cx="7434072" cy="1463040"/>
          </a:xfrm>
          <a:prstGeom prst="roundRect">
            <a:avLst>
              <a:gd name="adj" fmla="val 7500"/>
            </a:avLst>
          </a:prstGeom>
          <a:solidFill>
            <a:schemeClr val="bg2"/>
          </a:solidFill>
          <a:ln/>
        </p:spPr>
      </p:sp>
      <p:sp>
        <p:nvSpPr>
          <p:cNvPr id="9" name="Text 7"/>
          <p:cNvSpPr txBox="1"/>
          <p:nvPr/>
        </p:nvSpPr>
        <p:spPr>
          <a:xfrm>
            <a:off x="4526280" y="2011680"/>
            <a:ext cx="6858000" cy="1463040"/>
          </a:xfrm>
          <a:prstGeom prst="rect">
            <a:avLst/>
          </a:prstGeom>
          <a:noFill/>
          <a:ln/>
        </p:spPr>
        <p:txBody>
          <a:bodyPr wrap="square" lIns="0" tIns="0" rIns="0" bIns="0" rtlCol="0" anchor="ctr"/>
          <a:lstStyle/>
          <a:p>
            <a:pPr indent="0" marL="0">
              <a:spcAft>
                <a:spcPts val="600"/>
              </a:spcAft>
              <a:buNone/>
            </a:pPr>
            <a:r>
              <a:rPr lang="en-US" sz="2400" b="1" dirty="0">
                <a:solidFill>
                  <a:schemeClr val="accent2"/>
                </a:solidFill>
                <a:latin typeface="Cambria" pitchFamily="34" charset="0"/>
                <a:ea typeface="Cambria" pitchFamily="34" charset="-122"/>
                <a:cs typeface="Cambria" pitchFamily="34" charset="-120"/>
              </a:rPr>
              <a:t>ŷ = step(w · x + b)</a:t>
            </a:r>
            <a:endParaRPr lang="en-US" sz="2400" dirty="0"/>
          </a:p>
          <a:p>
            <a:pPr indent="0" marL="0">
              <a:spcAft>
                <a:spcPts val="600"/>
              </a:spcAft>
              <a:buNone/>
            </a:pPr>
            <a:r>
              <a:rPr lang="en-US" sz="2400" b="1" dirty="0">
                <a:solidFill>
                  <a:schemeClr val="accent2"/>
                </a:solidFill>
                <a:latin typeface="Cambria" pitchFamily="34" charset="0"/>
                <a:ea typeface="Cambria" pitchFamily="34" charset="-122"/>
                <a:cs typeface="Cambria" pitchFamily="34" charset="-120"/>
              </a:rPr>
              <a:t>w  ←  w + η (y − ŷ) x</a:t>
            </a:r>
            <a:endParaRPr lang="en-US" sz="2400" dirty="0"/>
          </a:p>
        </p:txBody>
      </p:sp>
      <p:sp>
        <p:nvSpPr>
          <p:cNvPr id="10" name="Text 8"/>
          <p:cNvSpPr txBox="1"/>
          <p:nvPr/>
        </p:nvSpPr>
        <p:spPr>
          <a:xfrm>
            <a:off x="4206240" y="3703320"/>
            <a:ext cx="7406640" cy="2286000"/>
          </a:xfrm>
          <a:prstGeom prst="rect">
            <a:avLst/>
          </a:prstGeom>
          <a:noFill/>
          <a:ln/>
        </p:spPr>
        <p:txBody>
          <a:bodyPr wrap="square" lIns="0" tIns="0" rIns="0" bIns="0" rtlCol="0" anchor="t"/>
          <a:lstStyle/>
          <a:p>
            <a:pPr indent="0" marL="0">
              <a:spcAft>
                <a:spcPts val="1000"/>
              </a:spcAft>
              <a:buNone/>
            </a:pPr>
            <a:r>
              <a:rPr lang="en-US" sz="1600" b="1" dirty="0">
                <a:solidFill>
                  <a:schemeClr val="tx1"/>
                </a:solidFill>
              </a:rPr>
              <a:t>Correct prediction: </a:t>
            </a:r>
            <a:pPr indent="0" marL="0">
              <a:spcAft>
                <a:spcPts val="1000"/>
              </a:spcAft>
              <a:buNone/>
            </a:pPr>
            <a:r>
              <a:rPr lang="en-US" sz="1600" dirty="0">
                <a:solidFill>
                  <a:schemeClr val="tx2"/>
                </a:solidFill>
              </a:rPr>
              <a:t>y − ŷ = 0, so nothing changes.</a:t>
            </a:r>
            <a:endParaRPr lang="en-US" sz="1600" dirty="0"/>
          </a:p>
          <a:p>
            <a:pPr indent="0" marL="0">
              <a:spcAft>
                <a:spcPts val="1000"/>
              </a:spcAft>
              <a:buNone/>
            </a:pPr>
            <a:r>
              <a:rPr lang="en-US" sz="1600" b="1" dirty="0">
                <a:solidFill>
                  <a:schemeClr val="tx1"/>
                </a:solidFill>
              </a:rPr>
              <a:t>Wrong prediction: </a:t>
            </a:r>
            <a:pPr indent="0" marL="0">
              <a:spcAft>
                <a:spcPts val="1000"/>
              </a:spcAft>
              <a:buNone/>
            </a:pPr>
            <a:r>
              <a:rPr lang="en-US" sz="1600" dirty="0">
                <a:solidFill>
                  <a:schemeClr val="tx2"/>
                </a:solidFill>
              </a:rPr>
              <a:t>the weights move toward the misclassified example.</a:t>
            </a:r>
            <a:endParaRPr lang="en-US" sz="1600" dirty="0"/>
          </a:p>
          <a:p>
            <a:pPr indent="0" marL="0">
              <a:spcAft>
                <a:spcPts val="1000"/>
              </a:spcAft>
              <a:buNone/>
            </a:pPr>
            <a:r>
              <a:rPr lang="en-US" sz="1600" b="1" dirty="0">
                <a:solidFill>
                  <a:schemeClr val="tx1"/>
                </a:solidFill>
              </a:rPr>
              <a:t>Convergence theorem (Novikoff, 1962): </a:t>
            </a:r>
            <a:pPr indent="0" marL="0">
              <a:spcAft>
                <a:spcPts val="1000"/>
              </a:spcAft>
              <a:buNone/>
            </a:pPr>
            <a:r>
              <a:rPr lang="en-US" sz="1600" dirty="0">
                <a:solidFill>
                  <a:schemeClr val="tx2"/>
                </a:solidFill>
              </a:rPr>
              <a:t>if a straight line can separate the classes, this rule is guaranteed to find one in a finite number of updates.</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Perceptron vs logistic regression: same z, different last step</a:t>
            </a:r>
            <a:endParaRPr lang="en-US" sz="3400" dirty="0"/>
          </a:p>
        </p:txBody>
      </p:sp>
      <p:sp>
        <p:nvSpPr>
          <p:cNvPr id="3" name="perc-frame"/>
          <p:cNvSpPr/>
          <p:nvPr/>
        </p:nvSpPr>
        <p:spPr>
          <a:xfrm>
            <a:off x="548640" y="1417320"/>
            <a:ext cx="5422392" cy="2331720"/>
          </a:xfrm>
          <a:prstGeom prst="roundRect">
            <a:avLst>
              <a:gd name="adj" fmla="val 4706"/>
            </a:avLst>
          </a:prstGeom>
          <a:solidFill>
            <a:schemeClr val="bg2"/>
          </a:solidFill>
          <a:ln/>
        </p:spPr>
      </p:sp>
      <p:sp>
        <p:nvSpPr>
          <p:cNvPr id="4" name="lr-frame"/>
          <p:cNvSpPr/>
          <p:nvPr/>
        </p:nvSpPr>
        <p:spPr>
          <a:xfrm>
            <a:off x="6217920" y="1417320"/>
            <a:ext cx="5422392" cy="2331720"/>
          </a:xfrm>
          <a:prstGeom prst="roundRect">
            <a:avLst>
              <a:gd name="adj" fmla="val 4706"/>
            </a:avLst>
          </a:prstGeom>
          <a:solidFill>
            <a:schemeClr val="bg2"/>
          </a:solidFill>
          <a:ln/>
        </p:spPr>
      </p:sp>
      <p:pic>
        <p:nvPicPr>
          <p:cNvPr id="5" name="blog-perceptron" descr="Perceptron neuron: inputs and weights feed z and a step activation function, output y-hat">    </p:cNvPr>
          <p:cNvPicPr>
            <a:picLocks noChangeAspect="1"/>
          </p:cNvPicPr>
          <p:nvPr/>
        </p:nvPicPr>
        <p:blipFill>
          <a:blip r:embed="rId1"/>
          <a:stretch>
            <a:fillRect/>
          </a:stretch>
        </p:blipFill>
        <p:spPr>
          <a:xfrm>
            <a:off x="685800" y="1508760"/>
            <a:ext cx="3566160" cy="2116574"/>
          </a:xfrm>
          <a:prstGeom prst="rect">
            <a:avLst/>
          </a:prstGeom>
        </p:spPr>
      </p:pic>
      <p:pic>
        <p:nvPicPr>
          <p:cNvPr id="6" name="blog-logreg" descr="Logistic regression neuron: inputs, weights and a bias weight feed a sigmoid function, output y-hat">    </p:cNvPr>
          <p:cNvPicPr>
            <a:picLocks noChangeAspect="1"/>
          </p:cNvPicPr>
          <p:nvPr/>
        </p:nvPicPr>
        <p:blipFill>
          <a:blip r:embed="rId2"/>
          <a:stretch>
            <a:fillRect/>
          </a:stretch>
        </p:blipFill>
        <p:spPr>
          <a:xfrm>
            <a:off x="6355080" y="1508760"/>
            <a:ext cx="3264408" cy="2116574"/>
          </a:xfrm>
          <a:prstGeom prst="rect">
            <a:avLst/>
          </a:prstGeom>
        </p:spPr>
      </p:pic>
      <p:sp>
        <p:nvSpPr>
          <p:cNvPr id="7" name="Text 3"/>
          <p:cNvSpPr txBox="1"/>
          <p:nvPr/>
        </p:nvSpPr>
        <p:spPr>
          <a:xfrm>
            <a:off x="4572000" y="2011680"/>
            <a:ext cx="1325880" cy="1280160"/>
          </a:xfrm>
          <a:prstGeom prst="rect">
            <a:avLst/>
          </a:prstGeom>
          <a:noFill/>
          <a:ln/>
        </p:spPr>
        <p:txBody>
          <a:bodyPr wrap="square" lIns="0" tIns="0" rIns="0" bIns="0" rtlCol="0" anchor="t"/>
          <a:lstStyle/>
          <a:p>
            <a:pPr indent="0" marL="0">
              <a:buNone/>
            </a:pPr>
            <a:r>
              <a:rPr lang="en-US" sz="1400" b="1" dirty="0">
                <a:solidFill>
                  <a:schemeClr val="tx1"/>
                </a:solidFill>
              </a:rPr>
              <a:t>Perceptron</a:t>
            </a:r>
            <a:endParaRPr lang="en-US" sz="1400" dirty="0"/>
          </a:p>
          <a:p>
            <a:pPr indent="0" marL="0">
              <a:buNone/>
            </a:pPr>
            <a:r>
              <a:rPr lang="en-US" sz="1400" dirty="0">
                <a:solidFill>
                  <a:schemeClr val="accent3"/>
                </a:solidFill>
              </a:rPr>
              <a:t>a switch: 0 or 1</a:t>
            </a:r>
            <a:endParaRPr lang="en-US" sz="1400" dirty="0"/>
          </a:p>
        </p:txBody>
      </p:sp>
      <p:sp>
        <p:nvSpPr>
          <p:cNvPr id="8" name="Text 4"/>
          <p:cNvSpPr txBox="1"/>
          <p:nvPr/>
        </p:nvSpPr>
        <p:spPr>
          <a:xfrm>
            <a:off x="9738360" y="2011680"/>
            <a:ext cx="1783080" cy="1280160"/>
          </a:xfrm>
          <a:prstGeom prst="rect">
            <a:avLst/>
          </a:prstGeom>
          <a:noFill/>
          <a:ln/>
        </p:spPr>
        <p:txBody>
          <a:bodyPr wrap="square" lIns="0" tIns="0" rIns="0" bIns="0" rtlCol="0" anchor="t"/>
          <a:lstStyle/>
          <a:p>
            <a:pPr indent="0" marL="0">
              <a:buNone/>
            </a:pPr>
            <a:r>
              <a:rPr lang="en-US" sz="1400" b="1" dirty="0">
                <a:solidFill>
                  <a:schemeClr val="tx1"/>
                </a:solidFill>
              </a:rPr>
              <a:t>Logistic regression</a:t>
            </a:r>
            <a:endParaRPr lang="en-US" sz="1400" dirty="0"/>
          </a:p>
          <a:p>
            <a:pPr indent="0" marL="0">
              <a:buNone/>
            </a:pPr>
            <a:r>
              <a:rPr lang="en-US" sz="1400" dirty="0">
                <a:solidFill>
                  <a:schemeClr val="accent2"/>
                </a:solidFill>
              </a:rPr>
              <a:t>a dimmer: probability</a:t>
            </a:r>
            <a:endParaRPr lang="en-US" sz="1400" dirty="0"/>
          </a:p>
        </p:txBody>
      </p:sp>
      <p:graphicFrame>
        <p:nvGraphicFramePr>
          <p:cNvPr id="22" name="perc-lr-table"/>
          <p:cNvGraphicFramePr>
            <a:graphicFrameLocks noGrp="1"/>
          </p:cNvGraphicFramePr>
          <p:nvPr>
            <p:extLst>
              <p:ext uri="{D42A27DB-BD31-4B8C-83A1-F6EECF244321}">
                <p14:modId xmlns:p14="http://schemas.microsoft.com/office/powerpoint/2010/main" val="1579011935"/>
              </p:ext>
            </p:extLst>
          </p:nvPr>
        </p:nvGraphicFramePr>
        <p:xfrm>
          <a:off x="548640" y="4023360"/>
          <a:ext cx="11091672" cy="914400"/>
        </p:xfrm>
        <a:graphic>
          <a:graphicData uri="http://schemas.openxmlformats.org/drawingml/2006/table">
            <a:tbl>
              <a:tblPr/>
              <a:tblGrid>
                <a:gridCol w="1737360"/>
                <a:gridCol w="4572000"/>
                <a:gridCol w="4782312"/>
              </a:tblGrid>
              <a:tr h="384048">
                <a:tc>
                  <a:txBody>
                    <a:bodyPr/>
                    <a:lstStyle/>
                    <a:p>
                      <a:pPr indent="0" marL="0">
                        <a:buNone/>
                      </a:pP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Perceptron (1957)</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Logistic regression</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tx1"/>
                    </a:solidFill>
                  </a:tcPr>
                </a:tc>
              </a:tr>
              <a:tr h="384048">
                <a:tc>
                  <a:txBody>
                    <a:bodyPr/>
                    <a:lstStyle/>
                    <a:p>
                      <a:pPr indent="0" marL="0">
                        <a:buNone/>
                      </a:pPr>
                      <a:r>
                        <a:rPr lang="en-US" sz="1400" b="1" dirty="0">
                          <a:solidFill>
                            <a:schemeClr val="tx1"/>
                          </a:solidFill>
                        </a:rPr>
                        <a:t>Score</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z = W·X + b</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z = W·X + b (identical)</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chemeClr val="tx1"/>
                          </a:solidFill>
                        </a:rPr>
                        <a:t>Output</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step(z): 1 if z ≥ 0, else 0</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σ(z) = 1 / (1 + e⁻ᶻ), between 0 and 1</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chemeClr val="tx1"/>
                          </a:solidFill>
                        </a:rPr>
                        <a:t>Update</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w ← w + η (y − step(z)) x, only when wrong</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w ← w + η (y − σ(z)) x, every example</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chemeClr val="tx1"/>
                          </a:solidFill>
                        </a:rPr>
                        <a:t>Converges</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Only if the classes are linearly separable</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400" dirty="0">
                          <a:solidFill>
                            <a:schemeClr val="tx2"/>
                          </a:solidFill>
                        </a:rPr>
                        <a:t>Convex loss: settles even when classes overlap</a:t>
                      </a:r>
                      <a:endParaRPr lang="en-US" sz="1400" dirty="0"/>
                    </a:p>
                  </a:txBody>
                  <a:tcPr marL="109728" marR="109728" marT="27432" marB="2743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548640" y="6053328"/>
            <a:ext cx="7315200" cy="201168"/>
          </a:xfrm>
          <a:prstGeom prst="rect">
            <a:avLst/>
          </a:prstGeom>
          <a:noFill/>
          <a:ln/>
        </p:spPr>
        <p:txBody>
          <a:bodyPr wrap="square" lIns="0" tIns="0" rIns="0" bIns="0" rtlCol="0" anchor="t"/>
          <a:lstStyle/>
          <a:p>
            <a:pPr indent="0" marL="0">
              <a:buNone/>
            </a:pPr>
            <a:r>
              <a:rPr lang="en-US" sz="1000" i="1" dirty="0">
                <a:solidFill>
                  <a:schemeClr val="accent5"/>
                </a:solidFill>
              </a:rPr>
              <a:t>Figures: Chandra Prakash Bathula, Deep Learning series, Part 3 (Towards AI)</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The hype arrived before the results</a:t>
            </a:r>
            <a:endParaRPr lang="en-US" sz="3400" dirty="0"/>
          </a:p>
        </p:txBody>
      </p:sp>
      <p:sp>
        <p:nvSpPr>
          <p:cNvPr id="3" name="hype-icon-circle"/>
          <p:cNvSpPr/>
          <p:nvPr/>
        </p:nvSpPr>
        <p:spPr>
          <a:xfrm>
            <a:off x="548640" y="1600200"/>
            <a:ext cx="822960" cy="822960"/>
          </a:xfrm>
          <a:prstGeom prst="ellipse">
            <a:avLst/>
          </a:prstGeom>
          <a:solidFill>
            <a:schemeClr val="accent2"/>
          </a:solidFill>
          <a:ln/>
        </p:spPr>
      </p:sp>
      <p:pic>
        <p:nvPicPr>
          <p:cNvPr id="4" name="hype-icon" descr="Newspaper icon">    </p:cNvPr>
          <p:cNvPicPr>
            <a:picLocks noChangeAspect="1"/>
          </p:cNvPicPr>
          <p:nvPr/>
        </p:nvPicPr>
        <p:blipFill>
          <a:blip r:embed="rId1"/>
          <a:stretch>
            <a:fillRect/>
          </a:stretch>
        </p:blipFill>
        <p:spPr>
          <a:xfrm>
            <a:off x="754380" y="1805940"/>
            <a:ext cx="411480" cy="411480"/>
          </a:xfrm>
          <a:prstGeom prst="rect">
            <a:avLst/>
          </a:prstGeom>
        </p:spPr>
      </p:pic>
      <p:sp>
        <p:nvSpPr>
          <p:cNvPr id="5" name="Text 2"/>
          <p:cNvSpPr txBox="1"/>
          <p:nvPr/>
        </p:nvSpPr>
        <p:spPr>
          <a:xfrm>
            <a:off x="1645920" y="1508760"/>
            <a:ext cx="9966960" cy="1737360"/>
          </a:xfrm>
          <a:prstGeom prst="rect">
            <a:avLst/>
          </a:prstGeom>
          <a:noFill/>
          <a:ln/>
        </p:spPr>
        <p:txBody>
          <a:bodyPr wrap="square" lIns="0" tIns="0" rIns="0" bIns="0" rtlCol="0" anchor="ctr"/>
          <a:lstStyle/>
          <a:p>
            <a:pPr indent="0" marL="0">
              <a:buNone/>
            </a:pPr>
            <a:r>
              <a:rPr lang="en-US" sz="2600" i="1" dirty="0">
                <a:solidFill>
                  <a:schemeClr val="tx1"/>
                </a:solidFill>
                <a:latin typeface="Cambria" pitchFamily="34" charset="0"/>
                <a:ea typeface="Cambria" pitchFamily="34" charset="-122"/>
                <a:cs typeface="Cambria" pitchFamily="34" charset="-120"/>
              </a:rPr>
              <a:t>“the embryo of an electronic computer that [the Navy] expects will be able to walk, talk, see, write, reproduce itself and be conscious of its existence.”</a:t>
            </a:r>
            <a:endParaRPr lang="en-US" sz="2600" dirty="0"/>
          </a:p>
        </p:txBody>
      </p:sp>
      <p:sp>
        <p:nvSpPr>
          <p:cNvPr id="6" name="Text 3"/>
          <p:cNvSpPr txBox="1"/>
          <p:nvPr/>
        </p:nvSpPr>
        <p:spPr>
          <a:xfrm>
            <a:off x="1645920" y="3246120"/>
            <a:ext cx="9966960" cy="365760"/>
          </a:xfrm>
          <a:prstGeom prst="rect">
            <a:avLst/>
          </a:prstGeom>
          <a:noFill/>
          <a:ln/>
        </p:spPr>
        <p:txBody>
          <a:bodyPr wrap="square" lIns="0" tIns="0" rIns="0" bIns="0" rtlCol="0" anchor="t"/>
          <a:lstStyle/>
          <a:p>
            <a:pPr indent="0" marL="0">
              <a:buNone/>
            </a:pPr>
            <a:r>
              <a:rPr lang="en-US" sz="1300" dirty="0">
                <a:solidFill>
                  <a:schemeClr val="accent5"/>
                </a:solidFill>
              </a:rPr>
              <a:t>The New York Times, July 8, 1958, reporting on the perceptron demonstration</a:t>
            </a:r>
            <a:endParaRPr lang="en-US" sz="1300" dirty="0"/>
          </a:p>
        </p:txBody>
      </p:sp>
      <p:sp>
        <p:nvSpPr>
          <p:cNvPr id="7" name="hype-then"/>
          <p:cNvSpPr/>
          <p:nvPr/>
        </p:nvSpPr>
        <p:spPr>
          <a:xfrm>
            <a:off x="548640" y="4023360"/>
            <a:ext cx="5422392" cy="2011680"/>
          </a:xfrm>
          <a:prstGeom prst="roundRect">
            <a:avLst>
              <a:gd name="adj" fmla="val 5455"/>
            </a:avLst>
          </a:prstGeom>
          <a:solidFill>
            <a:schemeClr val="bg2"/>
          </a:solidFill>
          <a:ln/>
        </p:spPr>
      </p:sp>
      <p:sp>
        <p:nvSpPr>
          <p:cNvPr id="8" name="hype-now"/>
          <p:cNvSpPr/>
          <p:nvPr/>
        </p:nvSpPr>
        <p:spPr>
          <a:xfrm>
            <a:off x="6217920" y="4023360"/>
            <a:ext cx="5422392" cy="2011680"/>
          </a:xfrm>
          <a:prstGeom prst="roundRect">
            <a:avLst>
              <a:gd name="adj" fmla="val 5455"/>
            </a:avLst>
          </a:prstGeom>
          <a:solidFill>
            <a:schemeClr val="bg2"/>
          </a:solidFill>
          <a:ln/>
        </p:spPr>
      </p:sp>
      <p:sp>
        <p:nvSpPr>
          <p:cNvPr id="9" name="Text 6"/>
          <p:cNvSpPr txBox="1"/>
          <p:nvPr/>
        </p:nvSpPr>
        <p:spPr>
          <a:xfrm>
            <a:off x="868680" y="4206240"/>
            <a:ext cx="4846320" cy="365760"/>
          </a:xfrm>
          <a:prstGeom prst="rect">
            <a:avLst/>
          </a:prstGeom>
          <a:noFill/>
          <a:ln/>
        </p:spPr>
        <p:txBody>
          <a:bodyPr wrap="square" lIns="0" tIns="0" rIns="0" bIns="0" rtlCol="0" anchor="t"/>
          <a:lstStyle/>
          <a:p>
            <a:pPr indent="0" marL="0">
              <a:buNone/>
            </a:pPr>
            <a:r>
              <a:rPr lang="en-US" sz="1800" b="1" dirty="0">
                <a:solidFill>
                  <a:schemeClr val="accent3"/>
                </a:solidFill>
              </a:rPr>
              <a:t>Then</a:t>
            </a:r>
            <a:endParaRPr lang="en-US" sz="1800" dirty="0"/>
          </a:p>
        </p:txBody>
      </p:sp>
      <p:sp>
        <p:nvSpPr>
          <p:cNvPr id="10" name="Text 7"/>
          <p:cNvSpPr txBox="1"/>
          <p:nvPr/>
        </p:nvSpPr>
        <p:spPr>
          <a:xfrm>
            <a:off x="868680" y="4617720"/>
            <a:ext cx="4846320" cy="1280160"/>
          </a:xfrm>
          <a:prstGeom prst="rect">
            <a:avLst/>
          </a:prstGeom>
          <a:noFill/>
          <a:ln/>
        </p:spPr>
        <p:txBody>
          <a:bodyPr wrap="square" lIns="0" tIns="0" rIns="0" bIns="0" rtlCol="0" anchor="t"/>
          <a:lstStyle/>
          <a:p>
            <a:pPr indent="0" marL="0">
              <a:buNone/>
            </a:pPr>
            <a:r>
              <a:rPr lang="en-US" sz="1600" dirty="0">
                <a:solidFill>
                  <a:schemeClr val="tx2"/>
                </a:solidFill>
              </a:rPr>
              <a:t>A single trainable layer that separated simple shapes was presented as the start of machine consciousness.</a:t>
            </a:r>
            <a:endParaRPr lang="en-US" sz="1600" dirty="0"/>
          </a:p>
        </p:txBody>
      </p:sp>
      <p:sp>
        <p:nvSpPr>
          <p:cNvPr id="11" name="Text 8"/>
          <p:cNvSpPr txBox="1"/>
          <p:nvPr/>
        </p:nvSpPr>
        <p:spPr>
          <a:xfrm>
            <a:off x="6537960" y="4206240"/>
            <a:ext cx="4846320" cy="365760"/>
          </a:xfrm>
          <a:prstGeom prst="rect">
            <a:avLst/>
          </a:prstGeom>
          <a:noFill/>
          <a:ln/>
        </p:spPr>
        <p:txBody>
          <a:bodyPr wrap="square" lIns="0" tIns="0" rIns="0" bIns="0" rtlCol="0" anchor="t"/>
          <a:lstStyle/>
          <a:p>
            <a:pPr indent="0" marL="0">
              <a:buNone/>
            </a:pPr>
            <a:r>
              <a:rPr lang="en-US" sz="1800" b="1" dirty="0">
                <a:solidFill>
                  <a:schemeClr val="accent2"/>
                </a:solidFill>
              </a:rPr>
              <a:t>A contemporary issue</a:t>
            </a:r>
            <a:endParaRPr lang="en-US" sz="1800" dirty="0"/>
          </a:p>
        </p:txBody>
      </p:sp>
      <p:sp>
        <p:nvSpPr>
          <p:cNvPr id="12" name="Text 9"/>
          <p:cNvSpPr txBox="1"/>
          <p:nvPr/>
        </p:nvSpPr>
        <p:spPr>
          <a:xfrm>
            <a:off x="6537960" y="4617720"/>
            <a:ext cx="4846320" cy="1280160"/>
          </a:xfrm>
          <a:prstGeom prst="rect">
            <a:avLst/>
          </a:prstGeom>
          <a:noFill/>
          <a:ln/>
        </p:spPr>
        <p:txBody>
          <a:bodyPr wrap="square" lIns="0" tIns="0" rIns="0" bIns="0" rtlCol="0" anchor="t"/>
          <a:lstStyle/>
          <a:p>
            <a:pPr indent="0" marL="0">
              <a:buNone/>
            </a:pPr>
            <a:r>
              <a:rPr lang="en-US" sz="1600" dirty="0">
                <a:solidFill>
                  <a:schemeClr val="tx2"/>
                </a:solidFill>
              </a:rPr>
              <a:t>Compare today's claims about AI. When promises outrun capability, the backlash can stall a whole field.</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Where the perceptron worked</a:t>
            </a:r>
            <a:endParaRPr lang="en-US" sz="3400" dirty="0"/>
          </a:p>
        </p:txBody>
      </p:sp>
      <p:sp>
        <p:nvSpPr>
          <p:cNvPr id="3" name="worked-card-0"/>
          <p:cNvSpPr/>
          <p:nvPr/>
        </p:nvSpPr>
        <p:spPr>
          <a:xfrm>
            <a:off x="548640" y="1508760"/>
            <a:ext cx="5422392" cy="2103120"/>
          </a:xfrm>
          <a:prstGeom prst="roundRect">
            <a:avLst>
              <a:gd name="adj" fmla="val 5217"/>
            </a:avLst>
          </a:prstGeom>
          <a:solidFill>
            <a:schemeClr val="bg2"/>
          </a:solidFill>
          <a:ln/>
        </p:spPr>
      </p:sp>
      <p:sp>
        <p:nvSpPr>
          <p:cNvPr id="4" name="worked-icon-0-circle"/>
          <p:cNvSpPr/>
          <p:nvPr/>
        </p:nvSpPr>
        <p:spPr>
          <a:xfrm>
            <a:off x="868680" y="1828800"/>
            <a:ext cx="685800" cy="685800"/>
          </a:xfrm>
          <a:prstGeom prst="ellipse">
            <a:avLst/>
          </a:prstGeom>
          <a:solidFill>
            <a:schemeClr val="accent4"/>
          </a:solidFill>
          <a:ln/>
        </p:spPr>
      </p:sp>
      <p:pic>
        <p:nvPicPr>
          <p:cNvPr id="5" name="worked-icon-0" descr="Eye icon">    </p:cNvPr>
          <p:cNvPicPr>
            <a:picLocks noChangeAspect="1"/>
          </p:cNvPicPr>
          <p:nvPr/>
        </p:nvPicPr>
        <p:blipFill>
          <a:blip r:embed="rId1"/>
          <a:stretch>
            <a:fillRect/>
          </a:stretch>
        </p:blipFill>
        <p:spPr>
          <a:xfrm>
            <a:off x="1040130" y="2000250"/>
            <a:ext cx="342900" cy="342900"/>
          </a:xfrm>
          <a:prstGeom prst="rect">
            <a:avLst/>
          </a:prstGeom>
        </p:spPr>
      </p:pic>
      <p:sp>
        <p:nvSpPr>
          <p:cNvPr id="6" name="Text 3"/>
          <p:cNvSpPr txBox="1"/>
          <p:nvPr/>
        </p:nvSpPr>
        <p:spPr>
          <a:xfrm>
            <a:off x="1783080" y="1828800"/>
            <a:ext cx="3977640" cy="411480"/>
          </a:xfrm>
          <a:prstGeom prst="rect">
            <a:avLst/>
          </a:prstGeom>
          <a:noFill/>
          <a:ln/>
        </p:spPr>
        <p:txBody>
          <a:bodyPr wrap="square" lIns="0" tIns="0" rIns="0" bIns="0" rtlCol="0" anchor="t"/>
          <a:lstStyle/>
          <a:p>
            <a:pPr indent="0" marL="0">
              <a:buNone/>
            </a:pPr>
            <a:r>
              <a:rPr lang="en-US" sz="1800" b="1" dirty="0">
                <a:solidFill>
                  <a:schemeClr val="tx1"/>
                </a:solidFill>
              </a:rPr>
              <a:t>Simple pattern recognition</a:t>
            </a:r>
            <a:endParaRPr lang="en-US" sz="1800" dirty="0"/>
          </a:p>
        </p:txBody>
      </p:sp>
      <p:sp>
        <p:nvSpPr>
          <p:cNvPr id="7" name="Text 4"/>
          <p:cNvSpPr txBox="1"/>
          <p:nvPr/>
        </p:nvSpPr>
        <p:spPr>
          <a:xfrm>
            <a:off x="1783080" y="2286000"/>
            <a:ext cx="3977640" cy="1234440"/>
          </a:xfrm>
          <a:prstGeom prst="rect">
            <a:avLst/>
          </a:prstGeom>
          <a:noFill/>
          <a:ln/>
        </p:spPr>
        <p:txBody>
          <a:bodyPr wrap="square" lIns="0" tIns="0" rIns="0" bIns="0" rtlCol="0" anchor="t"/>
          <a:lstStyle/>
          <a:p>
            <a:pPr indent="0" marL="0">
              <a:buNone/>
            </a:pPr>
            <a:r>
              <a:rPr lang="en-US" sz="1400" dirty="0">
                <a:solidFill>
                  <a:schemeClr val="tx2"/>
                </a:solidFill>
              </a:rPr>
              <a:t>Learned to tell apart simple shapes and letters on its photocell grid, whenever a straight line could separate the classes.</a:t>
            </a:r>
            <a:endParaRPr lang="en-US" sz="1400" dirty="0"/>
          </a:p>
        </p:txBody>
      </p:sp>
      <p:sp>
        <p:nvSpPr>
          <p:cNvPr id="8" name="worked-card-1"/>
          <p:cNvSpPr/>
          <p:nvPr/>
        </p:nvSpPr>
        <p:spPr>
          <a:xfrm>
            <a:off x="6217920" y="1508760"/>
            <a:ext cx="5422392" cy="2103120"/>
          </a:xfrm>
          <a:prstGeom prst="roundRect">
            <a:avLst>
              <a:gd name="adj" fmla="val 5217"/>
            </a:avLst>
          </a:prstGeom>
          <a:solidFill>
            <a:schemeClr val="bg2"/>
          </a:solidFill>
          <a:ln/>
        </p:spPr>
      </p:sp>
      <p:sp>
        <p:nvSpPr>
          <p:cNvPr id="9" name="worked-icon-1-circle"/>
          <p:cNvSpPr/>
          <p:nvPr/>
        </p:nvSpPr>
        <p:spPr>
          <a:xfrm>
            <a:off x="6537960" y="1828800"/>
            <a:ext cx="685800" cy="685800"/>
          </a:xfrm>
          <a:prstGeom prst="ellipse">
            <a:avLst/>
          </a:prstGeom>
          <a:solidFill>
            <a:schemeClr val="accent4"/>
          </a:solidFill>
          <a:ln/>
        </p:spPr>
      </p:sp>
      <p:pic>
        <p:nvPicPr>
          <p:cNvPr id="10" name="worked-icon-1" descr="WaveSquare icon">    </p:cNvPr>
          <p:cNvPicPr>
            <a:picLocks noChangeAspect="1"/>
          </p:cNvPicPr>
          <p:nvPr/>
        </p:nvPicPr>
        <p:blipFill>
          <a:blip r:embed="rId2"/>
          <a:stretch>
            <a:fillRect/>
          </a:stretch>
        </p:blipFill>
        <p:spPr>
          <a:xfrm>
            <a:off x="6709410" y="2000250"/>
            <a:ext cx="342900" cy="342900"/>
          </a:xfrm>
          <a:prstGeom prst="rect">
            <a:avLst/>
          </a:prstGeom>
        </p:spPr>
      </p:pic>
      <p:sp>
        <p:nvSpPr>
          <p:cNvPr id="11" name="Text 7"/>
          <p:cNvSpPr txBox="1"/>
          <p:nvPr/>
        </p:nvSpPr>
        <p:spPr>
          <a:xfrm>
            <a:off x="7452360" y="1828800"/>
            <a:ext cx="3977640" cy="411480"/>
          </a:xfrm>
          <a:prstGeom prst="rect">
            <a:avLst/>
          </a:prstGeom>
          <a:noFill/>
          <a:ln/>
        </p:spPr>
        <p:txBody>
          <a:bodyPr wrap="square" lIns="0" tIns="0" rIns="0" bIns="0" rtlCol="0" anchor="t"/>
          <a:lstStyle/>
          <a:p>
            <a:pPr indent="0" marL="0">
              <a:buNone/>
            </a:pPr>
            <a:r>
              <a:rPr lang="en-US" sz="1800" b="1" dirty="0">
                <a:solidFill>
                  <a:schemeClr val="tx1"/>
                </a:solidFill>
              </a:rPr>
              <a:t>ADALINE (Widrow &amp; Hoff, 1960)</a:t>
            </a:r>
            <a:endParaRPr lang="en-US" sz="1800" dirty="0"/>
          </a:p>
        </p:txBody>
      </p:sp>
      <p:sp>
        <p:nvSpPr>
          <p:cNvPr id="12" name="Text 8"/>
          <p:cNvSpPr txBox="1"/>
          <p:nvPr/>
        </p:nvSpPr>
        <p:spPr>
          <a:xfrm>
            <a:off x="7452360" y="2286000"/>
            <a:ext cx="3977640" cy="1234440"/>
          </a:xfrm>
          <a:prstGeom prst="rect">
            <a:avLst/>
          </a:prstGeom>
          <a:noFill/>
          <a:ln/>
        </p:spPr>
        <p:txBody>
          <a:bodyPr wrap="square" lIns="0" tIns="0" rIns="0" bIns="0" rtlCol="0" anchor="t"/>
          <a:lstStyle/>
          <a:p>
            <a:pPr indent="0" marL="0">
              <a:buNone/>
            </a:pPr>
            <a:r>
              <a:rPr lang="en-US" sz="1400" dirty="0">
                <a:solidFill>
                  <a:schemeClr val="tx2"/>
                </a:solidFill>
              </a:rPr>
              <a:t>Trained with the least-mean-squares (delta) rule, which follows the gradient of a squared error. A direct ancestor of gradient descent in neural networks.</a:t>
            </a:r>
            <a:endParaRPr lang="en-US" sz="1400" dirty="0"/>
          </a:p>
        </p:txBody>
      </p:sp>
      <p:sp>
        <p:nvSpPr>
          <p:cNvPr id="13" name="worked-card-2"/>
          <p:cNvSpPr/>
          <p:nvPr/>
        </p:nvSpPr>
        <p:spPr>
          <a:xfrm>
            <a:off x="548640" y="3840480"/>
            <a:ext cx="5422392" cy="2103120"/>
          </a:xfrm>
          <a:prstGeom prst="roundRect">
            <a:avLst>
              <a:gd name="adj" fmla="val 5217"/>
            </a:avLst>
          </a:prstGeom>
          <a:solidFill>
            <a:schemeClr val="bg2"/>
          </a:solidFill>
          <a:ln/>
        </p:spPr>
      </p:sp>
      <p:sp>
        <p:nvSpPr>
          <p:cNvPr id="14" name="worked-icon-2-circle"/>
          <p:cNvSpPr/>
          <p:nvPr/>
        </p:nvSpPr>
        <p:spPr>
          <a:xfrm>
            <a:off x="868680" y="4160520"/>
            <a:ext cx="685800" cy="685800"/>
          </a:xfrm>
          <a:prstGeom prst="ellipse">
            <a:avLst/>
          </a:prstGeom>
          <a:solidFill>
            <a:schemeClr val="accent4"/>
          </a:solidFill>
          <a:ln/>
        </p:spPr>
      </p:sp>
      <p:pic>
        <p:nvPicPr>
          <p:cNvPr id="15" name="worked-icon-2" descr="PhoneAlt icon">    </p:cNvPr>
          <p:cNvPicPr>
            <a:picLocks noChangeAspect="1"/>
          </p:cNvPicPr>
          <p:nvPr/>
        </p:nvPicPr>
        <p:blipFill>
          <a:blip r:embed="rId3"/>
          <a:stretch>
            <a:fillRect/>
          </a:stretch>
        </p:blipFill>
        <p:spPr>
          <a:xfrm>
            <a:off x="1040130" y="4331970"/>
            <a:ext cx="342900" cy="342900"/>
          </a:xfrm>
          <a:prstGeom prst="rect">
            <a:avLst/>
          </a:prstGeom>
        </p:spPr>
      </p:pic>
      <p:sp>
        <p:nvSpPr>
          <p:cNvPr id="16" name="Text 11"/>
          <p:cNvSpPr txBox="1"/>
          <p:nvPr/>
        </p:nvSpPr>
        <p:spPr>
          <a:xfrm>
            <a:off x="1783080" y="4160520"/>
            <a:ext cx="3977640" cy="411480"/>
          </a:xfrm>
          <a:prstGeom prst="rect">
            <a:avLst/>
          </a:prstGeom>
          <a:noFill/>
          <a:ln/>
        </p:spPr>
        <p:txBody>
          <a:bodyPr wrap="square" lIns="0" tIns="0" rIns="0" bIns="0" rtlCol="0" anchor="t"/>
          <a:lstStyle/>
          <a:p>
            <a:pPr indent="0" marL="0">
              <a:buNone/>
            </a:pPr>
            <a:r>
              <a:rPr lang="en-US" sz="1800" b="1" dirty="0">
                <a:solidFill>
                  <a:schemeClr val="tx1"/>
                </a:solidFill>
              </a:rPr>
              <a:t>First real-world deployment</a:t>
            </a:r>
            <a:endParaRPr lang="en-US" sz="1800" dirty="0"/>
          </a:p>
        </p:txBody>
      </p:sp>
      <p:sp>
        <p:nvSpPr>
          <p:cNvPr id="17" name="Text 12"/>
          <p:cNvSpPr txBox="1"/>
          <p:nvPr/>
        </p:nvSpPr>
        <p:spPr>
          <a:xfrm>
            <a:off x="1783080" y="4617720"/>
            <a:ext cx="3977640" cy="1234440"/>
          </a:xfrm>
          <a:prstGeom prst="rect">
            <a:avLst/>
          </a:prstGeom>
          <a:noFill/>
          <a:ln/>
        </p:spPr>
        <p:txBody>
          <a:bodyPr wrap="square" lIns="0" tIns="0" rIns="0" bIns="0" rtlCol="0" anchor="t"/>
          <a:lstStyle/>
          <a:p>
            <a:pPr indent="0" marL="0">
              <a:buNone/>
            </a:pPr>
            <a:r>
              <a:rPr lang="en-US" sz="1400" dirty="0">
                <a:solidFill>
                  <a:schemeClr val="tx2"/>
                </a:solidFill>
              </a:rPr>
              <a:t>MADALINE, a network of ADALINE units, was used to cancel echoes on telephone lines. Adaptive filters descended from this work are still in use.</a:t>
            </a:r>
            <a:endParaRPr lang="en-US" sz="1400" dirty="0"/>
          </a:p>
        </p:txBody>
      </p:sp>
      <p:sp>
        <p:nvSpPr>
          <p:cNvPr id="18" name="worked-card-3"/>
          <p:cNvSpPr/>
          <p:nvPr/>
        </p:nvSpPr>
        <p:spPr>
          <a:xfrm>
            <a:off x="6217920" y="3840480"/>
            <a:ext cx="5422392" cy="2103120"/>
          </a:xfrm>
          <a:prstGeom prst="roundRect">
            <a:avLst>
              <a:gd name="adj" fmla="val 5217"/>
            </a:avLst>
          </a:prstGeom>
          <a:solidFill>
            <a:schemeClr val="bg2"/>
          </a:solidFill>
          <a:ln/>
        </p:spPr>
      </p:sp>
      <p:sp>
        <p:nvSpPr>
          <p:cNvPr id="19" name="worked-icon-3-circle"/>
          <p:cNvSpPr/>
          <p:nvPr/>
        </p:nvSpPr>
        <p:spPr>
          <a:xfrm>
            <a:off x="6537960" y="4160520"/>
            <a:ext cx="685800" cy="685800"/>
          </a:xfrm>
          <a:prstGeom prst="ellipse">
            <a:avLst/>
          </a:prstGeom>
          <a:solidFill>
            <a:schemeClr val="accent4"/>
          </a:solidFill>
          <a:ln/>
        </p:spPr>
      </p:sp>
      <p:pic>
        <p:nvPicPr>
          <p:cNvPr id="20" name="worked-icon-3" descr="CheckDouble icon">    </p:cNvPr>
          <p:cNvPicPr>
            <a:picLocks noChangeAspect="1"/>
          </p:cNvPicPr>
          <p:nvPr/>
        </p:nvPicPr>
        <p:blipFill>
          <a:blip r:embed="rId4"/>
          <a:stretch>
            <a:fillRect/>
          </a:stretch>
        </p:blipFill>
        <p:spPr>
          <a:xfrm>
            <a:off x="6709410" y="4331970"/>
            <a:ext cx="342900" cy="342900"/>
          </a:xfrm>
          <a:prstGeom prst="rect">
            <a:avLst/>
          </a:prstGeom>
        </p:spPr>
      </p:pic>
      <p:sp>
        <p:nvSpPr>
          <p:cNvPr id="21" name="Text 15"/>
          <p:cNvSpPr txBox="1"/>
          <p:nvPr/>
        </p:nvSpPr>
        <p:spPr>
          <a:xfrm>
            <a:off x="7452360" y="4160520"/>
            <a:ext cx="3977640" cy="411480"/>
          </a:xfrm>
          <a:prstGeom prst="rect">
            <a:avLst/>
          </a:prstGeom>
          <a:noFill/>
          <a:ln/>
        </p:spPr>
        <p:txBody>
          <a:bodyPr wrap="square" lIns="0" tIns="0" rIns="0" bIns="0" rtlCol="0" anchor="t"/>
          <a:lstStyle/>
          <a:p>
            <a:pPr indent="0" marL="0">
              <a:buNone/>
            </a:pPr>
            <a:r>
              <a:rPr lang="en-US" sz="1800" b="1" dirty="0">
                <a:solidFill>
                  <a:schemeClr val="tx1"/>
                </a:solidFill>
              </a:rPr>
              <a:t>A mathematical guarantee</a:t>
            </a:r>
            <a:endParaRPr lang="en-US" sz="1800" dirty="0"/>
          </a:p>
        </p:txBody>
      </p:sp>
      <p:sp>
        <p:nvSpPr>
          <p:cNvPr id="22" name="Text 16"/>
          <p:cNvSpPr txBox="1"/>
          <p:nvPr/>
        </p:nvSpPr>
        <p:spPr>
          <a:xfrm>
            <a:off x="7452360" y="4617720"/>
            <a:ext cx="3977640" cy="1234440"/>
          </a:xfrm>
          <a:prstGeom prst="rect">
            <a:avLst/>
          </a:prstGeom>
          <a:noFill/>
          <a:ln/>
        </p:spPr>
        <p:txBody>
          <a:bodyPr wrap="square" lIns="0" tIns="0" rIns="0" bIns="0" rtlCol="0" anchor="t"/>
          <a:lstStyle/>
          <a:p>
            <a:pPr indent="0" marL="0">
              <a:buNone/>
            </a:pPr>
            <a:r>
              <a:rPr lang="en-US" sz="1400" dirty="0">
                <a:solidFill>
                  <a:schemeClr val="tx2"/>
                </a:solidFill>
              </a:rPr>
              <a:t>The convergence theorem gave learning machines a proof, not only demonstrations: separable data is always learned.</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Where it failed</a:t>
            </a:r>
            <a:endParaRPr lang="en-US" sz="3400" dirty="0"/>
          </a:p>
        </p:txBody>
      </p:sp>
      <p:sp>
        <p:nvSpPr>
          <p:cNvPr id="3" name="xor-card"/>
          <p:cNvSpPr/>
          <p:nvPr/>
        </p:nvSpPr>
        <p:spPr>
          <a:xfrm>
            <a:off x="548640" y="1508760"/>
            <a:ext cx="4206240" cy="4526280"/>
          </a:xfrm>
          <a:prstGeom prst="roundRect">
            <a:avLst>
              <a:gd name="adj" fmla="val 2609"/>
            </a:avLst>
          </a:prstGeom>
          <a:solidFill>
            <a:schemeClr val="bg2"/>
          </a:solidFill>
          <a:ln/>
        </p:spPr>
      </p:sp>
      <p:sp>
        <p:nvSpPr>
          <p:cNvPr id="4" name="Text 2"/>
          <p:cNvSpPr txBox="1"/>
          <p:nvPr/>
        </p:nvSpPr>
        <p:spPr>
          <a:xfrm>
            <a:off x="822960" y="1691640"/>
            <a:ext cx="3657600" cy="365760"/>
          </a:xfrm>
          <a:prstGeom prst="rect">
            <a:avLst/>
          </a:prstGeom>
          <a:noFill/>
          <a:ln/>
        </p:spPr>
        <p:txBody>
          <a:bodyPr wrap="square" lIns="0" tIns="0" rIns="0" bIns="0" rtlCol="0" anchor="t"/>
          <a:lstStyle/>
          <a:p>
            <a:pPr indent="0" marL="0">
              <a:buNone/>
            </a:pPr>
            <a:r>
              <a:rPr lang="en-US" sz="1700" b="1" dirty="0">
                <a:solidFill>
                  <a:schemeClr val="tx1"/>
                </a:solidFill>
              </a:rPr>
              <a:t>XOR: no single line works</a:t>
            </a:r>
            <a:endParaRPr lang="en-US" sz="1700" dirty="0"/>
          </a:p>
        </p:txBody>
      </p:sp>
      <p:sp>
        <p:nvSpPr>
          <p:cNvPr id="5" name="xor-plot"/>
          <p:cNvSpPr/>
          <p:nvPr/>
        </p:nvSpPr>
        <p:spPr>
          <a:xfrm>
            <a:off x="1234440" y="2331720"/>
            <a:ext cx="2743200" cy="2743200"/>
          </a:xfrm>
          <a:prstGeom prst="rect">
            <a:avLst/>
          </a:prstGeom>
          <a:solidFill>
            <a:srgbClr val="FFFFFF"/>
          </a:solidFill>
          <a:ln w="12700">
            <a:solidFill>
              <a:srgbClr val="D9DEE3"/>
            </a:solidFill>
            <a:prstDash val="solid"/>
          </a:ln>
        </p:spPr>
      </p:sp>
      <p:sp>
        <p:nvSpPr>
          <p:cNvPr id="6" name="xor-pt-00"/>
          <p:cNvSpPr/>
          <p:nvPr/>
        </p:nvSpPr>
        <p:spPr>
          <a:xfrm>
            <a:off x="1490472" y="4416552"/>
            <a:ext cx="402336" cy="402336"/>
          </a:xfrm>
          <a:prstGeom prst="ellipse">
            <a:avLst/>
          </a:prstGeom>
          <a:solidFill>
            <a:srgbClr val="FFFFFF"/>
          </a:solidFill>
          <a:ln w="31750">
            <a:solidFill>
              <a:srgbClr val="335C67"/>
            </a:solidFill>
            <a:prstDash val="solid"/>
          </a:ln>
        </p:spPr>
      </p:sp>
      <p:sp>
        <p:nvSpPr>
          <p:cNvPr id="7" name="Text 5"/>
          <p:cNvSpPr txBox="1"/>
          <p:nvPr/>
        </p:nvSpPr>
        <p:spPr>
          <a:xfrm>
            <a:off x="1234440" y="4855464"/>
            <a:ext cx="914400" cy="274320"/>
          </a:xfrm>
          <a:prstGeom prst="rect">
            <a:avLst/>
          </a:prstGeom>
          <a:noFill/>
          <a:ln/>
        </p:spPr>
        <p:txBody>
          <a:bodyPr wrap="square" lIns="0" tIns="0" rIns="0" bIns="0" rtlCol="0" anchor="t"/>
          <a:lstStyle/>
          <a:p>
            <a:pPr algn="ctr" indent="0" marL="0">
              <a:buNone/>
            </a:pPr>
            <a:r>
              <a:rPr lang="en-US" sz="1100" dirty="0">
                <a:solidFill>
                  <a:schemeClr val="accent5"/>
                </a:solidFill>
              </a:rPr>
              <a:t>(0,0)</a:t>
            </a:r>
            <a:endParaRPr lang="en-US" sz="1100" dirty="0"/>
          </a:p>
        </p:txBody>
      </p:sp>
      <p:sp>
        <p:nvSpPr>
          <p:cNvPr id="8" name="xor-pt-11"/>
          <p:cNvSpPr/>
          <p:nvPr/>
        </p:nvSpPr>
        <p:spPr>
          <a:xfrm>
            <a:off x="3319272" y="2587752"/>
            <a:ext cx="402336" cy="402336"/>
          </a:xfrm>
          <a:prstGeom prst="ellipse">
            <a:avLst/>
          </a:prstGeom>
          <a:solidFill>
            <a:srgbClr val="FFFFFF"/>
          </a:solidFill>
          <a:ln w="31750">
            <a:solidFill>
              <a:srgbClr val="335C67"/>
            </a:solidFill>
            <a:prstDash val="solid"/>
          </a:ln>
        </p:spPr>
      </p:sp>
      <p:sp>
        <p:nvSpPr>
          <p:cNvPr id="9" name="Text 7"/>
          <p:cNvSpPr txBox="1"/>
          <p:nvPr/>
        </p:nvSpPr>
        <p:spPr>
          <a:xfrm>
            <a:off x="3063240" y="3026664"/>
            <a:ext cx="914400" cy="274320"/>
          </a:xfrm>
          <a:prstGeom prst="rect">
            <a:avLst/>
          </a:prstGeom>
          <a:noFill/>
          <a:ln/>
        </p:spPr>
        <p:txBody>
          <a:bodyPr wrap="square" lIns="0" tIns="0" rIns="0" bIns="0" rtlCol="0" anchor="t"/>
          <a:lstStyle/>
          <a:p>
            <a:pPr algn="ctr" indent="0" marL="0">
              <a:buNone/>
            </a:pPr>
            <a:r>
              <a:rPr lang="en-US" sz="1100" dirty="0">
                <a:solidFill>
                  <a:schemeClr val="accent5"/>
                </a:solidFill>
              </a:rPr>
              <a:t>(1,1)</a:t>
            </a:r>
            <a:endParaRPr lang="en-US" sz="1100" dirty="0"/>
          </a:p>
        </p:txBody>
      </p:sp>
      <p:sp>
        <p:nvSpPr>
          <p:cNvPr id="10" name="xor-pt-01"/>
          <p:cNvSpPr/>
          <p:nvPr/>
        </p:nvSpPr>
        <p:spPr>
          <a:xfrm>
            <a:off x="1490472" y="2587752"/>
            <a:ext cx="402336" cy="402336"/>
          </a:xfrm>
          <a:prstGeom prst="ellipse">
            <a:avLst/>
          </a:prstGeom>
          <a:solidFill>
            <a:srgbClr val="E09F3E"/>
          </a:solidFill>
          <a:ln w="31750">
            <a:solidFill>
              <a:srgbClr val="E09F3E"/>
            </a:solidFill>
            <a:prstDash val="solid"/>
          </a:ln>
        </p:spPr>
      </p:sp>
      <p:sp>
        <p:nvSpPr>
          <p:cNvPr id="11" name="Text 9"/>
          <p:cNvSpPr txBox="1"/>
          <p:nvPr/>
        </p:nvSpPr>
        <p:spPr>
          <a:xfrm>
            <a:off x="1234440" y="3026664"/>
            <a:ext cx="914400" cy="274320"/>
          </a:xfrm>
          <a:prstGeom prst="rect">
            <a:avLst/>
          </a:prstGeom>
          <a:noFill/>
          <a:ln/>
        </p:spPr>
        <p:txBody>
          <a:bodyPr wrap="square" lIns="0" tIns="0" rIns="0" bIns="0" rtlCol="0" anchor="t"/>
          <a:lstStyle/>
          <a:p>
            <a:pPr algn="ctr" indent="0" marL="0">
              <a:buNone/>
            </a:pPr>
            <a:r>
              <a:rPr lang="en-US" sz="1100" dirty="0">
                <a:solidFill>
                  <a:schemeClr val="accent5"/>
                </a:solidFill>
              </a:rPr>
              <a:t>(0,1)</a:t>
            </a:r>
            <a:endParaRPr lang="en-US" sz="1100" dirty="0"/>
          </a:p>
        </p:txBody>
      </p:sp>
      <p:sp>
        <p:nvSpPr>
          <p:cNvPr id="12" name="xor-pt-10"/>
          <p:cNvSpPr/>
          <p:nvPr/>
        </p:nvSpPr>
        <p:spPr>
          <a:xfrm>
            <a:off x="3319272" y="4416552"/>
            <a:ext cx="402336" cy="402336"/>
          </a:xfrm>
          <a:prstGeom prst="ellipse">
            <a:avLst/>
          </a:prstGeom>
          <a:solidFill>
            <a:srgbClr val="E09F3E"/>
          </a:solidFill>
          <a:ln w="31750">
            <a:solidFill>
              <a:srgbClr val="E09F3E"/>
            </a:solidFill>
            <a:prstDash val="solid"/>
          </a:ln>
        </p:spPr>
      </p:sp>
      <p:sp>
        <p:nvSpPr>
          <p:cNvPr id="13" name="Text 11"/>
          <p:cNvSpPr txBox="1"/>
          <p:nvPr/>
        </p:nvSpPr>
        <p:spPr>
          <a:xfrm>
            <a:off x="3063240" y="4855464"/>
            <a:ext cx="914400" cy="274320"/>
          </a:xfrm>
          <a:prstGeom prst="rect">
            <a:avLst/>
          </a:prstGeom>
          <a:noFill/>
          <a:ln/>
        </p:spPr>
        <p:txBody>
          <a:bodyPr wrap="square" lIns="0" tIns="0" rIns="0" bIns="0" rtlCol="0" anchor="t"/>
          <a:lstStyle/>
          <a:p>
            <a:pPr algn="ctr" indent="0" marL="0">
              <a:buNone/>
            </a:pPr>
            <a:r>
              <a:rPr lang="en-US" sz="1100" dirty="0">
                <a:solidFill>
                  <a:schemeClr val="accent5"/>
                </a:solidFill>
              </a:rPr>
              <a:t>(1,0)</a:t>
            </a:r>
            <a:endParaRPr lang="en-US" sz="1100" dirty="0"/>
          </a:p>
        </p:txBody>
      </p:sp>
      <p:sp>
        <p:nvSpPr>
          <p:cNvPr id="14" name="xor-try"/>
          <p:cNvSpPr/>
          <p:nvPr/>
        </p:nvSpPr>
        <p:spPr>
          <a:xfrm>
            <a:off x="1417320" y="2697480"/>
            <a:ext cx="2377440" cy="2011680"/>
          </a:xfrm>
          <a:prstGeom prst="line">
            <a:avLst/>
          </a:prstGeom>
          <a:noFill/>
          <a:ln w="25400">
            <a:solidFill>
              <a:srgbClr val="9E2A2B"/>
            </a:solidFill>
            <a:prstDash val="dash"/>
          </a:ln>
        </p:spPr>
      </p:sp>
      <p:sp>
        <p:nvSpPr>
          <p:cNvPr id="15" name="Text 13"/>
          <p:cNvSpPr txBox="1"/>
          <p:nvPr/>
        </p:nvSpPr>
        <p:spPr>
          <a:xfrm>
            <a:off x="822960" y="5440680"/>
            <a:ext cx="3657600" cy="365760"/>
          </a:xfrm>
          <a:prstGeom prst="rect">
            <a:avLst/>
          </a:prstGeom>
          <a:noFill/>
          <a:ln/>
        </p:spPr>
        <p:txBody>
          <a:bodyPr wrap="square" lIns="0" tIns="0" rIns="0" bIns="0" rtlCol="0" anchor="t"/>
          <a:lstStyle/>
          <a:p>
            <a:pPr indent="0" marL="0">
              <a:buNone/>
            </a:pPr>
            <a:r>
              <a:rPr lang="en-US" sz="1200" dirty="0">
                <a:solidFill>
                  <a:schemeClr val="accent5"/>
                </a:solidFill>
              </a:rPr>
              <a:t>● output 1    ○ output 0</a:t>
            </a:r>
            <a:endParaRPr lang="en-US" sz="1200" dirty="0"/>
          </a:p>
        </p:txBody>
      </p:sp>
      <p:sp>
        <p:nvSpPr>
          <p:cNvPr id="16" name="fail-icon-0-circle"/>
          <p:cNvSpPr/>
          <p:nvPr/>
        </p:nvSpPr>
        <p:spPr>
          <a:xfrm>
            <a:off x="5120640" y="1554480"/>
            <a:ext cx="457200" cy="457200"/>
          </a:xfrm>
          <a:prstGeom prst="ellipse">
            <a:avLst/>
          </a:prstGeom>
          <a:solidFill>
            <a:schemeClr val="accent3"/>
          </a:solidFill>
          <a:ln/>
        </p:spPr>
      </p:sp>
      <p:pic>
        <p:nvPicPr>
          <p:cNvPr id="17" name="fail-icon-0" descr="Times icon">    </p:cNvPr>
          <p:cNvPicPr>
            <a:picLocks noChangeAspect="1"/>
          </p:cNvPicPr>
          <p:nvPr/>
        </p:nvPicPr>
        <p:blipFill>
          <a:blip r:embed="rId1"/>
          <a:stretch>
            <a:fillRect/>
          </a:stretch>
        </p:blipFill>
        <p:spPr>
          <a:xfrm>
            <a:off x="5234940" y="1668780"/>
            <a:ext cx="228600" cy="228600"/>
          </a:xfrm>
          <a:prstGeom prst="rect">
            <a:avLst/>
          </a:prstGeom>
        </p:spPr>
      </p:pic>
      <p:sp>
        <p:nvSpPr>
          <p:cNvPr id="18" name="Text 15"/>
          <p:cNvSpPr txBox="1"/>
          <p:nvPr/>
        </p:nvSpPr>
        <p:spPr>
          <a:xfrm>
            <a:off x="5760720" y="1508760"/>
            <a:ext cx="5852160" cy="365760"/>
          </a:xfrm>
          <a:prstGeom prst="rect">
            <a:avLst/>
          </a:prstGeom>
          <a:noFill/>
          <a:ln/>
        </p:spPr>
        <p:txBody>
          <a:bodyPr wrap="square" lIns="0" tIns="0" rIns="0" bIns="0" rtlCol="0" anchor="t"/>
          <a:lstStyle/>
          <a:p>
            <a:pPr indent="0" marL="0">
              <a:buNone/>
            </a:pPr>
            <a:r>
              <a:rPr lang="en-US" sz="1700" b="1" dirty="0">
                <a:solidFill>
                  <a:schemeClr val="tx1"/>
                </a:solidFill>
              </a:rPr>
              <a:t>XOR and parity</a:t>
            </a:r>
            <a:endParaRPr lang="en-US" sz="1700" dirty="0"/>
          </a:p>
        </p:txBody>
      </p:sp>
      <p:sp>
        <p:nvSpPr>
          <p:cNvPr id="19" name="Text 16"/>
          <p:cNvSpPr txBox="1"/>
          <p:nvPr/>
        </p:nvSpPr>
        <p:spPr>
          <a:xfrm>
            <a:off x="5760720" y="1874520"/>
            <a:ext cx="5852160" cy="731520"/>
          </a:xfrm>
          <a:prstGeom prst="rect">
            <a:avLst/>
          </a:prstGeom>
          <a:noFill/>
          <a:ln/>
        </p:spPr>
        <p:txBody>
          <a:bodyPr wrap="square" lIns="0" tIns="0" rIns="0" bIns="0" rtlCol="0" anchor="t"/>
          <a:lstStyle/>
          <a:p>
            <a:pPr indent="0" marL="0">
              <a:buNone/>
            </a:pPr>
            <a:r>
              <a:rPr lang="en-US" sz="1400" dirty="0">
                <a:solidFill>
                  <a:schemeClr val="tx2"/>
                </a:solidFill>
              </a:rPr>
              <a:t>No single straight line separates the classes, so a single-layer perceptron cannot learn them at all.</a:t>
            </a:r>
            <a:endParaRPr lang="en-US" sz="1400" dirty="0"/>
          </a:p>
        </p:txBody>
      </p:sp>
      <p:sp>
        <p:nvSpPr>
          <p:cNvPr id="20" name="fail-icon-1-circle"/>
          <p:cNvSpPr/>
          <p:nvPr/>
        </p:nvSpPr>
        <p:spPr>
          <a:xfrm>
            <a:off x="5120640" y="2697480"/>
            <a:ext cx="457200" cy="457200"/>
          </a:xfrm>
          <a:prstGeom prst="ellipse">
            <a:avLst/>
          </a:prstGeom>
          <a:solidFill>
            <a:schemeClr val="accent3"/>
          </a:solidFill>
          <a:ln/>
        </p:spPr>
      </p:sp>
      <p:pic>
        <p:nvPicPr>
          <p:cNvPr id="21" name="fail-icon-1" descr="Times icon">    </p:cNvPr>
          <p:cNvPicPr>
            <a:picLocks noChangeAspect="1"/>
          </p:cNvPicPr>
          <p:nvPr/>
        </p:nvPicPr>
        <p:blipFill>
          <a:blip r:embed="rId2"/>
          <a:stretch>
            <a:fillRect/>
          </a:stretch>
        </p:blipFill>
        <p:spPr>
          <a:xfrm>
            <a:off x="5234940" y="2811780"/>
            <a:ext cx="228600" cy="228600"/>
          </a:xfrm>
          <a:prstGeom prst="rect">
            <a:avLst/>
          </a:prstGeom>
        </p:spPr>
      </p:pic>
      <p:sp>
        <p:nvSpPr>
          <p:cNvPr id="22" name="Text 18"/>
          <p:cNvSpPr txBox="1"/>
          <p:nvPr/>
        </p:nvSpPr>
        <p:spPr>
          <a:xfrm>
            <a:off x="5760720" y="2651760"/>
            <a:ext cx="5852160" cy="365760"/>
          </a:xfrm>
          <a:prstGeom prst="rect">
            <a:avLst/>
          </a:prstGeom>
          <a:noFill/>
          <a:ln/>
        </p:spPr>
        <p:txBody>
          <a:bodyPr wrap="square" lIns="0" tIns="0" rIns="0" bIns="0" rtlCol="0" anchor="t"/>
          <a:lstStyle/>
          <a:p>
            <a:pPr indent="0" marL="0">
              <a:buNone/>
            </a:pPr>
            <a:r>
              <a:rPr lang="en-US" sz="1700" b="1" dirty="0">
                <a:solidFill>
                  <a:schemeClr val="tx1"/>
                </a:solidFill>
              </a:rPr>
              <a:t>Connectedness</a:t>
            </a:r>
            <a:endParaRPr lang="en-US" sz="1700" dirty="0"/>
          </a:p>
        </p:txBody>
      </p:sp>
      <p:sp>
        <p:nvSpPr>
          <p:cNvPr id="23" name="Text 19"/>
          <p:cNvSpPr txBox="1"/>
          <p:nvPr/>
        </p:nvSpPr>
        <p:spPr>
          <a:xfrm>
            <a:off x="5760720" y="3017520"/>
            <a:ext cx="5852160" cy="731520"/>
          </a:xfrm>
          <a:prstGeom prst="rect">
            <a:avLst/>
          </a:prstGeom>
          <a:noFill/>
          <a:ln/>
        </p:spPr>
        <p:txBody>
          <a:bodyPr wrap="square" lIns="0" tIns="0" rIns="0" bIns="0" rtlCol="0" anchor="t"/>
          <a:lstStyle/>
          <a:p>
            <a:pPr indent="0" marL="0">
              <a:buNone/>
            </a:pPr>
            <a:r>
              <a:rPr lang="en-US" sz="1400" dirty="0">
                <a:solidFill>
                  <a:schemeClr val="tx2"/>
                </a:solidFill>
              </a:rPr>
              <a:t>Minsky &amp; Papert proved that perceptrons whose units each see only a small patch cannot tell whether a shape is connected.</a:t>
            </a:r>
            <a:endParaRPr lang="en-US" sz="1400" dirty="0"/>
          </a:p>
        </p:txBody>
      </p:sp>
      <p:sp>
        <p:nvSpPr>
          <p:cNvPr id="24" name="fail-icon-2-circle"/>
          <p:cNvSpPr/>
          <p:nvPr/>
        </p:nvSpPr>
        <p:spPr>
          <a:xfrm>
            <a:off x="5120640" y="3840480"/>
            <a:ext cx="457200" cy="457200"/>
          </a:xfrm>
          <a:prstGeom prst="ellipse">
            <a:avLst/>
          </a:prstGeom>
          <a:solidFill>
            <a:schemeClr val="accent3"/>
          </a:solidFill>
          <a:ln/>
        </p:spPr>
      </p:sp>
      <p:pic>
        <p:nvPicPr>
          <p:cNvPr id="25" name="fail-icon-2" descr="Times icon">    </p:cNvPr>
          <p:cNvPicPr>
            <a:picLocks noChangeAspect="1"/>
          </p:cNvPicPr>
          <p:nvPr/>
        </p:nvPicPr>
        <p:blipFill>
          <a:blip r:embed="rId3"/>
          <a:stretch>
            <a:fillRect/>
          </a:stretch>
        </p:blipFill>
        <p:spPr>
          <a:xfrm>
            <a:off x="5234940" y="3954780"/>
            <a:ext cx="228600" cy="228600"/>
          </a:xfrm>
          <a:prstGeom prst="rect">
            <a:avLst/>
          </a:prstGeom>
        </p:spPr>
      </p:pic>
      <p:sp>
        <p:nvSpPr>
          <p:cNvPr id="26" name="Text 21"/>
          <p:cNvSpPr txBox="1"/>
          <p:nvPr/>
        </p:nvSpPr>
        <p:spPr>
          <a:xfrm>
            <a:off x="5760720" y="3794760"/>
            <a:ext cx="5852160" cy="365760"/>
          </a:xfrm>
          <a:prstGeom prst="rect">
            <a:avLst/>
          </a:prstGeom>
          <a:noFill/>
          <a:ln/>
        </p:spPr>
        <p:txBody>
          <a:bodyPr wrap="square" lIns="0" tIns="0" rIns="0" bIns="0" rtlCol="0" anchor="t"/>
          <a:lstStyle/>
          <a:p>
            <a:pPr indent="0" marL="0">
              <a:buNone/>
            </a:pPr>
            <a:r>
              <a:rPr lang="en-US" sz="1700" b="1" dirty="0">
                <a:solidFill>
                  <a:schemeClr val="tx1"/>
                </a:solidFill>
              </a:rPr>
              <a:t>Hidden layers could not be trained</a:t>
            </a:r>
            <a:endParaRPr lang="en-US" sz="1700" dirty="0"/>
          </a:p>
        </p:txBody>
      </p:sp>
      <p:sp>
        <p:nvSpPr>
          <p:cNvPr id="27" name="Text 22"/>
          <p:cNvSpPr txBox="1"/>
          <p:nvPr/>
        </p:nvSpPr>
        <p:spPr>
          <a:xfrm>
            <a:off x="5760720" y="4160520"/>
            <a:ext cx="5852160" cy="731520"/>
          </a:xfrm>
          <a:prstGeom prst="rect">
            <a:avLst/>
          </a:prstGeom>
          <a:noFill/>
          <a:ln/>
        </p:spPr>
        <p:txBody>
          <a:bodyPr wrap="square" lIns="0" tIns="0" rIns="0" bIns="0" rtlCol="0" anchor="t"/>
          <a:lstStyle/>
          <a:p>
            <a:pPr indent="0" marL="0">
              <a:buNone/>
            </a:pPr>
            <a:r>
              <a:rPr lang="en-US" sz="1400" dirty="0">
                <a:solidFill>
                  <a:schemeClr val="tx2"/>
                </a:solidFill>
              </a:rPr>
              <a:t>The credit assignment problem: when the output is wrong, which hidden unit is to blame? There was no rule for that.</a:t>
            </a:r>
            <a:endParaRPr lang="en-US" sz="1400" dirty="0"/>
          </a:p>
        </p:txBody>
      </p:sp>
      <p:sp>
        <p:nvSpPr>
          <p:cNvPr id="28" name="fail-icon-3-circle"/>
          <p:cNvSpPr/>
          <p:nvPr/>
        </p:nvSpPr>
        <p:spPr>
          <a:xfrm>
            <a:off x="5120640" y="4983480"/>
            <a:ext cx="457200" cy="457200"/>
          </a:xfrm>
          <a:prstGeom prst="ellipse">
            <a:avLst/>
          </a:prstGeom>
          <a:solidFill>
            <a:schemeClr val="accent3"/>
          </a:solidFill>
          <a:ln/>
        </p:spPr>
      </p:sp>
      <p:pic>
        <p:nvPicPr>
          <p:cNvPr id="29" name="fail-icon-3" descr="Times icon">    </p:cNvPr>
          <p:cNvPicPr>
            <a:picLocks noChangeAspect="1"/>
          </p:cNvPicPr>
          <p:nvPr/>
        </p:nvPicPr>
        <p:blipFill>
          <a:blip r:embed="rId4"/>
          <a:stretch>
            <a:fillRect/>
          </a:stretch>
        </p:blipFill>
        <p:spPr>
          <a:xfrm>
            <a:off x="5234940" y="5097780"/>
            <a:ext cx="228600" cy="228600"/>
          </a:xfrm>
          <a:prstGeom prst="rect">
            <a:avLst/>
          </a:prstGeom>
        </p:spPr>
      </p:pic>
      <p:sp>
        <p:nvSpPr>
          <p:cNvPr id="30" name="Text 24"/>
          <p:cNvSpPr txBox="1"/>
          <p:nvPr/>
        </p:nvSpPr>
        <p:spPr>
          <a:xfrm>
            <a:off x="5760720" y="4937760"/>
            <a:ext cx="5852160" cy="365760"/>
          </a:xfrm>
          <a:prstGeom prst="rect">
            <a:avLst/>
          </a:prstGeom>
          <a:noFill/>
          <a:ln/>
        </p:spPr>
        <p:txBody>
          <a:bodyPr wrap="square" lIns="0" tIns="0" rIns="0" bIns="0" rtlCol="0" anchor="t"/>
          <a:lstStyle/>
          <a:p>
            <a:pPr indent="0" marL="0">
              <a:buNone/>
            </a:pPr>
            <a:r>
              <a:rPr lang="en-US" sz="1700" b="1" dirty="0">
                <a:solidFill>
                  <a:schemeClr val="tx1"/>
                </a:solidFill>
              </a:rPr>
              <a:t>No gradient to follow</a:t>
            </a:r>
            <a:endParaRPr lang="en-US" sz="1700" dirty="0"/>
          </a:p>
        </p:txBody>
      </p:sp>
      <p:sp>
        <p:nvSpPr>
          <p:cNvPr id="31" name="Text 25"/>
          <p:cNvSpPr txBox="1"/>
          <p:nvPr/>
        </p:nvSpPr>
        <p:spPr>
          <a:xfrm>
            <a:off x="5760720" y="5303520"/>
            <a:ext cx="5852160" cy="731520"/>
          </a:xfrm>
          <a:prstGeom prst="rect">
            <a:avLst/>
          </a:prstGeom>
          <a:noFill/>
          <a:ln/>
        </p:spPr>
        <p:txBody>
          <a:bodyPr wrap="square" lIns="0" tIns="0" rIns="0" bIns="0" rtlCol="0" anchor="t"/>
          <a:lstStyle/>
          <a:p>
            <a:pPr indent="0" marL="0">
              <a:buNone/>
            </a:pPr>
            <a:r>
              <a:rPr lang="en-US" sz="1400" dirty="0">
                <a:solidFill>
                  <a:schemeClr val="tx2"/>
                </a:solidFill>
              </a:rPr>
              <a:t>The step function is flat almost everywhere, so calculus gives no direction for improvement.</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1969 to the early 1980s: the first AI winter</a:t>
            </a:r>
            <a:endParaRPr lang="en-US" sz="3400" dirty="0"/>
          </a:p>
        </p:txBody>
      </p:sp>
      <p:sp>
        <p:nvSpPr>
          <p:cNvPr id="3" name="winter-card"/>
          <p:cNvSpPr/>
          <p:nvPr/>
        </p:nvSpPr>
        <p:spPr>
          <a:xfrm>
            <a:off x="548640" y="1508760"/>
            <a:ext cx="3291840" cy="4526280"/>
          </a:xfrm>
          <a:prstGeom prst="roundRect">
            <a:avLst>
              <a:gd name="adj" fmla="val 3333"/>
            </a:avLst>
          </a:prstGeom>
          <a:solidFill>
            <a:schemeClr val="tx1"/>
          </a:solidFill>
          <a:ln/>
        </p:spPr>
      </p:sp>
      <p:sp>
        <p:nvSpPr>
          <p:cNvPr id="4" name="winter-icon-circle"/>
          <p:cNvSpPr/>
          <p:nvPr/>
        </p:nvSpPr>
        <p:spPr>
          <a:xfrm>
            <a:off x="1508760" y="2011680"/>
            <a:ext cx="1371600" cy="1371600"/>
          </a:xfrm>
          <a:prstGeom prst="ellipse">
            <a:avLst/>
          </a:prstGeom>
          <a:solidFill>
            <a:schemeClr val="accent2"/>
          </a:solidFill>
          <a:ln/>
        </p:spPr>
      </p:sp>
      <p:pic>
        <p:nvPicPr>
          <p:cNvPr id="5" name="winter-icon" descr="Snowflake icon">    </p:cNvPr>
          <p:cNvPicPr>
            <a:picLocks noChangeAspect="1"/>
          </p:cNvPicPr>
          <p:nvPr/>
        </p:nvPicPr>
        <p:blipFill>
          <a:blip r:embed="rId1"/>
          <a:stretch>
            <a:fillRect/>
          </a:stretch>
        </p:blipFill>
        <p:spPr>
          <a:xfrm>
            <a:off x="1851660" y="2354580"/>
            <a:ext cx="685800" cy="685800"/>
          </a:xfrm>
          <a:prstGeom prst="rect">
            <a:avLst/>
          </a:prstGeom>
        </p:spPr>
      </p:pic>
      <p:sp>
        <p:nvSpPr>
          <p:cNvPr id="6" name="Text 3"/>
          <p:cNvSpPr txBox="1"/>
          <p:nvPr/>
        </p:nvSpPr>
        <p:spPr>
          <a:xfrm>
            <a:off x="822960" y="3657600"/>
            <a:ext cx="2743200" cy="73152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~15 years</a:t>
            </a:r>
            <a:endParaRPr lang="en-US" sz="3600" dirty="0"/>
          </a:p>
        </p:txBody>
      </p:sp>
      <p:sp>
        <p:nvSpPr>
          <p:cNvPr id="7" name="Text 4"/>
          <p:cNvSpPr txBox="1"/>
          <p:nvPr/>
        </p:nvSpPr>
        <p:spPr>
          <a:xfrm>
            <a:off x="822960" y="4389120"/>
            <a:ext cx="2743200" cy="914400"/>
          </a:xfrm>
          <a:prstGeom prst="rect">
            <a:avLst/>
          </a:prstGeom>
          <a:noFill/>
          <a:ln/>
        </p:spPr>
        <p:txBody>
          <a:bodyPr wrap="square" lIns="0" tIns="0" rIns="0" bIns="0" rtlCol="0" anchor="t"/>
          <a:lstStyle/>
          <a:p>
            <a:pPr algn="ctr" indent="0" marL="0">
              <a:buNone/>
            </a:pPr>
            <a:r>
              <a:rPr lang="en-US" sz="1500" dirty="0">
                <a:solidFill>
                  <a:schemeClr val="bg1"/>
                </a:solidFill>
              </a:rPr>
              <a:t>of sharply reduced neural network research and funding</a:t>
            </a:r>
            <a:endParaRPr lang="en-US" sz="1500" dirty="0"/>
          </a:p>
        </p:txBody>
      </p:sp>
      <p:sp>
        <p:nvSpPr>
          <p:cNvPr id="8" name="Text 5"/>
          <p:cNvSpPr txBox="1"/>
          <p:nvPr/>
        </p:nvSpPr>
        <p:spPr>
          <a:xfrm>
            <a:off x="4206240" y="1508760"/>
            <a:ext cx="7406640" cy="365760"/>
          </a:xfrm>
          <a:prstGeom prst="rect">
            <a:avLst/>
          </a:prstGeom>
          <a:noFill/>
          <a:ln/>
        </p:spPr>
        <p:txBody>
          <a:bodyPr wrap="square" lIns="0" tIns="0" rIns="0" bIns="0" rtlCol="0" anchor="t"/>
          <a:lstStyle/>
          <a:p>
            <a:pPr indent="0" marL="0">
              <a:buNone/>
            </a:pPr>
            <a:r>
              <a:rPr lang="en-US" sz="1700" b="1" dirty="0">
                <a:solidFill>
                  <a:schemeClr val="tx1"/>
                </a:solidFill>
              </a:rPr>
              <a:t>The book</a:t>
            </a:r>
            <a:endParaRPr lang="en-US" sz="1700" dirty="0"/>
          </a:p>
        </p:txBody>
      </p:sp>
      <p:sp>
        <p:nvSpPr>
          <p:cNvPr id="9" name="Text 6"/>
          <p:cNvSpPr txBox="1"/>
          <p:nvPr/>
        </p:nvSpPr>
        <p:spPr>
          <a:xfrm>
            <a:off x="4206240" y="1874520"/>
            <a:ext cx="7406640" cy="731520"/>
          </a:xfrm>
          <a:prstGeom prst="rect">
            <a:avLst/>
          </a:prstGeom>
          <a:noFill/>
          <a:ln/>
        </p:spPr>
        <p:txBody>
          <a:bodyPr wrap="square" lIns="0" tIns="0" rIns="0" bIns="0" rtlCol="0" anchor="t"/>
          <a:lstStyle/>
          <a:p>
            <a:pPr indent="0" marL="0">
              <a:buNone/>
            </a:pPr>
            <a:r>
              <a:rPr lang="en-US" sz="1400" dirty="0">
                <a:solidFill>
                  <a:schemeClr val="tx2"/>
                </a:solidFill>
              </a:rPr>
              <a:t>"Perceptrons" (Minsky &amp; Papert, 1969) proved hard limits for single-layer perceptrons. It was widely read as a verdict on neural networks in general.</a:t>
            </a:r>
            <a:endParaRPr lang="en-US" sz="1400" dirty="0"/>
          </a:p>
        </p:txBody>
      </p:sp>
      <p:sp>
        <p:nvSpPr>
          <p:cNvPr id="10" name="Text 7"/>
          <p:cNvSpPr txBox="1"/>
          <p:nvPr/>
        </p:nvSpPr>
        <p:spPr>
          <a:xfrm>
            <a:off x="4206240" y="2651760"/>
            <a:ext cx="7406640" cy="365760"/>
          </a:xfrm>
          <a:prstGeom prst="rect">
            <a:avLst/>
          </a:prstGeom>
          <a:noFill/>
          <a:ln/>
        </p:spPr>
        <p:txBody>
          <a:bodyPr wrap="square" lIns="0" tIns="0" rIns="0" bIns="0" rtlCol="0" anchor="t"/>
          <a:lstStyle/>
          <a:p>
            <a:pPr indent="0" marL="0">
              <a:buNone/>
            </a:pPr>
            <a:r>
              <a:rPr lang="en-US" sz="1700" b="1" dirty="0">
                <a:solidFill>
                  <a:schemeClr val="tx1"/>
                </a:solidFill>
              </a:rPr>
              <a:t>The money</a:t>
            </a:r>
            <a:endParaRPr lang="en-US" sz="1700" dirty="0"/>
          </a:p>
        </p:txBody>
      </p:sp>
      <p:sp>
        <p:nvSpPr>
          <p:cNvPr id="11" name="Text 8"/>
          <p:cNvSpPr txBox="1"/>
          <p:nvPr/>
        </p:nvSpPr>
        <p:spPr>
          <a:xfrm>
            <a:off x="4206240" y="3017520"/>
            <a:ext cx="7406640" cy="731520"/>
          </a:xfrm>
          <a:prstGeom prst="rect">
            <a:avLst/>
          </a:prstGeom>
          <a:noFill/>
          <a:ln/>
        </p:spPr>
        <p:txBody>
          <a:bodyPr wrap="square" lIns="0" tIns="0" rIns="0" bIns="0" rtlCol="0" anchor="t"/>
          <a:lstStyle/>
          <a:p>
            <a:pPr indent="0" marL="0">
              <a:buNone/>
            </a:pPr>
            <a:r>
              <a:rPr lang="en-US" sz="1400" dirty="0">
                <a:solidFill>
                  <a:schemeClr val="tx2"/>
                </a:solidFill>
              </a:rPr>
              <a:t>In the US, the Mansfield Amendment (1969) pushed military research funding toward direct mission needs. In the UK, the Lighthill Report (1973) led to deep cuts across AI.</a:t>
            </a:r>
            <a:endParaRPr lang="en-US" sz="1400" dirty="0"/>
          </a:p>
        </p:txBody>
      </p:sp>
      <p:sp>
        <p:nvSpPr>
          <p:cNvPr id="12" name="Text 9"/>
          <p:cNvSpPr txBox="1"/>
          <p:nvPr/>
        </p:nvSpPr>
        <p:spPr>
          <a:xfrm>
            <a:off x="4206240" y="3794760"/>
            <a:ext cx="7406640" cy="365760"/>
          </a:xfrm>
          <a:prstGeom prst="rect">
            <a:avLst/>
          </a:prstGeom>
          <a:noFill/>
          <a:ln/>
        </p:spPr>
        <p:txBody>
          <a:bodyPr wrap="square" lIns="0" tIns="0" rIns="0" bIns="0" rtlCol="0" anchor="t"/>
          <a:lstStyle/>
          <a:p>
            <a:pPr indent="0" marL="0">
              <a:buNone/>
            </a:pPr>
            <a:r>
              <a:rPr lang="en-US" sz="1700" b="1" dirty="0">
                <a:solidFill>
                  <a:schemeClr val="tx1"/>
                </a:solidFill>
              </a:rPr>
              <a:t>The people</a:t>
            </a:r>
            <a:endParaRPr lang="en-US" sz="1700" dirty="0"/>
          </a:p>
        </p:txBody>
      </p:sp>
      <p:sp>
        <p:nvSpPr>
          <p:cNvPr id="13" name="Text 10"/>
          <p:cNvSpPr txBox="1"/>
          <p:nvPr/>
        </p:nvSpPr>
        <p:spPr>
          <a:xfrm>
            <a:off x="4206240" y="4160520"/>
            <a:ext cx="7406640" cy="731520"/>
          </a:xfrm>
          <a:prstGeom prst="rect">
            <a:avLst/>
          </a:prstGeom>
          <a:noFill/>
          <a:ln/>
        </p:spPr>
        <p:txBody>
          <a:bodyPr wrap="square" lIns="0" tIns="0" rIns="0" bIns="0" rtlCol="0" anchor="t"/>
          <a:lstStyle/>
          <a:p>
            <a:pPr indent="0" marL="0">
              <a:buNone/>
            </a:pPr>
            <a:r>
              <a:rPr lang="en-US" sz="1400" dirty="0">
                <a:solidFill>
                  <a:schemeClr val="tx2"/>
                </a:solidFill>
              </a:rPr>
              <a:t>Rosenblatt died in 1971. Neural network work continued in only a handful of labs, often under other names such as adaptive systems or pattern recognition.</a:t>
            </a:r>
            <a:endParaRPr lang="en-US" sz="1400" dirty="0"/>
          </a:p>
        </p:txBody>
      </p:sp>
      <p:sp>
        <p:nvSpPr>
          <p:cNvPr id="14" name="Text 11"/>
          <p:cNvSpPr txBox="1"/>
          <p:nvPr/>
        </p:nvSpPr>
        <p:spPr>
          <a:xfrm>
            <a:off x="4206240" y="4937760"/>
            <a:ext cx="7406640" cy="365760"/>
          </a:xfrm>
          <a:prstGeom prst="rect">
            <a:avLst/>
          </a:prstGeom>
          <a:noFill/>
          <a:ln/>
        </p:spPr>
        <p:txBody>
          <a:bodyPr wrap="square" lIns="0" tIns="0" rIns="0" bIns="0" rtlCol="0" anchor="t"/>
          <a:lstStyle/>
          <a:p>
            <a:pPr indent="0" marL="0">
              <a:buNone/>
            </a:pPr>
            <a:r>
              <a:rPr lang="en-US" sz="1700" b="1" dirty="0">
                <a:solidFill>
                  <a:schemeClr val="accent3"/>
                </a:solidFill>
              </a:rPr>
              <a:t>The lesson</a:t>
            </a:r>
            <a:endParaRPr lang="en-US" sz="1700" dirty="0"/>
          </a:p>
        </p:txBody>
      </p:sp>
      <p:sp>
        <p:nvSpPr>
          <p:cNvPr id="15" name="Text 12"/>
          <p:cNvSpPr txBox="1"/>
          <p:nvPr/>
        </p:nvSpPr>
        <p:spPr>
          <a:xfrm>
            <a:off x="4206240" y="5303520"/>
            <a:ext cx="7406640" cy="731520"/>
          </a:xfrm>
          <a:prstGeom prst="rect">
            <a:avLst/>
          </a:prstGeom>
          <a:noFill/>
          <a:ln/>
        </p:spPr>
        <p:txBody>
          <a:bodyPr wrap="square" lIns="0" tIns="0" rIns="0" bIns="0" rtlCol="0" anchor="t"/>
          <a:lstStyle/>
          <a:p>
            <a:pPr indent="0" marL="0">
              <a:buNone/>
            </a:pPr>
            <a:r>
              <a:rPr lang="en-US" sz="1400" dirty="0">
                <a:solidFill>
                  <a:schemeClr val="tx2"/>
                </a:solidFill>
              </a:rPr>
              <a:t>Overpromising, plus a real limitation, plus a famous proof, cost the field more than a decade.</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The quiet years planted the seeds of the revival</a:t>
            </a:r>
            <a:endParaRPr lang="en-US" sz="3400" dirty="0"/>
          </a:p>
        </p:txBody>
      </p:sp>
      <p:sp>
        <p:nvSpPr>
          <p:cNvPr id="3" name="seed-card-1974"/>
          <p:cNvSpPr/>
          <p:nvPr/>
        </p:nvSpPr>
        <p:spPr>
          <a:xfrm>
            <a:off x="548640" y="1508760"/>
            <a:ext cx="2606040" cy="4526280"/>
          </a:xfrm>
          <a:prstGeom prst="roundRect">
            <a:avLst>
              <a:gd name="adj" fmla="val 4211"/>
            </a:avLst>
          </a:prstGeom>
          <a:solidFill>
            <a:schemeClr val="bg2"/>
          </a:solidFill>
          <a:ln/>
        </p:spPr>
      </p:sp>
      <p:sp>
        <p:nvSpPr>
          <p:cNvPr id="4" name="Text 2"/>
          <p:cNvSpPr txBox="1"/>
          <p:nvPr/>
        </p:nvSpPr>
        <p:spPr>
          <a:xfrm>
            <a:off x="822960" y="1737360"/>
            <a:ext cx="210312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1974</a:t>
            </a:r>
            <a:endParaRPr lang="en-US" sz="3600" dirty="0"/>
          </a:p>
        </p:txBody>
      </p:sp>
      <p:sp>
        <p:nvSpPr>
          <p:cNvPr id="5" name="Text 3"/>
          <p:cNvSpPr txBox="1"/>
          <p:nvPr/>
        </p:nvSpPr>
        <p:spPr>
          <a:xfrm>
            <a:off x="822960" y="2560320"/>
            <a:ext cx="2103120" cy="685800"/>
          </a:xfrm>
          <a:prstGeom prst="rect">
            <a:avLst/>
          </a:prstGeom>
          <a:noFill/>
          <a:ln/>
        </p:spPr>
        <p:txBody>
          <a:bodyPr wrap="square" lIns="0" tIns="0" rIns="0" bIns="0" rtlCol="0" anchor="t"/>
          <a:lstStyle/>
          <a:p>
            <a:pPr indent="0" marL="0">
              <a:buNone/>
            </a:pPr>
            <a:r>
              <a:rPr lang="en-US" sz="1700" b="1" dirty="0">
                <a:solidFill>
                  <a:schemeClr val="tx1"/>
                </a:solidFill>
              </a:rPr>
              <a:t>Paul Werbos</a:t>
            </a:r>
            <a:endParaRPr lang="en-US" sz="1700" dirty="0"/>
          </a:p>
        </p:txBody>
      </p:sp>
      <p:sp>
        <p:nvSpPr>
          <p:cNvPr id="6" name="Text 4"/>
          <p:cNvSpPr txBox="1"/>
          <p:nvPr/>
        </p:nvSpPr>
        <p:spPr>
          <a:xfrm>
            <a:off x="822960" y="3291840"/>
            <a:ext cx="2103120" cy="2560320"/>
          </a:xfrm>
          <a:prstGeom prst="rect">
            <a:avLst/>
          </a:prstGeom>
          <a:noFill/>
          <a:ln/>
        </p:spPr>
        <p:txBody>
          <a:bodyPr wrap="square" lIns="0" tIns="0" rIns="0" bIns="0" rtlCol="0" anchor="t"/>
          <a:lstStyle/>
          <a:p>
            <a:pPr indent="0" marL="0">
              <a:buNone/>
            </a:pPr>
            <a:r>
              <a:rPr lang="en-US" sz="1400" dirty="0">
                <a:solidFill>
                  <a:schemeClr val="tx2"/>
                </a:solidFill>
              </a:rPr>
              <a:t>Describes training networks by propagating error derivatives backward (backprop) in his Harvard PhD thesis. Few notice.</a:t>
            </a:r>
            <a:endParaRPr lang="en-US" sz="1400" dirty="0"/>
          </a:p>
        </p:txBody>
      </p:sp>
      <p:sp>
        <p:nvSpPr>
          <p:cNvPr id="7" name="seed-card-1980"/>
          <p:cNvSpPr/>
          <p:nvPr/>
        </p:nvSpPr>
        <p:spPr>
          <a:xfrm>
            <a:off x="3383280" y="1508760"/>
            <a:ext cx="2606040" cy="4526280"/>
          </a:xfrm>
          <a:prstGeom prst="roundRect">
            <a:avLst>
              <a:gd name="adj" fmla="val 4211"/>
            </a:avLst>
          </a:prstGeom>
          <a:solidFill>
            <a:schemeClr val="bg2"/>
          </a:solidFill>
          <a:ln/>
        </p:spPr>
      </p:sp>
      <p:sp>
        <p:nvSpPr>
          <p:cNvPr id="8" name="Text 6"/>
          <p:cNvSpPr txBox="1"/>
          <p:nvPr/>
        </p:nvSpPr>
        <p:spPr>
          <a:xfrm>
            <a:off x="3657600" y="1737360"/>
            <a:ext cx="210312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1980</a:t>
            </a:r>
            <a:endParaRPr lang="en-US" sz="3600" dirty="0"/>
          </a:p>
        </p:txBody>
      </p:sp>
      <p:sp>
        <p:nvSpPr>
          <p:cNvPr id="9" name="Text 7"/>
          <p:cNvSpPr txBox="1"/>
          <p:nvPr/>
        </p:nvSpPr>
        <p:spPr>
          <a:xfrm>
            <a:off x="3657600" y="2560320"/>
            <a:ext cx="2103120" cy="685800"/>
          </a:xfrm>
          <a:prstGeom prst="rect">
            <a:avLst/>
          </a:prstGeom>
          <a:noFill/>
          <a:ln/>
        </p:spPr>
        <p:txBody>
          <a:bodyPr wrap="square" lIns="0" tIns="0" rIns="0" bIns="0" rtlCol="0" anchor="t"/>
          <a:lstStyle/>
          <a:p>
            <a:pPr indent="0" marL="0">
              <a:buNone/>
            </a:pPr>
            <a:r>
              <a:rPr lang="en-US" sz="1700" b="1" dirty="0">
                <a:solidFill>
                  <a:schemeClr val="tx1"/>
                </a:solidFill>
              </a:rPr>
              <a:t>Kunihiko Fukushima</a:t>
            </a:r>
            <a:endParaRPr lang="en-US" sz="1700" dirty="0"/>
          </a:p>
        </p:txBody>
      </p:sp>
      <p:sp>
        <p:nvSpPr>
          <p:cNvPr id="10" name="Text 8"/>
          <p:cNvSpPr txBox="1"/>
          <p:nvPr/>
        </p:nvSpPr>
        <p:spPr>
          <a:xfrm>
            <a:off x="3657600" y="3291840"/>
            <a:ext cx="2103120" cy="2560320"/>
          </a:xfrm>
          <a:prstGeom prst="rect">
            <a:avLst/>
          </a:prstGeom>
          <a:noFill/>
          <a:ln/>
        </p:spPr>
        <p:txBody>
          <a:bodyPr wrap="square" lIns="0" tIns="0" rIns="0" bIns="0" rtlCol="0" anchor="t"/>
          <a:lstStyle/>
          <a:p>
            <a:pPr indent="0" marL="0">
              <a:buNone/>
            </a:pPr>
            <a:r>
              <a:rPr lang="en-US" sz="1400" dirty="0">
                <a:solidFill>
                  <a:schemeClr val="tx2"/>
                </a:solidFill>
              </a:rPr>
              <a:t>The Neocognitron: a layered, shift-tolerant vision network and an ancestor of today's CNNs.</a:t>
            </a:r>
            <a:endParaRPr lang="en-US" sz="1400" dirty="0"/>
          </a:p>
        </p:txBody>
      </p:sp>
      <p:sp>
        <p:nvSpPr>
          <p:cNvPr id="11" name="seed-card-1982"/>
          <p:cNvSpPr/>
          <p:nvPr/>
        </p:nvSpPr>
        <p:spPr>
          <a:xfrm>
            <a:off x="6217920" y="1508760"/>
            <a:ext cx="2606040" cy="4526280"/>
          </a:xfrm>
          <a:prstGeom prst="roundRect">
            <a:avLst>
              <a:gd name="adj" fmla="val 4211"/>
            </a:avLst>
          </a:prstGeom>
          <a:solidFill>
            <a:schemeClr val="bg2"/>
          </a:solidFill>
          <a:ln/>
        </p:spPr>
      </p:sp>
      <p:sp>
        <p:nvSpPr>
          <p:cNvPr id="12" name="Text 10"/>
          <p:cNvSpPr txBox="1"/>
          <p:nvPr/>
        </p:nvSpPr>
        <p:spPr>
          <a:xfrm>
            <a:off x="6492240" y="1737360"/>
            <a:ext cx="210312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1982</a:t>
            </a:r>
            <a:endParaRPr lang="en-US" sz="3600" dirty="0"/>
          </a:p>
        </p:txBody>
      </p:sp>
      <p:sp>
        <p:nvSpPr>
          <p:cNvPr id="13" name="Text 11"/>
          <p:cNvSpPr txBox="1"/>
          <p:nvPr/>
        </p:nvSpPr>
        <p:spPr>
          <a:xfrm>
            <a:off x="6492240" y="2560320"/>
            <a:ext cx="2103120" cy="685800"/>
          </a:xfrm>
          <a:prstGeom prst="rect">
            <a:avLst/>
          </a:prstGeom>
          <a:noFill/>
          <a:ln/>
        </p:spPr>
        <p:txBody>
          <a:bodyPr wrap="square" lIns="0" tIns="0" rIns="0" bIns="0" rtlCol="0" anchor="t"/>
          <a:lstStyle/>
          <a:p>
            <a:pPr indent="0" marL="0">
              <a:buNone/>
            </a:pPr>
            <a:r>
              <a:rPr lang="en-US" sz="1700" b="1" dirty="0">
                <a:solidFill>
                  <a:schemeClr val="tx1"/>
                </a:solidFill>
              </a:rPr>
              <a:t>John Hopfield</a:t>
            </a:r>
            <a:endParaRPr lang="en-US" sz="1700" dirty="0"/>
          </a:p>
        </p:txBody>
      </p:sp>
      <p:sp>
        <p:nvSpPr>
          <p:cNvPr id="14" name="Text 12"/>
          <p:cNvSpPr txBox="1"/>
          <p:nvPr/>
        </p:nvSpPr>
        <p:spPr>
          <a:xfrm>
            <a:off x="6492240" y="3291840"/>
            <a:ext cx="2103120" cy="2560320"/>
          </a:xfrm>
          <a:prstGeom prst="rect">
            <a:avLst/>
          </a:prstGeom>
          <a:noFill/>
          <a:ln/>
        </p:spPr>
        <p:txBody>
          <a:bodyPr wrap="square" lIns="0" tIns="0" rIns="0" bIns="0" rtlCol="0" anchor="t"/>
          <a:lstStyle/>
          <a:p>
            <a:pPr indent="0" marL="0">
              <a:buNone/>
            </a:pPr>
            <a:r>
              <a:rPr lang="en-US" sz="1400" dirty="0">
                <a:solidFill>
                  <a:schemeClr val="tx2"/>
                </a:solidFill>
              </a:rPr>
              <a:t>Recurrent networks as energy-minimizing systems. Brings physicists and new attention to the field.</a:t>
            </a:r>
            <a:endParaRPr lang="en-US" sz="1400" dirty="0"/>
          </a:p>
        </p:txBody>
      </p:sp>
      <p:sp>
        <p:nvSpPr>
          <p:cNvPr id="15" name="seed-card-1986"/>
          <p:cNvSpPr/>
          <p:nvPr/>
        </p:nvSpPr>
        <p:spPr>
          <a:xfrm>
            <a:off x="9052560" y="1508760"/>
            <a:ext cx="2606040" cy="4526280"/>
          </a:xfrm>
          <a:prstGeom prst="roundRect">
            <a:avLst>
              <a:gd name="adj" fmla="val 4211"/>
            </a:avLst>
          </a:prstGeom>
          <a:solidFill>
            <a:schemeClr val="tx1"/>
          </a:solidFill>
          <a:ln/>
        </p:spPr>
      </p:sp>
      <p:sp>
        <p:nvSpPr>
          <p:cNvPr id="16" name="Text 14"/>
          <p:cNvSpPr txBox="1"/>
          <p:nvPr/>
        </p:nvSpPr>
        <p:spPr>
          <a:xfrm>
            <a:off x="9326880" y="1737360"/>
            <a:ext cx="210312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1986</a:t>
            </a:r>
            <a:endParaRPr lang="en-US" sz="3600" dirty="0"/>
          </a:p>
        </p:txBody>
      </p:sp>
      <p:sp>
        <p:nvSpPr>
          <p:cNvPr id="17" name="Text 15"/>
          <p:cNvSpPr txBox="1"/>
          <p:nvPr/>
        </p:nvSpPr>
        <p:spPr>
          <a:xfrm>
            <a:off x="9326880" y="2560320"/>
            <a:ext cx="2103120" cy="685800"/>
          </a:xfrm>
          <a:prstGeom prst="rect">
            <a:avLst/>
          </a:prstGeom>
          <a:noFill/>
          <a:ln/>
        </p:spPr>
        <p:txBody>
          <a:bodyPr wrap="square" lIns="0" tIns="0" rIns="0" bIns="0" rtlCol="0" anchor="t"/>
          <a:lstStyle/>
          <a:p>
            <a:pPr indent="0" marL="0">
              <a:buNone/>
            </a:pPr>
            <a:r>
              <a:rPr lang="en-US" sz="1700" b="1" dirty="0">
                <a:solidFill>
                  <a:schemeClr val="bg1"/>
                </a:solidFill>
              </a:rPr>
              <a:t>Rumelhart, Hinton &amp; Williams</a:t>
            </a:r>
            <a:endParaRPr lang="en-US" sz="1700" dirty="0"/>
          </a:p>
        </p:txBody>
      </p:sp>
      <p:sp>
        <p:nvSpPr>
          <p:cNvPr id="18" name="Text 16"/>
          <p:cNvSpPr txBox="1"/>
          <p:nvPr/>
        </p:nvSpPr>
        <p:spPr>
          <a:xfrm>
            <a:off x="9326880" y="3291840"/>
            <a:ext cx="2103120" cy="2560320"/>
          </a:xfrm>
          <a:prstGeom prst="rect">
            <a:avLst/>
          </a:prstGeom>
          <a:noFill/>
          <a:ln/>
        </p:spPr>
        <p:txBody>
          <a:bodyPr wrap="square" lIns="0" tIns="0" rIns="0" bIns="0" rtlCol="0" anchor="t"/>
          <a:lstStyle/>
          <a:p>
            <a:pPr indent="0" marL="0">
              <a:buNone/>
            </a:pPr>
            <a:r>
              <a:rPr lang="en-US" sz="1400" dirty="0">
                <a:solidFill>
                  <a:schemeClr val="accent6"/>
                </a:solidFill>
              </a:rPr>
              <a:t>"Learning representations by back-propagating errors" (Nature) and the PDP volumes: hidden layers can be trained.</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Why stop at one neuron?</a:t>
            </a:r>
            <a:endParaRPr lang="en-US" sz="3400" dirty="0"/>
          </a:p>
        </p:txBody>
      </p:sp>
      <p:sp>
        <p:nvSpPr>
          <p:cNvPr id="3" name="network-frame"/>
          <p:cNvSpPr/>
          <p:nvPr/>
        </p:nvSpPr>
        <p:spPr>
          <a:xfrm>
            <a:off x="2118208" y="1371600"/>
            <a:ext cx="7955280" cy="3153583"/>
          </a:xfrm>
          <a:prstGeom prst="roundRect">
            <a:avLst>
              <a:gd name="adj" fmla="val 3479"/>
            </a:avLst>
          </a:prstGeom>
          <a:solidFill>
            <a:schemeClr val="bg2"/>
          </a:solidFill>
          <a:ln/>
        </p:spPr>
      </p:sp>
      <p:pic>
        <p:nvPicPr>
          <p:cNvPr id="4" name="blog-network" descr="Left: biological structure of interconnected neurons. Right: inspired network with an input layer, two hidden layers and an output layer">    </p:cNvPr>
          <p:cNvPicPr>
            <a:picLocks noChangeAspect="1"/>
          </p:cNvPicPr>
          <p:nvPr/>
        </p:nvPicPr>
        <p:blipFill>
          <a:blip r:embed="rId1"/>
          <a:stretch>
            <a:fillRect/>
          </a:stretch>
        </p:blipFill>
        <p:spPr>
          <a:xfrm>
            <a:off x="2255368" y="1481328"/>
            <a:ext cx="7680960" cy="2924983"/>
          </a:xfrm>
          <a:prstGeom prst="rect">
            <a:avLst/>
          </a:prstGeom>
        </p:spPr>
      </p:pic>
      <p:sp>
        <p:nvSpPr>
          <p:cNvPr id="5" name="Text 2"/>
          <p:cNvSpPr txBox="1"/>
          <p:nvPr/>
        </p:nvSpPr>
        <p:spPr>
          <a:xfrm>
            <a:off x="548640" y="4589191"/>
            <a:ext cx="7315200" cy="201168"/>
          </a:xfrm>
          <a:prstGeom prst="rect">
            <a:avLst/>
          </a:prstGeom>
          <a:noFill/>
          <a:ln/>
        </p:spPr>
        <p:txBody>
          <a:bodyPr wrap="square" lIns="0" tIns="0" rIns="0" bIns="0" rtlCol="0" anchor="t"/>
          <a:lstStyle/>
          <a:p>
            <a:pPr indent="0" marL="0">
              <a:buNone/>
            </a:pPr>
            <a:r>
              <a:rPr lang="en-US" sz="1000" i="1" dirty="0">
                <a:solidFill>
                  <a:schemeClr val="accent5"/>
                </a:solidFill>
              </a:rPr>
              <a:t>Figure: Chandra Prakash Bathula, Deep Learning series, Part 1 (Towards AI)</a:t>
            </a:r>
            <a:endParaRPr lang="en-US" sz="1000" dirty="0"/>
          </a:p>
        </p:txBody>
      </p:sp>
      <p:sp>
        <p:nvSpPr>
          <p:cNvPr id="6" name="Text 3"/>
          <p:cNvSpPr txBox="1"/>
          <p:nvPr/>
        </p:nvSpPr>
        <p:spPr>
          <a:xfrm>
            <a:off x="548640" y="4954951"/>
            <a:ext cx="3520440" cy="365760"/>
          </a:xfrm>
          <a:prstGeom prst="rect">
            <a:avLst/>
          </a:prstGeom>
          <a:noFill/>
          <a:ln/>
        </p:spPr>
        <p:txBody>
          <a:bodyPr wrap="square" lIns="0" tIns="0" rIns="0" bIns="0" rtlCol="0" anchor="t"/>
          <a:lstStyle/>
          <a:p>
            <a:pPr indent="0" marL="0">
              <a:buNone/>
            </a:pPr>
            <a:r>
              <a:rPr lang="en-US" sz="1700" b="1" dirty="0">
                <a:solidFill>
                  <a:schemeClr val="accent2"/>
                </a:solidFill>
              </a:rPr>
              <a:t>A neuron never works alone</a:t>
            </a:r>
            <a:endParaRPr lang="en-US" sz="1700" dirty="0"/>
          </a:p>
        </p:txBody>
      </p:sp>
      <p:sp>
        <p:nvSpPr>
          <p:cNvPr id="7" name="Text 4"/>
          <p:cNvSpPr txBox="1"/>
          <p:nvPr/>
        </p:nvSpPr>
        <p:spPr>
          <a:xfrm>
            <a:off x="548640" y="5338999"/>
            <a:ext cx="3520440" cy="914400"/>
          </a:xfrm>
          <a:prstGeom prst="rect">
            <a:avLst/>
          </a:prstGeom>
          <a:noFill/>
          <a:ln/>
        </p:spPr>
        <p:txBody>
          <a:bodyPr wrap="square" lIns="0" tIns="0" rIns="0" bIns="0" rtlCol="0" anchor="t"/>
          <a:lstStyle/>
          <a:p>
            <a:pPr indent="0" marL="0">
              <a:buNone/>
            </a:pPr>
            <a:r>
              <a:rPr lang="en-US" sz="1400" dirty="0">
                <a:solidFill>
                  <a:schemeClr val="tx2"/>
                </a:solidFill>
              </a:rPr>
              <a:t>In the brain, every neuron sits in a dense web of connections. So researchers asked: why limit the model to one?</a:t>
            </a:r>
            <a:endParaRPr lang="en-US" sz="1400" dirty="0"/>
          </a:p>
        </p:txBody>
      </p:sp>
      <p:sp>
        <p:nvSpPr>
          <p:cNvPr id="8" name="Text 5"/>
          <p:cNvSpPr txBox="1"/>
          <p:nvPr/>
        </p:nvSpPr>
        <p:spPr>
          <a:xfrm>
            <a:off x="4297680" y="4954951"/>
            <a:ext cx="3520440" cy="365760"/>
          </a:xfrm>
          <a:prstGeom prst="rect">
            <a:avLst/>
          </a:prstGeom>
          <a:noFill/>
          <a:ln/>
        </p:spPr>
        <p:txBody>
          <a:bodyPr wrap="square" lIns="0" tIns="0" rIns="0" bIns="0" rtlCol="0" anchor="t"/>
          <a:lstStyle/>
          <a:p>
            <a:pPr indent="0" marL="0">
              <a:buNone/>
            </a:pPr>
            <a:r>
              <a:rPr lang="en-US" sz="1700" b="1" dirty="0">
                <a:solidFill>
                  <a:schemeClr val="accent3"/>
                </a:solidFill>
              </a:rPr>
              <a:t>1969: one layer hits a wall</a:t>
            </a:r>
            <a:endParaRPr lang="en-US" sz="1700" dirty="0"/>
          </a:p>
        </p:txBody>
      </p:sp>
      <p:sp>
        <p:nvSpPr>
          <p:cNvPr id="9" name="Text 6"/>
          <p:cNvSpPr txBox="1"/>
          <p:nvPr/>
        </p:nvSpPr>
        <p:spPr>
          <a:xfrm>
            <a:off x="4297680" y="5338999"/>
            <a:ext cx="3520440" cy="914400"/>
          </a:xfrm>
          <a:prstGeom prst="rect">
            <a:avLst/>
          </a:prstGeom>
          <a:noFill/>
          <a:ln/>
        </p:spPr>
        <p:txBody>
          <a:bodyPr wrap="square" lIns="0" tIns="0" rIns="0" bIns="0" rtlCol="0" anchor="t"/>
          <a:lstStyle/>
          <a:p>
            <a:pPr indent="0" marL="0">
              <a:buNone/>
            </a:pPr>
            <a:r>
              <a:rPr lang="en-US" sz="1400" dirty="0">
                <a:solidFill>
                  <a:schemeClr val="tx2"/>
                </a:solidFill>
              </a:rPr>
              <a:t>A single perceptron draws one straight line, so XOR is impossible. Layers can solve it, but nobody could train them.</a:t>
            </a:r>
            <a:endParaRPr lang="en-US" sz="1400" dirty="0"/>
          </a:p>
        </p:txBody>
      </p:sp>
      <p:sp>
        <p:nvSpPr>
          <p:cNvPr id="10" name="Text 7"/>
          <p:cNvSpPr txBox="1"/>
          <p:nvPr/>
        </p:nvSpPr>
        <p:spPr>
          <a:xfrm>
            <a:off x="8046720" y="4954951"/>
            <a:ext cx="3520440" cy="365760"/>
          </a:xfrm>
          <a:prstGeom prst="rect">
            <a:avLst/>
          </a:prstGeom>
          <a:noFill/>
          <a:ln/>
        </p:spPr>
        <p:txBody>
          <a:bodyPr wrap="square" lIns="0" tIns="0" rIns="0" bIns="0" rtlCol="0" anchor="t"/>
          <a:lstStyle/>
          <a:p>
            <a:pPr indent="0" marL="0">
              <a:buNone/>
            </a:pPr>
            <a:r>
              <a:rPr lang="en-US" sz="1700" b="1" dirty="0">
                <a:solidFill>
                  <a:schemeClr val="accent1"/>
                </a:solidFill>
              </a:rPr>
              <a:t>1986: backprop trains the layers</a:t>
            </a:r>
            <a:endParaRPr lang="en-US" sz="1700" dirty="0"/>
          </a:p>
        </p:txBody>
      </p:sp>
      <p:sp>
        <p:nvSpPr>
          <p:cNvPr id="11" name="Text 8"/>
          <p:cNvSpPr txBox="1"/>
          <p:nvPr/>
        </p:nvSpPr>
        <p:spPr>
          <a:xfrm>
            <a:off x="8046720" y="5338999"/>
            <a:ext cx="3520440" cy="914400"/>
          </a:xfrm>
          <a:prstGeom prst="rect">
            <a:avLst/>
          </a:prstGeom>
          <a:noFill/>
          <a:ln/>
        </p:spPr>
        <p:txBody>
          <a:bodyPr wrap="square" lIns="0" tIns="0" rIns="0" bIns="0" rtlCol="0" anchor="t"/>
          <a:lstStyle/>
          <a:p>
            <a:pPr indent="0" marL="0">
              <a:buNone/>
            </a:pPr>
            <a:r>
              <a:rPr lang="en-US" sz="1400" dirty="0">
                <a:solidFill>
                  <a:schemeClr val="tx2"/>
                </a:solidFill>
              </a:rPr>
              <a:t>Rumelhart, Hinton and Williams used the chain rule to send the error back through every hidden layer.</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What changed between 1958 and 1986</a:t>
            </a:r>
            <a:endParaRPr lang="en-US" sz="3400" dirty="0"/>
          </a:p>
        </p:txBody>
      </p:sp>
      <p:graphicFrame>
        <p:nvGraphicFramePr>
          <p:cNvPr id="29" name="compar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377440"/>
                <a:gridCol w="4206240"/>
                <a:gridCol w="4507992"/>
              </a:tblGrid>
              <a:tr h="566928">
                <a:tc>
                  <a:txBody>
                    <a:bodyPr/>
                    <a:lstStyle/>
                    <a:p>
                      <a:pPr indent="0" marL="0">
                        <a:buNone/>
                      </a:pPr>
                      <a:endParaRPr lang="en-US" sz="16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Perceptron (1958)</a:t>
                      </a:r>
                      <a:endParaRPr lang="en-US" sz="16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MLP + backprop (1986)</a:t>
                      </a:r>
                      <a:endParaRPr lang="en-US" sz="16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accent2"/>
                    </a:solidFill>
                  </a:tcPr>
                </a:tc>
              </a:tr>
              <a:tr h="566928">
                <a:tc>
                  <a:txBody>
                    <a:bodyPr/>
                    <a:lstStyle/>
                    <a:p>
                      <a:pPr indent="0" marL="0">
                        <a:buNone/>
                      </a:pPr>
                      <a:r>
                        <a:rPr lang="en-US" sz="1500" b="1" dirty="0">
                          <a:solidFill>
                            <a:schemeClr val="tx1"/>
                          </a:solidFill>
                        </a:rPr>
                        <a:t>Trainable layers</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500" dirty="0">
                          <a:solidFill>
                            <a:schemeClr val="tx2"/>
                          </a:solidFill>
                        </a:rPr>
                        <a:t>One</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500" dirty="0">
                          <a:solidFill>
                            <a:schemeClr val="tx2"/>
                          </a:solidFill>
                        </a:rPr>
                        <a:t>Several, including hidden layers</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chemeClr val="tx1"/>
                          </a:solidFill>
                        </a:rPr>
                        <a:t>Activation</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500" dirty="0">
                          <a:solidFill>
                            <a:schemeClr val="tx2"/>
                          </a:solidFill>
                        </a:rPr>
                        <a:t>Step: no useful gradient</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500" dirty="0">
                          <a:solidFill>
                            <a:schemeClr val="tx2"/>
                          </a:solidFill>
                        </a:rPr>
                        <a:t>Sigmoid: smooth and differentiable</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chemeClr val="tx1"/>
                          </a:solidFill>
                        </a:rPr>
                        <a:t>Learning rule</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500" dirty="0">
                          <a:solidFill>
                            <a:schemeClr val="tx2"/>
                          </a:solidFill>
                        </a:rPr>
                        <a:t>Error correction on output weights only</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500" dirty="0">
                          <a:solidFill>
                            <a:schemeClr val="tx2"/>
                          </a:solidFill>
                        </a:rPr>
                        <a:t>Chain rule sends the error back to every weight</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chemeClr val="tx1"/>
                          </a:solidFill>
                        </a:rPr>
                        <a:t>Features</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500" dirty="0">
                          <a:solidFill>
                            <a:schemeClr val="tx2"/>
                          </a:solidFill>
                        </a:rPr>
                        <a:t>Designed by hand</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500" dirty="0">
                          <a:solidFill>
                            <a:schemeClr val="tx2"/>
                          </a:solidFill>
                        </a:rPr>
                        <a:t>Learned as internal representations</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chemeClr val="tx1"/>
                          </a:solidFill>
                        </a:rPr>
                        <a:t>XOR</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3"/>
                          </a:solidFill>
                        </a:rPr>
                        <a:t>Impossible</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4"/>
                          </a:solidFill>
                        </a:rPr>
                        <a:t>Solved</a:t>
                      </a:r>
                      <a:endParaRPr lang="en-US" sz="1500" dirty="0"/>
                    </a:p>
                  </a:txBody>
                  <a:tcPr marL="137160" marR="137160" marT="54864" marB="54864"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sp>
        <p:nvSpPr>
          <p:cNvPr id="4" name="compare-callout"/>
          <p:cNvSpPr/>
          <p:nvPr/>
        </p:nvSpPr>
        <p:spPr>
          <a:xfrm>
            <a:off x="548640" y="5257800"/>
            <a:ext cx="11091672" cy="777240"/>
          </a:xfrm>
          <a:prstGeom prst="roundRect">
            <a:avLst>
              <a:gd name="adj" fmla="val 14118"/>
            </a:avLst>
          </a:prstGeom>
          <a:solidFill>
            <a:schemeClr val="accent1"/>
          </a:solidFill>
          <a:ln/>
        </p:spPr>
      </p:sp>
      <p:sp>
        <p:nvSpPr>
          <p:cNvPr id="5" name="Text 2"/>
          <p:cNvSpPr txBox="1"/>
          <p:nvPr/>
        </p:nvSpPr>
        <p:spPr>
          <a:xfrm>
            <a:off x="868680" y="5257800"/>
            <a:ext cx="10515600" cy="777240"/>
          </a:xfrm>
          <a:prstGeom prst="rect">
            <a:avLst/>
          </a:prstGeom>
          <a:noFill/>
          <a:ln/>
        </p:spPr>
        <p:txBody>
          <a:bodyPr wrap="square" lIns="0" tIns="0" rIns="0" bIns="0" rtlCol="0" anchor="ctr"/>
          <a:lstStyle/>
          <a:p>
            <a:pPr indent="0" marL="0">
              <a:buNone/>
            </a:pPr>
            <a:r>
              <a:rPr lang="en-US" sz="1700" b="1" dirty="0">
                <a:solidFill>
                  <a:schemeClr val="tx1"/>
                </a:solidFill>
              </a:rPr>
              <a:t>The neuron barely changed. What changed was a differentiable activation and a way to assign blame to hidden units.</a:t>
            </a:r>
            <a:endParaRPr lang="en-US" sz="17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After 1986: deeper networks broke backprop, then came 2012</a:t>
            </a:r>
            <a:endParaRPr lang="en-US" sz="3400" dirty="0"/>
          </a:p>
        </p:txBody>
      </p:sp>
      <p:sp>
        <p:nvSpPr>
          <p:cNvPr id="3" name="depth-frame"/>
          <p:cNvSpPr/>
          <p:nvPr/>
        </p:nvSpPr>
        <p:spPr>
          <a:xfrm>
            <a:off x="548640" y="1417320"/>
            <a:ext cx="7772400" cy="2624300"/>
          </a:xfrm>
          <a:prstGeom prst="roundRect">
            <a:avLst>
              <a:gd name="adj" fmla="val 4181"/>
            </a:avLst>
          </a:prstGeom>
          <a:solidFill>
            <a:schemeClr val="bg2"/>
          </a:solidFill>
          <a:ln/>
        </p:spPr>
      </p:sp>
      <p:pic>
        <p:nvPicPr>
          <p:cNvPr id="4" name="blog-depth" descr="A 2-layered network and an N-layered network: as layers increase, backpropagation fails">    </p:cNvPr>
          <p:cNvPicPr>
            <a:picLocks noChangeAspect="1"/>
          </p:cNvPicPr>
          <p:nvPr/>
        </p:nvPicPr>
        <p:blipFill>
          <a:blip r:embed="rId1"/>
          <a:stretch>
            <a:fillRect/>
          </a:stretch>
        </p:blipFill>
        <p:spPr>
          <a:xfrm>
            <a:off x="685800" y="1527048"/>
            <a:ext cx="7498080" cy="2395700"/>
          </a:xfrm>
          <a:prstGeom prst="rect">
            <a:avLst/>
          </a:prstGeom>
        </p:spPr>
      </p:pic>
      <p:sp>
        <p:nvSpPr>
          <p:cNvPr id="5" name="Text 2"/>
          <p:cNvSpPr txBox="1"/>
          <p:nvPr/>
        </p:nvSpPr>
        <p:spPr>
          <a:xfrm>
            <a:off x="548640" y="4105628"/>
            <a:ext cx="7315200" cy="201168"/>
          </a:xfrm>
          <a:prstGeom prst="rect">
            <a:avLst/>
          </a:prstGeom>
          <a:noFill/>
          <a:ln/>
        </p:spPr>
        <p:txBody>
          <a:bodyPr wrap="square" lIns="0" tIns="0" rIns="0" bIns="0" rtlCol="0" anchor="t"/>
          <a:lstStyle/>
          <a:p>
            <a:pPr indent="0" marL="0">
              <a:buNone/>
            </a:pPr>
            <a:r>
              <a:rPr lang="en-US" sz="1000" i="1" dirty="0">
                <a:solidFill>
                  <a:schemeClr val="accent5"/>
                </a:solidFill>
              </a:rPr>
              <a:t>Figure: Chandra Prakash Bathula, Deep Learning series, Part 1 (Towards AI)</a:t>
            </a:r>
            <a:endParaRPr lang="en-US" sz="1000" dirty="0"/>
          </a:p>
        </p:txBody>
      </p:sp>
      <p:sp>
        <p:nvSpPr>
          <p:cNvPr id="6" name="vanish-card"/>
          <p:cNvSpPr/>
          <p:nvPr/>
        </p:nvSpPr>
        <p:spPr>
          <a:xfrm>
            <a:off x="8595360" y="1417320"/>
            <a:ext cx="3044952" cy="2624300"/>
          </a:xfrm>
          <a:prstGeom prst="roundRect">
            <a:avLst>
              <a:gd name="adj" fmla="val 4181"/>
            </a:avLst>
          </a:prstGeom>
          <a:solidFill>
            <a:schemeClr val="tx1"/>
          </a:solidFill>
          <a:ln/>
        </p:spPr>
      </p:sp>
      <p:sp>
        <p:nvSpPr>
          <p:cNvPr id="7" name="Text 4"/>
          <p:cNvSpPr txBox="1"/>
          <p:nvPr/>
        </p:nvSpPr>
        <p:spPr>
          <a:xfrm>
            <a:off x="8778240" y="1508760"/>
            <a:ext cx="26974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 10⁻⁶</a:t>
            </a:r>
            <a:endParaRPr lang="en-US" sz="3600" dirty="0"/>
          </a:p>
        </p:txBody>
      </p:sp>
      <p:sp>
        <p:nvSpPr>
          <p:cNvPr id="8" name="Text 5"/>
          <p:cNvSpPr txBox="1"/>
          <p:nvPr/>
        </p:nvSpPr>
        <p:spPr>
          <a:xfrm>
            <a:off x="8778240" y="2240280"/>
            <a:ext cx="2697480" cy="822960"/>
          </a:xfrm>
          <a:prstGeom prst="rect">
            <a:avLst/>
          </a:prstGeom>
          <a:noFill/>
          <a:ln/>
        </p:spPr>
        <p:txBody>
          <a:bodyPr wrap="square" lIns="0" tIns="0" rIns="0" bIns="0" rtlCol="0" anchor="t"/>
          <a:lstStyle/>
          <a:p>
            <a:pPr indent="0" marL="0">
              <a:buNone/>
            </a:pPr>
            <a:r>
              <a:rPr lang="en-US" sz="1300" dirty="0">
                <a:solidFill>
                  <a:schemeClr val="bg1"/>
                </a:solidFill>
              </a:rPr>
              <a:t>gradient left after 10 sigmoid layers (0.25 per layer, at best)</a:t>
            </a:r>
            <a:endParaRPr lang="en-US" sz="1300" dirty="0"/>
          </a:p>
        </p:txBody>
      </p:sp>
      <p:sp>
        <p:nvSpPr>
          <p:cNvPr id="9" name="after-card-0"/>
          <p:cNvSpPr/>
          <p:nvPr/>
        </p:nvSpPr>
        <p:spPr>
          <a:xfrm>
            <a:off x="548640" y="4498820"/>
            <a:ext cx="3520440" cy="1581940"/>
          </a:xfrm>
          <a:prstGeom prst="roundRect">
            <a:avLst>
              <a:gd name="adj" fmla="val 6936"/>
            </a:avLst>
          </a:prstGeom>
          <a:solidFill>
            <a:schemeClr val="bg2"/>
          </a:solidFill>
          <a:ln/>
        </p:spPr>
      </p:sp>
      <p:sp>
        <p:nvSpPr>
          <p:cNvPr id="10" name="Text 7"/>
          <p:cNvSpPr txBox="1"/>
          <p:nvPr/>
        </p:nvSpPr>
        <p:spPr>
          <a:xfrm>
            <a:off x="777240" y="4635980"/>
            <a:ext cx="3108960" cy="365760"/>
          </a:xfrm>
          <a:prstGeom prst="rect">
            <a:avLst/>
          </a:prstGeom>
          <a:noFill/>
          <a:ln/>
        </p:spPr>
        <p:txBody>
          <a:bodyPr wrap="square" lIns="0" tIns="0" rIns="0" bIns="0" rtlCol="0" anchor="t"/>
          <a:lstStyle/>
          <a:p>
            <a:pPr indent="0" marL="0">
              <a:buNone/>
            </a:pPr>
            <a:r>
              <a:rPr lang="en-US" sz="1600" b="1" dirty="0">
                <a:solidFill>
                  <a:schemeClr val="accent3"/>
                </a:solidFill>
                <a:latin typeface="Cambria" pitchFamily="34" charset="0"/>
                <a:ea typeface="Cambria" pitchFamily="34" charset="-122"/>
                <a:cs typeface="Cambria" pitchFamily="34" charset="-120"/>
              </a:rPr>
              <a:t>Late 1980s to 2000s</a:t>
            </a:r>
            <a:endParaRPr lang="en-US" sz="1600" dirty="0"/>
          </a:p>
        </p:txBody>
      </p:sp>
      <p:sp>
        <p:nvSpPr>
          <p:cNvPr id="11" name="Text 8"/>
          <p:cNvSpPr txBox="1"/>
          <p:nvPr/>
        </p:nvSpPr>
        <p:spPr>
          <a:xfrm>
            <a:off x="777240" y="5001740"/>
            <a:ext cx="3108960" cy="347472"/>
          </a:xfrm>
          <a:prstGeom prst="rect">
            <a:avLst/>
          </a:prstGeom>
          <a:noFill/>
          <a:ln/>
        </p:spPr>
        <p:txBody>
          <a:bodyPr wrap="square" lIns="0" tIns="0" rIns="0" bIns="0" rtlCol="0" anchor="t"/>
          <a:lstStyle/>
          <a:p>
            <a:pPr indent="0" marL="0">
              <a:buNone/>
            </a:pPr>
            <a:r>
              <a:rPr lang="en-US" sz="1500" b="1" dirty="0">
                <a:solidFill>
                  <a:schemeClr val="tx1"/>
                </a:solidFill>
              </a:rPr>
              <a:t>Second slump</a:t>
            </a:r>
            <a:endParaRPr lang="en-US" sz="1500" dirty="0"/>
          </a:p>
        </p:txBody>
      </p:sp>
      <p:sp>
        <p:nvSpPr>
          <p:cNvPr id="12" name="Text 9"/>
          <p:cNvSpPr txBox="1"/>
          <p:nvPr/>
        </p:nvSpPr>
        <p:spPr>
          <a:xfrm>
            <a:off x="777240" y="5367500"/>
            <a:ext cx="3108960" cy="1097280"/>
          </a:xfrm>
          <a:prstGeom prst="rect">
            <a:avLst/>
          </a:prstGeom>
          <a:noFill/>
          <a:ln/>
        </p:spPr>
        <p:txBody>
          <a:bodyPr wrap="square" lIns="0" tIns="0" rIns="0" bIns="0" rtlCol="0" anchor="t"/>
          <a:lstStyle/>
          <a:p>
            <a:pPr indent="0" marL="0">
              <a:buNone/>
            </a:pPr>
            <a:r>
              <a:rPr lang="en-US" sz="1300" dirty="0">
                <a:solidFill>
                  <a:schemeClr val="tx2"/>
                </a:solidFill>
              </a:rPr>
              <a:t>Too little data and compute. Promises outran results, and SVMs, random forests and boosted trees took over.</a:t>
            </a:r>
            <a:endParaRPr lang="en-US" sz="1300" dirty="0"/>
          </a:p>
        </p:txBody>
      </p:sp>
      <p:sp>
        <p:nvSpPr>
          <p:cNvPr id="13" name="after-card-1"/>
          <p:cNvSpPr/>
          <p:nvPr/>
        </p:nvSpPr>
        <p:spPr>
          <a:xfrm>
            <a:off x="4297680" y="4498820"/>
            <a:ext cx="3520440" cy="1581940"/>
          </a:xfrm>
          <a:prstGeom prst="roundRect">
            <a:avLst>
              <a:gd name="adj" fmla="val 6936"/>
            </a:avLst>
          </a:prstGeom>
          <a:solidFill>
            <a:schemeClr val="bg2"/>
          </a:solidFill>
          <a:ln/>
        </p:spPr>
      </p:sp>
      <p:sp>
        <p:nvSpPr>
          <p:cNvPr id="14" name="Text 11"/>
          <p:cNvSpPr txBox="1"/>
          <p:nvPr/>
        </p:nvSpPr>
        <p:spPr>
          <a:xfrm>
            <a:off x="4526280" y="4635980"/>
            <a:ext cx="3108960" cy="365760"/>
          </a:xfrm>
          <a:prstGeom prst="rect">
            <a:avLst/>
          </a:prstGeom>
          <a:noFill/>
          <a:ln/>
        </p:spPr>
        <p:txBody>
          <a:bodyPr wrap="square" lIns="0" tIns="0" rIns="0" bIns="0" rtlCol="0" anchor="t"/>
          <a:lstStyle/>
          <a:p>
            <a:pPr indent="0" marL="0">
              <a:buNone/>
            </a:pPr>
            <a:r>
              <a:rPr lang="en-US" sz="1600" b="1" dirty="0">
                <a:solidFill>
                  <a:schemeClr val="accent1"/>
                </a:solidFill>
                <a:latin typeface="Cambria" pitchFamily="34" charset="0"/>
                <a:ea typeface="Cambria" pitchFamily="34" charset="-122"/>
                <a:cs typeface="Cambria" pitchFamily="34" charset="-120"/>
              </a:rPr>
              <a:t>2006</a:t>
            </a:r>
            <a:endParaRPr lang="en-US" sz="1600" dirty="0"/>
          </a:p>
        </p:txBody>
      </p:sp>
      <p:sp>
        <p:nvSpPr>
          <p:cNvPr id="15" name="Text 12"/>
          <p:cNvSpPr txBox="1"/>
          <p:nvPr/>
        </p:nvSpPr>
        <p:spPr>
          <a:xfrm>
            <a:off x="4526280" y="5001740"/>
            <a:ext cx="3108960" cy="347472"/>
          </a:xfrm>
          <a:prstGeom prst="rect">
            <a:avLst/>
          </a:prstGeom>
          <a:noFill/>
          <a:ln/>
        </p:spPr>
        <p:txBody>
          <a:bodyPr wrap="square" lIns="0" tIns="0" rIns="0" bIns="0" rtlCol="0" anchor="t"/>
          <a:lstStyle/>
          <a:p>
            <a:pPr indent="0" marL="0">
              <a:buNone/>
            </a:pPr>
            <a:r>
              <a:rPr lang="en-US" sz="1500" b="1" dirty="0">
                <a:solidFill>
                  <a:schemeClr val="tx1"/>
                </a:solidFill>
              </a:rPr>
              <a:t>Deep belief nets</a:t>
            </a:r>
            <a:endParaRPr lang="en-US" sz="1500" dirty="0"/>
          </a:p>
        </p:txBody>
      </p:sp>
      <p:sp>
        <p:nvSpPr>
          <p:cNvPr id="16" name="Text 13"/>
          <p:cNvSpPr txBox="1"/>
          <p:nvPr/>
        </p:nvSpPr>
        <p:spPr>
          <a:xfrm>
            <a:off x="4526280" y="5367500"/>
            <a:ext cx="3108960" cy="1097280"/>
          </a:xfrm>
          <a:prstGeom prst="rect">
            <a:avLst/>
          </a:prstGeom>
          <a:noFill/>
          <a:ln/>
        </p:spPr>
        <p:txBody>
          <a:bodyPr wrap="square" lIns="0" tIns="0" rIns="0" bIns="0" rtlCol="0" anchor="t"/>
          <a:lstStyle/>
          <a:p>
            <a:pPr indent="0" marL="0">
              <a:buNone/>
            </a:pPr>
            <a:r>
              <a:rPr lang="en-US" sz="1300" dirty="0">
                <a:solidFill>
                  <a:schemeClr val="tx2"/>
                </a:solidFill>
              </a:rPr>
              <a:t>Hinton and colleagues train deep networks one layer at a time, laying the groundwork for modern deep learning.</a:t>
            </a:r>
            <a:endParaRPr lang="en-US" sz="1300" dirty="0"/>
          </a:p>
        </p:txBody>
      </p:sp>
      <p:sp>
        <p:nvSpPr>
          <p:cNvPr id="17" name="after-card-2"/>
          <p:cNvSpPr/>
          <p:nvPr/>
        </p:nvSpPr>
        <p:spPr>
          <a:xfrm>
            <a:off x="8046720" y="4498820"/>
            <a:ext cx="3520440" cy="1581940"/>
          </a:xfrm>
          <a:prstGeom prst="roundRect">
            <a:avLst>
              <a:gd name="adj" fmla="val 6936"/>
            </a:avLst>
          </a:prstGeom>
          <a:solidFill>
            <a:schemeClr val="bg2"/>
          </a:solidFill>
          <a:ln/>
        </p:spPr>
      </p:sp>
      <p:sp>
        <p:nvSpPr>
          <p:cNvPr id="18" name="Text 15"/>
          <p:cNvSpPr txBox="1"/>
          <p:nvPr/>
        </p:nvSpPr>
        <p:spPr>
          <a:xfrm>
            <a:off x="8275320" y="4635980"/>
            <a:ext cx="3108960" cy="365760"/>
          </a:xfrm>
          <a:prstGeom prst="rect">
            <a:avLst/>
          </a:prstGeom>
          <a:noFill/>
          <a:ln/>
        </p:spPr>
        <p:txBody>
          <a:bodyPr wrap="square" lIns="0" tIns="0" rIns="0" bIns="0" rtlCol="0" anchor="t"/>
          <a:lstStyle/>
          <a:p>
            <a:pPr indent="0" marL="0">
              <a:buNone/>
            </a:pPr>
            <a:r>
              <a:rPr lang="en-US" sz="1600" b="1" dirty="0">
                <a:solidFill>
                  <a:schemeClr val="accent1"/>
                </a:solidFill>
                <a:latin typeface="Cambria" pitchFamily="34" charset="0"/>
                <a:ea typeface="Cambria" pitchFamily="34" charset="-122"/>
                <a:cs typeface="Cambria" pitchFamily="34" charset="-120"/>
              </a:rPr>
              <a:t>2012</a:t>
            </a:r>
            <a:endParaRPr lang="en-US" sz="1600" dirty="0"/>
          </a:p>
        </p:txBody>
      </p:sp>
      <p:sp>
        <p:nvSpPr>
          <p:cNvPr id="19" name="Text 16"/>
          <p:cNvSpPr txBox="1"/>
          <p:nvPr/>
        </p:nvSpPr>
        <p:spPr>
          <a:xfrm>
            <a:off x="8275320" y="5001740"/>
            <a:ext cx="3108960" cy="347472"/>
          </a:xfrm>
          <a:prstGeom prst="rect">
            <a:avLst/>
          </a:prstGeom>
          <a:noFill/>
          <a:ln/>
        </p:spPr>
        <p:txBody>
          <a:bodyPr wrap="square" lIns="0" tIns="0" rIns="0" bIns="0" rtlCol="0" anchor="t"/>
          <a:lstStyle/>
          <a:p>
            <a:pPr indent="0" marL="0">
              <a:buNone/>
            </a:pPr>
            <a:r>
              <a:rPr lang="en-US" sz="1500" b="1" dirty="0">
                <a:solidFill>
                  <a:schemeClr val="tx1"/>
                </a:solidFill>
              </a:rPr>
              <a:t>The ImageNet moment</a:t>
            </a:r>
            <a:endParaRPr lang="en-US" sz="1500" dirty="0"/>
          </a:p>
        </p:txBody>
      </p:sp>
      <p:sp>
        <p:nvSpPr>
          <p:cNvPr id="20" name="Text 17"/>
          <p:cNvSpPr txBox="1"/>
          <p:nvPr/>
        </p:nvSpPr>
        <p:spPr>
          <a:xfrm>
            <a:off x="8275320" y="5367500"/>
            <a:ext cx="3108960" cy="1097280"/>
          </a:xfrm>
          <a:prstGeom prst="rect">
            <a:avLst/>
          </a:prstGeom>
          <a:noFill/>
          <a:ln/>
        </p:spPr>
        <p:txBody>
          <a:bodyPr wrap="square" lIns="0" tIns="0" rIns="0" bIns="0" rtlCol="0" anchor="t"/>
          <a:lstStyle/>
          <a:p>
            <a:pPr indent="0" marL="0">
              <a:buNone/>
            </a:pPr>
            <a:r>
              <a:rPr lang="en-US" sz="1300" dirty="0">
                <a:solidFill>
                  <a:schemeClr val="tx2"/>
                </a:solidFill>
              </a:rPr>
              <a:t>AlexNet, trained on GPUs with ~1.2 million labelled images, beats every traditional vision method by a wide margin.</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Two hidden units solve XOR</a:t>
            </a:r>
            <a:endParaRPr lang="en-US" sz="3400" dirty="0"/>
          </a:p>
        </p:txBody>
      </p:sp>
      <p:sp>
        <p:nvSpPr>
          <p:cNvPr id="3" name="e-x1h1"/>
          <p:cNvSpPr/>
          <p:nvPr/>
        </p:nvSpPr>
        <p:spPr>
          <a:xfrm>
            <a:off x="1691640" y="2263140"/>
            <a:ext cx="1417320" cy="0"/>
          </a:xfrm>
          <a:prstGeom prst="line">
            <a:avLst/>
          </a:prstGeom>
          <a:noFill/>
          <a:ln w="19050">
            <a:solidFill>
              <a:srgbClr val="7A8793"/>
            </a:solidFill>
            <a:prstDash val="solid"/>
          </a:ln>
        </p:spPr>
      </p:sp>
      <p:sp>
        <p:nvSpPr>
          <p:cNvPr id="4" name="e-x1h2"/>
          <p:cNvSpPr/>
          <p:nvPr/>
        </p:nvSpPr>
        <p:spPr>
          <a:xfrm>
            <a:off x="1691640" y="2263140"/>
            <a:ext cx="1417320" cy="1920240"/>
          </a:xfrm>
          <a:prstGeom prst="line">
            <a:avLst/>
          </a:prstGeom>
          <a:noFill/>
          <a:ln w="19050">
            <a:solidFill>
              <a:srgbClr val="7A8793"/>
            </a:solidFill>
            <a:prstDash val="solid"/>
          </a:ln>
        </p:spPr>
      </p:sp>
      <p:sp>
        <p:nvSpPr>
          <p:cNvPr id="5" name="e-x2h1"/>
          <p:cNvSpPr/>
          <p:nvPr/>
        </p:nvSpPr>
        <p:spPr>
          <a:xfrm flipV="1">
            <a:off x="1691640" y="2263140"/>
            <a:ext cx="1417320" cy="1920240"/>
          </a:xfrm>
          <a:prstGeom prst="line">
            <a:avLst/>
          </a:prstGeom>
          <a:noFill/>
          <a:ln w="19050">
            <a:solidFill>
              <a:srgbClr val="7A8793"/>
            </a:solidFill>
            <a:prstDash val="solid"/>
          </a:ln>
        </p:spPr>
      </p:sp>
      <p:sp>
        <p:nvSpPr>
          <p:cNvPr id="6" name="e-x2h2"/>
          <p:cNvSpPr/>
          <p:nvPr/>
        </p:nvSpPr>
        <p:spPr>
          <a:xfrm>
            <a:off x="1691640" y="4183380"/>
            <a:ext cx="1417320" cy="0"/>
          </a:xfrm>
          <a:prstGeom prst="line">
            <a:avLst/>
          </a:prstGeom>
          <a:noFill/>
          <a:ln w="19050">
            <a:solidFill>
              <a:srgbClr val="7A8793"/>
            </a:solidFill>
            <a:prstDash val="solid"/>
          </a:ln>
        </p:spPr>
      </p:sp>
      <p:sp>
        <p:nvSpPr>
          <p:cNvPr id="7" name="e-h1y"/>
          <p:cNvSpPr/>
          <p:nvPr/>
        </p:nvSpPr>
        <p:spPr>
          <a:xfrm>
            <a:off x="3977640" y="2263140"/>
            <a:ext cx="1417320" cy="960120"/>
          </a:xfrm>
          <a:prstGeom prst="line">
            <a:avLst/>
          </a:prstGeom>
          <a:noFill/>
          <a:ln w="19050">
            <a:solidFill>
              <a:srgbClr val="7A8793"/>
            </a:solidFill>
            <a:prstDash val="solid"/>
          </a:ln>
        </p:spPr>
      </p:sp>
      <p:sp>
        <p:nvSpPr>
          <p:cNvPr id="8" name="e-h2y"/>
          <p:cNvSpPr/>
          <p:nvPr/>
        </p:nvSpPr>
        <p:spPr>
          <a:xfrm flipV="1">
            <a:off x="3977640" y="3223260"/>
            <a:ext cx="1417320" cy="960120"/>
          </a:xfrm>
          <a:prstGeom prst="line">
            <a:avLst/>
          </a:prstGeom>
          <a:noFill/>
          <a:ln w="19050">
            <a:solidFill>
              <a:srgbClr val="7A8793"/>
            </a:solidFill>
            <a:prstDash val="solid"/>
          </a:ln>
        </p:spPr>
      </p:sp>
      <p:sp>
        <p:nvSpPr>
          <p:cNvPr id="9" name="n-x1"/>
          <p:cNvSpPr/>
          <p:nvPr/>
        </p:nvSpPr>
        <p:spPr>
          <a:xfrm>
            <a:off x="822960" y="1828800"/>
            <a:ext cx="868680" cy="868680"/>
          </a:xfrm>
          <a:prstGeom prst="ellipse">
            <a:avLst/>
          </a:prstGeom>
          <a:solidFill>
            <a:schemeClr val="bg2"/>
          </a:solidFill>
          <a:ln/>
        </p:spPr>
      </p:sp>
      <p:sp>
        <p:nvSpPr>
          <p:cNvPr id="10" name="Text 8"/>
          <p:cNvSpPr txBox="1"/>
          <p:nvPr/>
        </p:nvSpPr>
        <p:spPr>
          <a:xfrm>
            <a:off x="822960" y="1828800"/>
            <a:ext cx="868680" cy="868680"/>
          </a:xfrm>
          <a:prstGeom prst="rect">
            <a:avLst/>
          </a:prstGeom>
          <a:noFill/>
          <a:ln/>
        </p:spPr>
        <p:txBody>
          <a:bodyPr wrap="square" lIns="0" tIns="0" rIns="0" bIns="0" rtlCol="0" anchor="ctr"/>
          <a:lstStyle/>
          <a:p>
            <a:pPr algn="ctr" indent="0" marL="0">
              <a:buNone/>
            </a:pPr>
            <a:r>
              <a:rPr lang="en-US" sz="1600" b="1" dirty="0">
                <a:solidFill>
                  <a:schemeClr val="tx1"/>
                </a:solidFill>
              </a:rPr>
              <a:t>x₁</a:t>
            </a:r>
            <a:endParaRPr lang="en-US" sz="1600" dirty="0"/>
          </a:p>
        </p:txBody>
      </p:sp>
      <p:sp>
        <p:nvSpPr>
          <p:cNvPr id="11" name="n-x2"/>
          <p:cNvSpPr/>
          <p:nvPr/>
        </p:nvSpPr>
        <p:spPr>
          <a:xfrm>
            <a:off x="822960" y="3749040"/>
            <a:ext cx="868680" cy="868680"/>
          </a:xfrm>
          <a:prstGeom prst="ellipse">
            <a:avLst/>
          </a:prstGeom>
          <a:solidFill>
            <a:schemeClr val="bg2"/>
          </a:solidFill>
          <a:ln/>
        </p:spPr>
      </p:sp>
      <p:sp>
        <p:nvSpPr>
          <p:cNvPr id="12" name="Text 10"/>
          <p:cNvSpPr txBox="1"/>
          <p:nvPr/>
        </p:nvSpPr>
        <p:spPr>
          <a:xfrm>
            <a:off x="822960" y="3749040"/>
            <a:ext cx="868680" cy="868680"/>
          </a:xfrm>
          <a:prstGeom prst="rect">
            <a:avLst/>
          </a:prstGeom>
          <a:noFill/>
          <a:ln/>
        </p:spPr>
        <p:txBody>
          <a:bodyPr wrap="square" lIns="0" tIns="0" rIns="0" bIns="0" rtlCol="0" anchor="ctr"/>
          <a:lstStyle/>
          <a:p>
            <a:pPr algn="ctr" indent="0" marL="0">
              <a:buNone/>
            </a:pPr>
            <a:r>
              <a:rPr lang="en-US" sz="1600" b="1" dirty="0">
                <a:solidFill>
                  <a:schemeClr val="tx1"/>
                </a:solidFill>
              </a:rPr>
              <a:t>x₂</a:t>
            </a:r>
            <a:endParaRPr lang="en-US" sz="1600" dirty="0"/>
          </a:p>
        </p:txBody>
      </p:sp>
      <p:sp>
        <p:nvSpPr>
          <p:cNvPr id="13" name="n-h1"/>
          <p:cNvSpPr/>
          <p:nvPr/>
        </p:nvSpPr>
        <p:spPr>
          <a:xfrm>
            <a:off x="3108960" y="1828800"/>
            <a:ext cx="868680" cy="868680"/>
          </a:xfrm>
          <a:prstGeom prst="ellipse">
            <a:avLst/>
          </a:prstGeom>
          <a:solidFill>
            <a:schemeClr val="accent2"/>
          </a:solidFill>
          <a:ln/>
        </p:spPr>
      </p:sp>
      <p:sp>
        <p:nvSpPr>
          <p:cNvPr id="14" name="Text 12"/>
          <p:cNvSpPr txBox="1"/>
          <p:nvPr/>
        </p:nvSpPr>
        <p:spPr>
          <a:xfrm>
            <a:off x="3108960" y="1828800"/>
            <a:ext cx="868680" cy="868680"/>
          </a:xfrm>
          <a:prstGeom prst="rect">
            <a:avLst/>
          </a:prstGeom>
          <a:noFill/>
          <a:ln/>
        </p:spPr>
        <p:txBody>
          <a:bodyPr wrap="square" lIns="0" tIns="0" rIns="0" bIns="0" rtlCol="0" anchor="ctr"/>
          <a:lstStyle/>
          <a:p>
            <a:pPr algn="ctr" indent="0" marL="0">
              <a:buNone/>
            </a:pPr>
            <a:r>
              <a:rPr lang="en-US" sz="1600" b="1" dirty="0">
                <a:solidFill>
                  <a:schemeClr val="bg1"/>
                </a:solidFill>
              </a:rPr>
              <a:t>h₁</a:t>
            </a:r>
            <a:endParaRPr lang="en-US" sz="1600" dirty="0"/>
          </a:p>
        </p:txBody>
      </p:sp>
      <p:sp>
        <p:nvSpPr>
          <p:cNvPr id="15" name="n-h2"/>
          <p:cNvSpPr/>
          <p:nvPr/>
        </p:nvSpPr>
        <p:spPr>
          <a:xfrm>
            <a:off x="3108960" y="3749040"/>
            <a:ext cx="868680" cy="868680"/>
          </a:xfrm>
          <a:prstGeom prst="ellipse">
            <a:avLst/>
          </a:prstGeom>
          <a:solidFill>
            <a:schemeClr val="accent2"/>
          </a:solidFill>
          <a:ln/>
        </p:spPr>
      </p:sp>
      <p:sp>
        <p:nvSpPr>
          <p:cNvPr id="16" name="Text 14"/>
          <p:cNvSpPr txBox="1"/>
          <p:nvPr/>
        </p:nvSpPr>
        <p:spPr>
          <a:xfrm>
            <a:off x="3108960" y="3749040"/>
            <a:ext cx="868680" cy="868680"/>
          </a:xfrm>
          <a:prstGeom prst="rect">
            <a:avLst/>
          </a:prstGeom>
          <a:noFill/>
          <a:ln/>
        </p:spPr>
        <p:txBody>
          <a:bodyPr wrap="square" lIns="0" tIns="0" rIns="0" bIns="0" rtlCol="0" anchor="ctr"/>
          <a:lstStyle/>
          <a:p>
            <a:pPr algn="ctr" indent="0" marL="0">
              <a:buNone/>
            </a:pPr>
            <a:r>
              <a:rPr lang="en-US" sz="1600" b="1" dirty="0">
                <a:solidFill>
                  <a:schemeClr val="bg1"/>
                </a:solidFill>
              </a:rPr>
              <a:t>h₂</a:t>
            </a:r>
            <a:endParaRPr lang="en-US" sz="1600" dirty="0"/>
          </a:p>
        </p:txBody>
      </p:sp>
      <p:sp>
        <p:nvSpPr>
          <p:cNvPr id="17" name="n-y"/>
          <p:cNvSpPr/>
          <p:nvPr/>
        </p:nvSpPr>
        <p:spPr>
          <a:xfrm>
            <a:off x="5394960" y="2788920"/>
            <a:ext cx="868680" cy="868680"/>
          </a:xfrm>
          <a:prstGeom prst="ellipse">
            <a:avLst/>
          </a:prstGeom>
          <a:solidFill>
            <a:schemeClr val="accent1"/>
          </a:solidFill>
          <a:ln/>
        </p:spPr>
      </p:sp>
      <p:sp>
        <p:nvSpPr>
          <p:cNvPr id="18" name="Text 16"/>
          <p:cNvSpPr txBox="1"/>
          <p:nvPr/>
        </p:nvSpPr>
        <p:spPr>
          <a:xfrm>
            <a:off x="5394960" y="2788920"/>
            <a:ext cx="868680" cy="868680"/>
          </a:xfrm>
          <a:prstGeom prst="rect">
            <a:avLst/>
          </a:prstGeom>
          <a:noFill/>
          <a:ln/>
        </p:spPr>
        <p:txBody>
          <a:bodyPr wrap="square" lIns="0" tIns="0" rIns="0" bIns="0" rtlCol="0" anchor="ctr"/>
          <a:lstStyle/>
          <a:p>
            <a:pPr algn="ctr" indent="0" marL="0">
              <a:buNone/>
            </a:pPr>
            <a:r>
              <a:rPr lang="en-US" sz="1600" b="1" dirty="0">
                <a:solidFill>
                  <a:schemeClr val="tx1"/>
                </a:solidFill>
              </a:rPr>
              <a:t>y</a:t>
            </a:r>
            <a:endParaRPr lang="en-US" sz="1600" dirty="0"/>
          </a:p>
        </p:txBody>
      </p:sp>
      <p:sp>
        <p:nvSpPr>
          <p:cNvPr id="19" name="Text 17"/>
          <p:cNvSpPr txBox="1"/>
          <p:nvPr/>
        </p:nvSpPr>
        <p:spPr>
          <a:xfrm>
            <a:off x="3108960" y="1417320"/>
            <a:ext cx="868680" cy="320040"/>
          </a:xfrm>
          <a:prstGeom prst="rect">
            <a:avLst/>
          </a:prstGeom>
          <a:noFill/>
          <a:ln/>
        </p:spPr>
        <p:txBody>
          <a:bodyPr wrap="square" lIns="0" tIns="0" rIns="0" bIns="0" rtlCol="0" anchor="t"/>
          <a:lstStyle/>
          <a:p>
            <a:pPr algn="ctr" indent="0" marL="0">
              <a:buNone/>
            </a:pPr>
            <a:r>
              <a:rPr lang="en-US" sz="1300" b="1" dirty="0">
                <a:solidFill>
                  <a:schemeClr val="accent2"/>
                </a:solidFill>
              </a:rPr>
              <a:t>OR</a:t>
            </a:r>
            <a:endParaRPr lang="en-US" sz="1300" dirty="0"/>
          </a:p>
        </p:txBody>
      </p:sp>
      <p:sp>
        <p:nvSpPr>
          <p:cNvPr id="20" name="Text 18"/>
          <p:cNvSpPr txBox="1"/>
          <p:nvPr/>
        </p:nvSpPr>
        <p:spPr>
          <a:xfrm>
            <a:off x="3108960" y="4663440"/>
            <a:ext cx="868680" cy="320040"/>
          </a:xfrm>
          <a:prstGeom prst="rect">
            <a:avLst/>
          </a:prstGeom>
          <a:noFill/>
          <a:ln/>
        </p:spPr>
        <p:txBody>
          <a:bodyPr wrap="square" lIns="0" tIns="0" rIns="0" bIns="0" rtlCol="0" anchor="t"/>
          <a:lstStyle/>
          <a:p>
            <a:pPr algn="ctr" indent="0" marL="0">
              <a:buNone/>
            </a:pPr>
            <a:r>
              <a:rPr lang="en-US" sz="1300" b="1" dirty="0">
                <a:solidFill>
                  <a:schemeClr val="accent2"/>
                </a:solidFill>
              </a:rPr>
              <a:t>AND</a:t>
            </a:r>
            <a:endParaRPr lang="en-US" sz="1300" dirty="0"/>
          </a:p>
        </p:txBody>
      </p:sp>
      <p:sp>
        <p:nvSpPr>
          <p:cNvPr id="21" name="xor-eq"/>
          <p:cNvSpPr/>
          <p:nvPr/>
        </p:nvSpPr>
        <p:spPr>
          <a:xfrm>
            <a:off x="548640" y="5074920"/>
            <a:ext cx="5852160" cy="1005840"/>
          </a:xfrm>
          <a:prstGeom prst="roundRect">
            <a:avLst>
              <a:gd name="adj" fmla="val 10909"/>
            </a:avLst>
          </a:prstGeom>
          <a:solidFill>
            <a:schemeClr val="bg2"/>
          </a:solidFill>
          <a:ln/>
        </p:spPr>
      </p:sp>
      <p:sp>
        <p:nvSpPr>
          <p:cNvPr id="22" name="Text 20"/>
          <p:cNvSpPr txBox="1"/>
          <p:nvPr/>
        </p:nvSpPr>
        <p:spPr>
          <a:xfrm>
            <a:off x="777240" y="5074920"/>
            <a:ext cx="5486400" cy="1005840"/>
          </a:xfrm>
          <a:prstGeom prst="rect">
            <a:avLst/>
          </a:prstGeom>
          <a:noFill/>
          <a:ln/>
        </p:spPr>
        <p:txBody>
          <a:bodyPr wrap="square" lIns="0" tIns="0" rIns="0" bIns="0" rtlCol="0" anchor="ctr"/>
          <a:lstStyle/>
          <a:p>
            <a:pPr indent="0" marL="0">
              <a:spcAft>
                <a:spcPts val="400"/>
              </a:spcAft>
              <a:buNone/>
            </a:pPr>
            <a:r>
              <a:rPr lang="en-US" sz="1500" dirty="0">
                <a:solidFill>
                  <a:schemeClr val="tx1"/>
                </a:solidFill>
                <a:latin typeface="Cambria" pitchFamily="34" charset="0"/>
                <a:ea typeface="Cambria" pitchFamily="34" charset="-122"/>
                <a:cs typeface="Cambria" pitchFamily="34" charset="-120"/>
              </a:rPr>
              <a:t>h₁ = step(x₁ + x₂ − 0.5)     h₂ = step(x₁ + x₂ − 1.5)</a:t>
            </a:r>
            <a:endParaRPr lang="en-US" sz="1500" dirty="0"/>
          </a:p>
          <a:p>
            <a:pPr indent="0" marL="0">
              <a:spcAft>
                <a:spcPts val="400"/>
              </a:spcAft>
              <a:buNone/>
            </a:pPr>
            <a:r>
              <a:rPr lang="en-US" sz="1500" dirty="0">
                <a:solidFill>
                  <a:schemeClr val="tx1"/>
                </a:solidFill>
                <a:latin typeface="Cambria" pitchFamily="34" charset="0"/>
                <a:ea typeface="Cambria" pitchFamily="34" charset="-122"/>
                <a:cs typeface="Cambria" pitchFamily="34" charset="-120"/>
              </a:rPr>
              <a:t>y = step(h₁ − h₂ − 0.5)     "OR, but not AND"</a:t>
            </a:r>
            <a:endParaRPr lang="en-US" sz="1500" dirty="0"/>
          </a:p>
        </p:txBody>
      </p:sp>
      <p:graphicFrame>
        <p:nvGraphicFramePr>
          <p:cNvPr id="31" name="xor-table"/>
          <p:cNvGraphicFramePr>
            <a:graphicFrameLocks noGrp="1"/>
          </p:cNvGraphicFramePr>
          <p:nvPr>
            <p:extLst>
              <p:ext uri="{D42A27DB-BD31-4B8C-83A1-F6EECF244321}">
                <p14:modId xmlns:p14="http://schemas.microsoft.com/office/powerpoint/2010/main" val="1579011935"/>
              </p:ext>
            </p:extLst>
          </p:nvPr>
        </p:nvGraphicFramePr>
        <p:xfrm>
          <a:off x="6858000" y="1508760"/>
          <a:ext cx="4782312" cy="914400"/>
        </p:xfrm>
        <a:graphic>
          <a:graphicData uri="http://schemas.openxmlformats.org/drawingml/2006/table">
            <a:tbl>
              <a:tblPr/>
              <a:tblGrid>
                <a:gridCol w="777240"/>
                <a:gridCol w="777240"/>
                <a:gridCol w="1051560"/>
                <a:gridCol w="1078992"/>
                <a:gridCol w="1097280"/>
              </a:tblGrid>
              <a:tr h="502920">
                <a:tc>
                  <a:txBody>
                    <a:bodyPr/>
                    <a:lstStyle/>
                    <a:p>
                      <a:pPr algn="ctr" indent="0" marL="0">
                        <a:buNone/>
                      </a:pPr>
                      <a:r>
                        <a:rPr lang="en-US" sz="1600" b="1" dirty="0">
                          <a:solidFill>
                            <a:schemeClr val="bg1"/>
                          </a:solidFill>
                        </a:rPr>
                        <a:t>x₁</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x₂</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h₁ (OR)</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h₂ (AND)</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y = XOR</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chemeClr val="tx1"/>
                    </a:solidFill>
                  </a:tcPr>
                </a:tc>
              </a:tr>
              <a:tr h="502920">
                <a:tc>
                  <a:txBody>
                    <a:bodyPr/>
                    <a:lstStyle/>
                    <a:p>
                      <a:pPr algn="ctr" indent="0" marL="0">
                        <a:buNone/>
                      </a:pPr>
                      <a:r>
                        <a:rPr lang="en-US" sz="1600" dirty="0">
                          <a:solidFill>
                            <a:schemeClr val="tx2"/>
                          </a:solidFill>
                        </a:rPr>
                        <a:t>0</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tx2"/>
                          </a:solidFill>
                        </a:rPr>
                        <a:t>0</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tx2"/>
                          </a:solidFill>
                        </a:rPr>
                        <a:t>0</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tx2"/>
                          </a:solidFill>
                        </a:rPr>
                        <a:t>0</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tx1"/>
                          </a:solidFill>
                        </a:rPr>
                        <a:t>0</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chemeClr val="tx2"/>
                          </a:solidFill>
                        </a:rPr>
                        <a:t>0</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tx2"/>
                          </a:solidFill>
                        </a:rPr>
                        <a:t>1</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tx2"/>
                          </a:solidFill>
                        </a:rPr>
                        <a:t>1</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tx2"/>
                          </a:solidFill>
                        </a:rPr>
                        <a:t>0</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1</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chemeClr val="tx2"/>
                          </a:solidFill>
                        </a:rPr>
                        <a:t>1</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tx2"/>
                          </a:solidFill>
                        </a:rPr>
                        <a:t>0</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tx2"/>
                          </a:solidFill>
                        </a:rPr>
                        <a:t>1</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tx2"/>
                          </a:solidFill>
                        </a:rPr>
                        <a:t>0</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1</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chemeClr val="tx2"/>
                          </a:solidFill>
                        </a:rPr>
                        <a:t>1</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tx2"/>
                          </a:solidFill>
                        </a:rPr>
                        <a:t>1</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tx2"/>
                          </a:solidFill>
                        </a:rPr>
                        <a:t>1</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tx2"/>
                          </a:solidFill>
                        </a:rPr>
                        <a:t>1</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tx1"/>
                          </a:solidFill>
                        </a:rPr>
                        <a:t>0</a:t>
                      </a:r>
                      <a:endParaRPr lang="en-US" sz="1600" dirty="0"/>
                    </a:p>
                  </a:txBody>
                  <a:tcPr marL="91440" marR="91440" marT="45720" marB="45720"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sp>
        <p:nvSpPr>
          <p:cNvPr id="24" name="Text 21"/>
          <p:cNvSpPr txBox="1"/>
          <p:nvPr/>
        </p:nvSpPr>
        <p:spPr>
          <a:xfrm>
            <a:off x="6858000" y="4251960"/>
            <a:ext cx="4782312" cy="1828800"/>
          </a:xfrm>
          <a:prstGeom prst="rect">
            <a:avLst/>
          </a:prstGeom>
          <a:noFill/>
          <a:ln/>
        </p:spPr>
        <p:txBody>
          <a:bodyPr wrap="square" lIns="0" tIns="0" rIns="0" bIns="0" rtlCol="0" anchor="t"/>
          <a:lstStyle/>
          <a:p>
            <a:pPr indent="0" marL="0">
              <a:buNone/>
            </a:pPr>
            <a:r>
              <a:rPr lang="en-US" sz="1500" dirty="0">
                <a:solidFill>
                  <a:schemeClr val="tx2"/>
                </a:solidFill>
              </a:rPr>
              <a:t>Each hidden unit draws one straight line. The output unit combines the two lines into a region a single perceptron could never draw. These are exactly the 1958 step neurons, just stacked.</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Today's MLP: 784 → 128 → 64 → 10</a:t>
            </a:r>
            <a:endParaRPr lang="en-US" sz="3400" dirty="0"/>
          </a:p>
        </p:txBody>
      </p:sp>
      <p:sp>
        <p:nvSpPr>
          <p:cNvPr id="3" name="layer-0"/>
          <p:cNvSpPr/>
          <p:nvPr/>
        </p:nvSpPr>
        <p:spPr>
          <a:xfrm>
            <a:off x="731520" y="1737360"/>
            <a:ext cx="1554480" cy="2926080"/>
          </a:xfrm>
          <a:prstGeom prst="roundRect">
            <a:avLst>
              <a:gd name="adj" fmla="val 7059"/>
            </a:avLst>
          </a:prstGeom>
          <a:solidFill>
            <a:schemeClr val="bg2"/>
          </a:solidFill>
          <a:ln/>
        </p:spPr>
      </p:sp>
      <p:sp>
        <p:nvSpPr>
          <p:cNvPr id="4" name="Text 2"/>
          <p:cNvSpPr txBox="1"/>
          <p:nvPr/>
        </p:nvSpPr>
        <p:spPr>
          <a:xfrm>
            <a:off x="731520" y="2788920"/>
            <a:ext cx="1554480" cy="548640"/>
          </a:xfrm>
          <a:prstGeom prst="rect">
            <a:avLst/>
          </a:prstGeom>
          <a:noFill/>
          <a:ln/>
        </p:spPr>
        <p:txBody>
          <a:bodyPr wrap="square" lIns="0" tIns="0" rIns="0" bIns="0" rtlCol="0" anchor="t"/>
          <a:lstStyle/>
          <a:p>
            <a:pPr algn="ctr" indent="0" marL="0">
              <a:buNone/>
            </a:pPr>
            <a:r>
              <a:rPr lang="en-US" sz="2800" b="1" dirty="0">
                <a:solidFill>
                  <a:schemeClr val="tx1"/>
                </a:solidFill>
                <a:latin typeface="Cambria" pitchFamily="34" charset="0"/>
                <a:ea typeface="Cambria" pitchFamily="34" charset="-122"/>
                <a:cs typeface="Cambria" pitchFamily="34" charset="-120"/>
              </a:rPr>
              <a:t>784</a:t>
            </a:r>
            <a:endParaRPr lang="en-US" sz="2800" dirty="0"/>
          </a:p>
        </p:txBody>
      </p:sp>
      <p:sp>
        <p:nvSpPr>
          <p:cNvPr id="5" name="Text 3"/>
          <p:cNvSpPr txBox="1"/>
          <p:nvPr/>
        </p:nvSpPr>
        <p:spPr>
          <a:xfrm>
            <a:off x="548640" y="4754880"/>
            <a:ext cx="1920240" cy="320040"/>
          </a:xfrm>
          <a:prstGeom prst="rect">
            <a:avLst/>
          </a:prstGeom>
          <a:noFill/>
          <a:ln/>
        </p:spPr>
        <p:txBody>
          <a:bodyPr wrap="square" lIns="0" tIns="0" rIns="0" bIns="0" rtlCol="0" anchor="t"/>
          <a:lstStyle/>
          <a:p>
            <a:pPr algn="ctr" indent="0" marL="0">
              <a:buNone/>
            </a:pPr>
            <a:r>
              <a:rPr lang="en-US" sz="1500" b="1" dirty="0">
                <a:solidFill>
                  <a:schemeClr val="tx1"/>
                </a:solidFill>
              </a:rPr>
              <a:t>Input</a:t>
            </a:r>
            <a:endParaRPr lang="en-US" sz="1500" dirty="0"/>
          </a:p>
        </p:txBody>
      </p:sp>
      <p:sp>
        <p:nvSpPr>
          <p:cNvPr id="6" name="Text 4"/>
          <p:cNvSpPr txBox="1"/>
          <p:nvPr/>
        </p:nvSpPr>
        <p:spPr>
          <a:xfrm>
            <a:off x="457200" y="5074920"/>
            <a:ext cx="2103120" cy="320040"/>
          </a:xfrm>
          <a:prstGeom prst="rect">
            <a:avLst/>
          </a:prstGeom>
          <a:noFill/>
          <a:ln/>
        </p:spPr>
        <p:txBody>
          <a:bodyPr wrap="square" lIns="0" tIns="0" rIns="0" bIns="0" rtlCol="0" anchor="t"/>
          <a:lstStyle/>
          <a:p>
            <a:pPr algn="ctr" indent="0" marL="0">
              <a:buNone/>
            </a:pPr>
            <a:r>
              <a:rPr lang="en-US" sz="1300" dirty="0">
                <a:solidFill>
                  <a:schemeClr val="tx2"/>
                </a:solidFill>
              </a:rPr>
              <a:t>28 × 28 pixels, flattened</a:t>
            </a:r>
            <a:endParaRPr lang="en-US" sz="1300" dirty="0"/>
          </a:p>
        </p:txBody>
      </p:sp>
      <p:sp>
        <p:nvSpPr>
          <p:cNvPr id="7" name="layer-1"/>
          <p:cNvSpPr/>
          <p:nvPr/>
        </p:nvSpPr>
        <p:spPr>
          <a:xfrm>
            <a:off x="3657600" y="2103120"/>
            <a:ext cx="1554480" cy="2194560"/>
          </a:xfrm>
          <a:prstGeom prst="roundRect">
            <a:avLst>
              <a:gd name="adj" fmla="val 7059"/>
            </a:avLst>
          </a:prstGeom>
          <a:solidFill>
            <a:schemeClr val="accent2"/>
          </a:solidFill>
          <a:ln/>
        </p:spPr>
      </p:sp>
      <p:sp>
        <p:nvSpPr>
          <p:cNvPr id="8" name="Text 6"/>
          <p:cNvSpPr txBox="1"/>
          <p:nvPr/>
        </p:nvSpPr>
        <p:spPr>
          <a:xfrm>
            <a:off x="3657600" y="2788920"/>
            <a:ext cx="1554480" cy="548640"/>
          </a:xfrm>
          <a:prstGeom prst="rect">
            <a:avLst/>
          </a:prstGeom>
          <a:noFill/>
          <a:ln/>
        </p:spPr>
        <p:txBody>
          <a:bodyPr wrap="square" lIns="0" tIns="0" rIns="0" bIns="0" rtlCol="0" anchor="t"/>
          <a:lstStyle/>
          <a:p>
            <a:pPr algn="ctr" indent="0" marL="0">
              <a:buNone/>
            </a:pPr>
            <a:r>
              <a:rPr lang="en-US" sz="2800" b="1" dirty="0">
                <a:solidFill>
                  <a:schemeClr val="bg1"/>
                </a:solidFill>
                <a:latin typeface="Cambria" pitchFamily="34" charset="0"/>
                <a:ea typeface="Cambria" pitchFamily="34" charset="-122"/>
                <a:cs typeface="Cambria" pitchFamily="34" charset="-120"/>
              </a:rPr>
              <a:t>128</a:t>
            </a:r>
            <a:endParaRPr lang="en-US" sz="2800" dirty="0"/>
          </a:p>
        </p:txBody>
      </p:sp>
      <p:sp>
        <p:nvSpPr>
          <p:cNvPr id="9" name="Text 7"/>
          <p:cNvSpPr txBox="1"/>
          <p:nvPr/>
        </p:nvSpPr>
        <p:spPr>
          <a:xfrm>
            <a:off x="3474720" y="4389120"/>
            <a:ext cx="1920240" cy="320040"/>
          </a:xfrm>
          <a:prstGeom prst="rect">
            <a:avLst/>
          </a:prstGeom>
          <a:noFill/>
          <a:ln/>
        </p:spPr>
        <p:txBody>
          <a:bodyPr wrap="square" lIns="0" tIns="0" rIns="0" bIns="0" rtlCol="0" anchor="t"/>
          <a:lstStyle/>
          <a:p>
            <a:pPr algn="ctr" indent="0" marL="0">
              <a:buNone/>
            </a:pPr>
            <a:r>
              <a:rPr lang="en-US" sz="1500" b="1" dirty="0">
                <a:solidFill>
                  <a:schemeClr val="tx1"/>
                </a:solidFill>
              </a:rPr>
              <a:t>Hidden 1</a:t>
            </a:r>
            <a:endParaRPr lang="en-US" sz="1500" dirty="0"/>
          </a:p>
        </p:txBody>
      </p:sp>
      <p:sp>
        <p:nvSpPr>
          <p:cNvPr id="10" name="Text 8"/>
          <p:cNvSpPr txBox="1"/>
          <p:nvPr/>
        </p:nvSpPr>
        <p:spPr>
          <a:xfrm>
            <a:off x="3383280" y="4709160"/>
            <a:ext cx="2103120" cy="320040"/>
          </a:xfrm>
          <a:prstGeom prst="rect">
            <a:avLst/>
          </a:prstGeom>
          <a:noFill/>
          <a:ln/>
        </p:spPr>
        <p:txBody>
          <a:bodyPr wrap="square" lIns="0" tIns="0" rIns="0" bIns="0" rtlCol="0" anchor="t"/>
          <a:lstStyle/>
          <a:p>
            <a:pPr algn="ctr" indent="0" marL="0">
              <a:buNone/>
            </a:pPr>
            <a:r>
              <a:rPr lang="en-US" sz="1300" dirty="0">
                <a:solidFill>
                  <a:schemeClr val="tx2"/>
                </a:solidFill>
              </a:rPr>
              <a:t>ReLU</a:t>
            </a:r>
            <a:endParaRPr lang="en-US" sz="1300" dirty="0"/>
          </a:p>
        </p:txBody>
      </p:sp>
      <p:sp>
        <p:nvSpPr>
          <p:cNvPr id="11" name="layer-2"/>
          <p:cNvSpPr/>
          <p:nvPr/>
        </p:nvSpPr>
        <p:spPr>
          <a:xfrm>
            <a:off x="6583680" y="2468880"/>
            <a:ext cx="1554480" cy="1463040"/>
          </a:xfrm>
          <a:prstGeom prst="roundRect">
            <a:avLst>
              <a:gd name="adj" fmla="val 7500"/>
            </a:avLst>
          </a:prstGeom>
          <a:solidFill>
            <a:schemeClr val="accent2"/>
          </a:solidFill>
          <a:ln/>
        </p:spPr>
      </p:sp>
      <p:sp>
        <p:nvSpPr>
          <p:cNvPr id="12" name="Text 10"/>
          <p:cNvSpPr txBox="1"/>
          <p:nvPr/>
        </p:nvSpPr>
        <p:spPr>
          <a:xfrm>
            <a:off x="6583680" y="2788920"/>
            <a:ext cx="1554480" cy="548640"/>
          </a:xfrm>
          <a:prstGeom prst="rect">
            <a:avLst/>
          </a:prstGeom>
          <a:noFill/>
          <a:ln/>
        </p:spPr>
        <p:txBody>
          <a:bodyPr wrap="square" lIns="0" tIns="0" rIns="0" bIns="0" rtlCol="0" anchor="t"/>
          <a:lstStyle/>
          <a:p>
            <a:pPr algn="ctr" indent="0" marL="0">
              <a:buNone/>
            </a:pPr>
            <a:r>
              <a:rPr lang="en-US" sz="2800" b="1" dirty="0">
                <a:solidFill>
                  <a:schemeClr val="bg1"/>
                </a:solidFill>
                <a:latin typeface="Cambria" pitchFamily="34" charset="0"/>
                <a:ea typeface="Cambria" pitchFamily="34" charset="-122"/>
                <a:cs typeface="Cambria" pitchFamily="34" charset="-120"/>
              </a:rPr>
              <a:t>64</a:t>
            </a:r>
            <a:endParaRPr lang="en-US" sz="2800" dirty="0"/>
          </a:p>
        </p:txBody>
      </p:sp>
      <p:sp>
        <p:nvSpPr>
          <p:cNvPr id="13" name="Text 11"/>
          <p:cNvSpPr txBox="1"/>
          <p:nvPr/>
        </p:nvSpPr>
        <p:spPr>
          <a:xfrm>
            <a:off x="6400800" y="4023360"/>
            <a:ext cx="1920240" cy="320040"/>
          </a:xfrm>
          <a:prstGeom prst="rect">
            <a:avLst/>
          </a:prstGeom>
          <a:noFill/>
          <a:ln/>
        </p:spPr>
        <p:txBody>
          <a:bodyPr wrap="square" lIns="0" tIns="0" rIns="0" bIns="0" rtlCol="0" anchor="t"/>
          <a:lstStyle/>
          <a:p>
            <a:pPr algn="ctr" indent="0" marL="0">
              <a:buNone/>
            </a:pPr>
            <a:r>
              <a:rPr lang="en-US" sz="1500" b="1" dirty="0">
                <a:solidFill>
                  <a:schemeClr val="tx1"/>
                </a:solidFill>
              </a:rPr>
              <a:t>Hidden 2</a:t>
            </a:r>
            <a:endParaRPr lang="en-US" sz="1500" dirty="0"/>
          </a:p>
        </p:txBody>
      </p:sp>
      <p:sp>
        <p:nvSpPr>
          <p:cNvPr id="14" name="Text 12"/>
          <p:cNvSpPr txBox="1"/>
          <p:nvPr/>
        </p:nvSpPr>
        <p:spPr>
          <a:xfrm>
            <a:off x="6309360" y="4343400"/>
            <a:ext cx="2103120" cy="320040"/>
          </a:xfrm>
          <a:prstGeom prst="rect">
            <a:avLst/>
          </a:prstGeom>
          <a:noFill/>
          <a:ln/>
        </p:spPr>
        <p:txBody>
          <a:bodyPr wrap="square" lIns="0" tIns="0" rIns="0" bIns="0" rtlCol="0" anchor="t"/>
          <a:lstStyle/>
          <a:p>
            <a:pPr algn="ctr" indent="0" marL="0">
              <a:buNone/>
            </a:pPr>
            <a:r>
              <a:rPr lang="en-US" sz="1300" dirty="0">
                <a:solidFill>
                  <a:schemeClr val="tx2"/>
                </a:solidFill>
              </a:rPr>
              <a:t>ReLU</a:t>
            </a:r>
            <a:endParaRPr lang="en-US" sz="1300" dirty="0"/>
          </a:p>
        </p:txBody>
      </p:sp>
      <p:sp>
        <p:nvSpPr>
          <p:cNvPr id="15" name="layer-3"/>
          <p:cNvSpPr/>
          <p:nvPr/>
        </p:nvSpPr>
        <p:spPr>
          <a:xfrm>
            <a:off x="9509760" y="2788920"/>
            <a:ext cx="1554480" cy="822960"/>
          </a:xfrm>
          <a:prstGeom prst="roundRect">
            <a:avLst>
              <a:gd name="adj" fmla="val 13333"/>
            </a:avLst>
          </a:prstGeom>
          <a:solidFill>
            <a:schemeClr val="accent1"/>
          </a:solidFill>
          <a:ln/>
        </p:spPr>
      </p:sp>
      <p:sp>
        <p:nvSpPr>
          <p:cNvPr id="16" name="Text 14"/>
          <p:cNvSpPr txBox="1"/>
          <p:nvPr/>
        </p:nvSpPr>
        <p:spPr>
          <a:xfrm>
            <a:off x="9509760" y="2788920"/>
            <a:ext cx="1554480" cy="548640"/>
          </a:xfrm>
          <a:prstGeom prst="rect">
            <a:avLst/>
          </a:prstGeom>
          <a:noFill/>
          <a:ln/>
        </p:spPr>
        <p:txBody>
          <a:bodyPr wrap="square" lIns="0" tIns="0" rIns="0" bIns="0" rtlCol="0" anchor="t"/>
          <a:lstStyle/>
          <a:p>
            <a:pPr algn="ctr" indent="0" marL="0">
              <a:buNone/>
            </a:pPr>
            <a:r>
              <a:rPr lang="en-US" sz="2800" b="1" dirty="0">
                <a:solidFill>
                  <a:schemeClr val="tx1"/>
                </a:solidFill>
                <a:latin typeface="Cambria" pitchFamily="34" charset="0"/>
                <a:ea typeface="Cambria" pitchFamily="34" charset="-122"/>
                <a:cs typeface="Cambria" pitchFamily="34" charset="-120"/>
              </a:rPr>
              <a:t>10</a:t>
            </a:r>
            <a:endParaRPr lang="en-US" sz="2800" dirty="0"/>
          </a:p>
        </p:txBody>
      </p:sp>
      <p:sp>
        <p:nvSpPr>
          <p:cNvPr id="17" name="Text 15"/>
          <p:cNvSpPr txBox="1"/>
          <p:nvPr/>
        </p:nvSpPr>
        <p:spPr>
          <a:xfrm>
            <a:off x="9326880" y="3703320"/>
            <a:ext cx="1920240" cy="320040"/>
          </a:xfrm>
          <a:prstGeom prst="rect">
            <a:avLst/>
          </a:prstGeom>
          <a:noFill/>
          <a:ln/>
        </p:spPr>
        <p:txBody>
          <a:bodyPr wrap="square" lIns="0" tIns="0" rIns="0" bIns="0" rtlCol="0" anchor="t"/>
          <a:lstStyle/>
          <a:p>
            <a:pPr algn="ctr" indent="0" marL="0">
              <a:buNone/>
            </a:pPr>
            <a:r>
              <a:rPr lang="en-US" sz="1500" b="1" dirty="0">
                <a:solidFill>
                  <a:schemeClr val="tx1"/>
                </a:solidFill>
              </a:rPr>
              <a:t>Output</a:t>
            </a:r>
            <a:endParaRPr lang="en-US" sz="1500" dirty="0"/>
          </a:p>
        </p:txBody>
      </p:sp>
      <p:sp>
        <p:nvSpPr>
          <p:cNvPr id="18" name="Text 16"/>
          <p:cNvSpPr txBox="1"/>
          <p:nvPr/>
        </p:nvSpPr>
        <p:spPr>
          <a:xfrm>
            <a:off x="9235440" y="4023360"/>
            <a:ext cx="2103120" cy="320040"/>
          </a:xfrm>
          <a:prstGeom prst="rect">
            <a:avLst/>
          </a:prstGeom>
          <a:noFill/>
          <a:ln/>
        </p:spPr>
        <p:txBody>
          <a:bodyPr wrap="square" lIns="0" tIns="0" rIns="0" bIns="0" rtlCol="0" anchor="t"/>
          <a:lstStyle/>
          <a:p>
            <a:pPr algn="ctr" indent="0" marL="0">
              <a:buNone/>
            </a:pPr>
            <a:r>
              <a:rPr lang="en-US" sz="1300" dirty="0">
                <a:solidFill>
                  <a:schemeClr val="tx2"/>
                </a:solidFill>
              </a:rPr>
              <a:t>logits, one per digit</a:t>
            </a:r>
            <a:endParaRPr lang="en-US" sz="1300" dirty="0"/>
          </a:p>
        </p:txBody>
      </p:sp>
      <p:sp>
        <p:nvSpPr>
          <p:cNvPr id="19" name="fc-arrow-0"/>
          <p:cNvSpPr/>
          <p:nvPr/>
        </p:nvSpPr>
        <p:spPr>
          <a:xfrm>
            <a:off x="2331720" y="3200400"/>
            <a:ext cx="1280160" cy="0"/>
          </a:xfrm>
          <a:prstGeom prst="line">
            <a:avLst/>
          </a:prstGeom>
          <a:noFill/>
          <a:ln w="25400">
            <a:solidFill>
              <a:srgbClr val="7A8793"/>
            </a:solidFill>
            <a:prstDash val="solid"/>
            <a:tailEnd type="triangle"/>
          </a:ln>
        </p:spPr>
      </p:sp>
      <p:sp>
        <p:nvSpPr>
          <p:cNvPr id="20" name="Text 18"/>
          <p:cNvSpPr txBox="1"/>
          <p:nvPr/>
        </p:nvSpPr>
        <p:spPr>
          <a:xfrm>
            <a:off x="2331720" y="2514600"/>
            <a:ext cx="1280160" cy="320040"/>
          </a:xfrm>
          <a:prstGeom prst="rect">
            <a:avLst/>
          </a:prstGeom>
          <a:noFill/>
          <a:ln/>
        </p:spPr>
        <p:txBody>
          <a:bodyPr wrap="square" lIns="0" tIns="0" rIns="0" bIns="0" rtlCol="0" anchor="t"/>
          <a:lstStyle/>
          <a:p>
            <a:pPr algn="ctr" indent="0" marL="0">
              <a:buNone/>
            </a:pPr>
            <a:r>
              <a:rPr lang="en-US" sz="1500" b="1" dirty="0">
                <a:solidFill>
                  <a:schemeClr val="tx1"/>
                </a:solidFill>
              </a:rPr>
              <a:t>fc1</a:t>
            </a:r>
            <a:endParaRPr lang="en-US" sz="1500" dirty="0"/>
          </a:p>
        </p:txBody>
      </p:sp>
      <p:sp>
        <p:nvSpPr>
          <p:cNvPr id="21" name="Text 19"/>
          <p:cNvSpPr txBox="1"/>
          <p:nvPr/>
        </p:nvSpPr>
        <p:spPr>
          <a:xfrm>
            <a:off x="2331720" y="2816352"/>
            <a:ext cx="1280160" cy="292608"/>
          </a:xfrm>
          <a:prstGeom prst="rect">
            <a:avLst/>
          </a:prstGeom>
          <a:noFill/>
          <a:ln/>
        </p:spPr>
        <p:txBody>
          <a:bodyPr wrap="square" lIns="0" tIns="0" rIns="0" bIns="0" rtlCol="0" anchor="t"/>
          <a:lstStyle/>
          <a:p>
            <a:pPr algn="ctr" indent="0" marL="0">
              <a:buNone/>
            </a:pPr>
            <a:r>
              <a:rPr lang="en-US" sz="1300" dirty="0">
                <a:solidFill>
                  <a:schemeClr val="tx2"/>
                </a:solidFill>
              </a:rPr>
              <a:t>100,480 params</a:t>
            </a:r>
            <a:endParaRPr lang="en-US" sz="1300" dirty="0"/>
          </a:p>
        </p:txBody>
      </p:sp>
      <p:sp>
        <p:nvSpPr>
          <p:cNvPr id="22" name="fc-arrow-1"/>
          <p:cNvSpPr/>
          <p:nvPr/>
        </p:nvSpPr>
        <p:spPr>
          <a:xfrm>
            <a:off x="5257800" y="3200400"/>
            <a:ext cx="1280160" cy="0"/>
          </a:xfrm>
          <a:prstGeom prst="line">
            <a:avLst/>
          </a:prstGeom>
          <a:noFill/>
          <a:ln w="25400">
            <a:solidFill>
              <a:srgbClr val="7A8793"/>
            </a:solidFill>
            <a:prstDash val="solid"/>
            <a:tailEnd type="triangle"/>
          </a:ln>
        </p:spPr>
      </p:sp>
      <p:sp>
        <p:nvSpPr>
          <p:cNvPr id="23" name="Text 21"/>
          <p:cNvSpPr txBox="1"/>
          <p:nvPr/>
        </p:nvSpPr>
        <p:spPr>
          <a:xfrm>
            <a:off x="5257800" y="2514600"/>
            <a:ext cx="1280160" cy="320040"/>
          </a:xfrm>
          <a:prstGeom prst="rect">
            <a:avLst/>
          </a:prstGeom>
          <a:noFill/>
          <a:ln/>
        </p:spPr>
        <p:txBody>
          <a:bodyPr wrap="square" lIns="0" tIns="0" rIns="0" bIns="0" rtlCol="0" anchor="t"/>
          <a:lstStyle/>
          <a:p>
            <a:pPr algn="ctr" indent="0" marL="0">
              <a:buNone/>
            </a:pPr>
            <a:r>
              <a:rPr lang="en-US" sz="1500" b="1" dirty="0">
                <a:solidFill>
                  <a:schemeClr val="tx1"/>
                </a:solidFill>
              </a:rPr>
              <a:t>fc2</a:t>
            </a:r>
            <a:endParaRPr lang="en-US" sz="1500" dirty="0"/>
          </a:p>
        </p:txBody>
      </p:sp>
      <p:sp>
        <p:nvSpPr>
          <p:cNvPr id="24" name="Text 22"/>
          <p:cNvSpPr txBox="1"/>
          <p:nvPr/>
        </p:nvSpPr>
        <p:spPr>
          <a:xfrm>
            <a:off x="5257800" y="2816352"/>
            <a:ext cx="1280160" cy="292608"/>
          </a:xfrm>
          <a:prstGeom prst="rect">
            <a:avLst/>
          </a:prstGeom>
          <a:noFill/>
          <a:ln/>
        </p:spPr>
        <p:txBody>
          <a:bodyPr wrap="square" lIns="0" tIns="0" rIns="0" bIns="0" rtlCol="0" anchor="t"/>
          <a:lstStyle/>
          <a:p>
            <a:pPr algn="ctr" indent="0" marL="0">
              <a:buNone/>
            </a:pPr>
            <a:r>
              <a:rPr lang="en-US" sz="1300" dirty="0">
                <a:solidFill>
                  <a:schemeClr val="tx2"/>
                </a:solidFill>
              </a:rPr>
              <a:t>8,256 params</a:t>
            </a:r>
            <a:endParaRPr lang="en-US" sz="1300" dirty="0"/>
          </a:p>
        </p:txBody>
      </p:sp>
      <p:sp>
        <p:nvSpPr>
          <p:cNvPr id="25" name="fc-arrow-2"/>
          <p:cNvSpPr/>
          <p:nvPr/>
        </p:nvSpPr>
        <p:spPr>
          <a:xfrm>
            <a:off x="8183880" y="3200400"/>
            <a:ext cx="1280160" cy="0"/>
          </a:xfrm>
          <a:prstGeom prst="line">
            <a:avLst/>
          </a:prstGeom>
          <a:noFill/>
          <a:ln w="25400">
            <a:solidFill>
              <a:srgbClr val="7A8793"/>
            </a:solidFill>
            <a:prstDash val="solid"/>
            <a:tailEnd type="triangle"/>
          </a:ln>
        </p:spPr>
      </p:sp>
      <p:sp>
        <p:nvSpPr>
          <p:cNvPr id="26" name="Text 24"/>
          <p:cNvSpPr txBox="1"/>
          <p:nvPr/>
        </p:nvSpPr>
        <p:spPr>
          <a:xfrm>
            <a:off x="8183880" y="2514600"/>
            <a:ext cx="1280160" cy="320040"/>
          </a:xfrm>
          <a:prstGeom prst="rect">
            <a:avLst/>
          </a:prstGeom>
          <a:noFill/>
          <a:ln/>
        </p:spPr>
        <p:txBody>
          <a:bodyPr wrap="square" lIns="0" tIns="0" rIns="0" bIns="0" rtlCol="0" anchor="t"/>
          <a:lstStyle/>
          <a:p>
            <a:pPr algn="ctr" indent="0" marL="0">
              <a:buNone/>
            </a:pPr>
            <a:r>
              <a:rPr lang="en-US" sz="1500" b="1" dirty="0">
                <a:solidFill>
                  <a:schemeClr val="tx1"/>
                </a:solidFill>
              </a:rPr>
              <a:t>fc3</a:t>
            </a:r>
            <a:endParaRPr lang="en-US" sz="1500" dirty="0"/>
          </a:p>
        </p:txBody>
      </p:sp>
      <p:sp>
        <p:nvSpPr>
          <p:cNvPr id="27" name="Text 25"/>
          <p:cNvSpPr txBox="1"/>
          <p:nvPr/>
        </p:nvSpPr>
        <p:spPr>
          <a:xfrm>
            <a:off x="8183880" y="2816352"/>
            <a:ext cx="1280160" cy="292608"/>
          </a:xfrm>
          <a:prstGeom prst="rect">
            <a:avLst/>
          </a:prstGeom>
          <a:noFill/>
          <a:ln/>
        </p:spPr>
        <p:txBody>
          <a:bodyPr wrap="square" lIns="0" tIns="0" rIns="0" bIns="0" rtlCol="0" anchor="t"/>
          <a:lstStyle/>
          <a:p>
            <a:pPr algn="ctr" indent="0" marL="0">
              <a:buNone/>
            </a:pPr>
            <a:r>
              <a:rPr lang="en-US" sz="1300" dirty="0">
                <a:solidFill>
                  <a:schemeClr val="tx2"/>
                </a:solidFill>
              </a:rPr>
              <a:t>650 params</a:t>
            </a:r>
            <a:endParaRPr lang="en-US" sz="1300" dirty="0"/>
          </a:p>
        </p:txBody>
      </p:sp>
      <p:sp>
        <p:nvSpPr>
          <p:cNvPr id="28" name="mlp-total"/>
          <p:cNvSpPr/>
          <p:nvPr/>
        </p:nvSpPr>
        <p:spPr>
          <a:xfrm>
            <a:off x="548640" y="5577840"/>
            <a:ext cx="11091672" cy="594360"/>
          </a:xfrm>
          <a:prstGeom prst="roundRect">
            <a:avLst>
              <a:gd name="adj" fmla="val 18462"/>
            </a:avLst>
          </a:prstGeom>
          <a:solidFill>
            <a:schemeClr val="tx1"/>
          </a:solidFill>
          <a:ln/>
        </p:spPr>
      </p:sp>
      <p:sp>
        <p:nvSpPr>
          <p:cNvPr id="29" name="Text 27"/>
          <p:cNvSpPr txBox="1"/>
          <p:nvPr/>
        </p:nvSpPr>
        <p:spPr>
          <a:xfrm>
            <a:off x="868680" y="5577840"/>
            <a:ext cx="10515600" cy="594360"/>
          </a:xfrm>
          <a:prstGeom prst="rect">
            <a:avLst/>
          </a:prstGeom>
          <a:noFill/>
          <a:ln/>
        </p:spPr>
        <p:txBody>
          <a:bodyPr wrap="square" lIns="0" tIns="0" rIns="0" bIns="0" rtlCol="0" anchor="ctr"/>
          <a:lstStyle/>
          <a:p>
            <a:pPr indent="0" marL="0">
              <a:buNone/>
            </a:pPr>
            <a:r>
              <a:rPr lang="en-US" sz="1600" b="1" dirty="0">
                <a:solidFill>
                  <a:schemeClr val="accent1"/>
                </a:solidFill>
              </a:rPr>
              <a:t>109,386 parameters in total.  </a:t>
            </a:r>
            <a:pPr indent="0" marL="0">
              <a:buNone/>
            </a:pPr>
            <a:r>
              <a:rPr lang="en-US" sz="1600" dirty="0">
                <a:solidFill>
                  <a:schemeClr val="bg1"/>
                </a:solidFill>
              </a:rPr>
              <a:t>Softmax is applied inside CrossEntropyLoss, so the model outputs raw logits.</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Our MNIST MLP has far more knobs than examples</a:t>
            </a:r>
            <a:endParaRPr lang="en-US" sz="3400" dirty="0"/>
          </a:p>
        </p:txBody>
      </p:sp>
      <p:sp>
        <p:nvSpPr>
          <p:cNvPr id="3" name="stat-card-0"/>
          <p:cNvSpPr/>
          <p:nvPr/>
        </p:nvSpPr>
        <p:spPr>
          <a:xfrm>
            <a:off x="548640" y="1600200"/>
            <a:ext cx="3502152" cy="2651760"/>
          </a:xfrm>
          <a:prstGeom prst="roundRect">
            <a:avLst>
              <a:gd name="adj" fmla="val 4138"/>
            </a:avLst>
          </a:prstGeom>
          <a:solidFill>
            <a:schemeClr val="bg2"/>
          </a:solidFill>
          <a:ln/>
        </p:spPr>
      </p:sp>
      <p:sp>
        <p:nvSpPr>
          <p:cNvPr id="4" name="Text 2"/>
          <p:cNvSpPr txBox="1"/>
          <p:nvPr/>
        </p:nvSpPr>
        <p:spPr>
          <a:xfrm>
            <a:off x="822960" y="1783080"/>
            <a:ext cx="3017520" cy="109728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109,386</a:t>
            </a:r>
            <a:endParaRPr lang="en-US" sz="6000" dirty="0"/>
          </a:p>
        </p:txBody>
      </p:sp>
      <p:sp>
        <p:nvSpPr>
          <p:cNvPr id="5" name="Text 3"/>
          <p:cNvSpPr txBox="1"/>
          <p:nvPr/>
        </p:nvSpPr>
        <p:spPr>
          <a:xfrm>
            <a:off x="822960" y="2926080"/>
            <a:ext cx="3017520" cy="411480"/>
          </a:xfrm>
          <a:prstGeom prst="rect">
            <a:avLst/>
          </a:prstGeom>
          <a:noFill/>
          <a:ln/>
        </p:spPr>
        <p:txBody>
          <a:bodyPr wrap="square" lIns="0" tIns="0" rIns="0" bIns="0" rtlCol="0" anchor="t"/>
          <a:lstStyle/>
          <a:p>
            <a:pPr indent="0" marL="0">
              <a:buNone/>
            </a:pPr>
            <a:r>
              <a:rPr lang="en-US" sz="1800" b="1" dirty="0">
                <a:solidFill>
                  <a:schemeClr val="tx1"/>
                </a:solidFill>
              </a:rPr>
              <a:t>trainable parameters</a:t>
            </a:r>
            <a:endParaRPr lang="en-US" sz="1800" dirty="0"/>
          </a:p>
        </p:txBody>
      </p:sp>
      <p:sp>
        <p:nvSpPr>
          <p:cNvPr id="6" name="Text 4"/>
          <p:cNvSpPr txBox="1"/>
          <p:nvPr/>
        </p:nvSpPr>
        <p:spPr>
          <a:xfrm>
            <a:off x="822960" y="3337560"/>
            <a:ext cx="3017520" cy="731520"/>
          </a:xfrm>
          <a:prstGeom prst="rect">
            <a:avLst/>
          </a:prstGeom>
          <a:noFill/>
          <a:ln/>
        </p:spPr>
        <p:txBody>
          <a:bodyPr wrap="square" lIns="0" tIns="0" rIns="0" bIns="0" rtlCol="0" anchor="t"/>
          <a:lstStyle/>
          <a:p>
            <a:pPr indent="0" marL="0">
              <a:buNone/>
            </a:pPr>
            <a:r>
              <a:rPr lang="en-US" sz="1400" dirty="0">
                <a:solidFill>
                  <a:schemeClr val="tx2"/>
                </a:solidFill>
              </a:rPr>
              <a:t>in the 784 → 128 → 64 → 10 MLP</a:t>
            </a:r>
            <a:endParaRPr lang="en-US" sz="1400" dirty="0"/>
          </a:p>
        </p:txBody>
      </p:sp>
      <p:sp>
        <p:nvSpPr>
          <p:cNvPr id="7" name="stat-card-1"/>
          <p:cNvSpPr/>
          <p:nvPr/>
        </p:nvSpPr>
        <p:spPr>
          <a:xfrm>
            <a:off x="4297680" y="1600200"/>
            <a:ext cx="3502152" cy="2651760"/>
          </a:xfrm>
          <a:prstGeom prst="roundRect">
            <a:avLst>
              <a:gd name="adj" fmla="val 4138"/>
            </a:avLst>
          </a:prstGeom>
          <a:solidFill>
            <a:schemeClr val="bg2"/>
          </a:solidFill>
          <a:ln/>
        </p:spPr>
      </p:sp>
      <p:sp>
        <p:nvSpPr>
          <p:cNvPr id="8" name="Text 6"/>
          <p:cNvSpPr txBox="1"/>
          <p:nvPr/>
        </p:nvSpPr>
        <p:spPr>
          <a:xfrm>
            <a:off x="4572000" y="1783080"/>
            <a:ext cx="3017520" cy="109728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5,000</a:t>
            </a:r>
            <a:endParaRPr lang="en-US" sz="6000" dirty="0"/>
          </a:p>
        </p:txBody>
      </p:sp>
      <p:sp>
        <p:nvSpPr>
          <p:cNvPr id="9" name="Text 7"/>
          <p:cNvSpPr txBox="1"/>
          <p:nvPr/>
        </p:nvSpPr>
        <p:spPr>
          <a:xfrm>
            <a:off x="4572000" y="2926080"/>
            <a:ext cx="3017520" cy="411480"/>
          </a:xfrm>
          <a:prstGeom prst="rect">
            <a:avLst/>
          </a:prstGeom>
          <a:noFill/>
          <a:ln/>
        </p:spPr>
        <p:txBody>
          <a:bodyPr wrap="square" lIns="0" tIns="0" rIns="0" bIns="0" rtlCol="0" anchor="t"/>
          <a:lstStyle/>
          <a:p>
            <a:pPr indent="0" marL="0">
              <a:buNone/>
            </a:pPr>
            <a:r>
              <a:rPr lang="en-US" sz="1800" b="1" dirty="0">
                <a:solidFill>
                  <a:schemeClr val="tx1"/>
                </a:solidFill>
              </a:rPr>
              <a:t>training images</a:t>
            </a:r>
            <a:endParaRPr lang="en-US" sz="1800" dirty="0"/>
          </a:p>
        </p:txBody>
      </p:sp>
      <p:sp>
        <p:nvSpPr>
          <p:cNvPr id="10" name="Text 8"/>
          <p:cNvSpPr txBox="1"/>
          <p:nvPr/>
        </p:nvSpPr>
        <p:spPr>
          <a:xfrm>
            <a:off x="4572000" y="3337560"/>
            <a:ext cx="3017520" cy="731520"/>
          </a:xfrm>
          <a:prstGeom prst="rect">
            <a:avLst/>
          </a:prstGeom>
          <a:noFill/>
          <a:ln/>
        </p:spPr>
        <p:txBody>
          <a:bodyPr wrap="square" lIns="0" tIns="0" rIns="0" bIns="0" rtlCol="0" anchor="t"/>
          <a:lstStyle/>
          <a:p>
            <a:pPr indent="0" marL="0">
              <a:buNone/>
            </a:pPr>
            <a:r>
              <a:rPr lang="en-US" sz="1400" dirty="0">
                <a:solidFill>
                  <a:schemeClr val="tx2"/>
                </a:solidFill>
              </a:rPr>
              <a:t>in the baseline notebook</a:t>
            </a:r>
            <a:endParaRPr lang="en-US" sz="1400" dirty="0"/>
          </a:p>
        </p:txBody>
      </p:sp>
      <p:sp>
        <p:nvSpPr>
          <p:cNvPr id="11" name="stat-card-2"/>
          <p:cNvSpPr/>
          <p:nvPr/>
        </p:nvSpPr>
        <p:spPr>
          <a:xfrm>
            <a:off x="8046720" y="1600200"/>
            <a:ext cx="3502152" cy="2651760"/>
          </a:xfrm>
          <a:prstGeom prst="roundRect">
            <a:avLst>
              <a:gd name="adj" fmla="val 4138"/>
            </a:avLst>
          </a:prstGeom>
          <a:solidFill>
            <a:schemeClr val="bg2"/>
          </a:solidFill>
          <a:ln/>
        </p:spPr>
      </p:sp>
      <p:sp>
        <p:nvSpPr>
          <p:cNvPr id="12" name="Text 10"/>
          <p:cNvSpPr txBox="1"/>
          <p:nvPr/>
        </p:nvSpPr>
        <p:spPr>
          <a:xfrm>
            <a:off x="8321040" y="1783080"/>
            <a:ext cx="3017520" cy="1097280"/>
          </a:xfrm>
          <a:prstGeom prst="rect">
            <a:avLst/>
          </a:prstGeom>
          <a:noFill/>
          <a:ln/>
        </p:spPr>
        <p:txBody>
          <a:bodyPr wrap="square" lIns="0" tIns="0" rIns="0" bIns="0" rtlCol="0" anchor="ctr"/>
          <a:lstStyle/>
          <a:p>
            <a:pPr indent="0" marL="0">
              <a:buNone/>
            </a:pPr>
            <a:r>
              <a:rPr lang="en-US" sz="6000" b="1" dirty="0">
                <a:solidFill>
                  <a:schemeClr val="accent3"/>
                </a:solidFill>
                <a:latin typeface="Cambria" pitchFamily="34" charset="0"/>
                <a:ea typeface="Cambria" pitchFamily="34" charset="-122"/>
                <a:cs typeface="Cambria" pitchFamily="34" charset="-120"/>
              </a:rPr>
              <a:t>≈ 22</a:t>
            </a:r>
            <a:endParaRPr lang="en-US" sz="6000" dirty="0"/>
          </a:p>
        </p:txBody>
      </p:sp>
      <p:sp>
        <p:nvSpPr>
          <p:cNvPr id="13" name="Text 11"/>
          <p:cNvSpPr txBox="1"/>
          <p:nvPr/>
        </p:nvSpPr>
        <p:spPr>
          <a:xfrm>
            <a:off x="8321040" y="2926080"/>
            <a:ext cx="3017520" cy="411480"/>
          </a:xfrm>
          <a:prstGeom prst="rect">
            <a:avLst/>
          </a:prstGeom>
          <a:noFill/>
          <a:ln/>
        </p:spPr>
        <p:txBody>
          <a:bodyPr wrap="square" lIns="0" tIns="0" rIns="0" bIns="0" rtlCol="0" anchor="t"/>
          <a:lstStyle/>
          <a:p>
            <a:pPr indent="0" marL="0">
              <a:buNone/>
            </a:pPr>
            <a:r>
              <a:rPr lang="en-US" sz="1800" b="1" dirty="0">
                <a:solidFill>
                  <a:schemeClr val="tx1"/>
                </a:solidFill>
              </a:rPr>
              <a:t>parameters per example</a:t>
            </a:r>
            <a:endParaRPr lang="en-US" sz="1800" dirty="0"/>
          </a:p>
        </p:txBody>
      </p:sp>
      <p:sp>
        <p:nvSpPr>
          <p:cNvPr id="14" name="Text 12"/>
          <p:cNvSpPr txBox="1"/>
          <p:nvPr/>
        </p:nvSpPr>
        <p:spPr>
          <a:xfrm>
            <a:off x="8321040" y="3337560"/>
            <a:ext cx="3017520" cy="731520"/>
          </a:xfrm>
          <a:prstGeom prst="rect">
            <a:avLst/>
          </a:prstGeom>
          <a:noFill/>
          <a:ln/>
        </p:spPr>
        <p:txBody>
          <a:bodyPr wrap="square" lIns="0" tIns="0" rIns="0" bIns="0" rtlCol="0" anchor="t"/>
          <a:lstStyle/>
          <a:p>
            <a:pPr indent="0" marL="0">
              <a:buNone/>
            </a:pPr>
            <a:r>
              <a:rPr lang="en-US" sz="1400" dirty="0">
                <a:solidFill>
                  <a:schemeClr val="tx2"/>
                </a:solidFill>
              </a:rPr>
              <a:t>plenty of room to memorize</a:t>
            </a:r>
            <a:endParaRPr lang="en-US" sz="1400" dirty="0"/>
          </a:p>
        </p:txBody>
      </p:sp>
      <p:sp>
        <p:nvSpPr>
          <p:cNvPr id="15" name="Text 13"/>
          <p:cNvSpPr txBox="1"/>
          <p:nvPr/>
        </p:nvSpPr>
        <p:spPr>
          <a:xfrm>
            <a:off x="548640" y="4572000"/>
            <a:ext cx="11064240" cy="640080"/>
          </a:xfrm>
          <a:prstGeom prst="rect">
            <a:avLst/>
          </a:prstGeom>
          <a:noFill/>
          <a:ln/>
        </p:spPr>
        <p:txBody>
          <a:bodyPr wrap="square" lIns="0" tIns="0" rIns="0" bIns="0" rtlCol="0" anchor="t"/>
          <a:lstStyle/>
          <a:p>
            <a:pPr indent="0" marL="0">
              <a:buNone/>
            </a:pPr>
            <a:r>
              <a:rPr lang="en-US" sz="1700" dirty="0">
                <a:solidFill>
                  <a:schemeClr val="tx2"/>
                </a:solidFill>
              </a:rPr>
              <a:t>When a model has this much capacity, it can fit almost anything, including noise. There are two cures, and this week's assignment tests both:</a:t>
            </a:r>
            <a:endParaRPr lang="en-US" sz="1700" dirty="0"/>
          </a:p>
        </p:txBody>
      </p:sp>
      <p:sp>
        <p:nvSpPr>
          <p:cNvPr id="16" name="Text 14"/>
          <p:cNvSpPr txBox="1"/>
          <p:nvPr/>
        </p:nvSpPr>
        <p:spPr>
          <a:xfrm>
            <a:off x="548640" y="5212080"/>
            <a:ext cx="11064240" cy="91440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More real data: </a:t>
            </a:r>
            <a:pPr indent="0" marL="0">
              <a:spcAft>
                <a:spcPts val="400"/>
              </a:spcAft>
              <a:buNone/>
            </a:pPr>
            <a:r>
              <a:rPr lang="en-US" sz="1700" dirty="0">
                <a:solidFill>
                  <a:schemeClr val="tx2"/>
                </a:solidFill>
              </a:rPr>
              <a:t>scale MNIST from 5k to 50k images.</a:t>
            </a:r>
            <a:endParaRPr lang="en-US" sz="1700" dirty="0"/>
          </a:p>
          <a:p>
            <a:pPr indent="0" marL="0">
              <a:spcAft>
                <a:spcPts val="400"/>
              </a:spcAft>
              <a:buNone/>
            </a:pPr>
            <a:r>
              <a:rPr lang="en-US" sz="1700" b="1" dirty="0">
                <a:solidFill>
                  <a:schemeClr val="tx1"/>
                </a:solidFill>
              </a:rPr>
              <a:t>More varied data: </a:t>
            </a:r>
            <a:pPr indent="0" marL="0">
              <a:spcAft>
                <a:spcPts val="400"/>
              </a:spcAft>
              <a:buNone/>
            </a:pPr>
            <a:r>
              <a:rPr lang="en-US" sz="1700" dirty="0">
                <a:solidFill>
                  <a:schemeClr val="tx2"/>
                </a:solidFill>
              </a:rPr>
              <a:t>augment CIFAR-10 so every epoch sees new versions of each image.</a:t>
            </a:r>
            <a:endParaRPr lang="en-US" sz="17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What an MLP still cannot see</a:t>
            </a:r>
            <a:endParaRPr lang="en-US" sz="3400" dirty="0"/>
          </a:p>
        </p:txBody>
      </p:sp>
      <p:sp>
        <p:nvSpPr>
          <p:cNvPr id="3" name="grid-0-0"/>
          <p:cNvSpPr/>
          <p:nvPr/>
        </p:nvSpPr>
        <p:spPr>
          <a:xfrm>
            <a:off x="822960" y="1828800"/>
            <a:ext cx="347472" cy="347472"/>
          </a:xfrm>
          <a:prstGeom prst="rect">
            <a:avLst/>
          </a:prstGeom>
          <a:solidFill>
            <a:srgbClr val="EEF1F4"/>
          </a:solidFill>
          <a:ln/>
        </p:spPr>
      </p:sp>
      <p:sp>
        <p:nvSpPr>
          <p:cNvPr id="4" name="grid-0-1"/>
          <p:cNvSpPr/>
          <p:nvPr/>
        </p:nvSpPr>
        <p:spPr>
          <a:xfrm>
            <a:off x="1207008" y="1828800"/>
            <a:ext cx="347472" cy="347472"/>
          </a:xfrm>
          <a:prstGeom prst="rect">
            <a:avLst/>
          </a:prstGeom>
          <a:solidFill>
            <a:srgbClr val="EEF1F4"/>
          </a:solidFill>
          <a:ln/>
        </p:spPr>
      </p:sp>
      <p:sp>
        <p:nvSpPr>
          <p:cNvPr id="5" name="grid-0-2"/>
          <p:cNvSpPr/>
          <p:nvPr/>
        </p:nvSpPr>
        <p:spPr>
          <a:xfrm>
            <a:off x="1591056" y="1828800"/>
            <a:ext cx="347472" cy="347472"/>
          </a:xfrm>
          <a:prstGeom prst="rect">
            <a:avLst/>
          </a:prstGeom>
          <a:solidFill>
            <a:srgbClr val="EEF1F4"/>
          </a:solidFill>
          <a:ln/>
        </p:spPr>
      </p:sp>
      <p:sp>
        <p:nvSpPr>
          <p:cNvPr id="6" name="grid-0-3"/>
          <p:cNvSpPr/>
          <p:nvPr/>
        </p:nvSpPr>
        <p:spPr>
          <a:xfrm>
            <a:off x="1975104" y="1828800"/>
            <a:ext cx="347472" cy="347472"/>
          </a:xfrm>
          <a:prstGeom prst="rect">
            <a:avLst/>
          </a:prstGeom>
          <a:solidFill>
            <a:srgbClr val="EEF1F4"/>
          </a:solidFill>
          <a:ln/>
        </p:spPr>
      </p:sp>
      <p:sp>
        <p:nvSpPr>
          <p:cNvPr id="7" name="grid-0-4"/>
          <p:cNvSpPr/>
          <p:nvPr/>
        </p:nvSpPr>
        <p:spPr>
          <a:xfrm>
            <a:off x="2359152" y="1828800"/>
            <a:ext cx="347472" cy="347472"/>
          </a:xfrm>
          <a:prstGeom prst="rect">
            <a:avLst/>
          </a:prstGeom>
          <a:solidFill>
            <a:srgbClr val="EEF1F4"/>
          </a:solidFill>
          <a:ln/>
        </p:spPr>
      </p:sp>
      <p:sp>
        <p:nvSpPr>
          <p:cNvPr id="8" name="grid-1-0"/>
          <p:cNvSpPr/>
          <p:nvPr/>
        </p:nvSpPr>
        <p:spPr>
          <a:xfrm>
            <a:off x="822960" y="2212848"/>
            <a:ext cx="347472" cy="347472"/>
          </a:xfrm>
          <a:prstGeom prst="rect">
            <a:avLst/>
          </a:prstGeom>
          <a:solidFill>
            <a:srgbClr val="EEF1F4"/>
          </a:solidFill>
          <a:ln/>
        </p:spPr>
      </p:sp>
      <p:sp>
        <p:nvSpPr>
          <p:cNvPr id="9" name="grid-1-1"/>
          <p:cNvSpPr/>
          <p:nvPr/>
        </p:nvSpPr>
        <p:spPr>
          <a:xfrm>
            <a:off x="1207008" y="2212848"/>
            <a:ext cx="347472" cy="347472"/>
          </a:xfrm>
          <a:prstGeom prst="rect">
            <a:avLst/>
          </a:prstGeom>
          <a:solidFill>
            <a:srgbClr val="EEF1F4"/>
          </a:solidFill>
          <a:ln/>
        </p:spPr>
      </p:sp>
      <p:sp>
        <p:nvSpPr>
          <p:cNvPr id="10" name="grid-1-2"/>
          <p:cNvSpPr/>
          <p:nvPr/>
        </p:nvSpPr>
        <p:spPr>
          <a:xfrm>
            <a:off x="1591056" y="2212848"/>
            <a:ext cx="347472" cy="347472"/>
          </a:xfrm>
          <a:prstGeom prst="rect">
            <a:avLst/>
          </a:prstGeom>
          <a:solidFill>
            <a:srgbClr val="E09F3E"/>
          </a:solidFill>
          <a:ln/>
        </p:spPr>
      </p:sp>
      <p:sp>
        <p:nvSpPr>
          <p:cNvPr id="11" name="grid-1-3"/>
          <p:cNvSpPr/>
          <p:nvPr/>
        </p:nvSpPr>
        <p:spPr>
          <a:xfrm>
            <a:off x="1975104" y="2212848"/>
            <a:ext cx="347472" cy="347472"/>
          </a:xfrm>
          <a:prstGeom prst="rect">
            <a:avLst/>
          </a:prstGeom>
          <a:solidFill>
            <a:srgbClr val="EEF1F4"/>
          </a:solidFill>
          <a:ln/>
        </p:spPr>
      </p:sp>
      <p:sp>
        <p:nvSpPr>
          <p:cNvPr id="12" name="grid-1-4"/>
          <p:cNvSpPr/>
          <p:nvPr/>
        </p:nvSpPr>
        <p:spPr>
          <a:xfrm>
            <a:off x="2359152" y="2212848"/>
            <a:ext cx="347472" cy="347472"/>
          </a:xfrm>
          <a:prstGeom prst="rect">
            <a:avLst/>
          </a:prstGeom>
          <a:solidFill>
            <a:srgbClr val="EEF1F4"/>
          </a:solidFill>
          <a:ln/>
        </p:spPr>
      </p:sp>
      <p:sp>
        <p:nvSpPr>
          <p:cNvPr id="13" name="grid-2-0"/>
          <p:cNvSpPr/>
          <p:nvPr/>
        </p:nvSpPr>
        <p:spPr>
          <a:xfrm>
            <a:off x="822960" y="2596896"/>
            <a:ext cx="347472" cy="347472"/>
          </a:xfrm>
          <a:prstGeom prst="rect">
            <a:avLst/>
          </a:prstGeom>
          <a:solidFill>
            <a:srgbClr val="EEF1F4"/>
          </a:solidFill>
          <a:ln/>
        </p:spPr>
      </p:sp>
      <p:sp>
        <p:nvSpPr>
          <p:cNvPr id="14" name="grid-2-1"/>
          <p:cNvSpPr/>
          <p:nvPr/>
        </p:nvSpPr>
        <p:spPr>
          <a:xfrm>
            <a:off x="1207008" y="2596896"/>
            <a:ext cx="347472" cy="347472"/>
          </a:xfrm>
          <a:prstGeom prst="rect">
            <a:avLst/>
          </a:prstGeom>
          <a:solidFill>
            <a:srgbClr val="EEF1F4"/>
          </a:solidFill>
          <a:ln/>
        </p:spPr>
      </p:sp>
      <p:sp>
        <p:nvSpPr>
          <p:cNvPr id="15" name="grid-2-2"/>
          <p:cNvSpPr/>
          <p:nvPr/>
        </p:nvSpPr>
        <p:spPr>
          <a:xfrm>
            <a:off x="1591056" y="2596896"/>
            <a:ext cx="347472" cy="347472"/>
          </a:xfrm>
          <a:prstGeom prst="rect">
            <a:avLst/>
          </a:prstGeom>
          <a:solidFill>
            <a:srgbClr val="E09F3E"/>
          </a:solidFill>
          <a:ln/>
        </p:spPr>
      </p:sp>
      <p:sp>
        <p:nvSpPr>
          <p:cNvPr id="16" name="grid-2-3"/>
          <p:cNvSpPr/>
          <p:nvPr/>
        </p:nvSpPr>
        <p:spPr>
          <a:xfrm>
            <a:off x="1975104" y="2596896"/>
            <a:ext cx="347472" cy="347472"/>
          </a:xfrm>
          <a:prstGeom prst="rect">
            <a:avLst/>
          </a:prstGeom>
          <a:solidFill>
            <a:srgbClr val="EEF1F4"/>
          </a:solidFill>
          <a:ln/>
        </p:spPr>
      </p:sp>
      <p:sp>
        <p:nvSpPr>
          <p:cNvPr id="17" name="grid-2-4"/>
          <p:cNvSpPr/>
          <p:nvPr/>
        </p:nvSpPr>
        <p:spPr>
          <a:xfrm>
            <a:off x="2359152" y="2596896"/>
            <a:ext cx="347472" cy="347472"/>
          </a:xfrm>
          <a:prstGeom prst="rect">
            <a:avLst/>
          </a:prstGeom>
          <a:solidFill>
            <a:srgbClr val="EEF1F4"/>
          </a:solidFill>
          <a:ln/>
        </p:spPr>
      </p:sp>
      <p:sp>
        <p:nvSpPr>
          <p:cNvPr id="18" name="grid-3-0"/>
          <p:cNvSpPr/>
          <p:nvPr/>
        </p:nvSpPr>
        <p:spPr>
          <a:xfrm>
            <a:off x="822960" y="2980944"/>
            <a:ext cx="347472" cy="347472"/>
          </a:xfrm>
          <a:prstGeom prst="rect">
            <a:avLst/>
          </a:prstGeom>
          <a:solidFill>
            <a:srgbClr val="EEF1F4"/>
          </a:solidFill>
          <a:ln/>
        </p:spPr>
      </p:sp>
      <p:sp>
        <p:nvSpPr>
          <p:cNvPr id="19" name="grid-3-1"/>
          <p:cNvSpPr/>
          <p:nvPr/>
        </p:nvSpPr>
        <p:spPr>
          <a:xfrm>
            <a:off x="1207008" y="2980944"/>
            <a:ext cx="347472" cy="347472"/>
          </a:xfrm>
          <a:prstGeom prst="rect">
            <a:avLst/>
          </a:prstGeom>
          <a:solidFill>
            <a:srgbClr val="EEF1F4"/>
          </a:solidFill>
          <a:ln/>
        </p:spPr>
      </p:sp>
      <p:sp>
        <p:nvSpPr>
          <p:cNvPr id="20" name="grid-3-2"/>
          <p:cNvSpPr/>
          <p:nvPr/>
        </p:nvSpPr>
        <p:spPr>
          <a:xfrm>
            <a:off x="1591056" y="2980944"/>
            <a:ext cx="347472" cy="347472"/>
          </a:xfrm>
          <a:prstGeom prst="rect">
            <a:avLst/>
          </a:prstGeom>
          <a:solidFill>
            <a:srgbClr val="EEF1F4"/>
          </a:solidFill>
          <a:ln/>
        </p:spPr>
      </p:sp>
      <p:sp>
        <p:nvSpPr>
          <p:cNvPr id="21" name="grid-3-3"/>
          <p:cNvSpPr/>
          <p:nvPr/>
        </p:nvSpPr>
        <p:spPr>
          <a:xfrm>
            <a:off x="1975104" y="2980944"/>
            <a:ext cx="347472" cy="347472"/>
          </a:xfrm>
          <a:prstGeom prst="rect">
            <a:avLst/>
          </a:prstGeom>
          <a:solidFill>
            <a:srgbClr val="EEF1F4"/>
          </a:solidFill>
          <a:ln/>
        </p:spPr>
      </p:sp>
      <p:sp>
        <p:nvSpPr>
          <p:cNvPr id="22" name="grid-3-4"/>
          <p:cNvSpPr/>
          <p:nvPr/>
        </p:nvSpPr>
        <p:spPr>
          <a:xfrm>
            <a:off x="2359152" y="2980944"/>
            <a:ext cx="347472" cy="347472"/>
          </a:xfrm>
          <a:prstGeom prst="rect">
            <a:avLst/>
          </a:prstGeom>
          <a:solidFill>
            <a:srgbClr val="EEF1F4"/>
          </a:solidFill>
          <a:ln/>
        </p:spPr>
      </p:sp>
      <p:sp>
        <p:nvSpPr>
          <p:cNvPr id="23" name="grid-4-0"/>
          <p:cNvSpPr/>
          <p:nvPr/>
        </p:nvSpPr>
        <p:spPr>
          <a:xfrm>
            <a:off x="822960" y="3364992"/>
            <a:ext cx="347472" cy="347472"/>
          </a:xfrm>
          <a:prstGeom prst="rect">
            <a:avLst/>
          </a:prstGeom>
          <a:solidFill>
            <a:srgbClr val="EEF1F4"/>
          </a:solidFill>
          <a:ln/>
        </p:spPr>
      </p:sp>
      <p:sp>
        <p:nvSpPr>
          <p:cNvPr id="24" name="grid-4-1"/>
          <p:cNvSpPr/>
          <p:nvPr/>
        </p:nvSpPr>
        <p:spPr>
          <a:xfrm>
            <a:off x="1207008" y="3364992"/>
            <a:ext cx="347472" cy="347472"/>
          </a:xfrm>
          <a:prstGeom prst="rect">
            <a:avLst/>
          </a:prstGeom>
          <a:solidFill>
            <a:srgbClr val="EEF1F4"/>
          </a:solidFill>
          <a:ln/>
        </p:spPr>
      </p:sp>
      <p:sp>
        <p:nvSpPr>
          <p:cNvPr id="25" name="grid-4-2"/>
          <p:cNvSpPr/>
          <p:nvPr/>
        </p:nvSpPr>
        <p:spPr>
          <a:xfrm>
            <a:off x="1591056" y="3364992"/>
            <a:ext cx="347472" cy="347472"/>
          </a:xfrm>
          <a:prstGeom prst="rect">
            <a:avLst/>
          </a:prstGeom>
          <a:solidFill>
            <a:srgbClr val="EEF1F4"/>
          </a:solidFill>
          <a:ln/>
        </p:spPr>
      </p:sp>
      <p:sp>
        <p:nvSpPr>
          <p:cNvPr id="26" name="grid-4-3"/>
          <p:cNvSpPr/>
          <p:nvPr/>
        </p:nvSpPr>
        <p:spPr>
          <a:xfrm>
            <a:off x="1975104" y="3364992"/>
            <a:ext cx="347472" cy="347472"/>
          </a:xfrm>
          <a:prstGeom prst="rect">
            <a:avLst/>
          </a:prstGeom>
          <a:solidFill>
            <a:srgbClr val="EEF1F4"/>
          </a:solidFill>
          <a:ln/>
        </p:spPr>
      </p:sp>
      <p:sp>
        <p:nvSpPr>
          <p:cNvPr id="27" name="grid-4-4"/>
          <p:cNvSpPr/>
          <p:nvPr/>
        </p:nvSpPr>
        <p:spPr>
          <a:xfrm>
            <a:off x="2359152" y="3364992"/>
            <a:ext cx="347472" cy="347472"/>
          </a:xfrm>
          <a:prstGeom prst="rect">
            <a:avLst/>
          </a:prstGeom>
          <a:solidFill>
            <a:srgbClr val="EEF1F4"/>
          </a:solidFill>
          <a:ln/>
        </p:spPr>
      </p:sp>
      <p:sp>
        <p:nvSpPr>
          <p:cNvPr id="28" name="Text 26"/>
          <p:cNvSpPr txBox="1"/>
          <p:nvPr/>
        </p:nvSpPr>
        <p:spPr>
          <a:xfrm>
            <a:off x="548640" y="3840480"/>
            <a:ext cx="2651760" cy="640080"/>
          </a:xfrm>
          <a:prstGeom prst="rect">
            <a:avLst/>
          </a:prstGeom>
          <a:noFill/>
          <a:ln/>
        </p:spPr>
        <p:txBody>
          <a:bodyPr wrap="square" lIns="0" tIns="0" rIns="0" bIns="0" rtlCol="0" anchor="t"/>
          <a:lstStyle/>
          <a:p>
            <a:pPr algn="ctr" indent="0" marL="0">
              <a:buNone/>
            </a:pPr>
            <a:r>
              <a:rPr lang="en-US" sz="1300" dirty="0">
                <a:solidFill>
                  <a:schemeClr val="tx2"/>
                </a:solidFill>
              </a:rPr>
              <a:t>5 × 5 image: the two orange pixels are neighbours</a:t>
            </a:r>
            <a:endParaRPr lang="en-US" sz="1300" dirty="0"/>
          </a:p>
        </p:txBody>
      </p:sp>
      <p:sp>
        <p:nvSpPr>
          <p:cNvPr id="29" name="flatten-arrow"/>
          <p:cNvSpPr/>
          <p:nvPr/>
        </p:nvSpPr>
        <p:spPr>
          <a:xfrm>
            <a:off x="3108960" y="2560320"/>
            <a:ext cx="731520" cy="411480"/>
          </a:xfrm>
          <a:prstGeom prst="rightArrow">
            <a:avLst/>
          </a:prstGeom>
          <a:solidFill>
            <a:schemeClr val="accent5"/>
          </a:solidFill>
          <a:ln/>
        </p:spPr>
      </p:sp>
      <p:sp>
        <p:nvSpPr>
          <p:cNvPr id="30" name="Text 28"/>
          <p:cNvSpPr txBox="1"/>
          <p:nvPr/>
        </p:nvSpPr>
        <p:spPr>
          <a:xfrm>
            <a:off x="2971800" y="3017520"/>
            <a:ext cx="1005840" cy="274320"/>
          </a:xfrm>
          <a:prstGeom prst="rect">
            <a:avLst/>
          </a:prstGeom>
          <a:noFill/>
          <a:ln/>
        </p:spPr>
        <p:txBody>
          <a:bodyPr wrap="square" lIns="0" tIns="0" rIns="0" bIns="0" rtlCol="0" anchor="t"/>
          <a:lstStyle/>
          <a:p>
            <a:pPr algn="ctr" indent="0" marL="0">
              <a:buNone/>
            </a:pPr>
            <a:r>
              <a:rPr lang="en-US" sz="1200" dirty="0">
                <a:solidFill>
                  <a:schemeClr val="accent5"/>
                </a:solidFill>
              </a:rPr>
              <a:t>flatten</a:t>
            </a:r>
            <a:endParaRPr lang="en-US" sz="1200" dirty="0"/>
          </a:p>
        </p:txBody>
      </p:sp>
      <p:sp>
        <p:nvSpPr>
          <p:cNvPr id="31" name="flat-0"/>
          <p:cNvSpPr/>
          <p:nvPr/>
        </p:nvSpPr>
        <p:spPr>
          <a:xfrm>
            <a:off x="4069080" y="2606040"/>
            <a:ext cx="265176" cy="329184"/>
          </a:xfrm>
          <a:prstGeom prst="rect">
            <a:avLst/>
          </a:prstGeom>
          <a:solidFill>
            <a:srgbClr val="EEF1F4"/>
          </a:solidFill>
          <a:ln/>
        </p:spPr>
      </p:sp>
      <p:sp>
        <p:nvSpPr>
          <p:cNvPr id="32" name="flat-1"/>
          <p:cNvSpPr/>
          <p:nvPr/>
        </p:nvSpPr>
        <p:spPr>
          <a:xfrm>
            <a:off x="4366260" y="2606040"/>
            <a:ext cx="265176" cy="329184"/>
          </a:xfrm>
          <a:prstGeom prst="rect">
            <a:avLst/>
          </a:prstGeom>
          <a:solidFill>
            <a:srgbClr val="EEF1F4"/>
          </a:solidFill>
          <a:ln/>
        </p:spPr>
      </p:sp>
      <p:sp>
        <p:nvSpPr>
          <p:cNvPr id="33" name="flat-2"/>
          <p:cNvSpPr/>
          <p:nvPr/>
        </p:nvSpPr>
        <p:spPr>
          <a:xfrm>
            <a:off x="4663440" y="2606040"/>
            <a:ext cx="265176" cy="329184"/>
          </a:xfrm>
          <a:prstGeom prst="rect">
            <a:avLst/>
          </a:prstGeom>
          <a:solidFill>
            <a:srgbClr val="EEF1F4"/>
          </a:solidFill>
          <a:ln/>
        </p:spPr>
      </p:sp>
      <p:sp>
        <p:nvSpPr>
          <p:cNvPr id="34" name="flat-3"/>
          <p:cNvSpPr/>
          <p:nvPr/>
        </p:nvSpPr>
        <p:spPr>
          <a:xfrm>
            <a:off x="4960620" y="2606040"/>
            <a:ext cx="265176" cy="329184"/>
          </a:xfrm>
          <a:prstGeom prst="rect">
            <a:avLst/>
          </a:prstGeom>
          <a:solidFill>
            <a:srgbClr val="EEF1F4"/>
          </a:solidFill>
          <a:ln/>
        </p:spPr>
      </p:sp>
      <p:sp>
        <p:nvSpPr>
          <p:cNvPr id="35" name="flat-4"/>
          <p:cNvSpPr/>
          <p:nvPr/>
        </p:nvSpPr>
        <p:spPr>
          <a:xfrm>
            <a:off x="5257800" y="2606040"/>
            <a:ext cx="265176" cy="329184"/>
          </a:xfrm>
          <a:prstGeom prst="rect">
            <a:avLst/>
          </a:prstGeom>
          <a:solidFill>
            <a:srgbClr val="EEF1F4"/>
          </a:solidFill>
          <a:ln/>
        </p:spPr>
      </p:sp>
      <p:sp>
        <p:nvSpPr>
          <p:cNvPr id="36" name="flat-5"/>
          <p:cNvSpPr/>
          <p:nvPr/>
        </p:nvSpPr>
        <p:spPr>
          <a:xfrm>
            <a:off x="5554980" y="2606040"/>
            <a:ext cx="265176" cy="329184"/>
          </a:xfrm>
          <a:prstGeom prst="rect">
            <a:avLst/>
          </a:prstGeom>
          <a:solidFill>
            <a:srgbClr val="EEF1F4"/>
          </a:solidFill>
          <a:ln/>
        </p:spPr>
      </p:sp>
      <p:sp>
        <p:nvSpPr>
          <p:cNvPr id="37" name="flat-6"/>
          <p:cNvSpPr/>
          <p:nvPr/>
        </p:nvSpPr>
        <p:spPr>
          <a:xfrm>
            <a:off x="5852160" y="2606040"/>
            <a:ext cx="265176" cy="329184"/>
          </a:xfrm>
          <a:prstGeom prst="rect">
            <a:avLst/>
          </a:prstGeom>
          <a:solidFill>
            <a:srgbClr val="EEF1F4"/>
          </a:solidFill>
          <a:ln/>
        </p:spPr>
      </p:sp>
      <p:sp>
        <p:nvSpPr>
          <p:cNvPr id="38" name="flat-7"/>
          <p:cNvSpPr/>
          <p:nvPr/>
        </p:nvSpPr>
        <p:spPr>
          <a:xfrm>
            <a:off x="6149340" y="2606040"/>
            <a:ext cx="265176" cy="329184"/>
          </a:xfrm>
          <a:prstGeom prst="rect">
            <a:avLst/>
          </a:prstGeom>
          <a:solidFill>
            <a:srgbClr val="E09F3E"/>
          </a:solidFill>
          <a:ln/>
        </p:spPr>
      </p:sp>
      <p:sp>
        <p:nvSpPr>
          <p:cNvPr id="39" name="flat-8"/>
          <p:cNvSpPr/>
          <p:nvPr/>
        </p:nvSpPr>
        <p:spPr>
          <a:xfrm>
            <a:off x="6446520" y="2606040"/>
            <a:ext cx="265176" cy="329184"/>
          </a:xfrm>
          <a:prstGeom prst="rect">
            <a:avLst/>
          </a:prstGeom>
          <a:solidFill>
            <a:srgbClr val="EEF1F4"/>
          </a:solidFill>
          <a:ln/>
        </p:spPr>
      </p:sp>
      <p:sp>
        <p:nvSpPr>
          <p:cNvPr id="40" name="flat-9"/>
          <p:cNvSpPr/>
          <p:nvPr/>
        </p:nvSpPr>
        <p:spPr>
          <a:xfrm>
            <a:off x="6743700" y="2606040"/>
            <a:ext cx="265176" cy="329184"/>
          </a:xfrm>
          <a:prstGeom prst="rect">
            <a:avLst/>
          </a:prstGeom>
          <a:solidFill>
            <a:srgbClr val="EEF1F4"/>
          </a:solidFill>
          <a:ln/>
        </p:spPr>
      </p:sp>
      <p:sp>
        <p:nvSpPr>
          <p:cNvPr id="41" name="flat-10"/>
          <p:cNvSpPr/>
          <p:nvPr/>
        </p:nvSpPr>
        <p:spPr>
          <a:xfrm>
            <a:off x="7040880" y="2606040"/>
            <a:ext cx="265176" cy="329184"/>
          </a:xfrm>
          <a:prstGeom prst="rect">
            <a:avLst/>
          </a:prstGeom>
          <a:solidFill>
            <a:srgbClr val="EEF1F4"/>
          </a:solidFill>
          <a:ln/>
        </p:spPr>
      </p:sp>
      <p:sp>
        <p:nvSpPr>
          <p:cNvPr id="42" name="flat-11"/>
          <p:cNvSpPr/>
          <p:nvPr/>
        </p:nvSpPr>
        <p:spPr>
          <a:xfrm>
            <a:off x="7338060" y="2606040"/>
            <a:ext cx="265176" cy="329184"/>
          </a:xfrm>
          <a:prstGeom prst="rect">
            <a:avLst/>
          </a:prstGeom>
          <a:solidFill>
            <a:srgbClr val="EEF1F4"/>
          </a:solidFill>
          <a:ln/>
        </p:spPr>
      </p:sp>
      <p:sp>
        <p:nvSpPr>
          <p:cNvPr id="43" name="flat-12"/>
          <p:cNvSpPr/>
          <p:nvPr/>
        </p:nvSpPr>
        <p:spPr>
          <a:xfrm>
            <a:off x="7635240" y="2606040"/>
            <a:ext cx="265176" cy="329184"/>
          </a:xfrm>
          <a:prstGeom prst="rect">
            <a:avLst/>
          </a:prstGeom>
          <a:solidFill>
            <a:srgbClr val="E09F3E"/>
          </a:solidFill>
          <a:ln/>
        </p:spPr>
      </p:sp>
      <p:sp>
        <p:nvSpPr>
          <p:cNvPr id="44" name="flat-13"/>
          <p:cNvSpPr/>
          <p:nvPr/>
        </p:nvSpPr>
        <p:spPr>
          <a:xfrm>
            <a:off x="7932420" y="2606040"/>
            <a:ext cx="265176" cy="329184"/>
          </a:xfrm>
          <a:prstGeom prst="rect">
            <a:avLst/>
          </a:prstGeom>
          <a:solidFill>
            <a:srgbClr val="EEF1F4"/>
          </a:solidFill>
          <a:ln/>
        </p:spPr>
      </p:sp>
      <p:sp>
        <p:nvSpPr>
          <p:cNvPr id="45" name="flat-14"/>
          <p:cNvSpPr/>
          <p:nvPr/>
        </p:nvSpPr>
        <p:spPr>
          <a:xfrm>
            <a:off x="8229600" y="2606040"/>
            <a:ext cx="265176" cy="329184"/>
          </a:xfrm>
          <a:prstGeom prst="rect">
            <a:avLst/>
          </a:prstGeom>
          <a:solidFill>
            <a:srgbClr val="EEF1F4"/>
          </a:solidFill>
          <a:ln/>
        </p:spPr>
      </p:sp>
      <p:sp>
        <p:nvSpPr>
          <p:cNvPr id="46" name="flat-15"/>
          <p:cNvSpPr/>
          <p:nvPr/>
        </p:nvSpPr>
        <p:spPr>
          <a:xfrm>
            <a:off x="8526780" y="2606040"/>
            <a:ext cx="265176" cy="329184"/>
          </a:xfrm>
          <a:prstGeom prst="rect">
            <a:avLst/>
          </a:prstGeom>
          <a:solidFill>
            <a:srgbClr val="EEF1F4"/>
          </a:solidFill>
          <a:ln/>
        </p:spPr>
      </p:sp>
      <p:sp>
        <p:nvSpPr>
          <p:cNvPr id="47" name="flat-16"/>
          <p:cNvSpPr/>
          <p:nvPr/>
        </p:nvSpPr>
        <p:spPr>
          <a:xfrm>
            <a:off x="8823960" y="2606040"/>
            <a:ext cx="265176" cy="329184"/>
          </a:xfrm>
          <a:prstGeom prst="rect">
            <a:avLst/>
          </a:prstGeom>
          <a:solidFill>
            <a:srgbClr val="EEF1F4"/>
          </a:solidFill>
          <a:ln/>
        </p:spPr>
      </p:sp>
      <p:sp>
        <p:nvSpPr>
          <p:cNvPr id="48" name="flat-17"/>
          <p:cNvSpPr/>
          <p:nvPr/>
        </p:nvSpPr>
        <p:spPr>
          <a:xfrm>
            <a:off x="9121140" y="2606040"/>
            <a:ext cx="265176" cy="329184"/>
          </a:xfrm>
          <a:prstGeom prst="rect">
            <a:avLst/>
          </a:prstGeom>
          <a:solidFill>
            <a:srgbClr val="EEF1F4"/>
          </a:solidFill>
          <a:ln/>
        </p:spPr>
      </p:sp>
      <p:sp>
        <p:nvSpPr>
          <p:cNvPr id="49" name="flat-18"/>
          <p:cNvSpPr/>
          <p:nvPr/>
        </p:nvSpPr>
        <p:spPr>
          <a:xfrm>
            <a:off x="9418320" y="2606040"/>
            <a:ext cx="265176" cy="329184"/>
          </a:xfrm>
          <a:prstGeom prst="rect">
            <a:avLst/>
          </a:prstGeom>
          <a:solidFill>
            <a:srgbClr val="EEF1F4"/>
          </a:solidFill>
          <a:ln/>
        </p:spPr>
      </p:sp>
      <p:sp>
        <p:nvSpPr>
          <p:cNvPr id="50" name="flat-19"/>
          <p:cNvSpPr/>
          <p:nvPr/>
        </p:nvSpPr>
        <p:spPr>
          <a:xfrm>
            <a:off x="9715500" y="2606040"/>
            <a:ext cx="265176" cy="329184"/>
          </a:xfrm>
          <a:prstGeom prst="rect">
            <a:avLst/>
          </a:prstGeom>
          <a:solidFill>
            <a:srgbClr val="EEF1F4"/>
          </a:solidFill>
          <a:ln/>
        </p:spPr>
      </p:sp>
      <p:sp>
        <p:nvSpPr>
          <p:cNvPr id="51" name="flat-20"/>
          <p:cNvSpPr/>
          <p:nvPr/>
        </p:nvSpPr>
        <p:spPr>
          <a:xfrm>
            <a:off x="10012680" y="2606040"/>
            <a:ext cx="265176" cy="329184"/>
          </a:xfrm>
          <a:prstGeom prst="rect">
            <a:avLst/>
          </a:prstGeom>
          <a:solidFill>
            <a:srgbClr val="EEF1F4"/>
          </a:solidFill>
          <a:ln/>
        </p:spPr>
      </p:sp>
      <p:sp>
        <p:nvSpPr>
          <p:cNvPr id="52" name="flat-21"/>
          <p:cNvSpPr/>
          <p:nvPr/>
        </p:nvSpPr>
        <p:spPr>
          <a:xfrm>
            <a:off x="10309860" y="2606040"/>
            <a:ext cx="265176" cy="329184"/>
          </a:xfrm>
          <a:prstGeom prst="rect">
            <a:avLst/>
          </a:prstGeom>
          <a:solidFill>
            <a:srgbClr val="EEF1F4"/>
          </a:solidFill>
          <a:ln/>
        </p:spPr>
      </p:sp>
      <p:sp>
        <p:nvSpPr>
          <p:cNvPr id="53" name="flat-22"/>
          <p:cNvSpPr/>
          <p:nvPr/>
        </p:nvSpPr>
        <p:spPr>
          <a:xfrm>
            <a:off x="10607040" y="2606040"/>
            <a:ext cx="265176" cy="329184"/>
          </a:xfrm>
          <a:prstGeom prst="rect">
            <a:avLst/>
          </a:prstGeom>
          <a:solidFill>
            <a:srgbClr val="EEF1F4"/>
          </a:solidFill>
          <a:ln/>
        </p:spPr>
      </p:sp>
      <p:sp>
        <p:nvSpPr>
          <p:cNvPr id="54" name="flat-23"/>
          <p:cNvSpPr/>
          <p:nvPr/>
        </p:nvSpPr>
        <p:spPr>
          <a:xfrm>
            <a:off x="10904220" y="2606040"/>
            <a:ext cx="265176" cy="329184"/>
          </a:xfrm>
          <a:prstGeom prst="rect">
            <a:avLst/>
          </a:prstGeom>
          <a:solidFill>
            <a:srgbClr val="EEF1F4"/>
          </a:solidFill>
          <a:ln/>
        </p:spPr>
      </p:sp>
      <p:sp>
        <p:nvSpPr>
          <p:cNvPr id="55" name="flat-24"/>
          <p:cNvSpPr/>
          <p:nvPr/>
        </p:nvSpPr>
        <p:spPr>
          <a:xfrm>
            <a:off x="11201400" y="2606040"/>
            <a:ext cx="265176" cy="329184"/>
          </a:xfrm>
          <a:prstGeom prst="rect">
            <a:avLst/>
          </a:prstGeom>
          <a:solidFill>
            <a:srgbClr val="EEF1F4"/>
          </a:solidFill>
          <a:ln/>
        </p:spPr>
      </p:sp>
      <p:sp>
        <p:nvSpPr>
          <p:cNvPr id="56" name="Text 54"/>
          <p:cNvSpPr txBox="1"/>
          <p:nvPr/>
        </p:nvSpPr>
        <p:spPr>
          <a:xfrm>
            <a:off x="4069080" y="3063240"/>
            <a:ext cx="7589520" cy="457200"/>
          </a:xfrm>
          <a:prstGeom prst="rect">
            <a:avLst/>
          </a:prstGeom>
          <a:noFill/>
          <a:ln/>
        </p:spPr>
        <p:txBody>
          <a:bodyPr wrap="square" lIns="0" tIns="0" rIns="0" bIns="0" rtlCol="0" anchor="t"/>
          <a:lstStyle/>
          <a:p>
            <a:pPr indent="0" marL="0">
              <a:buNone/>
            </a:pPr>
            <a:r>
              <a:rPr lang="en-US" sz="1300" dirty="0">
                <a:solidFill>
                  <a:schemeClr val="tx2"/>
                </a:solidFill>
              </a:rPr>
              <a:t>After flattening they are inputs #7 and #12: to the MLP, no closer than any other pair</a:t>
            </a:r>
            <a:endParaRPr lang="en-US" sz="1300" dirty="0"/>
          </a:p>
        </p:txBody>
      </p:sp>
      <p:sp>
        <p:nvSpPr>
          <p:cNvPr id="57" name="limit-icon-0-circle"/>
          <p:cNvSpPr/>
          <p:nvPr/>
        </p:nvSpPr>
        <p:spPr>
          <a:xfrm>
            <a:off x="548640" y="4526280"/>
            <a:ext cx="548640" cy="548640"/>
          </a:xfrm>
          <a:prstGeom prst="ellipse">
            <a:avLst/>
          </a:prstGeom>
          <a:solidFill>
            <a:schemeClr val="accent2"/>
          </a:solidFill>
          <a:ln/>
        </p:spPr>
      </p:sp>
      <p:pic>
        <p:nvPicPr>
          <p:cNvPr id="58" name="limit-icon-0" descr="ThLarge icon">    </p:cNvPr>
          <p:cNvPicPr>
            <a:picLocks noChangeAspect="1"/>
          </p:cNvPicPr>
          <p:nvPr/>
        </p:nvPicPr>
        <p:blipFill>
          <a:blip r:embed="rId1"/>
          <a:stretch>
            <a:fillRect/>
          </a:stretch>
        </p:blipFill>
        <p:spPr>
          <a:xfrm>
            <a:off x="685800" y="4663440"/>
            <a:ext cx="274320" cy="274320"/>
          </a:xfrm>
          <a:prstGeom prst="rect">
            <a:avLst/>
          </a:prstGeom>
        </p:spPr>
      </p:pic>
      <p:sp>
        <p:nvSpPr>
          <p:cNvPr id="59" name="Text 56"/>
          <p:cNvSpPr txBox="1"/>
          <p:nvPr/>
        </p:nvSpPr>
        <p:spPr>
          <a:xfrm>
            <a:off x="1234440" y="4526280"/>
            <a:ext cx="2926080" cy="365760"/>
          </a:xfrm>
          <a:prstGeom prst="rect">
            <a:avLst/>
          </a:prstGeom>
          <a:noFill/>
          <a:ln/>
        </p:spPr>
        <p:txBody>
          <a:bodyPr wrap="square" lIns="0" tIns="0" rIns="0" bIns="0" rtlCol="0" anchor="t"/>
          <a:lstStyle/>
          <a:p>
            <a:pPr indent="0" marL="0">
              <a:buNone/>
            </a:pPr>
            <a:r>
              <a:rPr lang="en-US" sz="1600" b="1" dirty="0">
                <a:solidFill>
                  <a:schemeClr val="tx1"/>
                </a:solidFill>
              </a:rPr>
              <a:t>No sense of space</a:t>
            </a:r>
            <a:endParaRPr lang="en-US" sz="1600" dirty="0"/>
          </a:p>
        </p:txBody>
      </p:sp>
      <p:sp>
        <p:nvSpPr>
          <p:cNvPr id="60" name="Text 57"/>
          <p:cNvSpPr txBox="1"/>
          <p:nvPr/>
        </p:nvSpPr>
        <p:spPr>
          <a:xfrm>
            <a:off x="1234440" y="4892040"/>
            <a:ext cx="2926080" cy="1234440"/>
          </a:xfrm>
          <a:prstGeom prst="rect">
            <a:avLst/>
          </a:prstGeom>
          <a:noFill/>
          <a:ln/>
        </p:spPr>
        <p:txBody>
          <a:bodyPr wrap="square" lIns="0" tIns="0" rIns="0" bIns="0" rtlCol="0" anchor="t"/>
          <a:lstStyle/>
          <a:p>
            <a:pPr indent="0" marL="0">
              <a:buNone/>
            </a:pPr>
            <a:r>
              <a:rPr lang="en-US" sz="1300" dirty="0">
                <a:solidFill>
                  <a:schemeClr val="tx2"/>
                </a:solidFill>
              </a:rPr>
              <a:t>Flattening throws away the 2D layout. Shuffle every image's pixels the same way and an MLP trains just as well.</a:t>
            </a:r>
            <a:endParaRPr lang="en-US" sz="1300" dirty="0"/>
          </a:p>
        </p:txBody>
      </p:sp>
      <p:sp>
        <p:nvSpPr>
          <p:cNvPr id="61" name="limit-icon-1-circle"/>
          <p:cNvSpPr/>
          <p:nvPr/>
        </p:nvSpPr>
        <p:spPr>
          <a:xfrm>
            <a:off x="4297680" y="4526280"/>
            <a:ext cx="548640" cy="548640"/>
          </a:xfrm>
          <a:prstGeom prst="ellipse">
            <a:avLst/>
          </a:prstGeom>
          <a:solidFill>
            <a:schemeClr val="accent2"/>
          </a:solidFill>
          <a:ln/>
        </p:spPr>
      </p:sp>
      <p:pic>
        <p:nvPicPr>
          <p:cNvPr id="62" name="limit-icon-1" descr="ArrowsAlt icon">    </p:cNvPr>
          <p:cNvPicPr>
            <a:picLocks noChangeAspect="1"/>
          </p:cNvPicPr>
          <p:nvPr/>
        </p:nvPicPr>
        <p:blipFill>
          <a:blip r:embed="rId2"/>
          <a:stretch>
            <a:fillRect/>
          </a:stretch>
        </p:blipFill>
        <p:spPr>
          <a:xfrm>
            <a:off x="4434840" y="4663440"/>
            <a:ext cx="274320" cy="274320"/>
          </a:xfrm>
          <a:prstGeom prst="rect">
            <a:avLst/>
          </a:prstGeom>
        </p:spPr>
      </p:pic>
      <p:sp>
        <p:nvSpPr>
          <p:cNvPr id="63" name="Text 59"/>
          <p:cNvSpPr txBox="1"/>
          <p:nvPr/>
        </p:nvSpPr>
        <p:spPr>
          <a:xfrm>
            <a:off x="4983480" y="4526280"/>
            <a:ext cx="2926080" cy="365760"/>
          </a:xfrm>
          <a:prstGeom prst="rect">
            <a:avLst/>
          </a:prstGeom>
          <a:noFill/>
          <a:ln/>
        </p:spPr>
        <p:txBody>
          <a:bodyPr wrap="square" lIns="0" tIns="0" rIns="0" bIns="0" rtlCol="0" anchor="t"/>
          <a:lstStyle/>
          <a:p>
            <a:pPr indent="0" marL="0">
              <a:buNone/>
            </a:pPr>
            <a:r>
              <a:rPr lang="en-US" sz="1600" b="1" dirty="0">
                <a:solidFill>
                  <a:schemeClr val="tx1"/>
                </a:solidFill>
              </a:rPr>
              <a:t>Shifts look like new images</a:t>
            </a:r>
            <a:endParaRPr lang="en-US" sz="1600" dirty="0"/>
          </a:p>
        </p:txBody>
      </p:sp>
      <p:sp>
        <p:nvSpPr>
          <p:cNvPr id="64" name="Text 60"/>
          <p:cNvSpPr txBox="1"/>
          <p:nvPr/>
        </p:nvSpPr>
        <p:spPr>
          <a:xfrm>
            <a:off x="4983480" y="4892040"/>
            <a:ext cx="2926080" cy="1234440"/>
          </a:xfrm>
          <a:prstGeom prst="rect">
            <a:avLst/>
          </a:prstGeom>
          <a:noFill/>
          <a:ln/>
        </p:spPr>
        <p:txBody>
          <a:bodyPr wrap="square" lIns="0" tIns="0" rIns="0" bIns="0" rtlCol="0" anchor="t"/>
          <a:lstStyle/>
          <a:p>
            <a:pPr indent="0" marL="0">
              <a:buNone/>
            </a:pPr>
            <a:r>
              <a:rPr lang="en-US" sz="1300" dirty="0">
                <a:solidFill>
                  <a:schemeClr val="tx2"/>
                </a:solidFill>
              </a:rPr>
              <a:t>A digit moved two pixels activates a different set of weights, so shift tolerance must be learned from data: one reason augmentation matters.</a:t>
            </a:r>
            <a:endParaRPr lang="en-US" sz="1300" dirty="0"/>
          </a:p>
        </p:txBody>
      </p:sp>
      <p:sp>
        <p:nvSpPr>
          <p:cNvPr id="65" name="limit-icon-2-circle"/>
          <p:cNvSpPr/>
          <p:nvPr/>
        </p:nvSpPr>
        <p:spPr>
          <a:xfrm>
            <a:off x="8046720" y="4526280"/>
            <a:ext cx="548640" cy="548640"/>
          </a:xfrm>
          <a:prstGeom prst="ellipse">
            <a:avLst/>
          </a:prstGeom>
          <a:solidFill>
            <a:schemeClr val="accent2"/>
          </a:solidFill>
          <a:ln/>
        </p:spPr>
      </p:sp>
      <p:pic>
        <p:nvPicPr>
          <p:cNvPr id="66" name="limit-icon-2" descr="Forward icon">    </p:cNvPr>
          <p:cNvPicPr>
            <a:picLocks noChangeAspect="1"/>
          </p:cNvPicPr>
          <p:nvPr/>
        </p:nvPicPr>
        <p:blipFill>
          <a:blip r:embed="rId3"/>
          <a:stretch>
            <a:fillRect/>
          </a:stretch>
        </p:blipFill>
        <p:spPr>
          <a:xfrm>
            <a:off x="8183880" y="4663440"/>
            <a:ext cx="274320" cy="274320"/>
          </a:xfrm>
          <a:prstGeom prst="rect">
            <a:avLst/>
          </a:prstGeom>
        </p:spPr>
      </p:pic>
      <p:sp>
        <p:nvSpPr>
          <p:cNvPr id="67" name="Text 62"/>
          <p:cNvSpPr txBox="1"/>
          <p:nvPr/>
        </p:nvSpPr>
        <p:spPr>
          <a:xfrm>
            <a:off x="8732520" y="4526280"/>
            <a:ext cx="2926080" cy="365760"/>
          </a:xfrm>
          <a:prstGeom prst="rect">
            <a:avLst/>
          </a:prstGeom>
          <a:noFill/>
          <a:ln/>
        </p:spPr>
        <p:txBody>
          <a:bodyPr wrap="square" lIns="0" tIns="0" rIns="0" bIns="0" rtlCol="0" anchor="t"/>
          <a:lstStyle/>
          <a:p>
            <a:pPr indent="0" marL="0">
              <a:buNone/>
            </a:pPr>
            <a:r>
              <a:rPr lang="en-US" sz="1600" b="1" dirty="0">
                <a:solidFill>
                  <a:schemeClr val="tx1"/>
                </a:solidFill>
              </a:rPr>
              <a:t>Where the course goes next</a:t>
            </a:r>
            <a:endParaRPr lang="en-US" sz="1600" dirty="0"/>
          </a:p>
        </p:txBody>
      </p:sp>
      <p:sp>
        <p:nvSpPr>
          <p:cNvPr id="68" name="Text 63"/>
          <p:cNvSpPr txBox="1"/>
          <p:nvPr/>
        </p:nvSpPr>
        <p:spPr>
          <a:xfrm>
            <a:off x="8732520" y="4892040"/>
            <a:ext cx="2926080" cy="1234440"/>
          </a:xfrm>
          <a:prstGeom prst="rect">
            <a:avLst/>
          </a:prstGeom>
          <a:noFill/>
          <a:ln/>
        </p:spPr>
        <p:txBody>
          <a:bodyPr wrap="square" lIns="0" tIns="0" rIns="0" bIns="0" rtlCol="0" anchor="t"/>
          <a:lstStyle/>
          <a:p>
            <a:pPr indent="0" marL="0">
              <a:buNone/>
            </a:pPr>
            <a:r>
              <a:rPr lang="en-US" sz="1300" dirty="0">
                <a:solidFill>
                  <a:schemeClr val="tx2"/>
                </a:solidFill>
              </a:rPr>
              <a:t>CNNs build spatial structure into the architecture. Later, Transformers learn which inputs to relate.</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400" b="1" dirty="0">
                <a:solidFill>
                  <a:schemeClr val="tx1"/>
                </a:solidFill>
              </a:rPr>
              <a:t>This week's work</a:t>
            </a:r>
            <a:endParaRPr lang="en-US" sz="3400" dirty="0"/>
          </a:p>
        </p:txBody>
      </p:sp>
      <p:sp>
        <p:nvSpPr>
          <p:cNvPr id="3" name="task-card-0"/>
          <p:cNvSpPr/>
          <p:nvPr/>
        </p:nvSpPr>
        <p:spPr>
          <a:xfrm>
            <a:off x="548640" y="1508760"/>
            <a:ext cx="5422392" cy="1783080"/>
          </a:xfrm>
          <a:prstGeom prst="roundRect">
            <a:avLst>
              <a:gd name="adj" fmla="val 6154"/>
            </a:avLst>
          </a:prstGeom>
          <a:solidFill>
            <a:schemeClr val="bg2"/>
          </a:solidFill>
          <a:ln/>
        </p:spPr>
      </p:sp>
      <p:sp>
        <p:nvSpPr>
          <p:cNvPr id="4" name="task-icon-0-circle"/>
          <p:cNvSpPr/>
          <p:nvPr/>
        </p:nvSpPr>
        <p:spPr>
          <a:xfrm>
            <a:off x="868680" y="1828800"/>
            <a:ext cx="685800" cy="685800"/>
          </a:xfrm>
          <a:prstGeom prst="ellipse">
            <a:avLst/>
          </a:prstGeom>
          <a:solidFill>
            <a:schemeClr val="accent2"/>
          </a:solidFill>
          <a:ln/>
        </p:spPr>
      </p:sp>
      <p:pic>
        <p:nvPicPr>
          <p:cNvPr id="5" name="task-icon-0" descr="Cubes icon">    </p:cNvPr>
          <p:cNvPicPr>
            <a:picLocks noChangeAspect="1"/>
          </p:cNvPicPr>
          <p:nvPr/>
        </p:nvPicPr>
        <p:blipFill>
          <a:blip r:embed="rId1"/>
          <a:stretch>
            <a:fillRect/>
          </a:stretch>
        </p:blipFill>
        <p:spPr>
          <a:xfrm>
            <a:off x="1040130" y="2000250"/>
            <a:ext cx="342900" cy="342900"/>
          </a:xfrm>
          <a:prstGeom prst="rect">
            <a:avLst/>
          </a:prstGeom>
        </p:spPr>
      </p:pic>
      <p:sp>
        <p:nvSpPr>
          <p:cNvPr id="6" name="Text 3"/>
          <p:cNvSpPr txBox="1"/>
          <p:nvPr/>
        </p:nvSpPr>
        <p:spPr>
          <a:xfrm>
            <a:off x="1783080" y="1783080"/>
            <a:ext cx="3977640" cy="411480"/>
          </a:xfrm>
          <a:prstGeom prst="rect">
            <a:avLst/>
          </a:prstGeom>
          <a:noFill/>
          <a:ln/>
        </p:spPr>
        <p:txBody>
          <a:bodyPr wrap="square" lIns="0" tIns="0" rIns="0" bIns="0" rtlCol="0" anchor="t"/>
          <a:lstStyle/>
          <a:p>
            <a:pPr indent="0" marL="0">
              <a:buNone/>
            </a:pPr>
            <a:r>
              <a:rPr lang="en-US" sz="1800" b="1" dirty="0">
                <a:solidFill>
                  <a:schemeClr val="tx1"/>
                </a:solidFill>
              </a:rPr>
              <a:t>Data foundations</a:t>
            </a:r>
            <a:endParaRPr lang="en-US" sz="1800" dirty="0"/>
          </a:p>
        </p:txBody>
      </p:sp>
      <p:sp>
        <p:nvSpPr>
          <p:cNvPr id="7" name="Text 4"/>
          <p:cNvSpPr txBox="1"/>
          <p:nvPr/>
        </p:nvSpPr>
        <p:spPr>
          <a:xfrm>
            <a:off x="1783080" y="2221992"/>
            <a:ext cx="3977640" cy="1005840"/>
          </a:xfrm>
          <a:prstGeom prst="rect">
            <a:avLst/>
          </a:prstGeom>
          <a:noFill/>
          <a:ln/>
        </p:spPr>
        <p:txBody>
          <a:bodyPr wrap="square" lIns="0" tIns="0" rIns="0" bIns="0" rtlCol="0" anchor="t"/>
          <a:lstStyle/>
          <a:p>
            <a:pPr indent="0" marL="0">
              <a:buNone/>
            </a:pPr>
            <a:r>
              <a:rPr lang="en-US" sz="1400" dirty="0">
                <a:solidFill>
                  <a:schemeClr val="tx2"/>
                </a:solidFill>
              </a:rPr>
              <a:t>Notebook: tensor creation, indexing, reshaping and arithmetic in NumPy and PyTorch.</a:t>
            </a:r>
            <a:endParaRPr lang="en-US" sz="1400" dirty="0"/>
          </a:p>
        </p:txBody>
      </p:sp>
      <p:sp>
        <p:nvSpPr>
          <p:cNvPr id="8" name="task-card-1"/>
          <p:cNvSpPr/>
          <p:nvPr/>
        </p:nvSpPr>
        <p:spPr>
          <a:xfrm>
            <a:off x="6217920" y="1508760"/>
            <a:ext cx="5422392" cy="1783080"/>
          </a:xfrm>
          <a:prstGeom prst="roundRect">
            <a:avLst>
              <a:gd name="adj" fmla="val 6154"/>
            </a:avLst>
          </a:prstGeom>
          <a:solidFill>
            <a:schemeClr val="bg2"/>
          </a:solidFill>
          <a:ln/>
        </p:spPr>
      </p:sp>
      <p:sp>
        <p:nvSpPr>
          <p:cNvPr id="9" name="task-icon-1-circle"/>
          <p:cNvSpPr/>
          <p:nvPr/>
        </p:nvSpPr>
        <p:spPr>
          <a:xfrm>
            <a:off x="6537960" y="1828800"/>
            <a:ext cx="685800" cy="685800"/>
          </a:xfrm>
          <a:prstGeom prst="ellipse">
            <a:avLst/>
          </a:prstGeom>
          <a:solidFill>
            <a:schemeClr val="accent2"/>
          </a:solidFill>
          <a:ln/>
        </p:spPr>
      </p:sp>
      <p:pic>
        <p:nvPicPr>
          <p:cNvPr id="10" name="task-icon-1" descr="Font icon">    </p:cNvPr>
          <p:cNvPicPr>
            <a:picLocks noChangeAspect="1"/>
          </p:cNvPicPr>
          <p:nvPr/>
        </p:nvPicPr>
        <p:blipFill>
          <a:blip r:embed="rId2"/>
          <a:stretch>
            <a:fillRect/>
          </a:stretch>
        </p:blipFill>
        <p:spPr>
          <a:xfrm>
            <a:off x="6709410" y="2000250"/>
            <a:ext cx="342900" cy="342900"/>
          </a:xfrm>
          <a:prstGeom prst="rect">
            <a:avLst/>
          </a:prstGeom>
        </p:spPr>
      </p:pic>
      <p:sp>
        <p:nvSpPr>
          <p:cNvPr id="11" name="Text 7"/>
          <p:cNvSpPr txBox="1"/>
          <p:nvPr/>
        </p:nvSpPr>
        <p:spPr>
          <a:xfrm>
            <a:off x="7452360" y="1783080"/>
            <a:ext cx="3977640" cy="411480"/>
          </a:xfrm>
          <a:prstGeom prst="rect">
            <a:avLst/>
          </a:prstGeom>
          <a:noFill/>
          <a:ln/>
        </p:spPr>
        <p:txBody>
          <a:bodyPr wrap="square" lIns="0" tIns="0" rIns="0" bIns="0" rtlCol="0" anchor="t"/>
          <a:lstStyle/>
          <a:p>
            <a:pPr indent="0" marL="0">
              <a:buNone/>
            </a:pPr>
            <a:r>
              <a:rPr lang="en-US" sz="1800" b="1" dirty="0">
                <a:solidFill>
                  <a:schemeClr val="tx1"/>
                </a:solidFill>
              </a:rPr>
              <a:t>Text augmentation</a:t>
            </a:r>
            <a:endParaRPr lang="en-US" sz="1800" dirty="0"/>
          </a:p>
        </p:txBody>
      </p:sp>
      <p:sp>
        <p:nvSpPr>
          <p:cNvPr id="12" name="Text 8"/>
          <p:cNvSpPr txBox="1"/>
          <p:nvPr/>
        </p:nvSpPr>
        <p:spPr>
          <a:xfrm>
            <a:off x="7452360" y="2221992"/>
            <a:ext cx="3977640" cy="1005840"/>
          </a:xfrm>
          <a:prstGeom prst="rect">
            <a:avLst/>
          </a:prstGeom>
          <a:noFill/>
          <a:ln/>
        </p:spPr>
        <p:txBody>
          <a:bodyPr wrap="square" lIns="0" tIns="0" rIns="0" bIns="0" rtlCol="0" anchor="t"/>
          <a:lstStyle/>
          <a:p>
            <a:pPr indent="0" marL="0">
              <a:buNone/>
            </a:pPr>
            <a:r>
              <a:rPr lang="en-US" sz="1400" dirty="0">
                <a:solidFill>
                  <a:schemeClr val="tx2"/>
                </a:solidFill>
              </a:rPr>
              <a:t>Notebook: augment 10 sample reviews and reflect on which edits kept the label.</a:t>
            </a:r>
            <a:endParaRPr lang="en-US" sz="1400" dirty="0"/>
          </a:p>
        </p:txBody>
      </p:sp>
      <p:sp>
        <p:nvSpPr>
          <p:cNvPr id="13" name="task-card-2"/>
          <p:cNvSpPr/>
          <p:nvPr/>
        </p:nvSpPr>
        <p:spPr>
          <a:xfrm>
            <a:off x="548640" y="3520440"/>
            <a:ext cx="5422392" cy="1783080"/>
          </a:xfrm>
          <a:prstGeom prst="roundRect">
            <a:avLst>
              <a:gd name="adj" fmla="val 6154"/>
            </a:avLst>
          </a:prstGeom>
          <a:solidFill>
            <a:schemeClr val="bg2"/>
          </a:solidFill>
          <a:ln/>
        </p:spPr>
      </p:sp>
      <p:sp>
        <p:nvSpPr>
          <p:cNvPr id="14" name="task-icon-2-circle"/>
          <p:cNvSpPr/>
          <p:nvPr/>
        </p:nvSpPr>
        <p:spPr>
          <a:xfrm>
            <a:off x="868680" y="3840480"/>
            <a:ext cx="685800" cy="685800"/>
          </a:xfrm>
          <a:prstGeom prst="ellipse">
            <a:avLst/>
          </a:prstGeom>
          <a:solidFill>
            <a:schemeClr val="accent2"/>
          </a:solidFill>
          <a:ln/>
        </p:spPr>
      </p:sp>
      <p:pic>
        <p:nvPicPr>
          <p:cNvPr id="15" name="task-icon-2" descr="Image icon">    </p:cNvPr>
          <p:cNvPicPr>
            <a:picLocks noChangeAspect="1"/>
          </p:cNvPicPr>
          <p:nvPr/>
        </p:nvPicPr>
        <p:blipFill>
          <a:blip r:embed="rId3"/>
          <a:stretch>
            <a:fillRect/>
          </a:stretch>
        </p:blipFill>
        <p:spPr>
          <a:xfrm>
            <a:off x="1040130" y="4011930"/>
            <a:ext cx="342900" cy="342900"/>
          </a:xfrm>
          <a:prstGeom prst="rect">
            <a:avLst/>
          </a:prstGeom>
        </p:spPr>
      </p:pic>
      <p:sp>
        <p:nvSpPr>
          <p:cNvPr id="16" name="Text 11"/>
          <p:cNvSpPr txBox="1"/>
          <p:nvPr/>
        </p:nvSpPr>
        <p:spPr>
          <a:xfrm>
            <a:off x="1783080" y="3794760"/>
            <a:ext cx="3977640" cy="411480"/>
          </a:xfrm>
          <a:prstGeom prst="rect">
            <a:avLst/>
          </a:prstGeom>
          <a:noFill/>
          <a:ln/>
        </p:spPr>
        <p:txBody>
          <a:bodyPr wrap="square" lIns="0" tIns="0" rIns="0" bIns="0" rtlCol="0" anchor="t"/>
          <a:lstStyle/>
          <a:p>
            <a:pPr indent="0" marL="0">
              <a:buNone/>
            </a:pPr>
            <a:r>
              <a:rPr lang="en-US" sz="1800" b="1" dirty="0">
                <a:solidFill>
                  <a:schemeClr val="tx1"/>
                </a:solidFill>
              </a:rPr>
              <a:t>Image augmentation</a:t>
            </a:r>
            <a:endParaRPr lang="en-US" sz="1800" dirty="0"/>
          </a:p>
        </p:txBody>
      </p:sp>
      <p:sp>
        <p:nvSpPr>
          <p:cNvPr id="17" name="Text 12"/>
          <p:cNvSpPr txBox="1"/>
          <p:nvPr/>
        </p:nvSpPr>
        <p:spPr>
          <a:xfrm>
            <a:off x="1783080" y="4233672"/>
            <a:ext cx="3977640" cy="1005840"/>
          </a:xfrm>
          <a:prstGeom prst="rect">
            <a:avLst/>
          </a:prstGeom>
          <a:noFill/>
          <a:ln/>
        </p:spPr>
        <p:txBody>
          <a:bodyPr wrap="square" lIns="0" tIns="0" rIns="0" bIns="0" rtlCol="0" anchor="t"/>
          <a:lstStyle/>
          <a:p>
            <a:pPr indent="0" marL="0">
              <a:buNone/>
            </a:pPr>
            <a:r>
              <a:rPr lang="en-US" sz="1400" dirty="0">
                <a:solidFill>
                  <a:schemeClr val="tx2"/>
                </a:solidFill>
              </a:rPr>
              <a:t>Notebook: CIFAR-10 originals vs augmented images, with observations.</a:t>
            </a:r>
            <a:endParaRPr lang="en-US" sz="1400" dirty="0"/>
          </a:p>
        </p:txBody>
      </p:sp>
      <p:sp>
        <p:nvSpPr>
          <p:cNvPr id="18" name="task-card-3"/>
          <p:cNvSpPr/>
          <p:nvPr/>
        </p:nvSpPr>
        <p:spPr>
          <a:xfrm>
            <a:off x="6217920" y="3520440"/>
            <a:ext cx="5422392" cy="1783080"/>
          </a:xfrm>
          <a:prstGeom prst="roundRect">
            <a:avLst>
              <a:gd name="adj" fmla="val 6154"/>
            </a:avLst>
          </a:prstGeom>
          <a:solidFill>
            <a:schemeClr val="tx1"/>
          </a:solidFill>
          <a:ln/>
        </p:spPr>
      </p:sp>
      <p:sp>
        <p:nvSpPr>
          <p:cNvPr id="19" name="task-icon-3-circle"/>
          <p:cNvSpPr/>
          <p:nvPr/>
        </p:nvSpPr>
        <p:spPr>
          <a:xfrm>
            <a:off x="6537960" y="3840480"/>
            <a:ext cx="685800" cy="685800"/>
          </a:xfrm>
          <a:prstGeom prst="ellipse">
            <a:avLst/>
          </a:prstGeom>
          <a:solidFill>
            <a:schemeClr val="accent1"/>
          </a:solidFill>
          <a:ln/>
        </p:spPr>
      </p:sp>
      <p:pic>
        <p:nvPicPr>
          <p:cNvPr id="20" name="task-icon-3" descr="Flask icon">    </p:cNvPr>
          <p:cNvPicPr>
            <a:picLocks noChangeAspect="1"/>
          </p:cNvPicPr>
          <p:nvPr/>
        </p:nvPicPr>
        <p:blipFill>
          <a:blip r:embed="rId4"/>
          <a:stretch>
            <a:fillRect/>
          </a:stretch>
        </p:blipFill>
        <p:spPr>
          <a:xfrm>
            <a:off x="6709410" y="4011930"/>
            <a:ext cx="342900" cy="342900"/>
          </a:xfrm>
          <a:prstGeom prst="rect">
            <a:avLst/>
          </a:prstGeom>
        </p:spPr>
      </p:pic>
      <p:sp>
        <p:nvSpPr>
          <p:cNvPr id="21" name="Text 15"/>
          <p:cNvSpPr txBox="1"/>
          <p:nvPr/>
        </p:nvSpPr>
        <p:spPr>
          <a:xfrm>
            <a:off x="7452360" y="3794760"/>
            <a:ext cx="3977640" cy="411480"/>
          </a:xfrm>
          <a:prstGeom prst="rect">
            <a:avLst/>
          </a:prstGeom>
          <a:noFill/>
          <a:ln/>
        </p:spPr>
        <p:txBody>
          <a:bodyPr wrap="square" lIns="0" tIns="0" rIns="0" bIns="0" rtlCol="0" anchor="t"/>
          <a:lstStyle/>
          <a:p>
            <a:pPr indent="0" marL="0">
              <a:buNone/>
            </a:pPr>
            <a:r>
              <a:rPr lang="en-US" sz="1800" b="1" dirty="0">
                <a:solidFill>
                  <a:schemeClr val="bg1"/>
                </a:solidFill>
              </a:rPr>
              <a:t>Assignment</a:t>
            </a:r>
            <a:endParaRPr lang="en-US" sz="1800" dirty="0"/>
          </a:p>
        </p:txBody>
      </p:sp>
      <p:sp>
        <p:nvSpPr>
          <p:cNvPr id="22" name="Text 16"/>
          <p:cNvSpPr txBox="1"/>
          <p:nvPr/>
        </p:nvSpPr>
        <p:spPr>
          <a:xfrm>
            <a:off x="7452360" y="4233672"/>
            <a:ext cx="3977640" cy="1005840"/>
          </a:xfrm>
          <a:prstGeom prst="rect">
            <a:avLst/>
          </a:prstGeom>
          <a:noFill/>
          <a:ln/>
        </p:spPr>
        <p:txBody>
          <a:bodyPr wrap="square" lIns="0" tIns="0" rIns="0" bIns="0" rtlCol="0" anchor="t"/>
          <a:lstStyle/>
          <a:p>
            <a:pPr indent="0" marL="0">
              <a:buNone/>
            </a:pPr>
            <a:r>
              <a:rPr lang="en-US" sz="1400" dirty="0">
                <a:solidFill>
                  <a:schemeClr val="accent6"/>
                </a:solidFill>
              </a:rPr>
              <a:t>MLP on MNIST at 5k, 10k, 30k and 50k samples, plus CIFAR-10 with and without augmentation. Plot train and test curves.</a:t>
            </a:r>
            <a:endParaRPr lang="en-US" sz="1400" dirty="0"/>
          </a:p>
        </p:txBody>
      </p:sp>
      <p:sp>
        <p:nvSpPr>
          <p:cNvPr id="23" name="Text 17"/>
          <p:cNvSpPr txBox="1"/>
          <p:nvPr/>
        </p:nvSpPr>
        <p:spPr>
          <a:xfrm>
            <a:off x="548640" y="5623560"/>
            <a:ext cx="11064240" cy="411480"/>
          </a:xfrm>
          <a:prstGeom prst="rect">
            <a:avLst/>
          </a:prstGeom>
          <a:noFill/>
          <a:ln/>
        </p:spPr>
        <p:txBody>
          <a:bodyPr wrap="square" lIns="0" tIns="0" rIns="0" bIns="0" rtlCol="0" anchor="t"/>
          <a:lstStyle/>
          <a:p>
            <a:pPr indent="0" marL="0">
              <a:buNone/>
            </a:pPr>
            <a:r>
              <a:rPr lang="en-US" sz="1500" b="1" dirty="0">
                <a:solidFill>
                  <a:schemeClr val="tx1"/>
                </a:solidFill>
              </a:rPr>
              <a:t>Interactive guide: </a:t>
            </a:r>
            <a:pPr indent="0" marL="0">
              <a:buNone/>
            </a:pPr>
            <a:r>
              <a:rPr lang="en-US" sz="1500" dirty="0">
                <a:solidFill>
                  <a:schemeClr val="tx2"/>
                </a:solidFill>
              </a:rPr>
              <a:t>open week1-site/index.html for live demos of tensors, augmentation and the MLP.</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lIns="0" tIns="0" rIns="0" bIns="0" rtlCol="0" anchor="b"/>
          <a:lstStyle/>
          <a:p>
            <a:pPr algn="l" indent="0" marL="0">
              <a:buNone/>
            </a:pPr>
            <a:r>
              <a:rPr lang="en-US" sz="4400" b="1" dirty="0">
                <a:solidFill>
                  <a:schemeClr val="bg1"/>
                </a:solidFill>
              </a:rPr>
              <a:t>Three ideas to take away</a:t>
            </a:r>
            <a:endParaRPr lang="en-US" sz="4400" dirty="0"/>
          </a:p>
        </p:txBody>
      </p:sp>
      <p:sp>
        <p:nvSpPr>
          <p:cNvPr id="3" name="Text 0"/>
          <p:cNvSpPr/>
          <p:nvPr>
            <p:ph idx="101" type="body" hasCustomPrompt="1"/>
          </p:nvPr>
        </p:nvSpPr>
        <p:spPr>
          <a:xfrm>
            <a:off x="731520" y="3977640"/>
            <a:ext cx="10698480" cy="1097280"/>
          </a:xfrm>
          <a:prstGeom prst="rect">
            <a:avLst/>
          </a:prstGeom>
          <a:noFill/>
          <a:ln/>
        </p:spPr>
        <p:txBody>
          <a:bodyPr wrap="square" lIns="0" tIns="0" rIns="0" bIns="0" rtlCol="0" anchor="t"/>
          <a:lstStyle/>
          <a:p>
            <a:pPr algn="l" indent="0" marL="0">
              <a:buNone/>
            </a:pPr>
            <a:r>
              <a:rPr lang="en-US" sz="2000" dirty="0">
                <a:solidFill>
                  <a:schemeClr val="accent1"/>
                </a:solidFill>
              </a:rPr>
              <a:t>Learning means generalizing, not memorizing.</a:t>
            </a:r>
            <a:endParaRPr lang="en-US" sz="2000" dirty="0"/>
          </a:p>
          <a:p>
            <a:pPr algn="l" indent="0" marL="0">
              <a:buNone/>
            </a:pPr>
            <a:r>
              <a:rPr lang="en-US" sz="2000" dirty="0">
                <a:solidFill>
                  <a:schemeClr val="accent1"/>
                </a:solidFill>
              </a:rPr>
              <a:t>Augmentation creates label-preserving data almost for free.</a:t>
            </a:r>
            <a:endParaRPr lang="en-US" sz="2000" dirty="0"/>
          </a:p>
          <a:p>
            <a:pPr algn="l" indent="0" marL="0">
              <a:buNone/>
            </a:pPr>
            <a:r>
              <a:rPr lang="en-US" sz="2000" dirty="0">
                <a:solidFill>
                  <a:schemeClr val="accent1"/>
                </a:solidFill>
              </a:rPr>
              <a:t>An MLP is perceptrons + a non-linearity + backprop: 43 years in the making.</a:t>
            </a:r>
            <a:endParaRPr lang="en-US" sz="2000" dirty="0"/>
          </a:p>
        </p:txBody>
      </p:sp>
    </p:spTree>
  </p:cSld>
  <p:clrMapOvr>
    <a:masterClrMapping/>
  </p:clrMapOvr>
</p:sld>
</file>

<file path=ppt/theme/theme1.xml><?xml version="1.0" encoding="utf-8"?>
<a:theme xmlns:a="http://schemas.openxmlformats.org/drawingml/2006/main" name="AA5750 Week 1">
  <a:themeElements>
    <a:clrScheme name="AA5750 Week 1">
      <a:dk1>
        <a:srgbClr val="1B1F24"/>
      </a:dk1>
      <a:lt1>
        <a:srgbClr val="FFFFFF"/>
      </a:lt1>
      <a:dk2>
        <a:srgbClr val="3A4651"/>
      </a:dk2>
      <a:lt2>
        <a:srgbClr val="EEF1F4"/>
      </a:lt2>
      <a:accent1>
        <a:srgbClr val="E09F3E"/>
      </a:accent1>
      <a:accent2>
        <a:srgbClr val="335C67"/>
      </a:accent2>
      <a:accent3>
        <a:srgbClr val="9E2A2B"/>
      </a:accent3>
      <a:accent4>
        <a:srgbClr val="4F7F6A"/>
      </a:accent4>
      <a:accent5>
        <a:srgbClr val="7A8793"/>
      </a:accent5>
      <a:accent6>
        <a:srgbClr val="D9DEE3"/>
      </a:accent6>
      <a:hlink>
        <a:srgbClr val="335C67"/>
      </a:hlink>
      <a:folHlink>
        <a:srgbClr val="7A8793"/>
      </a:folHlink>
    </a:clrScheme>
    <a:fontScheme name="AA5750 Week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AA-5750 Contemporary Issues in Analytics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 Learning from Data, Augmentation and the Road to the MLP</dc:title>
  <dc:subject>PptxGenJS Presentation</dc:subject>
  <dc:creator>Chandra Prakash Bathula</dc:creator>
  <cp:lastModifiedBy>Chandra Prakash Bathula</cp:lastModifiedBy>
  <cp:revision>1</cp:revision>
  <dcterms:created xsi:type="dcterms:W3CDTF">2026-10-21T02:23:26Z</dcterms:created>
  <dcterms:modified xsi:type="dcterms:W3CDTF">2026-10-21T02:23:26Z</dcterms:modified>
</cp:coreProperties>
</file>