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9" r:id="rId9"/>
    <p:sldId id="268" r:id="rId10"/>
    <p:sldId id="272" r:id="rId11"/>
    <p:sldId id="262" r:id="rId12"/>
    <p:sldId id="263" r:id="rId13"/>
    <p:sldId id="264" r:id="rId14"/>
    <p:sldId id="265" r:id="rId15"/>
    <p:sldId id="279" r:id="rId16"/>
    <p:sldId id="280" r:id="rId17"/>
    <p:sldId id="273" r:id="rId18"/>
    <p:sldId id="275" r:id="rId19"/>
    <p:sldId id="274" r:id="rId20"/>
    <p:sldId id="276" r:id="rId21"/>
    <p:sldId id="277" r:id="rId22"/>
    <p:sldId id="278" r:id="rId23"/>
    <p:sldId id="281" r:id="rId24"/>
    <p:sldId id="282" r:id="rId25"/>
    <p:sldId id="283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301D7C-BADF-0894-AFC3-5328EA8DBDDC}" v="853" dt="2026-03-14T20:26:51.904"/>
    <p1510:client id="{750C0DD8-D298-5091-C2FA-B3F35834F96A}" v="1109" dt="2026-03-14T21:54:39.875"/>
    <p1510:client id="{ADDB4CBA-F4EA-32B7-61DE-B76A702AB539}" v="11" dt="2026-03-14T22:41:44.7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Neuron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jpe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jpeg"/><Relationship Id="rId2" Type="http://schemas.openxmlformats.org/officeDocument/2006/relationships/image" Target="../media/image32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AD630B4-4CCC-7B1D-1803-DAED942D7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Financial graphs on a dark display">
            <a:extLst>
              <a:ext uri="{FF2B5EF4-FFF2-40B4-BE49-F238E27FC236}">
                <a16:creationId xmlns:a16="http://schemas.microsoft.com/office/drawing/2014/main" id="{33040B64-F1FC-F2E4-21B9-A09DF5021D7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0000" r="-2" b="-2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137434"/>
            <a:ext cx="7848600" cy="3204429"/>
          </a:xfrm>
        </p:spPr>
        <p:txBody>
          <a:bodyPr anchor="t">
            <a:normAutofit/>
          </a:bodyPr>
          <a:lstStyle/>
          <a:p>
            <a:pPr algn="l"/>
            <a:r>
              <a:rPr lang="en-US" sz="4000">
                <a:solidFill>
                  <a:srgbClr val="FFFFFF"/>
                </a:solidFill>
              </a:rPr>
              <a:t>AA-5750 Contemporary Issues in </a:t>
            </a:r>
            <a:r>
              <a:rPr lang="en-US" sz="4000" dirty="0">
                <a:solidFill>
                  <a:srgbClr val="FFFFFF"/>
                </a:solidFill>
              </a:rPr>
              <a:t>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4792531"/>
            <a:ext cx="5334000" cy="108942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1700">
                <a:solidFill>
                  <a:srgbClr val="FFFFFF"/>
                </a:solidFill>
              </a:rPr>
              <a:t>Instructor: Chandra Prakash Bathula</a:t>
            </a:r>
          </a:p>
          <a:p>
            <a:pPr algn="l"/>
            <a:r>
              <a:rPr lang="en-US" sz="1700">
                <a:solidFill>
                  <a:srgbClr val="FFFFFF"/>
                </a:solidFill>
              </a:rPr>
              <a:t>Location : Xavier Hall G08</a:t>
            </a:r>
          </a:p>
          <a:p>
            <a:pPr algn="l"/>
            <a:r>
              <a:rPr lang="en-US" sz="1700">
                <a:solidFill>
                  <a:srgbClr val="FFFFFF"/>
                </a:solidFill>
              </a:rPr>
              <a:t>Timings:  Monday &amp; Wednesday | 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9:00 Am – 10:50 AM</a:t>
            </a:r>
            <a:endParaRPr lang="en-US" sz="1700">
              <a:solidFill>
                <a:srgbClr val="FFFFFF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9264613-F0F7-08CE-0ADF-98407A64D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61F75-D1A0-5FFF-2D55-7C1078DD9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en-US" sz="3200"/>
              <a:t>Week – 1 Agenda</a:t>
            </a:r>
          </a:p>
        </p:txBody>
      </p:sp>
      <p:pic>
        <p:nvPicPr>
          <p:cNvPr id="5" name="Picture 4" descr="Human brain nerve cells">
            <a:extLst>
              <a:ext uri="{FF2B5EF4-FFF2-40B4-BE49-F238E27FC236}">
                <a16:creationId xmlns:a16="http://schemas.microsoft.com/office/drawing/2014/main" id="{5EE53639-2133-C138-5E7E-BC54A107A6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492" r="31176" b="4"/>
          <a:stretch>
            <a:fillRect/>
          </a:stretch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C2AA3-B0C6-748E-7339-CFCB2CFDC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57" y="2551176"/>
            <a:ext cx="5444382" cy="359120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200">
                <a:highlight>
                  <a:srgbClr val="FFFFFF"/>
                </a:highlight>
                <a:latin typeface="Times New Roman"/>
                <a:cs typeface="Times New Roman"/>
              </a:rPr>
              <a:t>How computers learn patterns — Machine Learning overview</a:t>
            </a:r>
          </a:p>
          <a:p>
            <a:r>
              <a:rPr lang="en-US" sz="1200">
                <a:highlight>
                  <a:srgbClr val="FFFFFF"/>
                </a:highlight>
                <a:latin typeface="Times New Roman"/>
                <a:cs typeface="Times New Roman"/>
              </a:rPr>
              <a:t>Real-world applications</a:t>
            </a:r>
          </a:p>
          <a:p>
            <a:r>
              <a:rPr lang="en-US" sz="1200">
                <a:highlight>
                  <a:srgbClr val="FFFFFF"/>
                </a:highlight>
                <a:latin typeface="Times New Roman"/>
                <a:ea typeface="+mn-lt"/>
                <a:cs typeface="Times New Roman"/>
              </a:rPr>
              <a:t>Types of Machine Learning</a:t>
            </a:r>
            <a:endParaRPr lang="en-US" sz="12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en-US" sz="1200">
                <a:highlight>
                  <a:srgbClr val="FFFFFF"/>
                </a:highlight>
                <a:latin typeface="Times New Roman"/>
                <a:cs typeface="Times New Roman"/>
              </a:rPr>
              <a:t>Classical Machine Learning limitations</a:t>
            </a:r>
          </a:p>
          <a:p>
            <a:r>
              <a:rPr lang="en-US" sz="1200">
                <a:highlight>
                  <a:srgbClr val="FFFFFF"/>
                </a:highlight>
                <a:latin typeface="Times New Roman"/>
                <a:cs typeface="Times New Roman"/>
              </a:rPr>
              <a:t>Importance of non-linearity</a:t>
            </a:r>
          </a:p>
          <a:p>
            <a:r>
              <a:rPr lang="en-US" sz="1200">
                <a:highlight>
                  <a:srgbClr val="FFFFFF"/>
                </a:highlight>
                <a:latin typeface="Times New Roman"/>
                <a:cs typeface="Times New Roman"/>
              </a:rPr>
              <a:t>Neural Networks and their biological inspiration</a:t>
            </a:r>
          </a:p>
          <a:p>
            <a:r>
              <a:rPr lang="en-US" sz="1200">
                <a:highlight>
                  <a:srgbClr val="FFFFFF"/>
                </a:highlight>
                <a:latin typeface="Times New Roman"/>
                <a:cs typeface="Times New Roman"/>
              </a:rPr>
              <a:t>Perceptron and step function</a:t>
            </a:r>
          </a:p>
          <a:p>
            <a:r>
              <a:rPr lang="en-US" sz="1200">
                <a:highlight>
                  <a:srgbClr val="FFFFFF"/>
                </a:highlight>
                <a:latin typeface="Times New Roman"/>
                <a:cs typeface="Times New Roman"/>
              </a:rPr>
              <a:t>Activation functions — Sigmoid, Tanh, </a:t>
            </a:r>
            <a:r>
              <a:rPr lang="en-US" sz="1200" err="1">
                <a:highlight>
                  <a:srgbClr val="FFFFFF"/>
                </a:highlight>
                <a:latin typeface="Times New Roman"/>
                <a:cs typeface="Times New Roman"/>
              </a:rPr>
              <a:t>ReLU</a:t>
            </a:r>
          </a:p>
          <a:p>
            <a:r>
              <a:rPr lang="en-US" sz="1200">
                <a:highlight>
                  <a:srgbClr val="FFFFFF"/>
                </a:highlight>
                <a:latin typeface="Times New Roman"/>
                <a:cs typeface="Times New Roman"/>
              </a:rPr>
              <a:t>Multi-Layer Perceptron</a:t>
            </a:r>
          </a:p>
          <a:p>
            <a:r>
              <a:rPr lang="en-US" sz="1200">
                <a:highlight>
                  <a:srgbClr val="FFFFFF"/>
                </a:highlight>
                <a:latin typeface="Times New Roman"/>
                <a:cs typeface="Times New Roman"/>
              </a:rPr>
              <a:t>Backpropagation</a:t>
            </a:r>
          </a:p>
          <a:p>
            <a:r>
              <a:rPr lang="en-US" sz="1200">
                <a:highlight>
                  <a:srgbClr val="FFFFFF"/>
                </a:highlight>
                <a:latin typeface="Times New Roman"/>
                <a:cs typeface="Times New Roman"/>
              </a:rPr>
              <a:t>Numerical example for binary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4167582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8FC9EE-7348-3093-E4D5-6D1638DA3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How can computers learn patterns from data?</a:t>
            </a:r>
            <a:endParaRPr lang="en-US" sz="4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B34F1-341C-EFE2-70AC-D5A7B8C7B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32688"/>
            <a:ext cx="5916603" cy="49926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House Price Prediction</a:t>
            </a:r>
            <a:r>
              <a:rPr lang="en-US" sz="2000">
                <a:ea typeface="+mn-lt"/>
                <a:cs typeface="+mn-lt"/>
              </a:rPr>
              <a:t>: Learn from past sales data to estimate future prices based on location, size, bedrooms </a:t>
            </a:r>
          </a:p>
          <a:p>
            <a:pPr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Spam Email Detection</a:t>
            </a:r>
            <a:r>
              <a:rPr lang="en-US" sz="2000">
                <a:ea typeface="+mn-lt"/>
                <a:cs typeface="+mn-lt"/>
              </a:rPr>
              <a:t>: Identify spam patterns from millions of labeled emails (Google filters 100M+ spam emails daily)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Face Recognition</a:t>
            </a:r>
            <a:r>
              <a:rPr lang="en-US" sz="2000">
                <a:ea typeface="+mn-lt"/>
                <a:cs typeface="+mn-lt"/>
              </a:rPr>
              <a:t>: Detect facial features across millions of images (powers iPhone Face ID, Facebook tagging)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Disease Diagnosis</a:t>
            </a:r>
            <a:r>
              <a:rPr lang="en-US" sz="2000">
                <a:ea typeface="+mn-lt"/>
                <a:cs typeface="+mn-lt"/>
              </a:rPr>
              <a:t>: Analyze medical scans to detect cancer earlier than human radiologists (FDA-approved AI for 200+ conditions)</a:t>
            </a:r>
            <a:endParaRPr lang="en-US" sz="2000"/>
          </a:p>
          <a:p>
            <a:pPr marL="0" indent="0">
              <a:buNone/>
            </a:pPr>
            <a:endParaRPr lang="en-US" sz="200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Computers discover patterns automatically from examples → </a:t>
            </a:r>
            <a:r>
              <a:rPr lang="en-US" sz="2000" b="1">
                <a:ea typeface="+mn-lt"/>
                <a:cs typeface="+mn-lt"/>
              </a:rPr>
              <a:t>This is Machine Learning</a:t>
            </a:r>
          </a:p>
          <a:p>
            <a:pPr marL="0" indent="0">
              <a:buNone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419232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BBBDE7-010F-F716-B67D-5554E30B6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tx2"/>
                </a:solidFill>
                <a:latin typeface="Aptos"/>
                <a:ea typeface="+mj-lt"/>
                <a:cs typeface="+mj-lt"/>
              </a:rPr>
              <a:t>What is Machine Learning?</a:t>
            </a:r>
            <a:endParaRPr lang="en-US" sz="3600">
              <a:solidFill>
                <a:schemeClr val="tx2"/>
              </a:solidFill>
              <a:latin typeface="Apt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493BA-AA53-D74C-A282-1516DD5BB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3"/>
            <a:ext cx="4765949" cy="335347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b="1">
                <a:solidFill>
                  <a:schemeClr val="tx2"/>
                </a:solidFill>
                <a:ea typeface="+mn-lt"/>
                <a:cs typeface="+mn-lt"/>
              </a:rPr>
              <a:t>Machine Learning (ML) is a subset of AI where computers learn patterns directly from data.</a:t>
            </a:r>
          </a:p>
          <a:p>
            <a:pPr marL="0" indent="0">
              <a:buNone/>
            </a:pPr>
            <a:r>
              <a:rPr lang="en-US" sz="1800" b="1">
                <a:solidFill>
                  <a:schemeClr val="tx2"/>
                </a:solidFill>
                <a:ea typeface="+mn-lt"/>
                <a:cs typeface="+mn-lt"/>
              </a:rPr>
              <a:t>Difference between Traditional Programming vs Machine Learning:</a:t>
            </a:r>
          </a:p>
          <a:p>
            <a:pPr marL="0" indent="0">
              <a:buNone/>
            </a:pP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Instead of programming every rule, ML algorithms analyze examples to generalize.</a:t>
            </a:r>
            <a:endParaRPr lang="en-US" sz="18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D94C3AF-3314-987E-5B4B-FF43DB967D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1105538"/>
              </p:ext>
            </p:extLst>
          </p:nvPr>
        </p:nvGraphicFramePr>
        <p:xfrm>
          <a:off x="7708392" y="2139629"/>
          <a:ext cx="4142233" cy="3504842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915775">
                  <a:extLst>
                    <a:ext uri="{9D8B030D-6E8A-4147-A177-3AD203B41FA5}">
                      <a16:colId xmlns:a16="http://schemas.microsoft.com/office/drawing/2014/main" val="1947234451"/>
                    </a:ext>
                  </a:extLst>
                </a:gridCol>
                <a:gridCol w="2226458">
                  <a:extLst>
                    <a:ext uri="{9D8B030D-6E8A-4147-A177-3AD203B41FA5}">
                      <a16:colId xmlns:a16="http://schemas.microsoft.com/office/drawing/2014/main" val="920717856"/>
                    </a:ext>
                  </a:extLst>
                </a:gridCol>
              </a:tblGrid>
              <a:tr h="7736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effectLst/>
                        </a:rPr>
                        <a:t>Traditional Programming</a:t>
                      </a:r>
                    </a:p>
                  </a:txBody>
                  <a:tcPr marL="221477" marR="132886" marT="132886" marB="132886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effectLst/>
                        </a:rPr>
                        <a:t>Machine Learning</a:t>
                      </a:r>
                    </a:p>
                  </a:txBody>
                  <a:tcPr marL="221477" marR="132886" marT="132886" marB="132886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9245554"/>
                  </a:ext>
                </a:extLst>
              </a:tr>
              <a:tr h="14824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Rules + Data → Output</a:t>
                      </a:r>
                      <a:br>
                        <a:rPr lang="en-US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</a:br>
                      <a:r>
                        <a:rPr lang="en-US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Human writes explicit if-then rules</a:t>
                      </a:r>
                    </a:p>
                  </a:txBody>
                  <a:tcPr marL="221477" marR="132886" marT="132886" marB="132886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Data + Output → Rules</a:t>
                      </a:r>
                      <a:br>
                        <a:rPr lang="en-US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</a:br>
                      <a:r>
                        <a:rPr lang="en-US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Computer discovers patterns automatically.</a:t>
                      </a:r>
                    </a:p>
                  </a:txBody>
                  <a:tcPr marL="221477" marR="132886" marT="132886" marB="132886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4332807"/>
                  </a:ext>
                </a:extLst>
              </a:tr>
              <a:tr h="124617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Example: Spam filter with 100 hand-coded rules.</a:t>
                      </a:r>
                    </a:p>
                  </a:txBody>
                  <a:tcPr marL="221477" marR="132886" marT="132886" marB="132886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Example: Gmail learns from 1B+ emails what spam looks like.</a:t>
                      </a:r>
                    </a:p>
                  </a:txBody>
                  <a:tcPr marL="221477" marR="132886" marT="132886" marB="132886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24119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5354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718276" y="729523"/>
            <a:ext cx="6858000" cy="5398953"/>
          </a:xfrm>
          <a:prstGeom prst="rect">
            <a:avLst/>
          </a:prstGeom>
          <a:ln>
            <a:noFill/>
          </a:ln>
          <a:effectLst>
            <a:outerShdw blurRad="419100" dist="152400" sx="94000" sy="94000" algn="l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95EB23-3046-3441-6583-36F6EA2CB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85366"/>
            <a:ext cx="4069055" cy="2072853"/>
          </a:xfrm>
        </p:spPr>
        <p:txBody>
          <a:bodyPr anchor="t">
            <a:normAutofit/>
          </a:bodyPr>
          <a:lstStyle/>
          <a:p>
            <a:r>
              <a:rPr lang="en-US" sz="4000" b="1">
                <a:latin typeface="Aptos"/>
                <a:ea typeface="+mj-lt"/>
                <a:cs typeface="+mj-lt"/>
              </a:rPr>
              <a:t>Real-World ML Applications.</a:t>
            </a:r>
            <a:endParaRPr lang="en-US" sz="4000">
              <a:latin typeface="Aptos"/>
            </a:endParaRPr>
          </a:p>
        </p:txBody>
      </p:sp>
      <p:pic>
        <p:nvPicPr>
          <p:cNvPr id="4" name="Picture 3" descr="Applications of Machine Learning | 14 Applications of Machine ...">
            <a:extLst>
              <a:ext uri="{FF2B5EF4-FFF2-40B4-BE49-F238E27FC236}">
                <a16:creationId xmlns:a16="http://schemas.microsoft.com/office/drawing/2014/main" id="{4C900FCD-E61F-D3EF-80CE-BD2A39AE6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619" y="3666016"/>
            <a:ext cx="3951289" cy="219296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783BA-55FB-ACDA-5678-AAB02A29E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785366"/>
            <a:ext cx="5257797" cy="531063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1300" b="1">
                <a:ea typeface="+mn-lt"/>
                <a:cs typeface="+mn-lt"/>
              </a:rPr>
              <a:t>ML powers $500B+ industries with massive impact:</a:t>
            </a:r>
            <a:endParaRPr lang="en-US" sz="1300"/>
          </a:p>
          <a:p>
            <a:pPr>
              <a:buNone/>
            </a:pPr>
            <a:r>
              <a:rPr lang="en-US" sz="1300" b="1">
                <a:ea typeface="+mn-lt"/>
                <a:cs typeface="+mn-lt"/>
              </a:rPr>
              <a:t>Healthcare</a:t>
            </a:r>
            <a:endParaRPr lang="en-US" sz="1300"/>
          </a:p>
          <a:p>
            <a:pPr>
              <a:buFont typeface="Arial"/>
              <a:buChar char="•"/>
            </a:pPr>
            <a:r>
              <a:rPr lang="en-US" sz="1300" b="1">
                <a:ea typeface="+mn-lt"/>
                <a:cs typeface="+mn-lt"/>
              </a:rPr>
              <a:t>Disease prediction</a:t>
            </a:r>
            <a:r>
              <a:rPr lang="en-US" sz="1300">
                <a:ea typeface="+mn-lt"/>
                <a:cs typeface="+mn-lt"/>
              </a:rPr>
              <a:t>: AI matches specialists across 20+ conditions.</a:t>
            </a:r>
            <a:endParaRPr lang="en-US" sz="1300"/>
          </a:p>
          <a:p>
            <a:pPr>
              <a:buFont typeface="Arial"/>
              <a:buChar char="•"/>
            </a:pPr>
            <a:r>
              <a:rPr lang="en-US" sz="1300" b="1">
                <a:ea typeface="+mn-lt"/>
                <a:cs typeface="+mn-lt"/>
              </a:rPr>
              <a:t>Medical imaging</a:t>
            </a:r>
            <a:r>
              <a:rPr lang="en-US" sz="1300">
                <a:ea typeface="+mn-lt"/>
                <a:cs typeface="+mn-lt"/>
              </a:rPr>
              <a:t>: FDA-approved for 200+ conditions, detects cancer earlier than radiologists.</a:t>
            </a:r>
          </a:p>
          <a:p>
            <a:pPr marL="0" indent="0">
              <a:buNone/>
            </a:pPr>
            <a:r>
              <a:rPr lang="en-US" sz="1300" b="1">
                <a:ea typeface="+mn-lt"/>
                <a:cs typeface="+mn-lt"/>
              </a:rPr>
              <a:t>Finance</a:t>
            </a:r>
            <a:endParaRPr lang="en-US" sz="1300"/>
          </a:p>
          <a:p>
            <a:pPr>
              <a:buFont typeface="Arial"/>
              <a:buChar char="•"/>
            </a:pPr>
            <a:r>
              <a:rPr lang="en-US" sz="1300" b="1">
                <a:ea typeface="+mn-lt"/>
                <a:cs typeface="+mn-lt"/>
              </a:rPr>
              <a:t>Fraud detection</a:t>
            </a:r>
            <a:r>
              <a:rPr lang="en-US" sz="1300">
                <a:ea typeface="+mn-lt"/>
                <a:cs typeface="+mn-lt"/>
              </a:rPr>
              <a:t>: $3.7T annual cost; 90% banks use AI (50% for scam detection).</a:t>
            </a:r>
            <a:endParaRPr lang="en-US" sz="1300"/>
          </a:p>
          <a:p>
            <a:pPr>
              <a:buFont typeface="Arial"/>
              <a:buChar char="•"/>
            </a:pPr>
            <a:r>
              <a:rPr lang="en-US" sz="1300" b="1">
                <a:ea typeface="+mn-lt"/>
                <a:cs typeface="+mn-lt"/>
              </a:rPr>
              <a:t>Risk modeling</a:t>
            </a:r>
            <a:r>
              <a:rPr lang="en-US" sz="1300">
                <a:ea typeface="+mn-lt"/>
                <a:cs typeface="+mn-lt"/>
              </a:rPr>
              <a:t>: American Express improved fraud detection 6% with LSTM models.</a:t>
            </a:r>
          </a:p>
          <a:p>
            <a:pPr marL="0" indent="0">
              <a:buNone/>
            </a:pPr>
            <a:r>
              <a:rPr lang="en-US" sz="1300" b="1">
                <a:ea typeface="+mn-lt"/>
                <a:cs typeface="+mn-lt"/>
              </a:rPr>
              <a:t>Technology</a:t>
            </a:r>
            <a:endParaRPr lang="en-US" sz="1300"/>
          </a:p>
          <a:p>
            <a:pPr>
              <a:buFont typeface="Arial"/>
              <a:buChar char="•"/>
            </a:pPr>
            <a:r>
              <a:rPr lang="en-US" sz="1300" b="1">
                <a:ea typeface="+mn-lt"/>
                <a:cs typeface="+mn-lt"/>
              </a:rPr>
              <a:t>Recommendation systems</a:t>
            </a:r>
            <a:r>
              <a:rPr lang="en-US" sz="1300">
                <a:ea typeface="+mn-lt"/>
                <a:cs typeface="+mn-lt"/>
              </a:rPr>
              <a:t>: Netflix personalization drives 80% of viewing. </a:t>
            </a:r>
            <a:endParaRPr lang="en-US" sz="1300"/>
          </a:p>
          <a:p>
            <a:pPr>
              <a:buFont typeface="Arial"/>
              <a:buChar char="•"/>
            </a:pPr>
            <a:r>
              <a:rPr lang="en-US" sz="1300" b="1">
                <a:ea typeface="+mn-lt"/>
                <a:cs typeface="+mn-lt"/>
              </a:rPr>
              <a:t>Voice assistants</a:t>
            </a:r>
            <a:r>
              <a:rPr lang="en-US" sz="1300">
                <a:ea typeface="+mn-lt"/>
                <a:cs typeface="+mn-lt"/>
              </a:rPr>
              <a:t>: Powers Siri, Alexa, Google Assistant.</a:t>
            </a:r>
          </a:p>
          <a:p>
            <a:pPr marL="0" indent="0">
              <a:buNone/>
            </a:pPr>
            <a:r>
              <a:rPr lang="en-US" sz="1300" b="1">
                <a:ea typeface="+mn-lt"/>
                <a:cs typeface="+mn-lt"/>
              </a:rPr>
              <a:t>Autonomous Systems</a:t>
            </a:r>
            <a:endParaRPr lang="en-US" sz="1300"/>
          </a:p>
          <a:p>
            <a:pPr>
              <a:buFont typeface="Arial"/>
              <a:buChar char="•"/>
            </a:pPr>
            <a:r>
              <a:rPr lang="en-US" sz="1300" b="1">
                <a:ea typeface="+mn-lt"/>
                <a:cs typeface="+mn-lt"/>
              </a:rPr>
              <a:t>Self-driving cars</a:t>
            </a:r>
            <a:r>
              <a:rPr lang="en-US" sz="1300">
                <a:ea typeface="+mn-lt"/>
                <a:cs typeface="+mn-lt"/>
              </a:rPr>
              <a:t>: Waymo 200M+ autonomous miles, 10 cities, ~1M rides/week.</a:t>
            </a:r>
            <a:endParaRPr lang="en-US" sz="1300"/>
          </a:p>
          <a:p>
            <a:pPr indent="0">
              <a:buNone/>
            </a:pPr>
            <a:r>
              <a:rPr lang="en-US" sz="1300" b="1">
                <a:ea typeface="+mn-lt"/>
                <a:cs typeface="+mn-lt"/>
              </a:rPr>
              <a:t>Impact</a:t>
            </a:r>
            <a:r>
              <a:rPr lang="en-US" sz="1300">
                <a:ea typeface="+mn-lt"/>
                <a:cs typeface="+mn-lt"/>
              </a:rPr>
              <a:t>: ML processes 2.5 quintillion bytes of data daily across these domains.</a:t>
            </a:r>
            <a:endParaRPr lang="en-US" sz="1300"/>
          </a:p>
          <a:p>
            <a:pPr marL="0" indent="0">
              <a:buNone/>
            </a:pP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59528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4DF55BE-B4AB-4BA1-BDE1-E9F7FB3F1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653FCC-C736-8B4F-8E35-C4671F66B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539578"/>
            <a:ext cx="5981278" cy="1684638"/>
          </a:xfrm>
        </p:spPr>
        <p:txBody>
          <a:bodyPr>
            <a:normAutofit/>
          </a:bodyPr>
          <a:lstStyle/>
          <a:p>
            <a:r>
              <a:rPr lang="en-US" sz="4000" b="1">
                <a:latin typeface="Aptos"/>
                <a:ea typeface="+mj-lt"/>
                <a:cs typeface="+mj-lt"/>
              </a:rPr>
              <a:t>Types of Machine Learning</a:t>
            </a:r>
            <a:endParaRPr lang="en-US" sz="4000">
              <a:latin typeface="Apt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F40F8-1B5D-EB6C-7F1B-7C9E7B241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409568"/>
            <a:ext cx="5981278" cy="369055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1000" b="1">
                <a:ea typeface="+mn-lt"/>
                <a:cs typeface="+mn-lt"/>
              </a:rPr>
              <a:t>Three core paradigms power modern ML systems:</a:t>
            </a:r>
            <a:endParaRPr lang="en-US" sz="1000"/>
          </a:p>
          <a:p>
            <a:pPr>
              <a:buNone/>
            </a:pPr>
            <a:r>
              <a:rPr lang="en-US" sz="1000" b="1">
                <a:ea typeface="+mn-lt"/>
                <a:cs typeface="+mn-lt"/>
              </a:rPr>
              <a:t>Supervised Learning</a:t>
            </a:r>
            <a:r>
              <a:rPr lang="en-US" sz="1000">
                <a:ea typeface="+mn-lt"/>
                <a:cs typeface="+mn-lt"/>
              </a:rPr>
              <a:t> </a:t>
            </a:r>
            <a:endParaRPr lang="en-US" sz="1000"/>
          </a:p>
          <a:p>
            <a:pPr>
              <a:buFont typeface="Arial"/>
              <a:buChar char="•"/>
            </a:pPr>
            <a:r>
              <a:rPr lang="en-US" sz="1000" b="1">
                <a:ea typeface="+mn-lt"/>
                <a:cs typeface="+mn-lt"/>
              </a:rPr>
              <a:t>Labeled data</a:t>
            </a:r>
            <a:r>
              <a:rPr lang="en-US" sz="1000">
                <a:ea typeface="+mn-lt"/>
                <a:cs typeface="+mn-lt"/>
              </a:rPr>
              <a:t>: Input + correct output provided during training.</a:t>
            </a:r>
            <a:endParaRPr lang="en-US" sz="1000"/>
          </a:p>
          <a:p>
            <a:pPr>
              <a:buFont typeface="Arial"/>
              <a:buChar char="•"/>
            </a:pPr>
            <a:r>
              <a:rPr lang="en-US" sz="1000" b="1">
                <a:ea typeface="+mn-lt"/>
                <a:cs typeface="+mn-lt"/>
              </a:rPr>
              <a:t>House price prediction</a:t>
            </a:r>
            <a:r>
              <a:rPr lang="en-US" sz="1000">
                <a:ea typeface="+mn-lt"/>
                <a:cs typeface="+mn-lt"/>
              </a:rPr>
              <a:t>: Train on 1M+ homes (size → $275K) to predict new listings.</a:t>
            </a:r>
            <a:endParaRPr lang="en-US" sz="1000"/>
          </a:p>
          <a:p>
            <a:pPr>
              <a:buFont typeface="Arial"/>
              <a:buChar char="•"/>
            </a:pPr>
            <a:r>
              <a:rPr lang="en-US" sz="1000" b="1">
                <a:ea typeface="+mn-lt"/>
                <a:cs typeface="+mn-lt"/>
              </a:rPr>
              <a:t>Other examples</a:t>
            </a:r>
            <a:r>
              <a:rPr lang="en-US" sz="1000">
                <a:ea typeface="+mn-lt"/>
                <a:cs typeface="+mn-lt"/>
              </a:rPr>
              <a:t>: Email spam (95% accuracy), cancer diagnosis from scans.</a:t>
            </a:r>
          </a:p>
          <a:p>
            <a:pPr marL="0" indent="0">
              <a:buNone/>
            </a:pPr>
            <a:r>
              <a:rPr lang="en-US" sz="1000" b="1">
                <a:ea typeface="+mn-lt"/>
                <a:cs typeface="+mn-lt"/>
              </a:rPr>
              <a:t>Unsupervised Learning</a:t>
            </a:r>
            <a:r>
              <a:rPr lang="en-US" sz="1000">
                <a:ea typeface="+mn-lt"/>
                <a:cs typeface="+mn-lt"/>
              </a:rPr>
              <a:t> </a:t>
            </a:r>
            <a:endParaRPr lang="en-US" sz="1000"/>
          </a:p>
          <a:p>
            <a:pPr>
              <a:buFont typeface="Arial"/>
              <a:buChar char="•"/>
            </a:pPr>
            <a:r>
              <a:rPr lang="en-US" sz="1000" b="1">
                <a:ea typeface="+mn-lt"/>
                <a:cs typeface="+mn-lt"/>
              </a:rPr>
              <a:t>No labels</a:t>
            </a:r>
            <a:r>
              <a:rPr lang="en-US" sz="1000">
                <a:ea typeface="+mn-lt"/>
                <a:cs typeface="+mn-lt"/>
              </a:rPr>
              <a:t>: Algorithm discovers hidden patterns automatically.</a:t>
            </a:r>
            <a:endParaRPr lang="en-US" sz="1000"/>
          </a:p>
          <a:p>
            <a:pPr>
              <a:buFont typeface="Arial"/>
              <a:buChar char="•"/>
            </a:pPr>
            <a:r>
              <a:rPr lang="en-US" sz="1000" b="1">
                <a:ea typeface="+mn-lt"/>
                <a:cs typeface="+mn-lt"/>
              </a:rPr>
              <a:t>Customer segmentation</a:t>
            </a:r>
            <a:r>
              <a:rPr lang="en-US" sz="1000">
                <a:ea typeface="+mn-lt"/>
                <a:cs typeface="+mn-lt"/>
              </a:rPr>
              <a:t>: Groups 100M shoppers into 5 behavior clusters for targeted marketing.</a:t>
            </a:r>
            <a:endParaRPr lang="en-US" sz="1000"/>
          </a:p>
          <a:p>
            <a:pPr>
              <a:buFont typeface="Arial"/>
              <a:buChar char="•"/>
            </a:pPr>
            <a:r>
              <a:rPr lang="en-US" sz="1000" b="1">
                <a:ea typeface="+mn-lt"/>
                <a:cs typeface="+mn-lt"/>
              </a:rPr>
              <a:t>Other examples</a:t>
            </a:r>
            <a:r>
              <a:rPr lang="en-US" sz="1000">
                <a:ea typeface="+mn-lt"/>
                <a:cs typeface="+mn-lt"/>
              </a:rPr>
              <a:t>: Fraud anomaly detection, market basket analysis.</a:t>
            </a:r>
            <a:endParaRPr lang="en-US" sz="1000"/>
          </a:p>
          <a:p>
            <a:pPr marL="0" indent="0">
              <a:buNone/>
            </a:pPr>
            <a:r>
              <a:rPr lang="en-US" sz="1000" b="1">
                <a:ea typeface="+mn-lt"/>
                <a:cs typeface="+mn-lt"/>
              </a:rPr>
              <a:t>Reinforcement Learning</a:t>
            </a:r>
            <a:r>
              <a:rPr lang="en-US" sz="1000">
                <a:ea typeface="+mn-lt"/>
                <a:cs typeface="+mn-lt"/>
              </a:rPr>
              <a:t> </a:t>
            </a:r>
            <a:endParaRPr lang="en-US" sz="1000"/>
          </a:p>
          <a:p>
            <a:pPr>
              <a:buFont typeface="Arial"/>
              <a:buChar char="•"/>
            </a:pPr>
            <a:r>
              <a:rPr lang="en-US" sz="1000" b="1">
                <a:ea typeface="+mn-lt"/>
                <a:cs typeface="+mn-lt"/>
              </a:rPr>
              <a:t>Trial &amp; error</a:t>
            </a:r>
            <a:r>
              <a:rPr lang="en-US" sz="1000">
                <a:ea typeface="+mn-lt"/>
                <a:cs typeface="+mn-lt"/>
              </a:rPr>
              <a:t>: Agent maximizes rewards through environment interaction.</a:t>
            </a:r>
            <a:endParaRPr lang="en-US" sz="1000"/>
          </a:p>
          <a:p>
            <a:pPr>
              <a:buFont typeface="Arial"/>
              <a:buChar char="•"/>
            </a:pPr>
            <a:r>
              <a:rPr lang="en-US" sz="1000" b="1">
                <a:ea typeface="+mn-lt"/>
                <a:cs typeface="+mn-lt"/>
              </a:rPr>
              <a:t>Game AI</a:t>
            </a:r>
            <a:r>
              <a:rPr lang="en-US" sz="1000">
                <a:ea typeface="+mn-lt"/>
                <a:cs typeface="+mn-lt"/>
              </a:rPr>
              <a:t>: AlphaGo beat world champion (1.6M simulations/second).</a:t>
            </a:r>
            <a:endParaRPr lang="en-US" sz="1000"/>
          </a:p>
          <a:p>
            <a:pPr>
              <a:buFont typeface="Arial"/>
              <a:buChar char="•"/>
            </a:pPr>
            <a:r>
              <a:rPr lang="en-US" sz="1000" b="1">
                <a:ea typeface="+mn-lt"/>
                <a:cs typeface="+mn-lt"/>
              </a:rPr>
              <a:t>Other examples</a:t>
            </a:r>
            <a:r>
              <a:rPr lang="en-US" sz="1000">
                <a:ea typeface="+mn-lt"/>
                <a:cs typeface="+mn-lt"/>
              </a:rPr>
              <a:t>: Self-driving cars, robotic surgery, stock trading.</a:t>
            </a:r>
          </a:p>
          <a:p>
            <a:pPr>
              <a:buFont typeface="Arial"/>
              <a:buChar char="•"/>
            </a:pPr>
            <a:endParaRPr lang="en-US" sz="100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512AF3D-E27A-CE36-8083-DA5CDB29F9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2976300"/>
              </p:ext>
            </p:extLst>
          </p:nvPr>
        </p:nvGraphicFramePr>
        <p:xfrm>
          <a:off x="7187519" y="3431708"/>
          <a:ext cx="4810875" cy="2198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8857">
                  <a:extLst>
                    <a:ext uri="{9D8B030D-6E8A-4147-A177-3AD203B41FA5}">
                      <a16:colId xmlns:a16="http://schemas.microsoft.com/office/drawing/2014/main" val="4140753276"/>
                    </a:ext>
                  </a:extLst>
                </a:gridCol>
                <a:gridCol w="994033">
                  <a:extLst>
                    <a:ext uri="{9D8B030D-6E8A-4147-A177-3AD203B41FA5}">
                      <a16:colId xmlns:a16="http://schemas.microsoft.com/office/drawing/2014/main" val="317703072"/>
                    </a:ext>
                  </a:extLst>
                </a:gridCol>
                <a:gridCol w="1196975">
                  <a:extLst>
                    <a:ext uri="{9D8B030D-6E8A-4147-A177-3AD203B41FA5}">
                      <a16:colId xmlns:a16="http://schemas.microsoft.com/office/drawing/2014/main" val="841101792"/>
                    </a:ext>
                  </a:extLst>
                </a:gridCol>
                <a:gridCol w="1241010">
                  <a:extLst>
                    <a:ext uri="{9D8B030D-6E8A-4147-A177-3AD203B41FA5}">
                      <a16:colId xmlns:a16="http://schemas.microsoft.com/office/drawing/2014/main" val="1301787967"/>
                    </a:ext>
                  </a:extLst>
                </a:gridCol>
              </a:tblGrid>
              <a:tr h="4117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Type</a:t>
                      </a:r>
                    </a:p>
                  </a:txBody>
                  <a:tcPr marL="91898" marR="91898" marT="91898" marB="9189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Data</a:t>
                      </a:r>
                    </a:p>
                  </a:txBody>
                  <a:tcPr marL="91898" marR="91898" marT="91898" marB="9189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Goal</a:t>
                      </a:r>
                    </a:p>
                  </a:txBody>
                  <a:tcPr marL="91898" marR="91898" marT="91898" marB="9189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Key Example</a:t>
                      </a:r>
                    </a:p>
                  </a:txBody>
                  <a:tcPr marL="91898" marR="91898" marT="91898" marB="9189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4726121"/>
                  </a:ext>
                </a:extLst>
              </a:tr>
              <a:tr h="59550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Supervised</a:t>
                      </a:r>
                      <a:endParaRPr lang="en-US" sz="1200">
                        <a:effectLst/>
                      </a:endParaRPr>
                    </a:p>
                  </a:txBody>
                  <a:tcPr marL="91898" marR="91898" marT="91898" marB="9189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Labeled</a:t>
                      </a:r>
                    </a:p>
                  </a:txBody>
                  <a:tcPr marL="91898" marR="91898" marT="91898" marB="9189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Predict outcomes</a:t>
                      </a:r>
                    </a:p>
                  </a:txBody>
                  <a:tcPr marL="91898" marR="91898" marT="91898" marB="9189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House prices </a:t>
                      </a:r>
                    </a:p>
                  </a:txBody>
                  <a:tcPr marL="91898" marR="91898" marT="91898" marB="9189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2910478"/>
                  </a:ext>
                </a:extLst>
              </a:tr>
              <a:tr h="59550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Unsupervised</a:t>
                      </a:r>
                      <a:endParaRPr lang="en-US" sz="1200">
                        <a:effectLst/>
                      </a:endParaRPr>
                    </a:p>
                  </a:txBody>
                  <a:tcPr marL="91898" marR="91898" marT="91898" marB="9189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Unlabeled</a:t>
                      </a:r>
                    </a:p>
                  </a:txBody>
                  <a:tcPr marL="91898" marR="91898" marT="91898" marB="9189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Find patterns</a:t>
                      </a:r>
                    </a:p>
                  </a:txBody>
                  <a:tcPr marL="91898" marR="91898" marT="91898" marB="9189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Customer groups </a:t>
                      </a:r>
                    </a:p>
                  </a:txBody>
                  <a:tcPr marL="91898" marR="91898" marT="91898" marB="9189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9907230"/>
                  </a:ext>
                </a:extLst>
              </a:tr>
              <a:tr h="59550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Reinforcement</a:t>
                      </a:r>
                      <a:endParaRPr lang="en-US" sz="1200">
                        <a:effectLst/>
                      </a:endParaRPr>
                    </a:p>
                  </a:txBody>
                  <a:tcPr marL="91898" marR="91898" marT="91898" marB="9189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Rewards</a:t>
                      </a:r>
                    </a:p>
                  </a:txBody>
                  <a:tcPr marL="91898" marR="91898" marT="91898" marB="9189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Optimize actions</a:t>
                      </a:r>
                    </a:p>
                  </a:txBody>
                  <a:tcPr marL="91898" marR="91898" marT="91898" marB="9189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Game AI </a:t>
                      </a:r>
                    </a:p>
                  </a:txBody>
                  <a:tcPr marL="91898" marR="91898" marT="91898" marB="9189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375450"/>
                  </a:ext>
                </a:extLst>
              </a:tr>
            </a:tbl>
          </a:graphicData>
        </a:graphic>
      </p:graphicFrame>
      <p:pic>
        <p:nvPicPr>
          <p:cNvPr id="6" name="Picture 5" descr="Reinforcement Learning. Reinforcement learning is an approach… | by  Jagandeep Singh | DataDrivenInvestor">
            <a:extLst>
              <a:ext uri="{FF2B5EF4-FFF2-40B4-BE49-F238E27FC236}">
                <a16:creationId xmlns:a16="http://schemas.microsoft.com/office/drawing/2014/main" id="{D436BEED-CB8C-5AC6-EAC0-3A8E663DB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7438" y="969188"/>
            <a:ext cx="3769125" cy="203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052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414F6-AA3A-8ADA-6554-C808C566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78408"/>
            <a:ext cx="3721608" cy="1106424"/>
          </a:xfrm>
        </p:spPr>
        <p:txBody>
          <a:bodyPr>
            <a:normAutofit/>
          </a:bodyPr>
          <a:lstStyle/>
          <a:p>
            <a:r>
              <a:rPr lang="en-US" sz="2800"/>
              <a:t>Classical Machine Learning</a:t>
            </a:r>
          </a:p>
          <a:p>
            <a:endParaRPr lang="en-US"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7A96F-1AAB-83B6-EBDC-8888B2E1B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68296"/>
            <a:ext cx="3721608" cy="350215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1300" b="1">
                <a:ea typeface="+mn-lt"/>
                <a:cs typeface="+mn-lt"/>
              </a:rPr>
              <a:t>Purpose:</a:t>
            </a:r>
            <a:r>
              <a:rPr lang="en-US" sz="1300">
                <a:ea typeface="+mn-lt"/>
                <a:cs typeface="+mn-lt"/>
              </a:rPr>
              <a:t> Predict or classify using data patterns.</a:t>
            </a:r>
            <a:endParaRPr lang="en-US" sz="1300"/>
          </a:p>
          <a:p>
            <a:pPr marL="0" indent="0">
              <a:buNone/>
            </a:pPr>
            <a:r>
              <a:rPr lang="en-US" sz="1300" b="1">
                <a:ea typeface="+mn-lt"/>
                <a:cs typeface="+mn-lt"/>
              </a:rPr>
              <a:t>Algorithms:</a:t>
            </a:r>
            <a:endParaRPr lang="en-US" sz="1300"/>
          </a:p>
          <a:p>
            <a:pPr marL="971550" lvl="1" indent="-285750">
              <a:buFont typeface="Arial"/>
              <a:buChar char="•"/>
            </a:pPr>
            <a:r>
              <a:rPr lang="en-US" sz="1300" b="1">
                <a:ea typeface="+mn-lt"/>
                <a:cs typeface="+mn-lt"/>
              </a:rPr>
              <a:t>K-NN:</a:t>
            </a:r>
            <a:r>
              <a:rPr lang="en-US" sz="1300">
                <a:ea typeface="+mn-lt"/>
                <a:cs typeface="+mn-lt"/>
              </a:rPr>
              <a:t> Classifies by nearest neighbors (e.g., recommendations).</a:t>
            </a:r>
            <a:endParaRPr lang="en-US" sz="1300"/>
          </a:p>
          <a:p>
            <a:pPr marL="971550" lvl="1" indent="-285750">
              <a:buFont typeface="Arial"/>
              <a:buChar char="•"/>
            </a:pPr>
            <a:r>
              <a:rPr lang="en-US" sz="1300" b="1">
                <a:ea typeface="+mn-lt"/>
                <a:cs typeface="+mn-lt"/>
              </a:rPr>
              <a:t>Decision Trees:</a:t>
            </a:r>
            <a:r>
              <a:rPr lang="en-US" sz="1300">
                <a:ea typeface="+mn-lt"/>
                <a:cs typeface="+mn-lt"/>
              </a:rPr>
              <a:t> If-else rules (e.g., fraud detection).</a:t>
            </a:r>
            <a:endParaRPr lang="en-US" sz="1300"/>
          </a:p>
          <a:p>
            <a:pPr marL="971550" lvl="1" indent="-285750">
              <a:buFont typeface="Arial"/>
              <a:buChar char="•"/>
            </a:pPr>
            <a:r>
              <a:rPr lang="en-US" sz="1300" b="1">
                <a:ea typeface="+mn-lt"/>
                <a:cs typeface="+mn-lt"/>
              </a:rPr>
              <a:t>Logistic Regression:</a:t>
            </a:r>
            <a:r>
              <a:rPr lang="en-US" sz="1300">
                <a:ea typeface="+mn-lt"/>
                <a:cs typeface="+mn-lt"/>
              </a:rPr>
              <a:t> Linear boundaries (e.g., spam detection).</a:t>
            </a:r>
            <a:endParaRPr lang="en-US" sz="1300"/>
          </a:p>
          <a:p>
            <a:pPr marL="971550" lvl="1" indent="-285750">
              <a:buFont typeface="Arial"/>
              <a:buChar char="•"/>
            </a:pPr>
            <a:r>
              <a:rPr lang="en-US" sz="1300" b="1">
                <a:ea typeface="+mn-lt"/>
                <a:cs typeface="+mn-lt"/>
              </a:rPr>
              <a:t>SVM:</a:t>
            </a:r>
            <a:r>
              <a:rPr lang="en-US" sz="1300">
                <a:ea typeface="+mn-lt"/>
                <a:cs typeface="+mn-lt"/>
              </a:rPr>
              <a:t> Maximizes class margins (e.g., image classification).</a:t>
            </a:r>
            <a:endParaRPr lang="en-US" sz="1300"/>
          </a:p>
          <a:p>
            <a:pPr marL="971550" lvl="1" indent="-285750">
              <a:buFont typeface="Arial"/>
              <a:buChar char="•"/>
            </a:pPr>
            <a:r>
              <a:rPr lang="en-US" sz="1300" b="1">
                <a:ea typeface="+mn-lt"/>
                <a:cs typeface="+mn-lt"/>
              </a:rPr>
              <a:t>Naive Bayes:</a:t>
            </a:r>
            <a:r>
              <a:rPr lang="en-US" sz="1300">
                <a:ea typeface="+mn-lt"/>
                <a:cs typeface="+mn-lt"/>
              </a:rPr>
              <a:t> Probability-based (e.g., spam filters).</a:t>
            </a:r>
            <a:endParaRPr lang="en-US" sz="1300"/>
          </a:p>
          <a:p>
            <a:pPr marL="0" indent="0">
              <a:buNone/>
            </a:pPr>
            <a:r>
              <a:rPr lang="en-US" sz="1300" b="1">
                <a:ea typeface="+mn-lt"/>
                <a:cs typeface="+mn-lt"/>
              </a:rPr>
              <a:t>Core:</a:t>
            </a:r>
            <a:r>
              <a:rPr lang="en-US" sz="1300">
                <a:ea typeface="+mn-lt"/>
                <a:cs typeface="+mn-lt"/>
              </a:rPr>
              <a:t> Fits functions to predict new data.</a:t>
            </a:r>
            <a:endParaRPr lang="en-US" sz="1300"/>
          </a:p>
          <a:p>
            <a:pPr marL="0" indent="0">
              <a:buNone/>
            </a:pPr>
            <a:endParaRPr lang="en-US" sz="130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696175F-AEFA-5288-C917-9E79CED1E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267" y="913948"/>
            <a:ext cx="3248351" cy="2127669"/>
          </a:xfrm>
          <a:prstGeom prst="rect">
            <a:avLst/>
          </a:prstGeom>
        </p:spPr>
      </p:pic>
      <p:pic>
        <p:nvPicPr>
          <p:cNvPr id="10" name="Picture 9" descr="A graph with blue dots and a red line&#10;&#10;AI-generated content may be incorrect.">
            <a:extLst>
              <a:ext uri="{FF2B5EF4-FFF2-40B4-BE49-F238E27FC236}">
                <a16:creationId xmlns:a16="http://schemas.microsoft.com/office/drawing/2014/main" id="{11679916-4319-9158-A9E4-B059A0B3D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9914" y="1088549"/>
            <a:ext cx="3248352" cy="1778472"/>
          </a:xfrm>
          <a:prstGeom prst="rect">
            <a:avLst/>
          </a:prstGeom>
        </p:spPr>
      </p:pic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628FA18-97BB-FF17-32EF-723F7F6AEA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8317" y="3436664"/>
            <a:ext cx="3058254" cy="2691264"/>
          </a:xfrm>
          <a:prstGeom prst="rect">
            <a:avLst/>
          </a:prstGeom>
        </p:spPr>
      </p:pic>
      <p:pic>
        <p:nvPicPr>
          <p:cNvPr id="9" name="Picture 8" descr="A group of orange and blue rectangular boxes&#10;&#10;AI-generated content may be incorrect.">
            <a:extLst>
              <a:ext uri="{FF2B5EF4-FFF2-40B4-BE49-F238E27FC236}">
                <a16:creationId xmlns:a16="http://schemas.microsoft.com/office/drawing/2014/main" id="{12B168AE-4CAB-E630-719F-FB56DF5DA0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9914" y="3984986"/>
            <a:ext cx="3248352" cy="1591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069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0E1CB-654F-89AE-D8F3-1E5FB0E07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94" y="1136478"/>
            <a:ext cx="9016409" cy="68449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</a:rPr>
              <a:t>Classical ML</a:t>
            </a:r>
          </a:p>
        </p:txBody>
      </p:sp>
      <p:pic>
        <p:nvPicPr>
          <p:cNvPr id="5" name="Picture 4" descr="A diagram of a tree&#10;&#10;AI-generated content may be incorrect.">
            <a:extLst>
              <a:ext uri="{FF2B5EF4-FFF2-40B4-BE49-F238E27FC236}">
                <a16:creationId xmlns:a16="http://schemas.microsoft.com/office/drawing/2014/main" id="{34B747B5-378E-0F8A-EE22-1B20016CA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922" y="2165785"/>
            <a:ext cx="4343037" cy="2212173"/>
          </a:xfrm>
          <a:prstGeom prst="rect">
            <a:avLst/>
          </a:prstGeom>
        </p:spPr>
      </p:pic>
      <p:pic>
        <p:nvPicPr>
          <p:cNvPr id="7" name="Picture 6" descr="A group of orange and blue rectangular boxes with text&#10;&#10;AI-generated content may be incorrect.">
            <a:extLst>
              <a:ext uri="{FF2B5EF4-FFF2-40B4-BE49-F238E27FC236}">
                <a16:creationId xmlns:a16="http://schemas.microsoft.com/office/drawing/2014/main" id="{8F422EFB-BB01-78BB-D8B4-1CA7CBE16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0873" y="3542456"/>
            <a:ext cx="4435400" cy="2169728"/>
          </a:xfrm>
          <a:prstGeom prst="rect">
            <a:avLst/>
          </a:prstGeom>
        </p:spPr>
      </p:pic>
      <p:pic>
        <p:nvPicPr>
          <p:cNvPr id="4" name="Content Placeholder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60A34F9A-28C9-CCC0-7389-06ECE7F482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9376" y="1824301"/>
            <a:ext cx="2580431" cy="2297256"/>
          </a:xfrm>
          <a:prstGeom prst="rect">
            <a:avLst/>
          </a:prstGeom>
        </p:spPr>
      </p:pic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9DDC0C93-01C4-7C61-5ACE-719D5A2B6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129" y="1730375"/>
            <a:ext cx="10651671" cy="444658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Examples of Classical ML Algorithms</a:t>
            </a:r>
          </a:p>
        </p:txBody>
      </p:sp>
    </p:spTree>
    <p:extLst>
      <p:ext uri="{BB962C8B-B14F-4D97-AF65-F5344CB8AC3E}">
        <p14:creationId xmlns:p14="http://schemas.microsoft.com/office/powerpoint/2010/main" val="4235113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0AAD3-71FA-F633-EA3F-F5F004247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1138036"/>
            <a:ext cx="4526973" cy="1402470"/>
          </a:xfrm>
        </p:spPr>
        <p:txBody>
          <a:bodyPr anchor="t">
            <a:normAutofit/>
          </a:bodyPr>
          <a:lstStyle/>
          <a:p>
            <a:r>
              <a:rPr lang="en-US" sz="3200"/>
              <a:t>Importance of Non-Linearity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4C970-EEE1-F097-3267-B674837CB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551176"/>
            <a:ext cx="4526973" cy="359120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b="1">
                <a:ea typeface="+mn-lt"/>
                <a:cs typeface="+mn-lt"/>
              </a:rPr>
              <a:t>Why Needed?</a:t>
            </a:r>
            <a:r>
              <a:rPr lang="en-US" sz="2000">
                <a:ea typeface="+mn-lt"/>
                <a:cs typeface="+mn-lt"/>
              </a:rPr>
              <a:t> Linear models can’t capture complex patterns (e.g., XOR, circles, images).</a:t>
            </a:r>
            <a:endParaRPr lang="en-US" sz="2000"/>
          </a:p>
          <a:p>
            <a:pPr marL="0" indent="0">
              <a:buNone/>
            </a:pPr>
            <a:r>
              <a:rPr lang="en-US" sz="2000" b="1">
                <a:ea typeface="+mn-lt"/>
                <a:cs typeface="+mn-lt"/>
              </a:rPr>
              <a:t>Non-Linear Activations:</a:t>
            </a:r>
            <a:r>
              <a:rPr lang="en-US" sz="2000">
                <a:ea typeface="+mn-lt"/>
                <a:cs typeface="+mn-lt"/>
              </a:rPr>
              <a:t> 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Enable complex decision boundaries.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Allow layers to build hierarchical features.</a:t>
            </a:r>
            <a:endParaRPr lang="en-US" sz="2000"/>
          </a:p>
          <a:p>
            <a:pPr marL="0" indent="0">
              <a:buNone/>
            </a:pPr>
            <a:r>
              <a:rPr lang="en-US" sz="2000" b="1">
                <a:ea typeface="+mn-lt"/>
                <a:cs typeface="+mn-lt"/>
              </a:rPr>
              <a:t>Impact:</a:t>
            </a:r>
            <a:r>
              <a:rPr lang="en-US" sz="2000">
                <a:ea typeface="+mn-lt"/>
                <a:cs typeface="+mn-lt"/>
              </a:rPr>
              <a:t> Makes deep networks universal approximators for any function.</a:t>
            </a:r>
            <a:endParaRPr lang="en-US" sz="2000"/>
          </a:p>
          <a:p>
            <a:pPr marL="0" indent="0">
              <a:buNone/>
            </a:pPr>
            <a:endParaRPr lang="en-US" sz="2000">
              <a:ea typeface="+mn-lt"/>
              <a:cs typeface="+mn-lt"/>
            </a:endParaRPr>
          </a:p>
        </p:txBody>
      </p:sp>
      <p:pic>
        <p:nvPicPr>
          <p:cNvPr id="7" name="Picture 6" descr="A graph of a graph with a line drawn on it&#10;&#10;AI-generated content may be incorrect.">
            <a:extLst>
              <a:ext uri="{FF2B5EF4-FFF2-40B4-BE49-F238E27FC236}">
                <a16:creationId xmlns:a16="http://schemas.microsoft.com/office/drawing/2014/main" id="{B1ACEE70-B350-F85E-E0F4-867831B5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112" r="-2" b="-2"/>
          <a:stretch>
            <a:fillRect/>
          </a:stretch>
        </p:blipFill>
        <p:spPr>
          <a:xfrm>
            <a:off x="8534401" y="316993"/>
            <a:ext cx="3048000" cy="3429000"/>
          </a:xfrm>
          <a:prstGeom prst="rect">
            <a:avLst/>
          </a:prstGeom>
        </p:spPr>
      </p:pic>
      <p:pic>
        <p:nvPicPr>
          <p:cNvPr id="6" name="Picture 5" descr="A graph on a graph&#10;&#10;AI-generated content may be incorrect.">
            <a:extLst>
              <a:ext uri="{FF2B5EF4-FFF2-40B4-BE49-F238E27FC236}">
                <a16:creationId xmlns:a16="http://schemas.microsoft.com/office/drawing/2014/main" id="{C76A5FF9-8E7E-CE9E-F80F-2495CF504E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111"/>
          <a:stretch>
            <a:fillRect/>
          </a:stretch>
        </p:blipFill>
        <p:spPr>
          <a:xfrm>
            <a:off x="4949952" y="402346"/>
            <a:ext cx="3048000" cy="3428991"/>
          </a:xfrm>
          <a:prstGeom prst="rect">
            <a:avLst/>
          </a:prstGeom>
        </p:spPr>
      </p:pic>
      <p:pic>
        <p:nvPicPr>
          <p:cNvPr id="8" name="Picture 7" descr="A graph with a line and a red line&#10;&#10;AI-generated content may be incorrect.">
            <a:extLst>
              <a:ext uri="{FF2B5EF4-FFF2-40B4-BE49-F238E27FC236}">
                <a16:creationId xmlns:a16="http://schemas.microsoft.com/office/drawing/2014/main" id="{3B7A58AE-C764-65B4-C2F7-E0FC356BD2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91" b="2"/>
          <a:stretch>
            <a:fillRect/>
          </a:stretch>
        </p:blipFill>
        <p:spPr>
          <a:xfrm>
            <a:off x="6986023" y="3959352"/>
            <a:ext cx="5205977" cy="2898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312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map of different colored dots&#10;&#10;AI-generated content may be incorrect.">
            <a:extLst>
              <a:ext uri="{FF2B5EF4-FFF2-40B4-BE49-F238E27FC236}">
                <a16:creationId xmlns:a16="http://schemas.microsoft.com/office/drawing/2014/main" id="{BCBE38B1-740E-E6D7-5501-6ABE38516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497" y="321733"/>
            <a:ext cx="2498521" cy="2236177"/>
          </a:xfrm>
          <a:prstGeom prst="rect">
            <a:avLst/>
          </a:prstGeom>
        </p:spPr>
      </p:pic>
      <p:pic>
        <p:nvPicPr>
          <p:cNvPr id="5" name="Picture 4" descr="A diagram of a network&#10;&#10;AI-generated content may be incorrect.">
            <a:extLst>
              <a:ext uri="{FF2B5EF4-FFF2-40B4-BE49-F238E27FC236}">
                <a16:creationId xmlns:a16="http://schemas.microsoft.com/office/drawing/2014/main" id="{783C6CFB-3F6B-F4B1-C061-0A98F6520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8891" y="313080"/>
            <a:ext cx="2086952" cy="2262279"/>
          </a:xfrm>
          <a:prstGeom prst="rect">
            <a:avLst/>
          </a:prstGeom>
        </p:spPr>
      </p:pic>
      <p:pic>
        <p:nvPicPr>
          <p:cNvPr id="4" name="Picture 3" descr="Image">
            <a:extLst>
              <a:ext uri="{FF2B5EF4-FFF2-40B4-BE49-F238E27FC236}">
                <a16:creationId xmlns:a16="http://schemas.microsoft.com/office/drawing/2014/main" id="{4D1F124F-9F6B-E9DD-AC1B-89FDA7DA5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906" y="3331200"/>
            <a:ext cx="6839378" cy="2735751"/>
          </a:xfrm>
          <a:prstGeom prst="rect">
            <a:avLst/>
          </a:prstGeom>
        </p:spPr>
      </p:pic>
      <p:pic>
        <p:nvPicPr>
          <p:cNvPr id="11" name="Picture 10" descr="A diagram of a network&#10;&#10;AI-generated content may be incorrect.">
            <a:extLst>
              <a:ext uri="{FF2B5EF4-FFF2-40B4-BE49-F238E27FC236}">
                <a16:creationId xmlns:a16="http://schemas.microsoft.com/office/drawing/2014/main" id="{C3421FC1-2BE7-8C90-79A8-A9910E0681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8502" y="937492"/>
            <a:ext cx="2486468" cy="2697029"/>
          </a:xfrm>
          <a:prstGeom prst="rect">
            <a:avLst/>
          </a:prstGeom>
        </p:spPr>
      </p:pic>
      <p:pic>
        <p:nvPicPr>
          <p:cNvPr id="17" name="Picture 16" descr="A map of different colored dots&#10;&#10;AI-generated content may be incorrect.">
            <a:extLst>
              <a:ext uri="{FF2B5EF4-FFF2-40B4-BE49-F238E27FC236}">
                <a16:creationId xmlns:a16="http://schemas.microsoft.com/office/drawing/2014/main" id="{63EEFF62-68FB-AB26-3286-E1EC5C3B0A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2513" y="4172622"/>
            <a:ext cx="2468350" cy="222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431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299B1-7AD2-E99C-ED31-D6250AF49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900"/>
              <a:t>Why Neural Networks?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FF045-8A56-64EA-DDD9-2649CDC75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8676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None/>
            </a:pPr>
            <a:r>
              <a:rPr lang="en-US" sz="1000" b="1">
                <a:ea typeface="+mn-lt"/>
                <a:cs typeface="+mn-lt"/>
              </a:rPr>
              <a:t>Traditional ML fails where complexity explodes:</a:t>
            </a:r>
            <a:endParaRPr lang="en-US" sz="1000"/>
          </a:p>
          <a:p>
            <a:pPr>
              <a:buNone/>
            </a:pPr>
            <a:r>
              <a:rPr lang="en-US" sz="1000" b="1">
                <a:ea typeface="+mn-lt"/>
                <a:cs typeface="+mn-lt"/>
              </a:rPr>
              <a:t>The Complexity Problem:</a:t>
            </a:r>
            <a:endParaRPr lang="en-US" sz="1000"/>
          </a:p>
          <a:p>
            <a:pPr>
              <a:buFont typeface="Arial"/>
              <a:buChar char="•"/>
            </a:pPr>
            <a:r>
              <a:rPr lang="en-US" sz="1000" b="1">
                <a:ea typeface="+mn-lt"/>
                <a:cs typeface="+mn-lt"/>
              </a:rPr>
              <a:t>Images</a:t>
            </a:r>
            <a:r>
              <a:rPr lang="en-US" sz="1000">
                <a:ea typeface="+mn-lt"/>
                <a:cs typeface="+mn-lt"/>
              </a:rPr>
              <a:t>: 224×224 pixels = 50K dimensions (SVM/kernel methods collapse)</a:t>
            </a:r>
            <a:endParaRPr lang="en-US" sz="1000"/>
          </a:p>
          <a:p>
            <a:pPr>
              <a:buFont typeface="Arial"/>
              <a:buChar char="•"/>
            </a:pPr>
            <a:r>
              <a:rPr lang="en-US" sz="1000" b="1">
                <a:ea typeface="+mn-lt"/>
                <a:cs typeface="+mn-lt"/>
              </a:rPr>
              <a:t>Speech</a:t>
            </a:r>
            <a:r>
              <a:rPr lang="en-US" sz="1000">
                <a:ea typeface="+mn-lt"/>
                <a:cs typeface="+mn-lt"/>
              </a:rPr>
              <a:t>: 16KHz audio = millions of interdependent features per second</a:t>
            </a:r>
            <a:endParaRPr lang="en-US" sz="1000"/>
          </a:p>
          <a:p>
            <a:pPr>
              <a:buFont typeface="Arial"/>
              <a:buChar char="•"/>
            </a:pPr>
            <a:r>
              <a:rPr lang="en-US" sz="1000" b="1">
                <a:ea typeface="+mn-lt"/>
                <a:cs typeface="+mn-lt"/>
              </a:rPr>
              <a:t>Language</a:t>
            </a:r>
            <a:r>
              <a:rPr lang="en-US" sz="1000">
                <a:ea typeface="+mn-lt"/>
                <a:cs typeface="+mn-lt"/>
              </a:rPr>
              <a:t>: Words form 10¹⁸ possible sentences (N-gram models can't scale)</a:t>
            </a:r>
            <a:endParaRPr lang="en-US" sz="1000"/>
          </a:p>
          <a:p>
            <a:pPr>
              <a:buFont typeface="Arial"/>
              <a:buChar char="•"/>
            </a:pPr>
            <a:r>
              <a:rPr lang="en-US" sz="1000" b="1">
                <a:ea typeface="+mn-lt"/>
                <a:cs typeface="+mn-lt"/>
              </a:rPr>
              <a:t>Nonlinear data</a:t>
            </a:r>
            <a:r>
              <a:rPr lang="en-US" sz="1000">
                <a:ea typeface="+mn-lt"/>
                <a:cs typeface="+mn-lt"/>
              </a:rPr>
              <a:t>: Real patterns twist in high-dimensional space</a:t>
            </a:r>
            <a:endParaRPr lang="en-US" sz="1000"/>
          </a:p>
          <a:p>
            <a:pPr marL="0" indent="0">
              <a:buNone/>
            </a:pPr>
            <a:r>
              <a:rPr lang="en-US" sz="1000" b="1"/>
              <a:t>Challenges:</a:t>
            </a:r>
            <a:r>
              <a:rPr lang="en-US" sz="1000"/>
              <a:t> Classical ML excels with linear or structured data but struggles with non-linear patterns (e.g., XOR, images, speech).</a:t>
            </a:r>
          </a:p>
          <a:p>
            <a:pPr marL="0" indent="0">
              <a:buNone/>
            </a:pPr>
            <a:r>
              <a:rPr lang="en-US" sz="1000" b="1"/>
              <a:t>Examples of Non-Linear Data:</a:t>
            </a:r>
            <a:r>
              <a:rPr lang="en-US" sz="1000"/>
              <a:t> </a:t>
            </a:r>
          </a:p>
          <a:p>
            <a:pPr>
              <a:buFont typeface="Arial"/>
              <a:buChar char="•"/>
            </a:pPr>
            <a:r>
              <a:rPr lang="en-US" sz="1000"/>
              <a:t>XOR logic gate: Classes not separable by a line.</a:t>
            </a:r>
          </a:p>
          <a:p>
            <a:pPr>
              <a:buFont typeface="Arial"/>
              <a:buChar char="•"/>
            </a:pPr>
            <a:r>
              <a:rPr lang="en-US" sz="1000"/>
              <a:t>Images: Complex patterns like faces or objects.</a:t>
            </a:r>
          </a:p>
          <a:p>
            <a:pPr>
              <a:buFont typeface="Arial"/>
              <a:buChar char="•"/>
            </a:pPr>
            <a:r>
              <a:rPr lang="en-US" sz="1000"/>
              <a:t>Text: Hierarchical language structures.</a:t>
            </a:r>
          </a:p>
          <a:p>
            <a:pPr marL="0" indent="0">
              <a:buNone/>
            </a:pPr>
            <a:r>
              <a:rPr lang="en-US" sz="1000" b="1"/>
              <a:t>Why It Matters:</a:t>
            </a:r>
            <a:r>
              <a:rPr lang="en-US" sz="1000"/>
              <a:t> Non-linear data is common in real-world tasks, requiring more powerful models.</a:t>
            </a:r>
          </a:p>
          <a:p>
            <a:pPr>
              <a:buNone/>
            </a:pPr>
            <a:r>
              <a:rPr lang="en-US" sz="1200" b="1">
                <a:ea typeface="+mn-lt"/>
                <a:cs typeface="+mn-lt"/>
              </a:rPr>
              <a:t>Neural Networks Solution:</a:t>
            </a:r>
            <a:endParaRPr lang="en-US"/>
          </a:p>
          <a:p>
            <a:pPr>
              <a:buFont typeface="Arial"/>
              <a:buChar char="•"/>
            </a:pPr>
            <a:r>
              <a:rPr lang="en-US" sz="1200" b="1">
                <a:ea typeface="+mn-lt"/>
                <a:cs typeface="+mn-lt"/>
              </a:rPr>
              <a:t>Brain-inspired</a:t>
            </a:r>
            <a:r>
              <a:rPr lang="en-US" sz="1200">
                <a:ea typeface="+mn-lt"/>
                <a:cs typeface="+mn-lt"/>
              </a:rPr>
              <a:t>: 86B neurons process complex patterns effortlessly.</a:t>
            </a:r>
            <a:endParaRPr lang="en-US"/>
          </a:p>
          <a:p>
            <a:pPr>
              <a:buFont typeface="Arial"/>
              <a:buChar char="•"/>
            </a:pPr>
            <a:r>
              <a:rPr lang="en-US" sz="1200" b="1">
                <a:ea typeface="+mn-lt"/>
                <a:cs typeface="+mn-lt"/>
              </a:rPr>
              <a:t>Hierarchical learning</a:t>
            </a:r>
            <a:r>
              <a:rPr lang="en-US" sz="1200">
                <a:ea typeface="+mn-lt"/>
                <a:cs typeface="+mn-lt"/>
              </a:rPr>
              <a:t>: Low-level features → High-level concepts.</a:t>
            </a:r>
            <a:endParaRPr lang="en-US"/>
          </a:p>
          <a:p>
            <a:pPr>
              <a:buFont typeface="Arial"/>
              <a:buChar char="•"/>
            </a:pPr>
            <a:r>
              <a:rPr lang="en-US" sz="1200" b="1">
                <a:ea typeface="+mn-lt"/>
                <a:cs typeface="+mn-lt"/>
              </a:rPr>
              <a:t>End-to-end</a:t>
            </a:r>
            <a:r>
              <a:rPr lang="en-US" sz="1200">
                <a:ea typeface="+mn-lt"/>
                <a:cs typeface="+mn-lt"/>
              </a:rPr>
              <a:t>: Raw pixels → "cat" (no hand-engineered features needed).</a:t>
            </a:r>
            <a:endParaRPr lang="en-US"/>
          </a:p>
          <a:p>
            <a:pPr indent="0">
              <a:buNone/>
            </a:pPr>
            <a:r>
              <a:rPr lang="en-US" sz="1200" b="1">
                <a:ea typeface="+mn-lt"/>
                <a:cs typeface="+mn-lt"/>
              </a:rPr>
              <a:t>Breakthrough</a:t>
            </a:r>
            <a:r>
              <a:rPr lang="en-US" sz="1200">
                <a:ea typeface="+mn-lt"/>
                <a:cs typeface="+mn-lt"/>
              </a:rPr>
              <a:t>: </a:t>
            </a:r>
            <a:r>
              <a:rPr lang="en-US" sz="1200" err="1">
                <a:ea typeface="+mn-lt"/>
                <a:cs typeface="+mn-lt"/>
              </a:rPr>
              <a:t>AlexNet</a:t>
            </a:r>
            <a:r>
              <a:rPr lang="en-US" sz="1200">
                <a:ea typeface="+mn-lt"/>
                <a:cs typeface="+mn-lt"/>
              </a:rPr>
              <a:t> (2012) crushed ImageNet competition by 10% using CNNs .</a:t>
            </a:r>
            <a:endParaRPr lang="en-US"/>
          </a:p>
          <a:p>
            <a:pPr>
              <a:buNone/>
            </a:pPr>
            <a:r>
              <a:rPr lang="en-US" sz="1200" b="1">
                <a:ea typeface="+mn-lt"/>
                <a:cs typeface="+mn-lt"/>
              </a:rPr>
              <a:t>Note :</a:t>
            </a:r>
            <a:r>
              <a:rPr lang="en-US" sz="1200">
                <a:ea typeface="+mn-lt"/>
                <a:cs typeface="+mn-lt"/>
              </a:rPr>
              <a:t> Neural networks scale where traditional ML breaks.</a:t>
            </a:r>
            <a:endParaRPr lang="en-US"/>
          </a:p>
          <a:p>
            <a:pPr marL="0" indent="0">
              <a:buNone/>
            </a:pPr>
            <a:endParaRPr lang="en-US" sz="100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F747804-B4BE-1744-2254-993CB486A5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9160979"/>
              </p:ext>
            </p:extLst>
          </p:nvPr>
        </p:nvGraphicFramePr>
        <p:xfrm>
          <a:off x="7034892" y="3796392"/>
          <a:ext cx="3306441" cy="140115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02147">
                  <a:extLst>
                    <a:ext uri="{9D8B030D-6E8A-4147-A177-3AD203B41FA5}">
                      <a16:colId xmlns:a16="http://schemas.microsoft.com/office/drawing/2014/main" val="660050601"/>
                    </a:ext>
                  </a:extLst>
                </a:gridCol>
                <a:gridCol w="1102147">
                  <a:extLst>
                    <a:ext uri="{9D8B030D-6E8A-4147-A177-3AD203B41FA5}">
                      <a16:colId xmlns:a16="http://schemas.microsoft.com/office/drawing/2014/main" val="606681767"/>
                    </a:ext>
                  </a:extLst>
                </a:gridCol>
                <a:gridCol w="1102147">
                  <a:extLst>
                    <a:ext uri="{9D8B030D-6E8A-4147-A177-3AD203B41FA5}">
                      <a16:colId xmlns:a16="http://schemas.microsoft.com/office/drawing/2014/main" val="1262135024"/>
                    </a:ext>
                  </a:extLst>
                </a:gridCol>
              </a:tblGrid>
              <a:tr h="28023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Data Type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Traditional ML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Success Rate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664060"/>
                  </a:ext>
                </a:extLst>
              </a:tr>
              <a:tr h="28023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Tabular (prices)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Decision Trees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85-95%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80885"/>
                  </a:ext>
                </a:extLst>
              </a:tr>
              <a:tr h="28023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effectLst/>
                        </a:rPr>
                        <a:t>Images</a:t>
                      </a:r>
                      <a:endParaRPr lang="en-US" sz="80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SIFT + SVM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65-75%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781826"/>
                  </a:ext>
                </a:extLst>
              </a:tr>
              <a:tr h="28023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effectLst/>
                        </a:rPr>
                        <a:t>Speech</a:t>
                      </a:r>
                      <a:endParaRPr lang="en-US" sz="80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HMM + GMM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70-80%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9411163"/>
                  </a:ext>
                </a:extLst>
              </a:tr>
              <a:tr h="28023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effectLst/>
                        </a:rPr>
                        <a:t>Language</a:t>
                      </a:r>
                      <a:endParaRPr lang="en-US" sz="80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Bag-of-words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60-70%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1590865"/>
                  </a:ext>
                </a:extLst>
              </a:tr>
            </a:tbl>
          </a:graphicData>
        </a:graphic>
      </p:graphicFrame>
      <p:pic>
        <p:nvPicPr>
          <p:cNvPr id="7" name="Picture 6" descr="A black and white diagram of a network&#10;&#10;AI-generated content may be incorrect.">
            <a:extLst>
              <a:ext uri="{FF2B5EF4-FFF2-40B4-BE49-F238E27FC236}">
                <a16:creationId xmlns:a16="http://schemas.microsoft.com/office/drawing/2014/main" id="{074C8866-BEA1-0410-B27D-72D6B523E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4350" y="509587"/>
            <a:ext cx="2209800" cy="202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134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4DF55BE-B4AB-4BA1-BDE1-E9F7FB3F1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A67D8-7B5E-AFEB-015B-C95D138FF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539578"/>
            <a:ext cx="5981278" cy="1684638"/>
          </a:xfrm>
        </p:spPr>
        <p:txBody>
          <a:bodyPr>
            <a:normAutofit/>
          </a:bodyPr>
          <a:lstStyle/>
          <a:p>
            <a:r>
              <a:rPr lang="en-US" sz="4000"/>
              <a:t>Biological Inspiration For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F6799-3AB7-D4FC-39DF-8AD7A70C2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409568"/>
            <a:ext cx="5981278" cy="369055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1000" b="1">
                <a:ea typeface="+mn-lt"/>
                <a:cs typeface="+mn-lt"/>
              </a:rPr>
              <a:t>Human Brain: 86 Billion Neurons Processing Reality</a:t>
            </a:r>
            <a:endParaRPr lang="en-US" sz="1000"/>
          </a:p>
          <a:p>
            <a:pPr>
              <a:buNone/>
            </a:pPr>
            <a:r>
              <a:rPr lang="en-US" sz="1000" b="1">
                <a:ea typeface="+mn-lt"/>
                <a:cs typeface="+mn-lt"/>
              </a:rPr>
              <a:t>Neuron Signal Flow:</a:t>
            </a:r>
            <a:endParaRPr lang="en-US" sz="1000"/>
          </a:p>
          <a:p>
            <a:pPr>
              <a:buFont typeface="Arial"/>
              <a:buChar char="•"/>
            </a:pPr>
            <a:r>
              <a:rPr lang="en-US" sz="1000" b="1">
                <a:ea typeface="+mn-lt"/>
                <a:cs typeface="+mn-lt"/>
              </a:rPr>
              <a:t>Dendrites</a:t>
            </a:r>
            <a:r>
              <a:rPr lang="en-US" sz="1000">
                <a:ea typeface="+mn-lt"/>
                <a:cs typeface="+mn-lt"/>
              </a:rPr>
              <a:t>: Receive 1,000s of input signals from other neurons .</a:t>
            </a:r>
            <a:endParaRPr lang="en-US" sz="1000"/>
          </a:p>
          <a:p>
            <a:pPr>
              <a:buFont typeface="Arial"/>
              <a:buChar char="•"/>
            </a:pPr>
            <a:r>
              <a:rPr lang="en-US" sz="1000" b="1">
                <a:ea typeface="+mn-lt"/>
                <a:cs typeface="+mn-lt"/>
              </a:rPr>
              <a:t>Cell Body (Soma)</a:t>
            </a:r>
            <a:r>
              <a:rPr lang="en-US" sz="1000">
                <a:ea typeface="+mn-lt"/>
                <a:cs typeface="+mn-lt"/>
              </a:rPr>
              <a:t>: Integrates weighted inputs (∑w×x &gt; threshold) .</a:t>
            </a:r>
            <a:endParaRPr lang="en-US" sz="1000"/>
          </a:p>
          <a:p>
            <a:pPr>
              <a:buFont typeface="Arial"/>
              <a:buChar char="•"/>
            </a:pPr>
            <a:r>
              <a:rPr lang="en-US" sz="1000" b="1">
                <a:ea typeface="+mn-lt"/>
                <a:cs typeface="+mn-lt"/>
              </a:rPr>
              <a:t>Axon</a:t>
            </a:r>
            <a:r>
              <a:rPr lang="en-US" sz="1000">
                <a:ea typeface="+mn-lt"/>
                <a:cs typeface="+mn-lt"/>
              </a:rPr>
              <a:t>: Fires output spike to 1,000s of downstream neurons.</a:t>
            </a:r>
            <a:endParaRPr lang="en-US" sz="1000"/>
          </a:p>
          <a:p>
            <a:pPr marL="0" indent="0">
              <a:buNone/>
            </a:pPr>
            <a:r>
              <a:rPr lang="en-US" sz="1000"/>
              <a:t>Learning Through Experiences:               AI Neuron Translation:</a:t>
            </a:r>
            <a:endParaRPr lang="en-US" sz="1000">
              <a:ea typeface="+mn-lt"/>
              <a:cs typeface="+mn-lt"/>
            </a:endParaRPr>
          </a:p>
          <a:p>
            <a:r>
              <a:rPr lang="en-US" sz="1000">
                <a:ea typeface="+mn-lt"/>
                <a:cs typeface="+mn-lt"/>
              </a:rPr>
              <a:t>Frequent use → Stronger synapses (Hebb's Rule)</a:t>
            </a:r>
            <a:endParaRPr lang="en-US" sz="1000"/>
          </a:p>
          <a:p>
            <a:r>
              <a:rPr lang="en-US" sz="1000">
                <a:ea typeface="+mn-lt"/>
                <a:cs typeface="+mn-lt"/>
              </a:rPr>
              <a:t>"Weak connection" ──→ "Thick pathway"</a:t>
            </a:r>
            <a:endParaRPr lang="en-US" sz="1000"/>
          </a:p>
          <a:p>
            <a:r>
              <a:rPr lang="en-US" sz="1000">
                <a:ea typeface="+mn-lt"/>
                <a:cs typeface="+mn-lt"/>
              </a:rPr>
              <a:t>Practice strengthens → Memories form → Skills improve.</a:t>
            </a:r>
            <a:endParaRPr lang="en-US" sz="1000"/>
          </a:p>
          <a:p>
            <a:pPr>
              <a:buNone/>
            </a:pPr>
            <a:r>
              <a:rPr lang="en-US" sz="1000" b="1">
                <a:ea typeface="+mn-lt"/>
                <a:cs typeface="+mn-lt"/>
              </a:rPr>
              <a:t>Why Copy 500M Years of Evolution?</a:t>
            </a:r>
            <a:endParaRPr lang="en-US" sz="1000"/>
          </a:p>
          <a:p>
            <a:pPr>
              <a:buFont typeface="Arial"/>
              <a:buChar char="•"/>
            </a:pPr>
            <a:r>
              <a:rPr lang="en-US" sz="1000" b="1">
                <a:ea typeface="+mn-lt"/>
                <a:cs typeface="+mn-lt"/>
              </a:rPr>
              <a:t>20 Watts</a:t>
            </a:r>
            <a:r>
              <a:rPr lang="en-US" sz="1000">
                <a:ea typeface="+mn-lt"/>
                <a:cs typeface="+mn-lt"/>
              </a:rPr>
              <a:t> processes vision/speech/language.</a:t>
            </a:r>
            <a:endParaRPr lang="en-US" sz="1000"/>
          </a:p>
          <a:p>
            <a:pPr>
              <a:buFont typeface="Arial"/>
              <a:buChar char="•"/>
            </a:pPr>
            <a:r>
              <a:rPr lang="en-US" sz="1000" b="1">
                <a:ea typeface="+mn-lt"/>
                <a:cs typeface="+mn-lt"/>
              </a:rPr>
              <a:t>Hierarchical mastery</a:t>
            </a:r>
            <a:r>
              <a:rPr lang="en-US" sz="1000">
                <a:ea typeface="+mn-lt"/>
                <a:cs typeface="+mn-lt"/>
              </a:rPr>
              <a:t>: Edges → faces → emotions → context.</a:t>
            </a:r>
            <a:endParaRPr lang="en-US" sz="1000"/>
          </a:p>
          <a:p>
            <a:pPr>
              <a:buFont typeface="Arial"/>
              <a:buChar char="•"/>
            </a:pPr>
            <a:r>
              <a:rPr lang="en-US" sz="1000" b="1">
                <a:ea typeface="+mn-lt"/>
                <a:cs typeface="+mn-lt"/>
              </a:rPr>
              <a:t>Fault tolerant</a:t>
            </a:r>
            <a:r>
              <a:rPr lang="en-US" sz="1000">
                <a:ea typeface="+mn-lt"/>
                <a:cs typeface="+mn-lt"/>
              </a:rPr>
              <a:t>: Billions of parallel pathways.</a:t>
            </a:r>
          </a:p>
          <a:p>
            <a:pPr marL="0" indent="0">
              <a:buNone/>
            </a:pPr>
            <a:r>
              <a:rPr lang="en-US" sz="1000"/>
              <a:t>Our Brain uses 20-25W of Energy which is roughly equivalent to dim light bulb on a sleep mode.</a:t>
            </a:r>
          </a:p>
          <a:p>
            <a:pPr marL="0" indent="0">
              <a:buNone/>
            </a:pPr>
            <a:endParaRPr lang="en-US" sz="1000"/>
          </a:p>
        </p:txBody>
      </p:sp>
      <p:pic>
        <p:nvPicPr>
          <p:cNvPr id="4" name="Picture 3" descr="Neuron - Wikipedia">
            <a:extLst>
              <a:ext uri="{FF2B5EF4-FFF2-40B4-BE49-F238E27FC236}">
                <a16:creationId xmlns:a16="http://schemas.microsoft.com/office/drawing/2014/main" id="{0FF8EB8D-6AFB-16CE-3488-92F8CD2BF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2660" y="168876"/>
            <a:ext cx="4080602" cy="2631989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9542919-5360-5F0F-C1EE-CC05371437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2727524"/>
              </p:ext>
            </p:extLst>
          </p:nvPr>
        </p:nvGraphicFramePr>
        <p:xfrm>
          <a:off x="7190076" y="2961503"/>
          <a:ext cx="4805761" cy="3138617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088979">
                  <a:extLst>
                    <a:ext uri="{9D8B030D-6E8A-4147-A177-3AD203B41FA5}">
                      <a16:colId xmlns:a16="http://schemas.microsoft.com/office/drawing/2014/main" val="1476292089"/>
                    </a:ext>
                  </a:extLst>
                </a:gridCol>
                <a:gridCol w="3716782">
                  <a:extLst>
                    <a:ext uri="{9D8B030D-6E8A-4147-A177-3AD203B41FA5}">
                      <a16:colId xmlns:a16="http://schemas.microsoft.com/office/drawing/2014/main" val="1170790463"/>
                    </a:ext>
                  </a:extLst>
                </a:gridCol>
              </a:tblGrid>
              <a:tr h="5333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cap="none" spc="0">
                          <a:solidFill>
                            <a:schemeClr val="tx1"/>
                          </a:solidFill>
                          <a:effectLst/>
                        </a:rPr>
                        <a:t>Biology</a:t>
                      </a:r>
                    </a:p>
                  </a:txBody>
                  <a:tcPr marL="0" marR="70796" marT="28318" marB="212388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cap="none" spc="0">
                          <a:solidFill>
                            <a:schemeClr val="tx1"/>
                          </a:solidFill>
                          <a:effectLst/>
                        </a:rPr>
                        <a:t>Artificial Neural Network</a:t>
                      </a:r>
                    </a:p>
                  </a:txBody>
                  <a:tcPr marL="0" marR="70796" marT="28318" marB="212388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567424"/>
                  </a:ext>
                </a:extLst>
              </a:tr>
              <a:tr h="7693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  <a:effectLst/>
                        </a:rPr>
                        <a:t>Dendrites</a:t>
                      </a:r>
                    </a:p>
                  </a:txBody>
                  <a:tcPr marL="0" marR="70796" marT="28318" marB="2123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cap="none" spc="0">
                          <a:solidFill>
                            <a:schemeClr val="tx1"/>
                          </a:solidFill>
                          <a:effectLst/>
                        </a:rPr>
                        <a:t>Inputs</a:t>
                      </a:r>
                      <a:r>
                        <a:rPr lang="en-US" sz="1500" cap="none" spc="0">
                          <a:solidFill>
                            <a:schemeClr val="tx1"/>
                          </a:solidFill>
                          <a:effectLst/>
                        </a:rPr>
                        <a:t> (x₁= pixel brightness, x₂= edge strength)</a:t>
                      </a:r>
                    </a:p>
                  </a:txBody>
                  <a:tcPr marL="0" marR="70796" marT="28318" marB="2123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0916162"/>
                  </a:ext>
                </a:extLst>
              </a:tr>
              <a:tr h="7693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  <a:effectLst/>
                        </a:rPr>
                        <a:t>Synapses</a:t>
                      </a:r>
                    </a:p>
                  </a:txBody>
                  <a:tcPr marL="0" marR="70796" marT="28318" marB="2123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cap="none" spc="0">
                          <a:solidFill>
                            <a:schemeClr val="tx1"/>
                          </a:solidFill>
                          <a:effectLst/>
                        </a:rPr>
                        <a:t>Weights</a:t>
                      </a:r>
                      <a:r>
                        <a:rPr lang="en-US" sz="1500" cap="none" spc="0">
                          <a:solidFill>
                            <a:schemeClr val="tx1"/>
                          </a:solidFill>
                          <a:effectLst/>
                        </a:rPr>
                        <a:t> (w₁=0.7 important, w₂=0.2 less important)</a:t>
                      </a:r>
                    </a:p>
                  </a:txBody>
                  <a:tcPr marL="0" marR="70796" marT="28318" marB="2123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9626104"/>
                  </a:ext>
                </a:extLst>
              </a:tr>
              <a:tr h="5333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  <a:effectLst/>
                        </a:rPr>
                        <a:t>Cell Body</a:t>
                      </a:r>
                    </a:p>
                  </a:txBody>
                  <a:tcPr marL="0" marR="70796" marT="28318" marB="2123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cap="none" spc="0">
                          <a:solidFill>
                            <a:schemeClr val="tx1"/>
                          </a:solidFill>
                          <a:effectLst/>
                        </a:rPr>
                        <a:t>z = </a:t>
                      </a:r>
                      <a:r>
                        <a:rPr lang="en-US" sz="1500" b="1" cap="none" spc="0" err="1">
                          <a:solidFill>
                            <a:schemeClr val="tx1"/>
                          </a:solidFill>
                          <a:effectLst/>
                        </a:rPr>
                        <a:t>w₁x</a:t>
                      </a:r>
                      <a:r>
                        <a:rPr lang="en-US" sz="1500" b="1" cap="none" spc="0">
                          <a:solidFill>
                            <a:schemeClr val="tx1"/>
                          </a:solidFill>
                          <a:effectLst/>
                        </a:rPr>
                        <a:t>₁ + </a:t>
                      </a:r>
                      <a:r>
                        <a:rPr lang="en-US" sz="1500" b="1" cap="none" spc="0" err="1">
                          <a:solidFill>
                            <a:schemeClr val="tx1"/>
                          </a:solidFill>
                          <a:effectLst/>
                        </a:rPr>
                        <a:t>w₂x</a:t>
                      </a:r>
                      <a:r>
                        <a:rPr lang="en-US" sz="1500" b="1" cap="none" spc="0">
                          <a:solidFill>
                            <a:schemeClr val="tx1"/>
                          </a:solidFill>
                          <a:effectLst/>
                        </a:rPr>
                        <a:t>₂ + b</a:t>
                      </a:r>
                      <a:r>
                        <a:rPr lang="en-US" sz="1500" cap="none" spc="0">
                          <a:solidFill>
                            <a:schemeClr val="tx1"/>
                          </a:solidFill>
                          <a:effectLst/>
                        </a:rPr>
                        <a:t> (weighted decision)</a:t>
                      </a:r>
                    </a:p>
                  </a:txBody>
                  <a:tcPr marL="0" marR="70796" marT="28318" marB="2123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1765332"/>
                  </a:ext>
                </a:extLst>
              </a:tr>
              <a:tr h="5333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  <a:effectLst/>
                        </a:rPr>
                        <a:t>Axon</a:t>
                      </a:r>
                    </a:p>
                  </a:txBody>
                  <a:tcPr marL="0" marR="70796" marT="28318" marB="2123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cap="none" spc="0">
                          <a:solidFill>
                            <a:schemeClr val="tx1"/>
                          </a:solidFill>
                          <a:effectLst/>
                        </a:rPr>
                        <a:t>y = f(z)</a:t>
                      </a:r>
                      <a:r>
                        <a:rPr lang="en-US" sz="1500" cap="none" spc="0">
                          <a:solidFill>
                            <a:schemeClr val="tx1"/>
                          </a:solidFill>
                          <a:effectLst/>
                        </a:rPr>
                        <a:t> (neuron "fires" or not) </a:t>
                      </a:r>
                      <a:r>
                        <a:rPr lang="en-US" sz="1500" cap="none" spc="0" err="1">
                          <a:solidFill>
                            <a:schemeClr val="tx1"/>
                          </a:solidFill>
                          <a:effectLst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wikipedia</a:t>
                      </a:r>
                      <a:endParaRPr lang="en-US" sz="1500" cap="none" spc="0" err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70796" marT="28318" marB="2123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1679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11308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AA03EDC-7067-4DFF-B672-541D016AA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EBF3E39-B0BE-496A-8604-9007470FF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68654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55F890-8795-C415-60C8-1DCEB12F4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442" y="685800"/>
            <a:ext cx="4353116" cy="1474666"/>
          </a:xfrm>
        </p:spPr>
        <p:txBody>
          <a:bodyPr anchor="b">
            <a:normAutofit/>
          </a:bodyPr>
          <a:lstStyle/>
          <a:p>
            <a:pPr algn="ctr"/>
            <a:r>
              <a:rPr lang="en-US" sz="3200">
                <a:solidFill>
                  <a:srgbClr val="595959"/>
                </a:solidFill>
              </a:rPr>
              <a:t>The Perceptron: First 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EC4A5-B0E6-4D91-C836-85D1927AE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442" y="2447337"/>
            <a:ext cx="4353116" cy="377043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700" b="1">
                <a:solidFill>
                  <a:srgbClr val="595959"/>
                </a:solidFill>
              </a:rPr>
              <a:t>Introduced:</a:t>
            </a:r>
            <a:r>
              <a:rPr lang="en-US" sz="1700">
                <a:solidFill>
                  <a:srgbClr val="595959"/>
                </a:solidFill>
              </a:rPr>
              <a:t> 1958 by Frank Rosenblatt.</a:t>
            </a:r>
          </a:p>
          <a:p>
            <a:pPr marL="0" indent="0">
              <a:buNone/>
            </a:pPr>
            <a:r>
              <a:rPr lang="en-US" sz="1700" b="1">
                <a:solidFill>
                  <a:srgbClr val="595959"/>
                </a:solidFill>
              </a:rPr>
              <a:t>Concept:</a:t>
            </a:r>
            <a:r>
              <a:rPr lang="en-US" sz="1700">
                <a:solidFill>
                  <a:srgbClr val="595959"/>
                </a:solidFill>
              </a:rPr>
              <a:t> A single neuron model inspired by biology.</a:t>
            </a:r>
          </a:p>
          <a:p>
            <a:pPr marL="0" indent="0">
              <a:buNone/>
            </a:pPr>
            <a:r>
              <a:rPr lang="en-US" sz="1700" b="1">
                <a:solidFill>
                  <a:srgbClr val="595959"/>
                </a:solidFill>
              </a:rPr>
              <a:t>Components:</a:t>
            </a:r>
            <a:r>
              <a:rPr lang="en-US" sz="1700">
                <a:solidFill>
                  <a:srgbClr val="595959"/>
                </a:solidFill>
              </a:rPr>
              <a:t> </a:t>
            </a:r>
          </a:p>
          <a:p>
            <a:pPr>
              <a:buFont typeface="Arial,Sans-Serif"/>
              <a:buChar char="•"/>
            </a:pPr>
            <a:r>
              <a:rPr lang="en-US" sz="1700">
                <a:solidFill>
                  <a:srgbClr val="595959"/>
                </a:solidFill>
              </a:rPr>
              <a:t>Inputs: Data features.</a:t>
            </a:r>
          </a:p>
          <a:p>
            <a:pPr>
              <a:buFont typeface="Arial,Sans-Serif"/>
              <a:buChar char="•"/>
            </a:pPr>
            <a:r>
              <a:rPr lang="en-US" sz="1700">
                <a:solidFill>
                  <a:srgbClr val="595959"/>
                </a:solidFill>
              </a:rPr>
              <a:t>Weights: Connection strengths.</a:t>
            </a:r>
          </a:p>
          <a:p>
            <a:pPr>
              <a:buFont typeface="Arial,Sans-Serif"/>
              <a:buChar char="•"/>
            </a:pPr>
            <a:r>
              <a:rPr lang="en-US" sz="1700">
                <a:solidFill>
                  <a:srgbClr val="595959"/>
                </a:solidFill>
              </a:rPr>
              <a:t>Bias: Adjusts decision threshold.</a:t>
            </a:r>
          </a:p>
          <a:p>
            <a:pPr marL="0" indent="0">
              <a:buNone/>
            </a:pPr>
            <a:r>
              <a:rPr lang="en-US" sz="1700" b="1">
                <a:solidFill>
                  <a:srgbClr val="595959"/>
                </a:solidFill>
              </a:rPr>
              <a:t>Function:</a:t>
            </a:r>
            <a:r>
              <a:rPr lang="en-US" sz="1700">
                <a:solidFill>
                  <a:srgbClr val="595959"/>
                </a:solidFill>
              </a:rPr>
              <a:t> Computes weighted sum, applies activation for output.</a:t>
            </a:r>
          </a:p>
          <a:p>
            <a:pPr marL="0" indent="0">
              <a:buNone/>
            </a:pPr>
            <a:r>
              <a:rPr lang="en-US" sz="1700" b="1">
                <a:solidFill>
                  <a:srgbClr val="595959"/>
                </a:solidFill>
              </a:rPr>
              <a:t>Significance:</a:t>
            </a:r>
            <a:r>
              <a:rPr lang="en-US" sz="1700">
                <a:solidFill>
                  <a:srgbClr val="595959"/>
                </a:solidFill>
              </a:rPr>
              <a:t> Sparked AI by showing machines could learn patterns.</a:t>
            </a:r>
          </a:p>
          <a:p>
            <a:pPr marL="0" indent="0">
              <a:buNone/>
            </a:pPr>
            <a:endParaRPr lang="en-US" sz="1700">
              <a:solidFill>
                <a:srgbClr val="595959"/>
              </a:solidFill>
            </a:endParaRPr>
          </a:p>
        </p:txBody>
      </p:sp>
      <p:pic>
        <p:nvPicPr>
          <p:cNvPr id="7" name="Picture 6" descr="A diagram of a single neuron perspective&#10;&#10;AI-generated content may be incorrect.">
            <a:extLst>
              <a:ext uri="{FF2B5EF4-FFF2-40B4-BE49-F238E27FC236}">
                <a16:creationId xmlns:a16="http://schemas.microsoft.com/office/drawing/2014/main" id="{0D9D3739-7D7B-5E3D-BA26-EB4C79D0D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801" y="1832779"/>
            <a:ext cx="4797056" cy="323801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7207570-2E45-8C31-CA54-F3FE1BDD6E45}"/>
              </a:ext>
            </a:extLst>
          </p:cNvPr>
          <p:cNvSpPr>
            <a:spLocks noGrp="1"/>
          </p:cNvSpPr>
          <p:nvPr/>
        </p:nvSpPr>
        <p:spPr>
          <a:xfrm>
            <a:off x="630936" y="640080"/>
            <a:ext cx="7023245" cy="1481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500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96DA882-76B8-D552-16A7-37370B8B460D}"/>
              </a:ext>
            </a:extLst>
          </p:cNvPr>
          <p:cNvSpPr>
            <a:spLocks noGrp="1"/>
          </p:cNvSpPr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787322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98BC62-9134-1ADF-BDC7-42CC61BCF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4200"/>
              <a:t>Mathematical Neuron Model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B4A36-096E-434F-75DC-922235AB6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500" b="1"/>
              <a:t>Equation:</a:t>
            </a:r>
            <a:r>
              <a:rPr lang="en-US" sz="1500"/>
              <a:t> </a:t>
            </a:r>
          </a:p>
          <a:p>
            <a:pPr>
              <a:buFont typeface="Arial,Sans-Serif"/>
              <a:buChar char="•"/>
            </a:pPr>
            <a:r>
              <a:rPr lang="en-US" sz="1500"/>
              <a:t>Z = (w1 * x1 + w2 * x2 + ... + wd * xd) + b </a:t>
            </a:r>
          </a:p>
          <a:p>
            <a:pPr>
              <a:buFont typeface="Arial,Sans-Serif"/>
              <a:buChar char="•"/>
            </a:pPr>
            <a:r>
              <a:rPr lang="en-US" sz="1500"/>
              <a:t>w: Weights (feature importance).</a:t>
            </a:r>
          </a:p>
          <a:p>
            <a:pPr>
              <a:buFont typeface="Arial,Sans-Serif"/>
              <a:buChar char="•"/>
            </a:pPr>
            <a:r>
              <a:rPr lang="en-US" sz="1500"/>
              <a:t>x: Inputs (data features).</a:t>
            </a:r>
          </a:p>
          <a:p>
            <a:pPr>
              <a:buFont typeface="Arial,Sans-Serif"/>
              <a:buChar char="•"/>
            </a:pPr>
            <a:r>
              <a:rPr lang="en-US" sz="1500"/>
              <a:t>b: Bias (decision offset).</a:t>
            </a:r>
          </a:p>
          <a:p>
            <a:pPr marL="0" indent="0">
              <a:buNone/>
            </a:pPr>
            <a:r>
              <a:rPr lang="en-US" sz="1500" b="1"/>
              <a:t>Activation:</a:t>
            </a:r>
            <a:r>
              <a:rPr lang="en-US" sz="1500"/>
              <a:t> Output = F(Z), where F is the activation function.</a:t>
            </a:r>
          </a:p>
          <a:p>
            <a:pPr marL="0" indent="0">
              <a:buNone/>
            </a:pPr>
            <a:r>
              <a:rPr lang="en-US" sz="1500" b="1"/>
              <a:t>Goal:</a:t>
            </a:r>
            <a:r>
              <a:rPr lang="en-US" sz="1500"/>
              <a:t> Adjust weights and bias to minimize errors.</a:t>
            </a:r>
          </a:p>
          <a:p>
            <a:pPr marL="0" indent="0">
              <a:buNone/>
            </a:pPr>
            <a:endParaRPr lang="en-US" sz="1500"/>
          </a:p>
          <a:p>
            <a:pPr marL="0" indent="0">
              <a:buNone/>
            </a:pPr>
            <a:endParaRPr lang="en-US" sz="1500"/>
          </a:p>
        </p:txBody>
      </p:sp>
      <p:pic>
        <p:nvPicPr>
          <p:cNvPr id="4" name="Picture 3" descr="A diagram of a device&#10;&#10;AI-generated content may be incorrect.">
            <a:extLst>
              <a:ext uri="{FF2B5EF4-FFF2-40B4-BE49-F238E27FC236}">
                <a16:creationId xmlns:a16="http://schemas.microsoft.com/office/drawing/2014/main" id="{275AC7D8-B9C5-EC85-8D62-939944CFA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608144"/>
            <a:ext cx="6903720" cy="36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720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BEFF58-0FFE-812A-410A-0986FF8B0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Step Function as Activation</a:t>
            </a:r>
            <a:endParaRPr lang="en-US" sz="4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84C74-9277-D3E1-AB6E-45EAECDC51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b="1">
                <a:ea typeface="+mn-lt"/>
                <a:cs typeface="+mn-lt"/>
              </a:rPr>
              <a:t>Definition:</a:t>
            </a:r>
            <a:r>
              <a:rPr lang="en-US" sz="2000">
                <a:ea typeface="+mn-lt"/>
                <a:cs typeface="+mn-lt"/>
              </a:rPr>
              <a:t> Output = 1 if Z ≥ threshold; else 0.</a:t>
            </a:r>
            <a:endParaRPr lang="en-US" sz="2000"/>
          </a:p>
          <a:p>
            <a:pPr marL="0" indent="0">
              <a:buNone/>
            </a:pPr>
            <a:r>
              <a:rPr lang="en-US" sz="2000" b="1">
                <a:ea typeface="+mn-lt"/>
                <a:cs typeface="+mn-lt"/>
              </a:rPr>
              <a:t>Behavior:</a:t>
            </a:r>
            <a:r>
              <a:rPr lang="en-US" sz="2000">
                <a:ea typeface="+mn-lt"/>
                <a:cs typeface="+mn-lt"/>
              </a:rPr>
              <a:t> Binary (on/off), mimicking neuron firing.</a:t>
            </a:r>
            <a:endParaRPr lang="en-US" sz="2000"/>
          </a:p>
          <a:p>
            <a:pPr marL="0" indent="0">
              <a:buNone/>
            </a:pPr>
            <a:r>
              <a:rPr lang="en-US" sz="2000" b="1">
                <a:ea typeface="+mn-lt"/>
                <a:cs typeface="+mn-lt"/>
              </a:rPr>
              <a:t>Analogy:</a:t>
            </a:r>
            <a:r>
              <a:rPr lang="en-US" sz="2000">
                <a:ea typeface="+mn-lt"/>
                <a:cs typeface="+mn-lt"/>
              </a:rPr>
              <a:t> Light switch fully on or off.</a:t>
            </a:r>
            <a:endParaRPr lang="en-US" sz="2000"/>
          </a:p>
          <a:p>
            <a:pPr marL="0" indent="0">
              <a:buNone/>
            </a:pPr>
            <a:r>
              <a:rPr lang="en-US" sz="2000" b="1">
                <a:ea typeface="+mn-lt"/>
                <a:cs typeface="+mn-lt"/>
              </a:rPr>
              <a:t>Role:</a:t>
            </a:r>
            <a:r>
              <a:rPr lang="en-US" sz="2000">
                <a:ea typeface="+mn-lt"/>
                <a:cs typeface="+mn-lt"/>
              </a:rPr>
              <a:t> Used in early perceptrons for simple classification.</a:t>
            </a: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23BEC4-9074-6267-09A9-90B852DA1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3658965"/>
            <a:ext cx="5150277" cy="136482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0399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 Fill">
            <a:extLst>
              <a:ext uri="{FF2B5EF4-FFF2-40B4-BE49-F238E27FC236}">
                <a16:creationId xmlns:a16="http://schemas.microsoft.com/office/drawing/2014/main" id="{C3420C89-0B09-4632-A4AF-3971D08BF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lor Cover">
            <a:extLst>
              <a:ext uri="{FF2B5EF4-FFF2-40B4-BE49-F238E27FC236}">
                <a16:creationId xmlns:a16="http://schemas.microsoft.com/office/drawing/2014/main" id="{4E5CBA61-BF74-40B4-A3A8-366BBA626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C27E70C-5470-4262-B9CE-AE52C51CF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929"/>
            <a:ext cx="12188952" cy="3490956"/>
            <a:chOff x="651279" y="598259"/>
            <a:chExt cx="10889442" cy="5680742"/>
          </a:xfrm>
        </p:grpSpPr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B5C7D35F-738C-47DF-AD6E-859806E46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Color">
              <a:extLst>
                <a:ext uri="{FF2B5EF4-FFF2-40B4-BE49-F238E27FC236}">
                  <a16:creationId xmlns:a16="http://schemas.microsoft.com/office/drawing/2014/main" id="{740F8C8B-E52F-46CF-89C7-51C6A037C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 descr="43,100+ Turning On Or Off Stock Photos ...">
            <a:extLst>
              <a:ext uri="{FF2B5EF4-FFF2-40B4-BE49-F238E27FC236}">
                <a16:creationId xmlns:a16="http://schemas.microsoft.com/office/drawing/2014/main" id="{F07E10B0-EDF7-79A3-FC63-C28B56C65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5030" y="1065276"/>
            <a:ext cx="4727448" cy="4727448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C9E54FD-D719-9A66-1C76-111A637ED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841249"/>
            <a:ext cx="5692953" cy="2587131"/>
          </a:xfrm>
        </p:spPr>
        <p:txBody>
          <a:bodyPr anchor="b">
            <a:normAutofit/>
          </a:bodyPr>
          <a:lstStyle/>
          <a:p>
            <a:r>
              <a:rPr lang="en-US" sz="4800">
                <a:solidFill>
                  <a:schemeClr val="bg1"/>
                </a:solidFill>
                <a:ea typeface="+mj-lt"/>
                <a:cs typeface="+mj-lt"/>
              </a:rPr>
              <a:t>Limitations of the Step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AC4A4-DC21-FAE5-45D5-FADF2D31A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383" y="3566810"/>
            <a:ext cx="5692953" cy="26511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700" b="1">
                <a:solidFill>
                  <a:schemeClr val="tx2"/>
                </a:solidFill>
                <a:ea typeface="+mn-lt"/>
                <a:cs typeface="+mn-lt"/>
              </a:rPr>
              <a:t>Issues:</a:t>
            </a:r>
            <a:r>
              <a:rPr lang="en-US" sz="1700">
                <a:solidFill>
                  <a:schemeClr val="tx2"/>
                </a:solidFill>
                <a:ea typeface="+mn-lt"/>
                <a:cs typeface="+mn-lt"/>
              </a:rPr>
              <a:t> </a:t>
            </a:r>
            <a:endParaRPr lang="en-US" sz="1700">
              <a:solidFill>
                <a:schemeClr val="tx2"/>
              </a:solidFill>
            </a:endParaRPr>
          </a:p>
          <a:p>
            <a:pPr>
              <a:buFont typeface="Arial"/>
              <a:buChar char="•"/>
            </a:pPr>
            <a:r>
              <a:rPr lang="en-US" sz="1700">
                <a:solidFill>
                  <a:schemeClr val="tx2"/>
                </a:solidFill>
                <a:ea typeface="+mn-lt"/>
                <a:cs typeface="+mn-lt"/>
              </a:rPr>
              <a:t>Non-differentiable: Prevents gradient-based learning.</a:t>
            </a:r>
            <a:endParaRPr lang="en-US" sz="1700">
              <a:solidFill>
                <a:schemeClr val="tx2"/>
              </a:solidFill>
            </a:endParaRPr>
          </a:p>
          <a:p>
            <a:pPr>
              <a:buFont typeface="Arial"/>
              <a:buChar char="•"/>
            </a:pPr>
            <a:r>
              <a:rPr lang="en-US" sz="1700">
                <a:solidFill>
                  <a:schemeClr val="tx2"/>
                </a:solidFill>
                <a:ea typeface="+mn-lt"/>
                <a:cs typeface="+mn-lt"/>
              </a:rPr>
              <a:t>Binary output: No nuances (e.g., probabilities).</a:t>
            </a:r>
            <a:endParaRPr lang="en-US" sz="1700">
              <a:solidFill>
                <a:schemeClr val="tx2"/>
              </a:solidFill>
            </a:endParaRPr>
          </a:p>
          <a:p>
            <a:pPr>
              <a:buFont typeface="Arial"/>
              <a:buChar char="•"/>
            </a:pPr>
            <a:r>
              <a:rPr lang="en-US" sz="1700">
                <a:solidFill>
                  <a:schemeClr val="tx2"/>
                </a:solidFill>
                <a:ea typeface="+mn-lt"/>
                <a:cs typeface="+mn-lt"/>
              </a:rPr>
              <a:t>Linear only: Fails on non-linear problems like XOR.</a:t>
            </a:r>
            <a:endParaRPr lang="en-US" sz="17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700" b="1">
                <a:solidFill>
                  <a:schemeClr val="tx2"/>
                </a:solidFill>
                <a:ea typeface="+mn-lt"/>
                <a:cs typeface="+mn-lt"/>
              </a:rPr>
              <a:t>Impact:</a:t>
            </a:r>
            <a:r>
              <a:rPr lang="en-US" sz="1700">
                <a:solidFill>
                  <a:schemeClr val="tx2"/>
                </a:solidFill>
                <a:ea typeface="+mn-lt"/>
                <a:cs typeface="+mn-lt"/>
              </a:rPr>
              <a:t> Limited perceptrons to simple tasks (e.g., AND/OR, not XOR).</a:t>
            </a:r>
            <a:endParaRPr lang="en-US" sz="17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700" b="1">
                <a:solidFill>
                  <a:schemeClr val="tx2"/>
                </a:solidFill>
                <a:ea typeface="+mn-lt"/>
                <a:cs typeface="+mn-lt"/>
              </a:rPr>
              <a:t>Solution:</a:t>
            </a:r>
            <a:r>
              <a:rPr lang="en-US" sz="1700">
                <a:solidFill>
                  <a:schemeClr val="tx2"/>
                </a:solidFill>
                <a:ea typeface="+mn-lt"/>
                <a:cs typeface="+mn-lt"/>
              </a:rPr>
              <a:t> Multi-layer networks with differentiable activations.</a:t>
            </a:r>
            <a:endParaRPr lang="en-US" sz="17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89706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AE459A-7CAA-57F3-CEA7-706801216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4200"/>
              <a:t>Activation Functions : Decision Makers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6806D-F1FE-B89E-95B3-24C97E5AF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700" b="1"/>
              <a:t>Role:</a:t>
            </a:r>
            <a:r>
              <a:rPr lang="en-US" sz="1700"/>
              <a:t> Decide neuron output after weighted sum + bias.</a:t>
            </a:r>
          </a:p>
          <a:p>
            <a:pPr marL="0" indent="0">
              <a:buNone/>
            </a:pPr>
            <a:r>
              <a:rPr lang="en-US" sz="1700" b="1"/>
              <a:t>Purposes:</a:t>
            </a:r>
            <a:r>
              <a:rPr lang="en-US" sz="1700"/>
              <a:t> </a:t>
            </a:r>
          </a:p>
          <a:p>
            <a:pPr>
              <a:buFont typeface="Arial,Sans-Serif"/>
              <a:buChar char="•"/>
            </a:pPr>
            <a:r>
              <a:rPr lang="en-US" sz="1700"/>
              <a:t>Add non-linearity for complex modeling.</a:t>
            </a:r>
          </a:p>
          <a:p>
            <a:pPr>
              <a:buFont typeface="Arial,Sans-Serif"/>
              <a:buChar char="•"/>
            </a:pPr>
            <a:r>
              <a:rPr lang="en-US" sz="1700"/>
              <a:t>Control output range (e.g., 0-1 for probabilities).</a:t>
            </a:r>
          </a:p>
          <a:p>
            <a:pPr>
              <a:buFont typeface="Arial,Sans-Serif"/>
              <a:buChar char="•"/>
            </a:pPr>
            <a:r>
              <a:rPr lang="en-US" sz="1700"/>
              <a:t>Enable backpropagation via differentiability.</a:t>
            </a:r>
          </a:p>
          <a:p>
            <a:pPr marL="0" indent="0">
              <a:buNone/>
            </a:pPr>
            <a:r>
              <a:rPr lang="en-US" sz="1700" b="1"/>
              <a:t>Types:</a:t>
            </a:r>
            <a:r>
              <a:rPr lang="en-US" sz="1700"/>
              <a:t> Sigmoid, Tanh, ReLU(Rectified Linear Unit).</a:t>
            </a:r>
          </a:p>
          <a:p>
            <a:pPr marL="0" indent="0">
              <a:buNone/>
            </a:pPr>
            <a:r>
              <a:rPr lang="en-US" sz="1700" b="1"/>
              <a:t>Analogy:</a:t>
            </a:r>
            <a:r>
              <a:rPr lang="en-US" sz="1700"/>
              <a:t> Gates controlling information flow.</a:t>
            </a:r>
          </a:p>
          <a:p>
            <a:pPr>
              <a:buNone/>
            </a:pPr>
            <a:endParaRPr lang="en-US" sz="1700"/>
          </a:p>
          <a:p>
            <a:pPr marL="0" indent="0">
              <a:buNone/>
            </a:pPr>
            <a:endParaRPr lang="en-US" sz="1700"/>
          </a:p>
        </p:txBody>
      </p:sp>
      <p:pic>
        <p:nvPicPr>
          <p:cNvPr id="4" name="Picture 3" descr="A graph of functions and functions&#10;&#10;AI-generated content may be incorrect.">
            <a:extLst>
              <a:ext uri="{FF2B5EF4-FFF2-40B4-BE49-F238E27FC236}">
                <a16:creationId xmlns:a16="http://schemas.microsoft.com/office/drawing/2014/main" id="{CB4F8221-59E8-3F78-9AF1-FC8F53476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2057434"/>
            <a:ext cx="5458968" cy="2743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6195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FF11B-121D-A1FB-D93A-65CADDC8F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b="1">
                <a:ea typeface="+mj-lt"/>
                <a:cs typeface="+mj-lt"/>
              </a:rPr>
              <a:t>Activation Function Evolution : </a:t>
            </a:r>
            <a:r>
              <a:rPr lang="en-US" sz="1200" b="1">
                <a:ea typeface="+mj-lt"/>
                <a:cs typeface="+mj-lt"/>
              </a:rPr>
              <a:t>The Journey: Step Function → Sigmoid → Tanh → </a:t>
            </a:r>
            <a:r>
              <a:rPr lang="en-US" sz="1200" b="1" err="1">
                <a:ea typeface="+mj-lt"/>
                <a:cs typeface="+mj-lt"/>
              </a:rPr>
              <a:t>ReLU</a:t>
            </a:r>
            <a:endParaRPr lang="en-US" sz="1200" err="1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96210-98DC-CAF2-8AFE-83674F419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1000" b="1">
                <a:ea typeface="+mn-lt"/>
                <a:cs typeface="+mn-lt"/>
              </a:rPr>
              <a:t>Step Function (Perceptron 1957)</a:t>
            </a:r>
            <a:endParaRPr lang="en-US" sz="1000">
              <a:ea typeface="+mn-lt"/>
              <a:cs typeface="+mn-lt"/>
            </a:endParaRPr>
          </a:p>
          <a:p>
            <a:pPr>
              <a:buNone/>
            </a:pPr>
            <a:r>
              <a:rPr lang="en-US" sz="1000">
                <a:ea typeface="+mn-lt"/>
                <a:cs typeface="+mn-lt"/>
              </a:rPr>
              <a:t>f(z) = { 1  if z ≥ 0 </a:t>
            </a:r>
          </a:p>
          <a:p>
            <a:pPr>
              <a:buNone/>
            </a:pPr>
            <a:r>
              <a:rPr lang="en-US" sz="1000">
                <a:ea typeface="+mn-lt"/>
                <a:cs typeface="+mn-lt"/>
              </a:rPr>
              <a:t>    { 0  if z &lt; 0</a:t>
            </a:r>
            <a:endParaRPr lang="en-US" sz="1000"/>
          </a:p>
          <a:p>
            <a:pPr>
              <a:buFont typeface="Arial"/>
              <a:buChar char="•"/>
            </a:pPr>
            <a:r>
              <a:rPr lang="en-US" sz="1000" b="1">
                <a:ea typeface="+mn-lt"/>
                <a:cs typeface="+mn-lt"/>
              </a:rPr>
              <a:t>Why</a:t>
            </a:r>
            <a:r>
              <a:rPr lang="en-US" sz="1000">
                <a:ea typeface="+mn-lt"/>
                <a:cs typeface="+mn-lt"/>
              </a:rPr>
              <a:t>: Binary decision (fire/don't fire)</a:t>
            </a:r>
            <a:endParaRPr lang="en-US" sz="1000"/>
          </a:p>
          <a:p>
            <a:pPr>
              <a:buFont typeface="Arial"/>
              <a:buChar char="•"/>
            </a:pPr>
            <a:r>
              <a:rPr lang="en-US" sz="1000" b="1">
                <a:ea typeface="+mn-lt"/>
                <a:cs typeface="+mn-lt"/>
              </a:rPr>
              <a:t>Problem</a:t>
            </a:r>
            <a:r>
              <a:rPr lang="en-US" sz="1000">
                <a:ea typeface="+mn-lt"/>
                <a:cs typeface="+mn-lt"/>
              </a:rPr>
              <a:t>: Not differentiable → No gradient descent possible</a:t>
            </a:r>
            <a:endParaRPr lang="en-US" sz="1000"/>
          </a:p>
          <a:p>
            <a:pPr marL="0" indent="0">
              <a:buNone/>
            </a:pPr>
            <a:endParaRPr lang="en-US" sz="1000">
              <a:ea typeface="+mn-lt"/>
              <a:cs typeface="+mn-lt"/>
            </a:endParaRPr>
          </a:p>
          <a:p>
            <a:pPr>
              <a:buNone/>
            </a:pPr>
            <a:r>
              <a:rPr lang="en-US" sz="1000" b="1">
                <a:ea typeface="+mn-lt"/>
                <a:cs typeface="+mn-lt"/>
              </a:rPr>
              <a:t>Sigmoid (1986 Backprop Era):</a:t>
            </a:r>
          </a:p>
          <a:p>
            <a:pPr>
              <a:buNone/>
            </a:pPr>
            <a:r>
              <a:rPr lang="en-US" sz="1000" b="1">
                <a:ea typeface="+mn-lt"/>
                <a:cs typeface="+mn-lt"/>
              </a:rPr>
              <a:t>Range</a:t>
            </a:r>
            <a:r>
              <a:rPr lang="en-US" sz="1000">
                <a:ea typeface="+mn-lt"/>
                <a:cs typeface="+mn-lt"/>
              </a:rPr>
              <a:t>: 0 to 1 | </a:t>
            </a:r>
            <a:r>
              <a:rPr lang="en-US" sz="1000" b="1">
                <a:ea typeface="+mn-lt"/>
                <a:cs typeface="+mn-lt"/>
              </a:rPr>
              <a:t>Smooth &amp; Differentiable</a:t>
            </a:r>
            <a:endParaRPr lang="en-US" sz="1000"/>
          </a:p>
          <a:p>
            <a:pPr>
              <a:buFont typeface="Arial"/>
              <a:buChar char="•"/>
            </a:pPr>
            <a:r>
              <a:rPr lang="en-US" sz="1000" b="1">
                <a:ea typeface="+mn-lt"/>
                <a:cs typeface="+mn-lt"/>
              </a:rPr>
              <a:t>Why</a:t>
            </a:r>
            <a:r>
              <a:rPr lang="en-US" sz="1000">
                <a:ea typeface="+mn-lt"/>
                <a:cs typeface="+mn-lt"/>
              </a:rPr>
              <a:t>: First gradient-friendly activation for backpropagation</a:t>
            </a:r>
            <a:endParaRPr lang="en-US" sz="1000"/>
          </a:p>
          <a:p>
            <a:pPr>
              <a:buFont typeface="Arial"/>
              <a:buChar char="•"/>
            </a:pPr>
            <a:r>
              <a:rPr lang="en-US" sz="1000" b="1">
                <a:ea typeface="+mn-lt"/>
                <a:cs typeface="+mn-lt"/>
              </a:rPr>
              <a:t>Fatal Flaw</a:t>
            </a:r>
            <a:r>
              <a:rPr lang="en-US" sz="1000">
                <a:ea typeface="+mn-lt"/>
                <a:cs typeface="+mn-lt"/>
              </a:rPr>
              <a:t>: </a:t>
            </a:r>
            <a:r>
              <a:rPr lang="en-US" sz="1000" b="1">
                <a:ea typeface="+mn-lt"/>
                <a:cs typeface="+mn-lt"/>
              </a:rPr>
              <a:t>Vanishing gradients</a:t>
            </a:r>
            <a:r>
              <a:rPr lang="en-US" sz="1000">
                <a:ea typeface="+mn-lt"/>
                <a:cs typeface="+mn-lt"/>
              </a:rPr>
              <a:t> (σ'(z) → 0 as |z| grows)</a:t>
            </a:r>
            <a:endParaRPr lang="en-US" sz="1000"/>
          </a:p>
          <a:p>
            <a:pPr marL="0" indent="0">
              <a:buNone/>
            </a:pPr>
            <a:endParaRPr lang="en-US" sz="100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000" b="1">
                <a:ea typeface="+mn-lt"/>
                <a:cs typeface="+mn-lt"/>
              </a:rPr>
              <a:t>Tanh (1990s Improvement)</a:t>
            </a:r>
            <a:endParaRPr lang="en-US" sz="1000" b="1"/>
          </a:p>
          <a:p>
            <a:pPr>
              <a:buNone/>
            </a:pPr>
            <a:r>
              <a:rPr lang="en-US" sz="1000" b="1">
                <a:ea typeface="+mn-lt"/>
                <a:cs typeface="+mn-lt"/>
              </a:rPr>
              <a:t>Range</a:t>
            </a:r>
            <a:r>
              <a:rPr lang="en-US" sz="1000">
                <a:ea typeface="+mn-lt"/>
                <a:cs typeface="+mn-lt"/>
              </a:rPr>
              <a:t>: -1 to 1 | </a:t>
            </a:r>
            <a:r>
              <a:rPr lang="en-US" sz="1000" b="1">
                <a:ea typeface="+mn-lt"/>
                <a:cs typeface="+mn-lt"/>
              </a:rPr>
              <a:t>Zero-centered</a:t>
            </a:r>
            <a:r>
              <a:rPr lang="en-US" sz="1000">
                <a:ea typeface="+mn-lt"/>
                <a:cs typeface="+mn-lt"/>
              </a:rPr>
              <a:t> (better convergence)</a:t>
            </a:r>
            <a:endParaRPr lang="en-US" sz="1000"/>
          </a:p>
          <a:p>
            <a:pPr>
              <a:buFont typeface="Arial"/>
              <a:buChar char="•"/>
            </a:pPr>
            <a:r>
              <a:rPr lang="en-US" sz="1000" b="1">
                <a:ea typeface="+mn-lt"/>
                <a:cs typeface="+mn-lt"/>
              </a:rPr>
              <a:t>Why</a:t>
            </a:r>
            <a:r>
              <a:rPr lang="en-US" sz="1000">
                <a:ea typeface="+mn-lt"/>
                <a:cs typeface="+mn-lt"/>
              </a:rPr>
              <a:t>: Fixes </a:t>
            </a:r>
            <a:r>
              <a:rPr lang="en-US" sz="1000" err="1">
                <a:ea typeface="+mn-lt"/>
                <a:cs typeface="+mn-lt"/>
              </a:rPr>
              <a:t>sigmoid's</a:t>
            </a:r>
            <a:r>
              <a:rPr lang="en-US" sz="1000">
                <a:ea typeface="+mn-lt"/>
                <a:cs typeface="+mn-lt"/>
              </a:rPr>
              <a:t> non-zero centering</a:t>
            </a:r>
            <a:endParaRPr lang="en-US" sz="1000"/>
          </a:p>
          <a:p>
            <a:pPr>
              <a:buFont typeface="Arial"/>
              <a:buChar char="•"/>
            </a:pPr>
            <a:r>
              <a:rPr lang="en-US" sz="1000" b="1">
                <a:ea typeface="+mn-lt"/>
                <a:cs typeface="+mn-lt"/>
              </a:rPr>
              <a:t>Still fails</a:t>
            </a:r>
            <a:r>
              <a:rPr lang="en-US" sz="1000">
                <a:ea typeface="+mn-lt"/>
                <a:cs typeface="+mn-lt"/>
              </a:rPr>
              <a:t>: Vanishing gradients persist in deep nets</a:t>
            </a:r>
            <a:br>
              <a:rPr lang="en-US"/>
            </a:br>
            <a:endParaRPr lang="en-US" sz="10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188D06-54ED-9E85-C8B5-AD0B1E258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102" y="2285919"/>
            <a:ext cx="9525" cy="95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3477D1-921B-2A38-B261-DDDF9DB4A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977" y="2428794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6AA4F86-D26B-8027-8C10-AA7B5101D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852" y="2571669"/>
            <a:ext cx="9525" cy="95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F741F3-2D82-3441-5758-2FCA679AA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5727" y="2714544"/>
            <a:ext cx="9525" cy="95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419645-F5AA-476A-46A6-7D75227F8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8602" y="2857419"/>
            <a:ext cx="9525" cy="9525"/>
          </a:xfrm>
          <a:prstGeom prst="rect">
            <a:avLst/>
          </a:prstGeom>
        </p:spPr>
      </p:pic>
      <p:pic>
        <p:nvPicPr>
          <p:cNvPr id="10" name="Picture 9" descr="Activation Functions in Neural Networks [12 Types &amp; Use Cases]">
            <a:extLst>
              <a:ext uri="{FF2B5EF4-FFF2-40B4-BE49-F238E27FC236}">
                <a16:creationId xmlns:a16="http://schemas.microsoft.com/office/drawing/2014/main" id="{90CCE0DE-A9C9-FB59-C5B5-D6BE6C49F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829" y="4879908"/>
            <a:ext cx="1032576" cy="972681"/>
          </a:xfrm>
          <a:prstGeom prst="rect">
            <a:avLst/>
          </a:prstGeom>
        </p:spPr>
      </p:pic>
      <p:pic>
        <p:nvPicPr>
          <p:cNvPr id="12" name="Picture 11" descr="Understanding the Sigmoid Function in ...">
            <a:extLst>
              <a:ext uri="{FF2B5EF4-FFF2-40B4-BE49-F238E27FC236}">
                <a16:creationId xmlns:a16="http://schemas.microsoft.com/office/drawing/2014/main" id="{25777D99-7510-87B7-E417-4C758260A1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4135" y="3744734"/>
            <a:ext cx="1143162" cy="521614"/>
          </a:xfrm>
          <a:prstGeom prst="rect">
            <a:avLst/>
          </a:prstGeom>
        </p:spPr>
      </p:pic>
      <p:pic>
        <p:nvPicPr>
          <p:cNvPr id="14" name="Picture 13" descr="Why is the activation function important in a deep learning model? | by  Harshal Dharpure | Medium">
            <a:extLst>
              <a:ext uri="{FF2B5EF4-FFF2-40B4-BE49-F238E27FC236}">
                <a16:creationId xmlns:a16="http://schemas.microsoft.com/office/drawing/2014/main" id="{64F1FFB0-82EE-46D5-36B3-C5BDF8439F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0994" y="2393044"/>
            <a:ext cx="3458064" cy="231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6192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718276" y="729523"/>
            <a:ext cx="6858000" cy="5398953"/>
          </a:xfrm>
          <a:prstGeom prst="rect">
            <a:avLst/>
          </a:prstGeom>
          <a:ln>
            <a:noFill/>
          </a:ln>
          <a:effectLst>
            <a:outerShdw blurRad="419100" dist="152400" sx="94000" sy="94000" algn="l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9E8AD4-4347-F676-DD5B-8D38AB4E4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85366"/>
            <a:ext cx="4069055" cy="2072853"/>
          </a:xfrm>
        </p:spPr>
        <p:txBody>
          <a:bodyPr anchor="t">
            <a:normAutofit/>
          </a:bodyPr>
          <a:lstStyle/>
          <a:p>
            <a:r>
              <a:rPr lang="en-US" sz="4000"/>
              <a:t>ReLU (Rectified Linear Unit)</a:t>
            </a:r>
          </a:p>
          <a:p>
            <a:endParaRPr lang="en-US" sz="4000"/>
          </a:p>
        </p:txBody>
      </p:sp>
      <p:pic>
        <p:nvPicPr>
          <p:cNvPr id="6" name="Picture 5" descr="ReLU activation (red) and derivative (blue) for efficient gradient... |  Download Scientific Diagram">
            <a:extLst>
              <a:ext uri="{FF2B5EF4-FFF2-40B4-BE49-F238E27FC236}">
                <a16:creationId xmlns:a16="http://schemas.microsoft.com/office/drawing/2014/main" id="{3AEA6385-3576-F57A-46A8-0608B4DB3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619" y="3602735"/>
            <a:ext cx="3951289" cy="23195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E0792-5EE2-B00F-1493-5AAB1F015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785366"/>
            <a:ext cx="5257797" cy="531063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400" b="1"/>
              <a:t>Formula:</a:t>
            </a:r>
            <a:r>
              <a:rPr lang="en-US" sz="1400"/>
              <a:t> </a:t>
            </a:r>
            <a:r>
              <a:rPr lang="en-US" sz="1400" err="1"/>
              <a:t>ReLU</a:t>
            </a:r>
            <a:r>
              <a:rPr lang="en-US" sz="1400"/>
              <a:t>(x) = max(0, x).</a:t>
            </a:r>
          </a:p>
          <a:p>
            <a:pPr marL="0" indent="0">
              <a:buNone/>
            </a:pPr>
            <a:r>
              <a:rPr lang="en-US" sz="1400" b="1"/>
              <a:t>Behavior:</a:t>
            </a:r>
            <a:r>
              <a:rPr lang="en-US" sz="1400"/>
              <a:t> Outputs x if positive; 0 if negative.</a:t>
            </a:r>
          </a:p>
          <a:p>
            <a:pPr marL="0" indent="0">
              <a:buNone/>
            </a:pPr>
            <a:r>
              <a:rPr lang="en-US" sz="1400" b="1"/>
              <a:t>Advantages:</a:t>
            </a:r>
            <a:r>
              <a:rPr lang="en-US" sz="1400"/>
              <a:t> </a:t>
            </a:r>
          </a:p>
          <a:p>
            <a:pPr>
              <a:buFont typeface="Arial,Sans-Serif"/>
              <a:buChar char="•"/>
            </a:pPr>
            <a:r>
              <a:rPr lang="en-US" sz="1400"/>
              <a:t>Fast and simple.</a:t>
            </a:r>
          </a:p>
          <a:p>
            <a:pPr>
              <a:buFont typeface="Arial,Sans-Serif"/>
              <a:buChar char="•"/>
            </a:pPr>
            <a:r>
              <a:rPr lang="en-US" sz="1400"/>
              <a:t>Avoids vanishing gradients (unlike sigmoid).</a:t>
            </a:r>
          </a:p>
          <a:p>
            <a:pPr>
              <a:buFont typeface="Arial,Sans-Serif"/>
              <a:buChar char="•"/>
            </a:pPr>
            <a:r>
              <a:rPr lang="en-US" sz="1400"/>
              <a:t>Promotes sparsity (many zeros).</a:t>
            </a:r>
          </a:p>
          <a:p>
            <a:pPr>
              <a:buFont typeface="Arial,Sans-Serif"/>
              <a:buChar char="•"/>
            </a:pPr>
            <a:r>
              <a:rPr lang="en-US" sz="1400" b="1">
                <a:ea typeface="+mn-lt"/>
                <a:cs typeface="+mn-lt"/>
              </a:rPr>
              <a:t>Gradient</a:t>
            </a:r>
            <a:r>
              <a:rPr lang="en-US" sz="1400">
                <a:ea typeface="+mn-lt"/>
                <a:cs typeface="+mn-lt"/>
              </a:rPr>
              <a:t>: 1 (x&gt;0), 0 (x&lt;0) | </a:t>
            </a:r>
            <a:r>
              <a:rPr lang="en-US" sz="1400" b="1">
                <a:ea typeface="+mn-lt"/>
                <a:cs typeface="+mn-lt"/>
              </a:rPr>
              <a:t>No saturation!</a:t>
            </a:r>
            <a:endParaRPr lang="en-US" sz="1400"/>
          </a:p>
          <a:p>
            <a:pPr marL="0" indent="0">
              <a:buNone/>
            </a:pPr>
            <a:endParaRPr lang="en-US" sz="1400" b="1">
              <a:ea typeface="+mn-lt"/>
              <a:cs typeface="+mn-lt"/>
            </a:endParaRPr>
          </a:p>
          <a:p>
            <a:pPr>
              <a:buNone/>
            </a:pPr>
            <a:r>
              <a:rPr lang="en-US" sz="1400" b="1">
                <a:ea typeface="+mn-lt"/>
                <a:cs typeface="+mn-lt"/>
              </a:rPr>
              <a:t>Deep Net Training:</a:t>
            </a:r>
          </a:p>
          <a:p>
            <a:pPr>
              <a:buNone/>
            </a:pPr>
            <a:r>
              <a:rPr lang="en-US" sz="1400">
                <a:ea typeface="+mn-lt"/>
                <a:cs typeface="+mn-lt"/>
              </a:rPr>
              <a:t>Sigmoid/Tanh: Layer 1 gradient = 0.25 × Layer 2 gradient</a:t>
            </a:r>
          </a:p>
          <a:p>
            <a:pPr>
              <a:buNone/>
            </a:pPr>
            <a:r>
              <a:rPr lang="en-US" sz="1400">
                <a:ea typeface="+mn-lt"/>
                <a:cs typeface="+mn-lt"/>
              </a:rPr>
              <a:t>10 layers → gradient = 0.25^10 = 10^{-7} → Learning stops!</a:t>
            </a:r>
          </a:p>
          <a:p>
            <a:pPr>
              <a:buNone/>
            </a:pPr>
            <a:r>
              <a:rPr lang="en-US" sz="1400" err="1">
                <a:ea typeface="+mn-lt"/>
                <a:cs typeface="+mn-lt"/>
              </a:rPr>
              <a:t>ReLU</a:t>
            </a:r>
            <a:r>
              <a:rPr lang="en-US" sz="1400">
                <a:ea typeface="+mn-lt"/>
                <a:cs typeface="+mn-lt"/>
              </a:rPr>
              <a:t>: Layer 1 gradient = 1.0 × Layer 2 gradient</a:t>
            </a:r>
          </a:p>
          <a:p>
            <a:pPr>
              <a:buNone/>
            </a:pPr>
            <a:r>
              <a:rPr lang="en-US" sz="1400">
                <a:ea typeface="+mn-lt"/>
                <a:cs typeface="+mn-lt"/>
              </a:rPr>
              <a:t>100 layers → gradient = 1.0 → Deep learning explodes!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400"/>
          </a:p>
          <a:p>
            <a:pPr marL="0" indent="0">
              <a:buNone/>
            </a:pPr>
            <a:r>
              <a:rPr lang="en-US" sz="1400" b="1"/>
              <a:t>Issue:</a:t>
            </a:r>
            <a:r>
              <a:rPr lang="en-US" sz="1400"/>
              <a:t> “Dying </a:t>
            </a:r>
            <a:r>
              <a:rPr lang="en-US" sz="1400" err="1"/>
              <a:t>ReLU</a:t>
            </a:r>
            <a:r>
              <a:rPr lang="en-US" sz="1400"/>
              <a:t>” (neurons stuck at 0),mitigated by variants like Leaky </a:t>
            </a:r>
            <a:r>
              <a:rPr lang="en-US" sz="1400" err="1"/>
              <a:t>ReLU</a:t>
            </a:r>
            <a:r>
              <a:rPr lang="en-US" sz="1400"/>
              <a:t>.</a:t>
            </a:r>
          </a:p>
          <a:p>
            <a:pPr marL="0" indent="0">
              <a:buNone/>
            </a:pPr>
            <a:r>
              <a:rPr lang="en-US" sz="1400" b="1"/>
              <a:t>Applications:</a:t>
            </a:r>
            <a:r>
              <a:rPr lang="en-US" sz="1400"/>
              <a:t> Standard in deep learning(CNNs, Transformers).</a:t>
            </a:r>
          </a:p>
          <a:p>
            <a:pPr>
              <a:buNone/>
            </a:pPr>
            <a:endParaRPr lang="en-US" sz="1400"/>
          </a:p>
          <a:p>
            <a:pPr marL="0" indent="0">
              <a:buNone/>
            </a:pPr>
            <a:endParaRPr lang="en-US" sz="14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1999" cy="6857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53F88D1-8C99-DF5A-0343-87E047EC64A4}"/>
              </a:ext>
            </a:extLst>
          </p:cNvPr>
          <p:cNvSpPr>
            <a:spLocks noGrp="1"/>
          </p:cNvSpPr>
          <p:nvPr/>
        </p:nvSpPr>
        <p:spPr>
          <a:xfrm>
            <a:off x="793662" y="386930"/>
            <a:ext cx="10066122" cy="12984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80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6D670E-278C-4EF8-35FB-143F72B3887C}"/>
              </a:ext>
            </a:extLst>
          </p:cNvPr>
          <p:cNvSpPr>
            <a:spLocks noGrp="1"/>
          </p:cNvSpPr>
          <p:nvPr/>
        </p:nvSpPr>
        <p:spPr>
          <a:xfrm>
            <a:off x="793661" y="2599509"/>
            <a:ext cx="4530898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10869788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923CA-1588-30FA-33C9-444E94A27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900"/>
            <a:ext cx="10515600" cy="837239"/>
          </a:xfrm>
        </p:spPr>
        <p:txBody>
          <a:bodyPr>
            <a:normAutofit/>
          </a:bodyPr>
          <a:lstStyle/>
          <a:p>
            <a:r>
              <a:rPr lang="en-US" sz="4000" b="1">
                <a:latin typeface="Aptos"/>
                <a:ea typeface="+mj-lt"/>
                <a:cs typeface="+mj-lt"/>
              </a:rPr>
              <a:t>Loss Functions - MSE, BCE, Cross-Entropy</a:t>
            </a:r>
            <a:endParaRPr lang="en-US" sz="4000">
              <a:latin typeface="Apt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832AA-02B3-315B-6942-38CCE6749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8273"/>
            <a:ext cx="10515600" cy="527969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1200" b="1">
                <a:ea typeface="+mn-lt"/>
                <a:cs typeface="+mn-lt"/>
              </a:rPr>
              <a:t>Measure prediction error to guide learning:</a:t>
            </a:r>
            <a:endParaRPr lang="en-US"/>
          </a:p>
          <a:p>
            <a:pPr>
              <a:buNone/>
            </a:pPr>
            <a:r>
              <a:rPr lang="en-US" sz="1200" b="1">
                <a:ea typeface="+mn-lt"/>
                <a:cs typeface="+mn-lt"/>
              </a:rPr>
              <a:t>1. Mean Squared Error (MSE) - Regression.</a:t>
            </a:r>
          </a:p>
          <a:p>
            <a:pPr>
              <a:buNone/>
            </a:pPr>
            <a:endParaRPr lang="en-US" sz="1200" b="1">
              <a:ea typeface="+mn-lt"/>
              <a:cs typeface="+mn-lt"/>
            </a:endParaRPr>
          </a:p>
          <a:p>
            <a:pPr>
              <a:buNone/>
            </a:pPr>
            <a:r>
              <a:rPr lang="en-US" sz="1200" b="1">
                <a:ea typeface="+mn-lt"/>
                <a:cs typeface="+mn-lt"/>
              </a:rPr>
              <a:t>Derivative</a:t>
            </a:r>
            <a:r>
              <a:rPr lang="en-US" sz="1200">
                <a:ea typeface="+mn-lt"/>
                <a:cs typeface="+mn-lt"/>
              </a:rPr>
              <a:t>: 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r>
              <a:rPr lang="en-US" sz="1200" b="1">
                <a:ea typeface="+mn-lt"/>
                <a:cs typeface="+mn-lt"/>
              </a:rPr>
              <a:t>Use when</a:t>
            </a:r>
            <a:r>
              <a:rPr lang="en-US" sz="1200">
                <a:ea typeface="+mn-lt"/>
                <a:cs typeface="+mn-lt"/>
              </a:rPr>
              <a:t>: Predicting continuous values (house prices, temperatures).</a:t>
            </a:r>
            <a:endParaRPr lang="en-US"/>
          </a:p>
          <a:p>
            <a:pPr>
              <a:buFont typeface="Arial"/>
              <a:buChar char="•"/>
            </a:pPr>
            <a:r>
              <a:rPr lang="en-US" sz="1200" b="1">
                <a:ea typeface="+mn-lt"/>
                <a:cs typeface="+mn-lt"/>
              </a:rPr>
              <a:t>Why</a:t>
            </a:r>
            <a:r>
              <a:rPr lang="en-US" sz="1200">
                <a:ea typeface="+mn-lt"/>
                <a:cs typeface="+mn-lt"/>
              </a:rPr>
              <a:t>: Quadratic penalty → large errors hurt more.</a:t>
            </a:r>
            <a:endParaRPr lang="en-US"/>
          </a:p>
          <a:p>
            <a:pPr>
              <a:buFont typeface="Arial"/>
              <a:buChar char="•"/>
            </a:pPr>
            <a:r>
              <a:rPr lang="en-US" sz="1200" b="1">
                <a:ea typeface="+mn-lt"/>
                <a:cs typeface="+mn-lt"/>
              </a:rPr>
              <a:t>Problem</a:t>
            </a:r>
            <a:r>
              <a:rPr lang="en-US" sz="1200">
                <a:ea typeface="+mn-lt"/>
                <a:cs typeface="+mn-lt"/>
              </a:rPr>
              <a:t>: Outliers dominate; assumes Gaussian noise.</a:t>
            </a:r>
            <a:endParaRPr lang="en-US"/>
          </a:p>
          <a:p>
            <a:pPr>
              <a:buNone/>
            </a:pPr>
            <a:r>
              <a:rPr lang="en-US" sz="1200" b="1"/>
              <a:t>2. </a:t>
            </a:r>
            <a:r>
              <a:rPr lang="en-US" sz="1200" b="1">
                <a:ea typeface="+mn-lt"/>
                <a:cs typeface="+mn-lt"/>
              </a:rPr>
              <a:t>Binary Cross-Entropy (BCE) - Binary Classification</a:t>
            </a:r>
          </a:p>
          <a:p>
            <a:pPr>
              <a:buNone/>
            </a:pPr>
            <a:endParaRPr lang="en-US" sz="1200" b="1">
              <a:ea typeface="+mn-lt"/>
              <a:cs typeface="+mn-lt"/>
            </a:endParaRPr>
          </a:p>
          <a:p>
            <a:pPr>
              <a:buNone/>
            </a:pPr>
            <a:r>
              <a:rPr lang="en-US" sz="1200" b="1">
                <a:ea typeface="+mn-lt"/>
                <a:cs typeface="+mn-lt"/>
              </a:rPr>
              <a:t>Derivative: </a:t>
            </a:r>
          </a:p>
          <a:p>
            <a:pPr>
              <a:buFont typeface="Arial"/>
              <a:buChar char="•"/>
            </a:pPr>
            <a:r>
              <a:rPr lang="en-US" sz="1200" b="1">
                <a:ea typeface="+mn-lt"/>
                <a:cs typeface="+mn-lt"/>
              </a:rPr>
              <a:t>Use when</a:t>
            </a:r>
            <a:r>
              <a:rPr lang="en-US" sz="1200">
                <a:ea typeface="+mn-lt"/>
                <a:cs typeface="+mn-lt"/>
              </a:rPr>
              <a:t>: 0/1 outcomes (spam/not spam, cat/not cat).</a:t>
            </a:r>
            <a:endParaRPr lang="en-US"/>
          </a:p>
          <a:p>
            <a:pPr>
              <a:buFont typeface="Arial"/>
              <a:buChar char="•"/>
            </a:pPr>
            <a:r>
              <a:rPr lang="en-US" sz="1200" b="1">
                <a:ea typeface="+mn-lt"/>
                <a:cs typeface="+mn-lt"/>
              </a:rPr>
              <a:t>Why</a:t>
            </a:r>
            <a:r>
              <a:rPr lang="en-US" sz="1200">
                <a:ea typeface="+mn-lt"/>
                <a:cs typeface="+mn-lt"/>
              </a:rPr>
              <a:t>: Punishes confident wrong predictions brutally.</a:t>
            </a:r>
            <a:endParaRPr lang="en-US"/>
          </a:p>
          <a:p>
            <a:pPr>
              <a:buFont typeface="Arial"/>
              <a:buChar char="•"/>
            </a:pPr>
            <a:r>
              <a:rPr lang="en-US" sz="1200" b="1">
                <a:ea typeface="+mn-lt"/>
                <a:cs typeface="+mn-lt"/>
              </a:rPr>
              <a:t>Gradient bonus</a:t>
            </a:r>
            <a:r>
              <a:rPr lang="en-US" sz="1200">
                <a:ea typeface="+mn-lt"/>
                <a:cs typeface="+mn-lt"/>
              </a:rPr>
              <a:t>: Clean y^−</a:t>
            </a:r>
            <a:r>
              <a:rPr lang="en-US" sz="1200" i="1">
                <a:ea typeface="+mn-lt"/>
                <a:cs typeface="+mn-lt"/>
              </a:rPr>
              <a:t>y</a:t>
            </a:r>
            <a:r>
              <a:rPr lang="en-US" sz="1200">
                <a:ea typeface="+mn-lt"/>
                <a:cs typeface="+mn-lt"/>
              </a:rPr>
              <a:t> (no saturation issues).</a:t>
            </a:r>
            <a:endParaRPr lang="en-US"/>
          </a:p>
          <a:p>
            <a:pPr marL="0" indent="0">
              <a:buNone/>
            </a:pPr>
            <a:r>
              <a:rPr lang="en-US" sz="1200">
                <a:ea typeface="+mn-lt"/>
                <a:cs typeface="+mn-lt"/>
              </a:rPr>
              <a:t>3. </a:t>
            </a:r>
            <a:r>
              <a:rPr lang="en-US" sz="1200" b="1">
                <a:ea typeface="+mn-lt"/>
                <a:cs typeface="+mn-lt"/>
              </a:rPr>
              <a:t>Categorical Cross-Entropy - Multi-Class</a:t>
            </a:r>
            <a:endParaRPr lang="en-US" sz="1200">
              <a:ea typeface="+mn-lt"/>
              <a:cs typeface="+mn-lt"/>
            </a:endParaRPr>
          </a:p>
          <a:p>
            <a:pPr marL="0" indent="0">
              <a:buNone/>
            </a:pPr>
            <a:endParaRPr lang="en-US" sz="1200" b="1">
              <a:ea typeface="+mn-lt"/>
              <a:cs typeface="+mn-lt"/>
            </a:endParaRPr>
          </a:p>
          <a:p>
            <a:pPr>
              <a:buNone/>
            </a:pPr>
            <a:r>
              <a:rPr lang="en-US" sz="1200" b="1">
                <a:ea typeface="+mn-lt"/>
                <a:cs typeface="+mn-lt"/>
              </a:rPr>
              <a:t>Derivative</a:t>
            </a:r>
            <a:r>
              <a:rPr lang="en-US" sz="1200">
                <a:ea typeface="+mn-lt"/>
                <a:cs typeface="+mn-lt"/>
              </a:rPr>
              <a:t>: (with soft max)</a:t>
            </a:r>
            <a:endParaRPr lang="en-US"/>
          </a:p>
          <a:p>
            <a:pPr>
              <a:buFont typeface="Arial"/>
              <a:buChar char="•"/>
            </a:pPr>
            <a:r>
              <a:rPr lang="en-US" sz="1200" b="1">
                <a:ea typeface="+mn-lt"/>
                <a:cs typeface="+mn-lt"/>
              </a:rPr>
              <a:t>Use when</a:t>
            </a:r>
            <a:r>
              <a:rPr lang="en-US" sz="1200">
                <a:ea typeface="+mn-lt"/>
                <a:cs typeface="+mn-lt"/>
              </a:rPr>
              <a:t>: Multiple classes (ImageNet 1000 classes)</a:t>
            </a:r>
            <a:endParaRPr lang="en-US"/>
          </a:p>
          <a:p>
            <a:pPr>
              <a:buFont typeface="Arial"/>
              <a:buChar char="•"/>
            </a:pPr>
            <a:r>
              <a:rPr lang="en-US" sz="1200" b="1">
                <a:ea typeface="+mn-lt"/>
                <a:cs typeface="+mn-lt"/>
              </a:rPr>
              <a:t>Magic</a:t>
            </a:r>
            <a:r>
              <a:rPr lang="en-US" sz="1200">
                <a:ea typeface="+mn-lt"/>
                <a:cs typeface="+mn-lt"/>
              </a:rPr>
              <a:t>: Logarithm + soft max → simplest gradient ever!</a:t>
            </a:r>
            <a:endParaRPr lang="en-US"/>
          </a:p>
          <a:p>
            <a:pPr>
              <a:buNone/>
            </a:pPr>
            <a:endParaRPr lang="en-US" sz="1200" b="1"/>
          </a:p>
        </p:txBody>
      </p:sp>
      <p:pic>
        <p:nvPicPr>
          <p:cNvPr id="4" name="Picture 3" descr="Machine learning: an introduction to mean squared error and regression  lines | by Moshe Binieli | We've moved to freeCodeCamp.org/news | Medium">
            <a:extLst>
              <a:ext uri="{FF2B5EF4-FFF2-40B4-BE49-F238E27FC236}">
                <a16:creationId xmlns:a16="http://schemas.microsoft.com/office/drawing/2014/main" id="{B5C473CF-8C86-9F6A-3190-2DDEAA5D1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700" y="1896145"/>
            <a:ext cx="1256094" cy="5113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3908DB-07E3-E9C2-1D0D-1DD101225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150" y="1987908"/>
            <a:ext cx="878715" cy="322509"/>
          </a:xfrm>
          <a:prstGeom prst="rect">
            <a:avLst/>
          </a:prstGeom>
        </p:spPr>
      </p:pic>
      <p:pic>
        <p:nvPicPr>
          <p:cNvPr id="6" name="Picture 5" descr="A black symbols with a plus and a cross&#10;&#10;AI-generated content may be incorrect.">
            <a:extLst>
              <a:ext uri="{FF2B5EF4-FFF2-40B4-BE49-F238E27FC236}">
                <a16:creationId xmlns:a16="http://schemas.microsoft.com/office/drawing/2014/main" id="{5B6E4A24-4E11-13C9-8A23-C87BBA6D27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5628" y="3707077"/>
            <a:ext cx="2355225" cy="429832"/>
          </a:xfrm>
          <a:prstGeom prst="rect">
            <a:avLst/>
          </a:prstGeom>
        </p:spPr>
      </p:pic>
      <p:pic>
        <p:nvPicPr>
          <p:cNvPr id="7" name="Picture 6" descr="A black and white math equation&#10;&#10;AI-generated content may be incorrect.">
            <a:extLst>
              <a:ext uri="{FF2B5EF4-FFF2-40B4-BE49-F238E27FC236}">
                <a16:creationId xmlns:a16="http://schemas.microsoft.com/office/drawing/2014/main" id="{6C97E5E8-ACC2-BABB-EDD2-E6F2947F6E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5594" y="3728356"/>
            <a:ext cx="610137" cy="372951"/>
          </a:xfrm>
          <a:prstGeom prst="rect">
            <a:avLst/>
          </a:prstGeom>
        </p:spPr>
      </p:pic>
      <p:pic>
        <p:nvPicPr>
          <p:cNvPr id="8" name="Picture 7" descr="A mathematical equation with numbers and symbols&#10;&#10;AI-generated content may be incorrect.">
            <a:extLst>
              <a:ext uri="{FF2B5EF4-FFF2-40B4-BE49-F238E27FC236}">
                <a16:creationId xmlns:a16="http://schemas.microsoft.com/office/drawing/2014/main" id="{D9DCC136-0792-B98D-C798-8F0F9C66E6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0684" y="5295630"/>
            <a:ext cx="530718" cy="291386"/>
          </a:xfrm>
          <a:prstGeom prst="rect">
            <a:avLst/>
          </a:prstGeom>
        </p:spPr>
      </p:pic>
      <p:pic>
        <p:nvPicPr>
          <p:cNvPr id="9" name="Picture 8" descr="A black and white math equation&#10;&#10;AI-generated content may be incorrect.">
            <a:extLst>
              <a:ext uri="{FF2B5EF4-FFF2-40B4-BE49-F238E27FC236}">
                <a16:creationId xmlns:a16="http://schemas.microsoft.com/office/drawing/2014/main" id="{5845EF80-EC0C-3D13-F46B-4CAE576722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22494" y="5585894"/>
            <a:ext cx="619125" cy="381000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F17782F-E16C-7F78-B0B2-999D99A62B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4734497"/>
              </p:ext>
            </p:extLst>
          </p:nvPr>
        </p:nvGraphicFramePr>
        <p:xfrm>
          <a:off x="6798591" y="2475253"/>
          <a:ext cx="3824254" cy="1371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847859">
                  <a:extLst>
                    <a:ext uri="{9D8B030D-6E8A-4147-A177-3AD203B41FA5}">
                      <a16:colId xmlns:a16="http://schemas.microsoft.com/office/drawing/2014/main" val="4143242169"/>
                    </a:ext>
                  </a:extLst>
                </a:gridCol>
                <a:gridCol w="1287887">
                  <a:extLst>
                    <a:ext uri="{9D8B030D-6E8A-4147-A177-3AD203B41FA5}">
                      <a16:colId xmlns:a16="http://schemas.microsoft.com/office/drawing/2014/main" val="2337132866"/>
                    </a:ext>
                  </a:extLst>
                </a:gridCol>
                <a:gridCol w="1688508">
                  <a:extLst>
                    <a:ext uri="{9D8B030D-6E8A-4147-A177-3AD203B41FA5}">
                      <a16:colId xmlns:a16="http://schemas.microsoft.com/office/drawing/2014/main" val="29736853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Task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Loss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Why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318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effectLst/>
                        </a:rPr>
                        <a:t>Regression</a:t>
                      </a:r>
                      <a:endParaRPr lang="en-US" sz="80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MSE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Continuous targets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0853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effectLst/>
                        </a:rPr>
                        <a:t>Binary Class</a:t>
                      </a:r>
                      <a:endParaRPr lang="en-US" sz="80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BCE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0/1 probabilities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3065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effectLst/>
                        </a:rPr>
                        <a:t>Multi-Class</a:t>
                      </a:r>
                      <a:endParaRPr lang="en-US" sz="80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Cross-Entropy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Probability distributions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5321292"/>
                  </a:ext>
                </a:extLst>
              </a:tr>
              <a:tr h="239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effectLst/>
                        </a:rPr>
                        <a:t>Never</a:t>
                      </a:r>
                      <a:endParaRPr lang="en-US" sz="80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MSE on classification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Gradients vanish when wrong!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10515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98517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647A7-6DA4-900A-EF92-B364A7DEA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09563"/>
          </a:xfrm>
        </p:spPr>
        <p:txBody>
          <a:bodyPr>
            <a:normAutofit fontScale="90000"/>
          </a:bodyPr>
          <a:lstStyle/>
          <a:p>
            <a:r>
              <a:rPr lang="en-US" sz="3600">
                <a:latin typeface="Aptos"/>
              </a:rPr>
              <a:t>Percep</a:t>
            </a:r>
            <a:r>
              <a:rPr lang="en-US" sz="3600">
                <a:solidFill>
                  <a:srgbClr val="000000"/>
                </a:solidFill>
                <a:latin typeface="Aptos"/>
              </a:rPr>
              <a:t>tron</a:t>
            </a:r>
            <a:r>
              <a:rPr lang="en-US" sz="3600">
                <a:latin typeface="Aptos"/>
              </a:rPr>
              <a:t> to Multi Layered Perceptron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6250F-D489-E7B0-7403-A0EF66459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1625"/>
            <a:ext cx="10515600" cy="576733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1200" b="1">
                <a:ea typeface="+mn-lt"/>
                <a:cs typeface="+mn-lt"/>
              </a:rPr>
              <a:t>Perceptron Crisis: XOR Problem (1969)</a:t>
            </a:r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XOR Truth Table (Single perceptron FAILS):</a:t>
            </a:r>
            <a:endParaRPr lang="en-US"/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x1  x2  | Output</a:t>
            </a:r>
            <a:endParaRPr lang="en-US"/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0   0   | 0    ← Linear boundary impossible</a:t>
            </a:r>
            <a:endParaRPr lang="en-US"/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0   1   | 1</a:t>
            </a:r>
            <a:endParaRPr lang="en-US"/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1   0   | 1</a:t>
            </a:r>
            <a:endParaRPr lang="en-US"/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1   1   | 0</a:t>
            </a:r>
            <a:endParaRPr lang="en-US"/>
          </a:p>
          <a:p>
            <a:pPr marL="0" indent="0">
              <a:buNone/>
            </a:pPr>
            <a:r>
              <a:rPr lang="en-US" sz="1200" b="1">
                <a:ea typeface="+mn-lt"/>
                <a:cs typeface="+mn-lt"/>
              </a:rPr>
              <a:t>Single perceptron = straight line → Cannot solve XOR.</a:t>
            </a:r>
          </a:p>
          <a:p>
            <a:pPr marL="0" indent="0">
              <a:buNone/>
            </a:pPr>
            <a:br>
              <a:rPr lang="en-US" sz="1200" b="1">
                <a:ea typeface="+mn-lt"/>
                <a:cs typeface="+mn-lt"/>
              </a:rPr>
            </a:br>
            <a:r>
              <a:rPr lang="en-US" sz="1200" b="1">
                <a:ea typeface="+mn-lt"/>
                <a:cs typeface="+mn-lt"/>
              </a:rPr>
              <a:t>Multi-Layer Perceptron (MLP) Solution:</a:t>
            </a:r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Input → Hidden Layer(s) → Output</a:t>
            </a:r>
            <a:endParaRPr lang="en-US" sz="800"/>
          </a:p>
          <a:p>
            <a:pPr>
              <a:buNone/>
            </a:pPr>
            <a:r>
              <a:rPr lang="en-US" sz="800">
                <a:ea typeface="+mn-lt"/>
                <a:cs typeface="+mn-lt"/>
              </a:rPr>
              <a:t>x1 ──┐                │</a:t>
            </a:r>
            <a:endParaRPr lang="en-US" sz="800"/>
          </a:p>
          <a:p>
            <a:pPr>
              <a:buNone/>
            </a:pPr>
            <a:r>
              <a:rPr lang="en-US" sz="800">
                <a:ea typeface="+mn-lt"/>
                <a:cs typeface="+mn-lt"/>
              </a:rPr>
              <a:t>x2 ──┼───[Nonlinear]──┼─── y</a:t>
            </a:r>
            <a:endParaRPr lang="en-US" sz="800"/>
          </a:p>
          <a:p>
            <a:pPr>
              <a:buNone/>
            </a:pPr>
            <a:r>
              <a:rPr lang="en-US" sz="800">
                <a:ea typeface="+mn-lt"/>
                <a:cs typeface="+mn-lt"/>
              </a:rPr>
              <a:t>     │                │</a:t>
            </a:r>
            <a:endParaRPr lang="en-US" sz="800"/>
          </a:p>
          <a:p>
            <a:pPr>
              <a:buNone/>
            </a:pPr>
            <a:r>
              <a:rPr lang="en-US" sz="800">
                <a:ea typeface="+mn-lt"/>
                <a:cs typeface="+mn-lt"/>
              </a:rPr>
              <a:t>Bias─┘                └─[Nonlinear]</a:t>
            </a:r>
            <a:endParaRPr lang="en-US" sz="800"/>
          </a:p>
          <a:p>
            <a:pPr>
              <a:buNone/>
            </a:pPr>
            <a:r>
              <a:rPr lang="en-US" sz="1200" b="1">
                <a:ea typeface="+mn-lt"/>
                <a:cs typeface="+mn-lt"/>
              </a:rPr>
              <a:t>MLP Math (2 Hidden Neurons Solve XOR):</a:t>
            </a:r>
            <a:endParaRPr lang="en-US"/>
          </a:p>
          <a:p>
            <a:pPr>
              <a:buNone/>
            </a:pPr>
            <a:r>
              <a:rPr lang="en-US" sz="800" b="1">
                <a:ea typeface="+mn-lt"/>
                <a:cs typeface="+mn-lt"/>
              </a:rPr>
              <a:t>Hidden layer: h1 = </a:t>
            </a:r>
            <a:r>
              <a:rPr lang="en-US" sz="800" b="1" err="1">
                <a:ea typeface="+mn-lt"/>
                <a:cs typeface="+mn-lt"/>
              </a:rPr>
              <a:t>ReLU</a:t>
            </a:r>
            <a:r>
              <a:rPr lang="en-US" sz="800" b="1">
                <a:ea typeface="+mn-lt"/>
                <a:cs typeface="+mn-lt"/>
              </a:rPr>
              <a:t>(w11·x1 + w12·x2 + b1)</a:t>
            </a:r>
            <a:endParaRPr lang="en-US" sz="800" b="1"/>
          </a:p>
          <a:p>
            <a:pPr>
              <a:buNone/>
            </a:pPr>
            <a:r>
              <a:rPr lang="en-US" sz="800" b="1">
                <a:ea typeface="+mn-lt"/>
                <a:cs typeface="+mn-lt"/>
              </a:rPr>
              <a:t>               h2 = </a:t>
            </a:r>
            <a:r>
              <a:rPr lang="en-US" sz="800" b="1" err="1">
                <a:ea typeface="+mn-lt"/>
                <a:cs typeface="+mn-lt"/>
              </a:rPr>
              <a:t>ReLU</a:t>
            </a:r>
            <a:r>
              <a:rPr lang="en-US" sz="800" b="1">
                <a:ea typeface="+mn-lt"/>
                <a:cs typeface="+mn-lt"/>
              </a:rPr>
              <a:t>(w21·x1 + w22·x2 + b2)</a:t>
            </a:r>
            <a:endParaRPr lang="en-US" sz="800" b="1"/>
          </a:p>
          <a:p>
            <a:pPr>
              <a:buNone/>
            </a:pPr>
            <a:r>
              <a:rPr lang="en-US" sz="800" b="1">
                <a:ea typeface="+mn-lt"/>
                <a:cs typeface="+mn-lt"/>
              </a:rPr>
              <a:t>Output:     y  = sigmoid(W1·h1 + W2·h2 + </a:t>
            </a:r>
            <a:r>
              <a:rPr lang="en-US" sz="800" b="1" err="1">
                <a:ea typeface="+mn-lt"/>
                <a:cs typeface="+mn-lt"/>
              </a:rPr>
              <a:t>b_out</a:t>
            </a:r>
            <a:r>
              <a:rPr lang="en-US" sz="800" b="1">
                <a:ea typeface="+mn-lt"/>
                <a:cs typeface="+mn-lt"/>
              </a:rPr>
              <a:t>)</a:t>
            </a:r>
            <a:endParaRPr lang="en-US" sz="800" b="1"/>
          </a:p>
          <a:p>
            <a:pPr>
              <a:buNone/>
            </a:pPr>
            <a:endParaRPr lang="en-US" sz="800" b="1">
              <a:ea typeface="+mn-lt"/>
              <a:cs typeface="+mn-lt"/>
            </a:endParaRPr>
          </a:p>
          <a:p>
            <a:pPr>
              <a:buNone/>
            </a:pPr>
            <a:r>
              <a:rPr lang="en-US" sz="1300" b="1">
                <a:ea typeface="+mn-lt"/>
                <a:cs typeface="+mn-lt"/>
              </a:rPr>
              <a:t>Why Hidden Layers Work ?</a:t>
            </a:r>
            <a:endParaRPr lang="en-US"/>
          </a:p>
          <a:p>
            <a:pPr>
              <a:buNone/>
            </a:pPr>
            <a:r>
              <a:rPr lang="en-US" sz="1200" i="1">
                <a:latin typeface="Lucida Calligraphy"/>
                <a:ea typeface="+mn-lt"/>
                <a:cs typeface="+mn-lt"/>
              </a:rPr>
              <a:t>Single Layer: f(x) = linear → </a:t>
            </a:r>
            <a:r>
              <a:rPr lang="en-US" sz="1200" i="1" err="1">
                <a:latin typeface="Lucida Calligraphy"/>
                <a:ea typeface="+mn-lt"/>
                <a:cs typeface="+mn-lt"/>
              </a:rPr>
              <a:t>w·x</a:t>
            </a:r>
            <a:r>
              <a:rPr lang="en-US" sz="1200" i="1">
                <a:latin typeface="Lucida Calligraphy"/>
                <a:ea typeface="+mn-lt"/>
                <a:cs typeface="+mn-lt"/>
              </a:rPr>
              <a:t> + b</a:t>
            </a:r>
            <a:endParaRPr lang="en-US" i="1">
              <a:latin typeface="Lucida Calligraphy"/>
            </a:endParaRPr>
          </a:p>
          <a:p>
            <a:pPr>
              <a:buNone/>
            </a:pPr>
            <a:r>
              <a:rPr lang="en-US" sz="1200" i="1">
                <a:latin typeface="Lucida Calligraphy"/>
                <a:ea typeface="+mn-lt"/>
                <a:cs typeface="+mn-lt"/>
              </a:rPr>
              <a:t>Two Layers:   f(x) = σ(</a:t>
            </a:r>
            <a:r>
              <a:rPr lang="en-US" sz="1200" i="1" err="1">
                <a:latin typeface="Lucida Calligraphy"/>
                <a:ea typeface="+mn-lt"/>
                <a:cs typeface="+mn-lt"/>
              </a:rPr>
              <a:t>W·σ</a:t>
            </a:r>
            <a:r>
              <a:rPr lang="en-US" sz="1200" i="1">
                <a:latin typeface="Lucida Calligraphy"/>
                <a:ea typeface="+mn-lt"/>
                <a:cs typeface="+mn-lt"/>
              </a:rPr>
              <a:t>(</a:t>
            </a:r>
            <a:r>
              <a:rPr lang="en-US" sz="1200" i="1" err="1">
                <a:latin typeface="Lucida Calligraphy"/>
                <a:ea typeface="+mn-lt"/>
                <a:cs typeface="+mn-lt"/>
              </a:rPr>
              <a:t>w·x</a:t>
            </a:r>
            <a:r>
              <a:rPr lang="en-US" sz="1200" i="1">
                <a:latin typeface="Lucida Calligraphy"/>
                <a:ea typeface="+mn-lt"/>
                <a:cs typeface="+mn-lt"/>
              </a:rPr>
              <a:t> + b) + B)</a:t>
            </a:r>
            <a:endParaRPr lang="en-US" i="1">
              <a:latin typeface="Lucida Calligraphy"/>
            </a:endParaRPr>
          </a:p>
          <a:p>
            <a:pPr>
              <a:buNone/>
            </a:pPr>
            <a:r>
              <a:rPr lang="en-US" sz="1200" i="1">
                <a:latin typeface="Lucida Calligraphy"/>
                <a:ea typeface="+mn-lt"/>
                <a:cs typeface="+mn-lt"/>
              </a:rPr>
              <a:t>= COMPOSITION of nonlinear functions</a:t>
            </a:r>
            <a:endParaRPr lang="en-US" i="1">
              <a:latin typeface="Lucida Calligraphy"/>
            </a:endParaRPr>
          </a:p>
          <a:p>
            <a:pPr>
              <a:buNone/>
            </a:pPr>
            <a:r>
              <a:rPr lang="en-US" sz="1200" i="1">
                <a:latin typeface="Lucida Calligraphy"/>
                <a:ea typeface="+mn-lt"/>
                <a:cs typeface="+mn-lt"/>
              </a:rPr>
              <a:t>→ Infinite expressiveness (Universal Approximation Theorem)</a:t>
            </a:r>
            <a:endParaRPr lang="en-US" i="1">
              <a:latin typeface="Lucida Calligraphy"/>
            </a:endParaRPr>
          </a:p>
          <a:p>
            <a:pPr>
              <a:buNone/>
            </a:pPr>
            <a:endParaRPr lang="en-US" sz="1200">
              <a:ea typeface="+mn-lt"/>
              <a:cs typeface="+mn-lt"/>
            </a:endParaRPr>
          </a:p>
          <a:p>
            <a:pPr>
              <a:buNone/>
            </a:pPr>
            <a:endParaRPr lang="en-US" sz="1200">
              <a:ea typeface="+mn-lt"/>
              <a:cs typeface="+mn-lt"/>
            </a:endParaRPr>
          </a:p>
          <a:p>
            <a:pPr marL="0" indent="0">
              <a:buNone/>
            </a:pPr>
            <a:endParaRPr lang="en-US" sz="1200" b="1">
              <a:ea typeface="+mn-lt"/>
              <a:cs typeface="+mn-lt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3867436-27F9-94E5-9994-61357E9EDA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1217011"/>
              </p:ext>
            </p:extLst>
          </p:nvPr>
        </p:nvGraphicFramePr>
        <p:xfrm>
          <a:off x="5952000" y="4302000"/>
          <a:ext cx="3992346" cy="165556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30782">
                  <a:extLst>
                    <a:ext uri="{9D8B030D-6E8A-4147-A177-3AD203B41FA5}">
                      <a16:colId xmlns:a16="http://schemas.microsoft.com/office/drawing/2014/main" val="1156534885"/>
                    </a:ext>
                  </a:extLst>
                </a:gridCol>
                <a:gridCol w="1330782">
                  <a:extLst>
                    <a:ext uri="{9D8B030D-6E8A-4147-A177-3AD203B41FA5}">
                      <a16:colId xmlns:a16="http://schemas.microsoft.com/office/drawing/2014/main" val="4078789228"/>
                    </a:ext>
                  </a:extLst>
                </a:gridCol>
                <a:gridCol w="1330782">
                  <a:extLst>
                    <a:ext uri="{9D8B030D-6E8A-4147-A177-3AD203B41FA5}">
                      <a16:colId xmlns:a16="http://schemas.microsoft.com/office/drawing/2014/main" val="29441023"/>
                    </a:ext>
                  </a:extLst>
                </a:gridCol>
              </a:tblGrid>
              <a:tr h="19877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Feature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Perceptron (1957)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MLP (1986+)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0708527"/>
                  </a:ext>
                </a:extLst>
              </a:tr>
              <a:tr h="19877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effectLst/>
                        </a:rPr>
                        <a:t>Layers</a:t>
                      </a:r>
                      <a:endParaRPr lang="en-US" sz="80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Input → Output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Input → </a:t>
                      </a:r>
                      <a:r>
                        <a:rPr lang="en-US" sz="800" b="1">
                          <a:effectLst/>
                        </a:rPr>
                        <a:t>Hidden</a:t>
                      </a:r>
                      <a:r>
                        <a:rPr lang="en-US" sz="800">
                          <a:effectLst/>
                        </a:rPr>
                        <a:t> → Output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421068"/>
                  </a:ext>
                </a:extLst>
              </a:tr>
              <a:tr h="19877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effectLst/>
                        </a:rPr>
                        <a:t>Decision Boundary</a:t>
                      </a:r>
                      <a:endParaRPr lang="en-US" sz="80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Straight line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effectLst/>
                        </a:rPr>
                        <a:t>Curved/Complex</a:t>
                      </a:r>
                      <a:endParaRPr lang="en-US" sz="80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985085"/>
                  </a:ext>
                </a:extLst>
              </a:tr>
              <a:tr h="19877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effectLst/>
                        </a:rPr>
                        <a:t>XOR Solution</a:t>
                      </a:r>
                      <a:endParaRPr lang="en-US" sz="80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❌ Impossible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✅ Perfect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3408294"/>
                  </a:ext>
                </a:extLst>
              </a:tr>
              <a:tr h="19877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effectLst/>
                        </a:rPr>
                        <a:t>Training</a:t>
                      </a:r>
                      <a:endParaRPr lang="en-US" sz="80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Perceptron rule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effectLst/>
                        </a:rPr>
                        <a:t>Backpropagation</a:t>
                      </a:r>
                      <a:endParaRPr lang="en-US" sz="80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8488269"/>
                  </a:ext>
                </a:extLst>
              </a:tr>
              <a:tr h="2839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effectLst/>
                        </a:rPr>
                        <a:t>Real Tasks</a:t>
                      </a:r>
                      <a:endParaRPr lang="en-US" sz="80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Basic AND/OR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Images/Speech/Language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0475760"/>
                  </a:ext>
                </a:extLst>
              </a:tr>
            </a:tbl>
          </a:graphicData>
        </a:graphic>
      </p:graphicFrame>
      <p:pic>
        <p:nvPicPr>
          <p:cNvPr id="6" name="Picture 5" descr="A diagram of a diagram of a layer&#10;&#10;AI-generated content may be incorrect.">
            <a:extLst>
              <a:ext uri="{FF2B5EF4-FFF2-40B4-BE49-F238E27FC236}">
                <a16:creationId xmlns:a16="http://schemas.microsoft.com/office/drawing/2014/main" id="{8716D93B-5675-88ED-47BC-F95BD6481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7525" y="1715288"/>
            <a:ext cx="6076950" cy="149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6577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F1411-9BB0-C0D9-B69B-0C685B63A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7563"/>
          </a:xfrm>
        </p:spPr>
        <p:txBody>
          <a:bodyPr>
            <a:normAutofit/>
          </a:bodyPr>
          <a:lstStyle/>
          <a:p>
            <a:r>
              <a:rPr lang="en-US" sz="4000" b="1">
                <a:latin typeface="Aptos"/>
                <a:ea typeface="+mj-lt"/>
                <a:cs typeface="+mj-lt"/>
              </a:rPr>
              <a:t> Backpropagation - The Learning Algorithm</a:t>
            </a:r>
            <a:endParaRPr lang="en-US" sz="4000">
              <a:latin typeface="Apt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77387-B0A0-F26D-766B-6287721AC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3625"/>
            <a:ext cx="10515600" cy="4903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1800" b="1">
                <a:ea typeface="+mn-lt"/>
                <a:cs typeface="+mn-lt"/>
              </a:rPr>
              <a:t>How neural networks actually learn ?</a:t>
            </a:r>
            <a:endParaRPr lang="en-US" sz="1800">
              <a:ea typeface="+mn-lt"/>
              <a:cs typeface="+mn-lt"/>
            </a:endParaRPr>
          </a:p>
          <a:p>
            <a:pPr>
              <a:buNone/>
            </a:pPr>
            <a:r>
              <a:rPr lang="en-US" sz="1400">
                <a:ea typeface="+mn-lt"/>
                <a:cs typeface="+mn-lt"/>
              </a:rPr>
              <a:t>Learning Representations through Back Propagating Errors </a:t>
            </a:r>
            <a:r>
              <a:rPr lang="en-US" sz="1400" b="1">
                <a:ea typeface="+mn-lt"/>
                <a:cs typeface="+mn-lt"/>
              </a:rPr>
              <a:t>(Rumelhart, Hinton, Williams 1986).</a:t>
            </a:r>
            <a:endParaRPr lang="en-US" sz="1400">
              <a:ea typeface="+mn-lt"/>
              <a:cs typeface="+mn-lt"/>
            </a:endParaRPr>
          </a:p>
          <a:p>
            <a:pPr>
              <a:buNone/>
            </a:pPr>
            <a:endParaRPr lang="en-US" sz="1200" b="1">
              <a:ea typeface="+mn-lt"/>
              <a:cs typeface="+mn-lt"/>
            </a:endParaRPr>
          </a:p>
          <a:p>
            <a:pPr>
              <a:buNone/>
            </a:pPr>
            <a:endParaRPr lang="en-US" sz="1200">
              <a:ea typeface="+mn-lt"/>
              <a:cs typeface="+mn-lt"/>
            </a:endParaRPr>
          </a:p>
          <a:p>
            <a:pPr>
              <a:buNone/>
            </a:pPr>
            <a:r>
              <a:rPr lang="en-US" sz="1200" b="1">
                <a:ea typeface="+mn-lt"/>
                <a:cs typeface="+mn-lt"/>
              </a:rPr>
              <a:t>4-Step Training Cycle:</a:t>
            </a:r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1. Forward Pass: x → Hidden → ŷ</a:t>
            </a:r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2. Loss: L = (y - ŷ)²</a:t>
            </a:r>
            <a:endParaRPr lang="en-US"/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3. Backward Pass: ∂L/∂w ← Chain Rule Magic</a:t>
            </a:r>
            <a:endParaRPr lang="en-US"/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4. Update: w = w - η × ∂L/∂w</a:t>
            </a:r>
            <a:endParaRPr lang="en-US"/>
          </a:p>
          <a:p>
            <a:pPr>
              <a:buNone/>
            </a:pPr>
            <a:endParaRPr lang="en-US" sz="1200">
              <a:ea typeface="+mn-lt"/>
              <a:cs typeface="+mn-lt"/>
            </a:endParaRPr>
          </a:p>
          <a:p>
            <a:pPr>
              <a:buNone/>
            </a:pPr>
            <a:r>
              <a:rPr lang="en-US" sz="1200" b="1">
                <a:ea typeface="+mn-lt"/>
                <a:cs typeface="+mn-lt"/>
              </a:rPr>
              <a:t>Chain Rule Makes It Possible:                                               Why Backprop Revolutionized AI::  </a:t>
            </a:r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Loss L depends on output ŷ</a:t>
            </a:r>
            <a:endParaRPr lang="en-US"/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ŷ depends on z2 = W2·h + b2  </a:t>
            </a:r>
            <a:endParaRPr lang="en-US"/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h depends on z1 = W1·x + b1</a:t>
            </a:r>
            <a:endParaRPr lang="en-US"/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∂L/∂W1 = ∂L/∂ŷ × ∂ŷ/∂z2 × ∂z2/∂h × ∂h/∂z1 × ∂z1/∂W1</a:t>
            </a:r>
            <a:endParaRPr lang="en-US"/>
          </a:p>
          <a:p>
            <a:pPr>
              <a:buNone/>
            </a:pPr>
            <a:endParaRPr lang="en-US" sz="1200" b="1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BA95051-41A0-402D-D381-B7D2C2AF13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2446655"/>
              </p:ext>
            </p:extLst>
          </p:nvPr>
        </p:nvGraphicFramePr>
        <p:xfrm>
          <a:off x="5154000" y="4626000"/>
          <a:ext cx="3255403" cy="124537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7800">
                  <a:extLst>
                    <a:ext uri="{9D8B030D-6E8A-4147-A177-3AD203B41FA5}">
                      <a16:colId xmlns:a16="http://schemas.microsoft.com/office/drawing/2014/main" val="3022697072"/>
                    </a:ext>
                  </a:extLst>
                </a:gridCol>
                <a:gridCol w="1805266">
                  <a:extLst>
                    <a:ext uri="{9D8B030D-6E8A-4147-A177-3AD203B41FA5}">
                      <a16:colId xmlns:a16="http://schemas.microsoft.com/office/drawing/2014/main" val="3077939952"/>
                    </a:ext>
                  </a:extLst>
                </a:gridCol>
                <a:gridCol w="1272337">
                  <a:extLst>
                    <a:ext uri="{9D8B030D-6E8A-4147-A177-3AD203B41FA5}">
                      <a16:colId xmlns:a16="http://schemas.microsoft.com/office/drawing/2014/main" val="3796360232"/>
                    </a:ext>
                  </a:extLst>
                </a:gridCol>
              </a:tblGrid>
              <a:tr h="280819">
                <a:tc>
                  <a:txBody>
                    <a:bodyPr/>
                    <a:lstStyle/>
                    <a:p>
                      <a:pPr lvl="0" algn="l">
                        <a:lnSpc>
                          <a:spcPts val="975"/>
                        </a:lnSpc>
                        <a:buNone/>
                      </a:pPr>
                      <a:endParaRPr lang="en-US" sz="800" b="0" i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76200" marR="76200" marT="76200" marB="76200" anchor="ctr">
                    <a:lnL w="9524">
                      <a:solidFill>
                        <a:srgbClr val="DDDDDD"/>
                      </a:solidFill>
                    </a:lnL>
                    <a:lnR w="9524">
                      <a:solidFill>
                        <a:srgbClr val="DDDDDD"/>
                      </a:solidFill>
                    </a:lnR>
                    <a:lnT w="9524">
                      <a:solidFill>
                        <a:srgbClr val="DDDDDD"/>
                      </a:solidFill>
                    </a:lnT>
                    <a:lnB w="9524">
                      <a:solidFill>
                        <a:srgbClr val="DDDDDD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975"/>
                        </a:lnSpc>
                        <a:buNone/>
                      </a:pPr>
                      <a:r>
                        <a:rPr lang="en-US" sz="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Before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0" marR="76200" marT="76200" marB="76200" anchor="ctr">
                    <a:lnL w="952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975"/>
                        </a:lnSpc>
                        <a:buNone/>
                      </a:pPr>
                      <a:r>
                        <a:rPr lang="en-US" sz="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After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131555"/>
                  </a:ext>
                </a:extLst>
              </a:tr>
              <a:tr h="402914">
                <a:tc>
                  <a:txBody>
                    <a:bodyPr/>
                    <a:lstStyle/>
                    <a:p>
                      <a:pPr lvl="0" algn="l">
                        <a:lnSpc>
                          <a:spcPts val="975"/>
                        </a:lnSpc>
                        <a:buNone/>
                      </a:pPr>
                      <a:endParaRPr lang="en-US" sz="800" b="0" i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76200" marR="76200" marT="76200" marB="76200" anchor="ctr">
                    <a:lnL w="9524">
                      <a:solidFill>
                        <a:srgbClr val="DDDDDD"/>
                      </a:solidFill>
                    </a:lnL>
                    <a:lnR w="9524">
                      <a:solidFill>
                        <a:srgbClr val="DDDDDD"/>
                      </a:solidFill>
                    </a:lnR>
                    <a:lnT w="9524">
                      <a:solidFill>
                        <a:srgbClr val="DDDDDD"/>
                      </a:solidFill>
                    </a:lnT>
                    <a:lnB w="9524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975"/>
                        </a:lnSpc>
                        <a:buNone/>
                      </a:pPr>
                      <a:r>
                        <a:rPr lang="en-US" sz="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Manual weight tweaking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0" marR="76200" marT="76200" marB="76200" anchor="ctr">
                    <a:lnL w="952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975"/>
                        </a:lnSpc>
                        <a:buNone/>
                      </a:pP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Automatic gradient computation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1496084"/>
                  </a:ext>
                </a:extLst>
              </a:tr>
              <a:tr h="280819">
                <a:tc>
                  <a:txBody>
                    <a:bodyPr/>
                    <a:lstStyle/>
                    <a:p>
                      <a:pPr lvl="0" algn="l">
                        <a:lnSpc>
                          <a:spcPts val="975"/>
                        </a:lnSpc>
                        <a:buNone/>
                      </a:pPr>
                      <a:endParaRPr lang="en-US" sz="800" b="0" i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76200" marR="76200" marT="76200" marB="76200" anchor="ctr">
                    <a:lnL w="9524">
                      <a:solidFill>
                        <a:srgbClr val="DDDDDD"/>
                      </a:solidFill>
                    </a:lnL>
                    <a:lnR w="9524">
                      <a:solidFill>
                        <a:srgbClr val="DDDDDD"/>
                      </a:solidFill>
                    </a:lnR>
                    <a:lnT w="9524">
                      <a:solidFill>
                        <a:srgbClr val="DDDDDD"/>
                      </a:solidFill>
                    </a:lnT>
                    <a:lnB w="9524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975"/>
                        </a:lnSpc>
                        <a:buNone/>
                      </a:pPr>
                      <a:r>
                        <a:rPr lang="en-US" sz="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2-3 layers max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0" marR="76200" marT="76200" marB="76200" anchor="ctr">
                    <a:lnL w="952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975"/>
                        </a:lnSpc>
                        <a:buNone/>
                      </a:pP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100s of layers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8455498"/>
                  </a:ext>
                </a:extLst>
              </a:tr>
              <a:tr h="280819">
                <a:tc>
                  <a:txBody>
                    <a:bodyPr/>
                    <a:lstStyle/>
                    <a:p>
                      <a:pPr lvl="0" algn="l">
                        <a:lnSpc>
                          <a:spcPts val="975"/>
                        </a:lnSpc>
                        <a:buNone/>
                      </a:pPr>
                      <a:endParaRPr lang="en-US" sz="800" b="0" i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76200" marR="76200" marT="76200" marB="76200" anchor="ctr">
                    <a:lnL w="9524">
                      <a:solidFill>
                        <a:srgbClr val="DDDDDD"/>
                      </a:solidFill>
                    </a:lnL>
                    <a:lnR w="9524">
                      <a:solidFill>
                        <a:srgbClr val="DDDDDD"/>
                      </a:solidFill>
                    </a:lnR>
                    <a:lnT w="9524">
                      <a:solidFill>
                        <a:srgbClr val="DDDDDD"/>
                      </a:solidFill>
                    </a:lnT>
                    <a:lnB w="9524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975"/>
                        </a:lnSpc>
                        <a:buNone/>
                      </a:pPr>
                      <a:r>
                        <a:rPr lang="en-US" sz="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Days of computation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0" marR="76200" marT="76200" marB="76200" anchor="ctr">
                    <a:lnL w="952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975"/>
                        </a:lnSpc>
                        <a:buNone/>
                      </a:pPr>
                      <a:r>
                        <a:rPr lang="en-US" sz="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Seconds per batch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75952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04967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115719BB-48A7-4AF4-BB91-DC82E0DF7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2" name="Freeform: Shape 31">
            <a:extLst>
              <a:ext uri="{FF2B5EF4-FFF2-40B4-BE49-F238E27FC236}">
                <a16:creationId xmlns:a16="http://schemas.microsoft.com/office/drawing/2014/main" id="{10973A55-5440-4A99-B526-B5812E462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096002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4" name="Freeform: Shape 33">
            <a:extLst>
              <a:ext uri="{FF2B5EF4-FFF2-40B4-BE49-F238E27FC236}">
                <a16:creationId xmlns:a16="http://schemas.microsoft.com/office/drawing/2014/main" id="{A9682493-588A-4D52-98F6-FBBD80C07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5370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343CD4-F6AB-1D9B-B452-D976F252E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3" y="859536"/>
            <a:ext cx="4832802" cy="1170432"/>
          </a:xfrm>
        </p:spPr>
        <p:txBody>
          <a:bodyPr anchor="b">
            <a:normAutofit/>
          </a:bodyPr>
          <a:lstStyle/>
          <a:p>
            <a:r>
              <a:rPr lang="en-US" sz="3400"/>
              <a:t>Back Propagation Example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BEC5A7A-ADE4-48D9-B89C-2BA1C9110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03236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92" y="2185062"/>
            <a:ext cx="49377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2197D-DB6C-A614-9DA4-684C21DBB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912" y="2512611"/>
            <a:ext cx="4832803" cy="366435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 sz="700"/>
          </a:p>
          <a:p>
            <a:pPr marL="0" indent="0">
              <a:buNone/>
            </a:pPr>
            <a:r>
              <a:rPr lang="en-US" sz="700" b="1"/>
              <a:t>Binary Classification</a:t>
            </a:r>
          </a:p>
          <a:p>
            <a:pPr marL="0" indent="0">
              <a:buNone/>
            </a:pPr>
            <a:r>
              <a:rPr lang="en-US" sz="700"/>
              <a:t>Inputs: [x1, x2] = [0.5, 0.3];</a:t>
            </a:r>
          </a:p>
          <a:p>
            <a:pPr marL="0" indent="0">
              <a:buNone/>
            </a:pPr>
            <a:r>
              <a:rPr lang="en-US" sz="700"/>
              <a:t>Weights: [W1, W2] = [0.15,0.20];</a:t>
            </a:r>
          </a:p>
          <a:p>
            <a:pPr marL="0" indent="0">
              <a:buNone/>
            </a:pPr>
            <a:r>
              <a:rPr lang="en-US" sz="700"/>
              <a:t>Bias, b= 0.35; Learning Rate, n = 0.5; Actual Output y = 1</a:t>
            </a:r>
          </a:p>
          <a:p>
            <a:pPr marL="0" indent="0">
              <a:buNone/>
            </a:pPr>
            <a:r>
              <a:rPr lang="en-US" sz="700" b="1">
                <a:ea typeface="+mn-lt"/>
                <a:cs typeface="+mn-lt"/>
              </a:rPr>
              <a:t>Forward Pass:</a:t>
            </a:r>
          </a:p>
          <a:p>
            <a:pPr marL="0" indent="0">
              <a:buNone/>
            </a:pPr>
            <a:r>
              <a:rPr lang="en-US" sz="700">
                <a:ea typeface="+mn-lt"/>
                <a:cs typeface="+mn-lt"/>
              </a:rPr>
              <a:t>z= x1w1 + x2w2 + b</a:t>
            </a:r>
          </a:p>
          <a:p>
            <a:pPr>
              <a:buNone/>
            </a:pPr>
            <a:r>
              <a:rPr lang="en-US" sz="700">
                <a:ea typeface="+mn-lt"/>
                <a:cs typeface="+mn-lt"/>
              </a:rPr>
              <a:t>z = (0.15)(0.5) + (0.20)(0.3) + 0.35</a:t>
            </a:r>
            <a:endParaRPr lang="en-US" sz="700"/>
          </a:p>
          <a:p>
            <a:pPr>
              <a:buNone/>
            </a:pPr>
            <a:r>
              <a:rPr lang="en-US" sz="700">
                <a:ea typeface="+mn-lt"/>
                <a:cs typeface="+mn-lt"/>
              </a:rPr>
              <a:t>z = 0.075 + 0.06 + 0.35</a:t>
            </a:r>
            <a:endParaRPr lang="en-US" sz="700"/>
          </a:p>
          <a:p>
            <a:pPr>
              <a:buNone/>
            </a:pPr>
            <a:r>
              <a:rPr lang="en-US" sz="700">
                <a:ea typeface="+mn-lt"/>
                <a:cs typeface="+mn-lt"/>
              </a:rPr>
              <a:t>z = 0.485</a:t>
            </a:r>
            <a:endParaRPr lang="en-US" sz="700"/>
          </a:p>
          <a:p>
            <a:pPr>
              <a:buNone/>
            </a:pPr>
            <a:r>
              <a:rPr lang="en-US" sz="700" b="1">
                <a:ea typeface="+mn-lt"/>
                <a:cs typeface="+mn-lt"/>
              </a:rPr>
              <a:t>Sigmoid Activation</a:t>
            </a:r>
            <a:endParaRPr lang="en-US" sz="700" b="1"/>
          </a:p>
          <a:p>
            <a:pPr>
              <a:buNone/>
            </a:pPr>
            <a:r>
              <a:rPr lang="en-US" sz="700">
                <a:ea typeface="+mn-lt"/>
                <a:cs typeface="+mn-lt"/>
              </a:rPr>
              <a:t>F(z) = 1 + 1/ e^(-z) =  1 + 1/e^(-0.485) = ~0.619</a:t>
            </a:r>
          </a:p>
          <a:p>
            <a:pPr>
              <a:buNone/>
            </a:pPr>
            <a:r>
              <a:rPr lang="en-US" sz="700"/>
              <a:t> </a:t>
            </a:r>
            <a:r>
              <a:rPr lang="en-US" sz="700">
                <a:ea typeface="+mn-lt"/>
                <a:cs typeface="+mn-lt"/>
              </a:rPr>
              <a:t>Prediction ==&gt; ŷ ≈ 0.619;  Target ==&gt;  y = 1</a:t>
            </a:r>
          </a:p>
          <a:p>
            <a:pPr>
              <a:buNone/>
            </a:pPr>
            <a:r>
              <a:rPr lang="en-US" sz="700" b="1">
                <a:ea typeface="+mn-lt"/>
                <a:cs typeface="+mn-lt"/>
              </a:rPr>
              <a:t>Loss Function</a:t>
            </a:r>
            <a:endParaRPr lang="en-US" sz="700" b="1"/>
          </a:p>
          <a:p>
            <a:pPr>
              <a:buNone/>
            </a:pPr>
            <a:r>
              <a:rPr lang="en-US" sz="700">
                <a:ea typeface="+mn-lt"/>
                <a:cs typeface="+mn-lt"/>
              </a:rPr>
              <a:t>L = ½(y - ŷ)²</a:t>
            </a:r>
            <a:endParaRPr lang="en-US" sz="700"/>
          </a:p>
          <a:p>
            <a:pPr>
              <a:buNone/>
            </a:pPr>
            <a:r>
              <a:rPr lang="en-US" sz="700">
                <a:ea typeface="+mn-lt"/>
                <a:cs typeface="+mn-lt"/>
              </a:rPr>
              <a:t>L = ½(1 - 0.619)² ==&gt; L = 0.0726.</a:t>
            </a:r>
          </a:p>
          <a:p>
            <a:pPr marL="0" indent="0">
              <a:buNone/>
            </a:pPr>
            <a:endParaRPr lang="en-US" sz="700">
              <a:ea typeface="+mn-lt"/>
              <a:cs typeface="+mn-lt"/>
            </a:endParaRPr>
          </a:p>
        </p:txBody>
      </p:sp>
      <p:pic>
        <p:nvPicPr>
          <p:cNvPr id="8" name="Picture 7" descr="A screenshot of a diagram&#10;&#10;AI-generated content may be incorrect.">
            <a:extLst>
              <a:ext uri="{FF2B5EF4-FFF2-40B4-BE49-F238E27FC236}">
                <a16:creationId xmlns:a16="http://schemas.microsoft.com/office/drawing/2014/main" id="{3A50DDF7-C58A-A266-6573-63748D557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8165" y="517600"/>
            <a:ext cx="2569109" cy="3487200"/>
          </a:xfrm>
          <a:prstGeom prst="rect">
            <a:avLst/>
          </a:prstGeom>
        </p:spPr>
      </p:pic>
      <p:pic>
        <p:nvPicPr>
          <p:cNvPr id="6" name="Picture 5" descr="A black arrows pointing to a circle with a white circle with black letters&#10;&#10;AI-generated content may be incorrect.">
            <a:extLst>
              <a:ext uri="{FF2B5EF4-FFF2-40B4-BE49-F238E27FC236}">
                <a16:creationId xmlns:a16="http://schemas.microsoft.com/office/drawing/2014/main" id="{1CF0BD48-1192-3388-BA4F-5D8B2C38DB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6256" y="4343948"/>
            <a:ext cx="5138928" cy="1657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604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6AC55-17B5-DF89-ABA4-2C423DE93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3563"/>
          </a:xfrm>
        </p:spPr>
        <p:txBody>
          <a:bodyPr/>
          <a:lstStyle/>
          <a:p>
            <a:r>
              <a:rPr lang="en-US"/>
              <a:t>Back Prop : Numerical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FB52C-CC41-A4A6-FD26-784A2556B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7625"/>
            <a:ext cx="10515600" cy="5593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400" b="1">
                <a:ea typeface="+mn-lt"/>
                <a:cs typeface="+mn-lt"/>
              </a:rPr>
              <a:t>Compute Error Signal (δ): Backprop begins by computing the error signal.</a:t>
            </a:r>
            <a:endParaRPr lang="en-US" sz="1400" b="1"/>
          </a:p>
          <a:p>
            <a:pPr>
              <a:buNone/>
            </a:pPr>
            <a:r>
              <a:rPr lang="en-US" sz="1200" b="1">
                <a:ea typeface="+mn-lt"/>
                <a:cs typeface="+mn-lt"/>
              </a:rPr>
              <a:t>Chain rule</a:t>
            </a:r>
            <a:endParaRPr lang="en-US" sz="1200" b="1"/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∂L/∂z = ∂L/∂ŷ · ∂ŷ/∂z</a:t>
            </a:r>
            <a:endParaRPr lang="en-US" sz="1200"/>
          </a:p>
          <a:p>
            <a:pPr>
              <a:buNone/>
            </a:pPr>
            <a:r>
              <a:rPr lang="en-US" sz="1200" b="1">
                <a:ea typeface="+mn-lt"/>
                <a:cs typeface="+mn-lt"/>
              </a:rPr>
              <a:t>Derivative of loss:</a:t>
            </a:r>
            <a:endParaRPr lang="en-US" sz="1200" b="1"/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∂L/∂ŷ = (ŷ - y) =&gt;</a:t>
            </a:r>
            <a:r>
              <a:rPr lang="en-US" sz="1200"/>
              <a:t> </a:t>
            </a:r>
            <a:r>
              <a:rPr lang="en-US" sz="1200">
                <a:ea typeface="+mn-lt"/>
                <a:cs typeface="+mn-lt"/>
              </a:rPr>
              <a:t>= 0.619 - 1 = = -0.381.</a:t>
            </a:r>
          </a:p>
          <a:p>
            <a:pPr>
              <a:buNone/>
            </a:pPr>
            <a:r>
              <a:rPr lang="en-US" sz="1200" b="1">
                <a:ea typeface="+mn-lt"/>
                <a:cs typeface="+mn-lt"/>
              </a:rPr>
              <a:t>Derivative of sigmoid</a:t>
            </a:r>
            <a:endParaRPr lang="en-US" sz="1200" b="1"/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∂ŷ/∂z = ŷ(1-ŷ) =&gt; = 0.2358</a:t>
            </a:r>
          </a:p>
          <a:p>
            <a:pPr>
              <a:buNone/>
            </a:pPr>
            <a:r>
              <a:rPr lang="en-US" sz="1200" b="1"/>
              <a:t>Error Signal (δ)</a:t>
            </a:r>
          </a:p>
          <a:p>
            <a:pPr>
              <a:buNone/>
            </a:pPr>
            <a:r>
              <a:rPr lang="en-US" sz="1200" b="1">
                <a:ea typeface="+mn-lt"/>
                <a:cs typeface="+mn-lt"/>
              </a:rPr>
              <a:t>Now compute</a:t>
            </a:r>
            <a:endParaRPr lang="en-US" sz="1200" b="1"/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δ = ∂L/∂z; δ = (ŷ - y) · ŷ(1-ŷ); 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δ = (-0.381)(0.2358) ==&gt; δ = -0.0898.</a:t>
            </a:r>
          </a:p>
          <a:p>
            <a:pPr>
              <a:buNone/>
            </a:pPr>
            <a:r>
              <a:rPr lang="en-US" sz="1200" b="1">
                <a:ea typeface="+mn-lt"/>
                <a:cs typeface="+mn-lt"/>
              </a:rPr>
              <a:t>Gradients for Weights:</a:t>
            </a:r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z = w1x1 + w2x2 + b</a:t>
            </a:r>
            <a:endParaRPr lang="en-US"/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Therefore</a:t>
            </a:r>
            <a:endParaRPr lang="en-US"/>
          </a:p>
          <a:p>
            <a:pPr>
              <a:buNone/>
            </a:pPr>
            <a:r>
              <a:rPr lang="en-US" sz="1200" b="1">
                <a:latin typeface="Aptos"/>
              </a:rPr>
              <a:t>∂z/∂w1 = x1 ; ∂z/∂w2 = x2</a:t>
            </a:r>
          </a:p>
          <a:p>
            <a:pPr>
              <a:buNone/>
            </a:pPr>
            <a:r>
              <a:rPr lang="en-US" sz="1200" b="1">
                <a:latin typeface="Aptos"/>
              </a:rPr>
              <a:t>Using chain rule</a:t>
            </a:r>
          </a:p>
          <a:p>
            <a:pPr>
              <a:buNone/>
            </a:pPr>
            <a:r>
              <a:rPr lang="en-US" sz="1200">
                <a:latin typeface="Aptos"/>
              </a:rPr>
              <a:t>∂L/∂w1 = δ · x1</a:t>
            </a:r>
          </a:p>
          <a:p>
            <a:pPr>
              <a:buNone/>
            </a:pPr>
            <a:r>
              <a:rPr lang="en-US" sz="1200">
                <a:latin typeface="Aptos"/>
              </a:rPr>
              <a:t>∂L/∂w2 = δ · x2</a:t>
            </a:r>
          </a:p>
        </p:txBody>
      </p:sp>
      <p:pic>
        <p:nvPicPr>
          <p:cNvPr id="4" name="Picture 3" descr="A screenshot of a diagram&#10;&#10;AI-generated content may be incorrect.">
            <a:extLst>
              <a:ext uri="{FF2B5EF4-FFF2-40B4-BE49-F238E27FC236}">
                <a16:creationId xmlns:a16="http://schemas.microsoft.com/office/drawing/2014/main" id="{5BA4B9AF-6086-899B-190D-EB14F4045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815" y="2034000"/>
            <a:ext cx="2904369" cy="39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2193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2FB80-BD78-38AE-F057-459755BB8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3563"/>
          </a:xfrm>
        </p:spPr>
        <p:txBody>
          <a:bodyPr>
            <a:normAutofit/>
          </a:bodyPr>
          <a:lstStyle/>
          <a:p>
            <a:r>
              <a:rPr lang="en-US" sz="3200"/>
              <a:t>Back Prop : Weight Updates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22B6A-7105-2553-F21B-35DEFE48F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7625"/>
            <a:ext cx="10515600" cy="523933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None/>
            </a:pPr>
            <a:endParaRPr lang="en-US" sz="1200"/>
          </a:p>
          <a:p>
            <a:pPr>
              <a:buNone/>
            </a:pPr>
            <a:r>
              <a:rPr lang="en-US" sz="1200" b="1"/>
              <a:t>Gradient for w1</a:t>
            </a:r>
          </a:p>
          <a:p>
            <a:pPr>
              <a:buNone/>
            </a:pPr>
            <a:r>
              <a:rPr lang="en-US" sz="1200">
                <a:latin typeface="Aptos"/>
              </a:rPr>
              <a:t>∂L/∂w1 = (-0.0898)(0.5) = -0.0449</a:t>
            </a:r>
          </a:p>
          <a:p>
            <a:pPr>
              <a:buNone/>
            </a:pPr>
            <a:r>
              <a:rPr lang="en-US" sz="1200" b="1"/>
              <a:t>Gradient for w2</a:t>
            </a:r>
          </a:p>
          <a:p>
            <a:pPr>
              <a:buNone/>
            </a:pPr>
            <a:r>
              <a:rPr lang="en-US" sz="1200">
                <a:latin typeface="Aptos"/>
              </a:rPr>
              <a:t>∂L/∂w2 = (-0.0898)(0.3) = -0.0269</a:t>
            </a:r>
          </a:p>
          <a:p>
            <a:pPr>
              <a:buNone/>
            </a:pPr>
            <a:r>
              <a:rPr lang="en-US" sz="1200" b="1"/>
              <a:t>Gradient for Bias</a:t>
            </a:r>
          </a:p>
          <a:p>
            <a:pPr>
              <a:buNone/>
            </a:pPr>
            <a:r>
              <a:rPr lang="en-US" sz="1200">
                <a:latin typeface="Aptos"/>
              </a:rPr>
              <a:t>∂L/∂b = δ = -0.0898</a:t>
            </a:r>
          </a:p>
          <a:p>
            <a:pPr>
              <a:buNone/>
            </a:pPr>
            <a:r>
              <a:rPr lang="en-US" sz="1200" b="1"/>
              <a:t>Weight Updates</a:t>
            </a:r>
          </a:p>
          <a:p>
            <a:pPr>
              <a:buNone/>
            </a:pPr>
            <a:r>
              <a:rPr lang="en-US" sz="1200" b="1">
                <a:ea typeface="+mn-lt"/>
                <a:cs typeface="+mn-lt"/>
              </a:rPr>
              <a:t>Gradient Descent update rule</a:t>
            </a:r>
            <a:endParaRPr lang="en-US" sz="1200" b="1"/>
          </a:p>
          <a:p>
            <a:pPr>
              <a:buNone/>
            </a:pPr>
            <a:r>
              <a:rPr lang="en-US" sz="1200" err="1">
                <a:latin typeface="Aptos"/>
              </a:rPr>
              <a:t>w_new</a:t>
            </a:r>
            <a:r>
              <a:rPr lang="en-US" sz="1200">
                <a:latin typeface="Aptos"/>
              </a:rPr>
              <a:t> = w - η ∂L/∂w</a:t>
            </a:r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Learning rate; </a:t>
            </a:r>
            <a:r>
              <a:rPr lang="en-US" sz="1200">
                <a:latin typeface="Aptos"/>
                <a:ea typeface="+mn-lt"/>
                <a:cs typeface="+mn-lt"/>
              </a:rPr>
              <a:t>η</a:t>
            </a:r>
            <a:r>
              <a:rPr lang="en-US" sz="1200">
                <a:latin typeface="Aptos"/>
              </a:rPr>
              <a:t> = 0.5</a:t>
            </a:r>
          </a:p>
          <a:p>
            <a:pPr>
              <a:buNone/>
            </a:pPr>
            <a:r>
              <a:rPr lang="en-US" sz="1200" b="1"/>
              <a:t>Update w1</a:t>
            </a:r>
          </a:p>
          <a:p>
            <a:pPr>
              <a:buNone/>
            </a:pPr>
            <a:r>
              <a:rPr lang="en-US" sz="1200">
                <a:latin typeface="Aptos"/>
              </a:rPr>
              <a:t>w1_new = 0.15 - 0.5(-0.0449)</a:t>
            </a:r>
          </a:p>
          <a:p>
            <a:pPr>
              <a:buNone/>
            </a:pPr>
            <a:r>
              <a:rPr lang="en-US" sz="1200">
                <a:latin typeface="Aptos"/>
              </a:rPr>
              <a:t>w1_new = 0.15 + 0.02245 = 0.17245</a:t>
            </a:r>
          </a:p>
          <a:p>
            <a:pPr>
              <a:buNone/>
            </a:pPr>
            <a:r>
              <a:rPr lang="en-US" sz="1200" b="1"/>
              <a:t>Update w2</a:t>
            </a:r>
          </a:p>
          <a:p>
            <a:pPr>
              <a:buNone/>
            </a:pPr>
            <a:r>
              <a:rPr lang="en-US" sz="1200">
                <a:latin typeface="Aptos"/>
              </a:rPr>
              <a:t>w2_new = 0.20 - 0.5(-0.0269)</a:t>
            </a:r>
          </a:p>
          <a:p>
            <a:pPr>
              <a:buNone/>
            </a:pPr>
            <a:r>
              <a:rPr lang="en-US" sz="1200">
                <a:latin typeface="Aptos"/>
              </a:rPr>
              <a:t>w2_new = 0.20 + 0.01345 = 0.21345</a:t>
            </a:r>
          </a:p>
          <a:p>
            <a:pPr>
              <a:buNone/>
            </a:pPr>
            <a:r>
              <a:rPr lang="en-US" sz="1200" b="1"/>
              <a:t>Update Bias</a:t>
            </a:r>
          </a:p>
          <a:p>
            <a:pPr>
              <a:buNone/>
            </a:pPr>
            <a:r>
              <a:rPr lang="en-US" sz="1200" err="1">
                <a:latin typeface="Aptos"/>
              </a:rPr>
              <a:t>b_new</a:t>
            </a:r>
            <a:r>
              <a:rPr lang="en-US" sz="1200">
                <a:latin typeface="Aptos"/>
              </a:rPr>
              <a:t> = 0.35 - 0.5(-0.0898)</a:t>
            </a:r>
          </a:p>
          <a:p>
            <a:pPr>
              <a:buNone/>
            </a:pPr>
            <a:r>
              <a:rPr lang="en-US" sz="1200" err="1">
                <a:latin typeface="Aptos"/>
              </a:rPr>
              <a:t>b_new</a:t>
            </a:r>
            <a:r>
              <a:rPr lang="en-US" sz="1200">
                <a:latin typeface="Aptos"/>
              </a:rPr>
              <a:t> = 0.35 + 0.0449 = 0.3949</a:t>
            </a:r>
            <a:endParaRPr lang="en-US">
              <a:latin typeface="Aptos"/>
            </a:endParaRPr>
          </a:p>
          <a:p>
            <a:pPr>
              <a:buNone/>
            </a:pPr>
            <a:endParaRPr lang="en-US" sz="1200">
              <a:latin typeface="Consolas"/>
            </a:endParaRPr>
          </a:p>
          <a:p>
            <a:pPr marL="0" indent="0">
              <a:buNone/>
            </a:pPr>
            <a:endParaRPr lang="en-US" sz="1200"/>
          </a:p>
        </p:txBody>
      </p:sp>
      <p:pic>
        <p:nvPicPr>
          <p:cNvPr id="6" name="Picture 5" descr="A screenshot of a diagram&#10;&#10;AI-generated content may be incorrect.">
            <a:extLst>
              <a:ext uri="{FF2B5EF4-FFF2-40B4-BE49-F238E27FC236}">
                <a16:creationId xmlns:a16="http://schemas.microsoft.com/office/drawing/2014/main" id="{DE009CA5-6BC1-2FD9-EB8B-600666182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5815" y="1338000"/>
            <a:ext cx="2904369" cy="39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3596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AA-5750 Contemporary Issues in Analytics</vt:lpstr>
      <vt:lpstr>Week – 1 Agenda</vt:lpstr>
      <vt:lpstr>How can computers learn patterns from data?</vt:lpstr>
      <vt:lpstr>What is Machine Learning?</vt:lpstr>
      <vt:lpstr>Real-World ML Applications.</vt:lpstr>
      <vt:lpstr>Types of Machine Learning</vt:lpstr>
      <vt:lpstr>Classical Machine Learning </vt:lpstr>
      <vt:lpstr>Classical ML</vt:lpstr>
      <vt:lpstr>Importance of Non-Linearity</vt:lpstr>
      <vt:lpstr>PowerPoint Presentation</vt:lpstr>
      <vt:lpstr>Why Neural Networks?</vt:lpstr>
      <vt:lpstr>Biological Inspiration For Neural Networks</vt:lpstr>
      <vt:lpstr>The Perceptron: First Step</vt:lpstr>
      <vt:lpstr>Mathematical Neuron Model</vt:lpstr>
      <vt:lpstr>Step Function as Activation</vt:lpstr>
      <vt:lpstr>Limitations of the Step Function</vt:lpstr>
      <vt:lpstr>Activation Functions : Decision Makers</vt:lpstr>
      <vt:lpstr>Activation Function Evolution : The Journey: Step Function → Sigmoid → Tanh → ReLU</vt:lpstr>
      <vt:lpstr>ReLU (Rectified Linear Unit) </vt:lpstr>
      <vt:lpstr>Loss Functions - MSE, BCE, Cross-Entropy</vt:lpstr>
      <vt:lpstr>Perceptron to Multi Layered Perceptron</vt:lpstr>
      <vt:lpstr> Backpropagation - The Learning Algorithm</vt:lpstr>
      <vt:lpstr>Back Propagation Example</vt:lpstr>
      <vt:lpstr>Back Prop : Numerical Example</vt:lpstr>
      <vt:lpstr>Back Prop : Weight Updates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9</cp:revision>
  <dcterms:created xsi:type="dcterms:W3CDTF">2026-03-14T19:40:22Z</dcterms:created>
  <dcterms:modified xsi:type="dcterms:W3CDTF">2026-03-15T00:25:42Z</dcterms:modified>
</cp:coreProperties>
</file>