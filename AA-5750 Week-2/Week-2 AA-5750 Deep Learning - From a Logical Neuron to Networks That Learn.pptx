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882eb8-623d-55d5-74bd-518ba1ac35ed}">
          <p14:sldIdLst>
            <p14:sldId id="256"/>
            <p14:sldId id="257"/>
          </p14:sldIdLst>
        </p14:section>
        <p14:section name="Why deep learning" id="{a198f34e-1d17-5cb2-3d9a-80836f612c99}">
          <p14:sldIdLst>
            <p14:sldId id="258"/>
            <p14:sldId id="259"/>
            <p14:sldId id="260"/>
            <p14:sldId id="261"/>
            <p14:sldId id="262"/>
            <p14:sldId id="263"/>
          </p14:sldIdLst>
        </p14:section>
        <p14:section name="Origins" id="{0f3a8a71-1c3b-5d85-f691-2c20568d0211}">
          <p14:sldIdLst>
            <p14:sldId id="264"/>
            <p14:sldId id="265"/>
            <p14:sldId id="266"/>
            <p14:sldId id="267"/>
            <p14:sldId id="268"/>
            <p14:sldId id="269"/>
            <p14:sldId id="270"/>
            <p14:sldId id="271"/>
            <p14:sldId id="272"/>
            <p14:sldId id="273"/>
            <p14:sldId id="274"/>
          </p14:sldIdLst>
        </p14:section>
        <p14:section name="Winters and revival" id="{33f4fabd-a932-b93d-030e-4e31ed6953c8}">
          <p14:sldIdLst>
            <p14:sldId id="275"/>
            <p14:sldId id="276"/>
            <p14:sldId id="277"/>
            <p14:sldId id="278"/>
            <p14:sldId id="279"/>
            <p14:sldId id="280"/>
            <p14:sldId id="281"/>
          </p14:sldIdLst>
        </p14:section>
        <p14:section name="The rise" id="{d61f5aa0-0f6e-bbad-896a-3d138b17ef89}">
          <p14:sldIdLst>
            <p14:sldId id="282"/>
            <p14:sldId id="283"/>
            <p14:sldId id="284"/>
            <p14:sldId id="285"/>
            <p14:sldId id="286"/>
            <p14:sldId id="287"/>
          </p14:sldIdLst>
        </p14:section>
        <p14:section name="How a network learns" id="{f0c443a6-c333-ae2e-d1c7-b0ed517efcf9}">
          <p14:sldIdLst>
            <p14:sldId id="288"/>
            <p14:sldId id="289"/>
            <p14:sldId id="290"/>
            <p14:sldId id="291"/>
            <p14:sldId id="292"/>
            <p14:sldId id="293"/>
            <p14:sldId id="294"/>
            <p14:sldId id="295"/>
            <p14:sldId id="296"/>
            <p14:sldId id="297"/>
          </p14:sldIdLst>
        </p14:section>
        <p14:section name="Making deep networks trainable" id="{e6db8c2d-f96b-2400-f48e-67bbe327ea47}">
          <p14:sldIdLst>
            <p14:sldId id="298"/>
            <p14:sldId id="299"/>
            <p14:sldId id="300"/>
            <p14:sldId id="301"/>
            <p14:sldId id="302"/>
            <p14:sldId id="303"/>
            <p14:sldId id="304"/>
            <p14:sldId id="305"/>
            <p14:sldId id="306"/>
            <p14:sldId id="307"/>
            <p14:sldId id="308"/>
            <p14:sldId id="309"/>
          </p14:sldIdLst>
        </p14:section>
        <p14:section name="Wrap-up" id="{614a7814-2838-24a4-f548-ada9b4553ab6}">
          <p14:sldIdLst>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Last week ended at the MLP. This week we tell the whole story in the order it happened: why industry needed deep learning, where the idea came from in 1943, how it nearly died twice, how it came back in 2012, and then the machinery that makes a deep network train: backprop, gradient descent and its variants, activations, initialization, batch norm and regularization. The three notebooks this week (binary, multi-class and regression MLPs) use every one of these knobs.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in historical order, then the mechanics. Parts 1 to 4 are the story; Parts 5 and 6 are the toolkit you will use in the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history, the motivation. Deep learning did not win because it was fashionable. It won on problems where classical methods had plateaued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shift: in classical ML a human decides what the model sees. In deep learning the network learns the features itself, layer by layer. For faces, early layers learn edges, middle layers learn eyes and noses, later layers learn whole faces. The cost moved from expert time to data and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Ng's well-known sketch: classical algorithms plateau as data grows, while larger neural networks keep improving. The chart is schematic, not measured data. Each card is one reason why. Kernel SVM training typically scales between quadratic and cubic in the number of examples, which is why SVMs were hard to use on millions of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Gulshan et al., JAMA 2016, a deep CNN for referable diabetic retinopathy reached AUC about 0.99 on two validation sets. Esteva et al., Nature 2017, a CNN matched 21 board-certified dermatologists on skin-cancer classification. Speech: Hinton et al., IEEE Signal Processing Magazine 2012, summarises four groups (Toronto, Microsoft, Google, IBM) replacing Gaussian-mixture acoustic models with deep nets. Microsoft reported 5.9% word error on Switchboard in 2016, matching professional transcribers. Translation: Wu et al. 2016 (Google Neural Machine Translation) reported translation errors reduced by about 60% on average versus the phrase-based production system in human side-by-side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 driving: classical pedestrian detection used HOG features with linear SVMs (Dalal and Triggs 2005). Modern perception stacks use deep networks on camera and LiDAR. Recommendations: Covington, Adams and Sargin, RecSys 2016, describe YouTube's two-stage deep recommender; Cheng et al. 2016 introduced Wide and Deep for Google Play. Science: AlphaFold 2 at CASP14 (2020) reached a median GDT score of 92.4, close to experimental accuracy; Hassabis and Jumper shared the 2024 Nobel Prize in Chemistry with David Baker.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matters. Grinsztajn, Oyallon and Varoquaux, NeurIPS 2022, benchmark 45 tabular datasets and find tree-based models still beat deep nets on typical medium-sized tabular data. For this week's heart-disease notebook, compare the MLP against a gradient-boosted tree before declaring victory.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Correcting two common mix-ups: the McCulloch-Pitts neuron is from 1943 (not 1935), and the perceptron is Frank Rosenblatt's (1958), not Alan Turing's. Turing's role was asking whether machines could think and learn at all. Related reading: Deep Learning series Parts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top lane as the long road from 1943 to the 1990s, with two winters; the bottom lane is the acceleration since 1998. Colour shows mood: teal for progress, red for setbacks, amber for revivals and breakthroughs.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Warren McCulloch, a neurophysiologist, and Walter Pitts, a self-taught logician barely 20, published 'A Logical Calculus of the Ideas Immanent in Nervous Activity' in the Bulletin of Mathematical Biophysics, 1943. Their unit adds binary inputs and fires if the sum reaches a threshold. With threshold 2 and two inputs it is AND; with threshold 1 it is OR; an inhibitory input gives NOT. So networks of these units can compute any logical function. What it did not have: any way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function is the heart of the problem. Its output jumps from 0 to 1, so a small change in a weight either does nothing or flips the output. There is no slope to follow. Everything after 1943 is a search for a neuron that can learn: Hebb gives a learning idea, Rosenblatt a learning rule, Widrow a gradient, and 1986 a way to push gradients through many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we use all term. Dendrites collect signals, synapses have strengths (weights), the cell body integrates (weighted sum plus bias), and the axon hillock decides whether to fire (activation function). The analogy is loose: real neurons spike in time and are far more complex, but the abstraction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Donald Hebb, The Organization of Behavior (1949): when one cell repeatedly helps fire another, the connection between them grows stronger. Often summarised as 'cells that fire together wire together'. This is the first concrete idea that learning lives in the weights. The Hebbian update Δw = η·x·y has no error signal, so it can strengthen wrong associations, but it planted the idea that Rosenblatt made error-driven.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Turing's 1948 National Physical Laboratory report 'Intelligent Machinery' (published only in 1968) described 'unorganised machines', randomly wired networks of NAND-like units that could be trained by switching connections: an early connectionist idea. His 1950 paper in Mind, 'Computing Machinery and Intelligence', proposed the imitation game (Turing test) and suggested building a child-machine that learns. Turing did not build the perceptron; that was Rosenblatt in 1958. The 1956 Dartmouth Summer Research Project, proposed by McCarthy, Minsky, Rochester and Shannon, coined the term artificial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Frank Rosenblatt, a psychologist at the Cornell Aeronautical Laboratory, described the perceptron in a 1957 report and in Psychological Review in 1958. The Mark I Perceptron hardware, funded by the US Office of Naval Research, used a 20 by 20 grid of 400 photocells as its retina; its weights were potentiometers turned by electric motors. The rule: if the prediction is right, do nothing; if wrong, move the weights toward the correct answer. Novikoff (1962) proved it converges in a finite number of updates if the classes are linearly separable. The New York Times, 8 July 1958, called it 'the embryo of an electronic computer that [the Navy] expects will be able to walk, talk, see, write, reproduce itself and be conscious of its existence.'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compute z = w·x + b. The perceptron passes z through a hard step and outputs a class; logistic regression passes it through a sigmoid and outputs a probability. That one change, a smooth activation, is what later makes gradient-based training possible. Both draw a single straight line, so neither can solve XOR.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Bernard Widrow and his student Ted Hoff (who later co-designed Intel's first microprocessor) built ADALINE at Stanford in 1960. The key difference from the perceptron: the error is measured on the linear output before thresholding, so the squared error is a smooth function of the weights and the Least Mean Squares rule is gradient descent on it. MADALINE, a layered version, was used for adaptive filters that cancel echoes on telephone lines, one of the first real-world neural network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Perceptrons (1969) by Marvin Minsky and Seymour Papert gave rigorous proofs of what single-layer perceptrons cannot compute: XOR, parity, and connectedness when units see only local patches. Multi-layer networks could represent these functions, but there was no known way to train the hidden layers. The book was widely read as a verdict on neural networks in general and coincided with funding moving to symbolic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on dates: 1986 is not an AI winter; it is the year backpropagation was popularised. The first AI winter is roughly 1974 to 1980, the second roughly 1987 to the early 1990s. Related reading: Deep Learning series Parts 1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pressures combined. Minsky and Papert's book made single-layer nets look like a dead end. In the UK, the Lighthill Report (1973) criticised AI's failure to deliver and led to deep cuts. In the US, the Mansfield Amendment pushed military research funding toward direct mission needs and DARPA cut speculative AI work around 1974. Rosenblatt died in a boating accident in 1971. Yet the key algorithm was quietly invented: Seppo Linnainmaa's 1970 master's thesis described reverse-mode automatic differentiation, and Paul Werbos's 1974 Harvard PhD thesis proposed using it to train neural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Kunihiko Fukushima's Neocognitron (1980) stacked layers of simple and complex cells, inspired by Hubel and Wiesel's work on the visual cortex. It is the direct ancestor of convolutional networks, but it was trained without backprop. John Hopfield's 1982 PNAS paper showed that a recurrent network can store memories as minima of an energy function, which brought physicists into the field. Ackley, Hinton and Sejnowski's Boltzmann machine (1985) added stochastic units and a learning rule for hidden units. Hopfield and Hinton shared the 2024 Nobel Prize in Physics for these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Rumelhart, Hinton and Williams, 'Learning representations by back-propagating errors', Nature 323, 1986, together with the two-volume Parallel Distributed Processing books, showed that the chain rule can assign blame to every weight, including hidden ones, as long as the activation is smooth (they used the sigmoid). Hidden units learned useful internal representations nobody programmed. Backprop itself had earlier roots (Linnainmaa 1970, Werbos 1974), but 1986 is when the field adopted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Yann LeCun and colleagues at Bell Labs trained a convolutional network with backprop to read handwritten ZIP codes (Neural Computation, 1989). LeNet-5 (LeCun, Bottou, Bengio and Haffner, Proceedings of the IEEE, 1998) combined convolution, subsampling and fully connected layers; a cheque-reading system built on it processed a large share of US cheques by the late 1990s. On the theory side, Cybenko (1989) and Hornik, Stinchcombe and White (1989) proved that a network with one hidden layer can approximate any continuous function given enough units: the universal approximation theorem. It says such a network exists, not that training will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AI winter began around 1987 when the market for Lisp machines and expert systems collapsed. For neural networks the 1990s were a slump of a different kind. Support vector machines (Cortes and Vapnik, 1995) offered a convex problem with a unique solution and strong theory, and often won on the small datasets of the day. Deep networks were hard to train: Sepp Hochreiter's 1991 diploma thesis analysed the vanishing gradient, and Bengio, Simard and Frasconi (1994) showed long-range dependencies are hard to learn with gradient descent. Hochreiter and Schmidhuber's LSTM (1997) added gated memory cells so gradients can flow across long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Hinton, LeCun and Bengio received the 2018 ACM A.M. Turing Award for conceptual and engineering breakthroughs that made deep neural networks a critical part of computing. Schmidhuber and Hochreiter gave us LSTM. Fei-Fei Li built ImageNet. Andrew Ng pushed GPU training and large-scale deep learning at Stanford and Google Brain and taught millions online. Hopfield and Hinton shared the 2024 Nobel Prize in Physics; Demis Hassabis and John Jumper of DeepMind shared the 2024 Chemistry prize with David Baker.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comeback needed three things at once. Related reading: Deep Learning series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Algorithms: Hinton, Osindero and Teh (2006) showed deep belief nets could be trained greedily, one layer at a time, then fine-tuned; Hinton and Salakhutdinov's Science paper the same year popularised deep learning. Nair and Hinton (2010) and Glorot, Bordes and Bengio (2011) showed ReLUs train deep nets better; Glorot and Bengio (2010) gave principled initialization. Data: ImageNet (Deng et al., CVPR 2009). Compute: NVIDIA released CUDA in 2007, and Raina, Madhavan and Ng (ICML 2009) reported GPUs up to 70 times faster than CPUs for training deep belief 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Fei-Fei Li started ImageNet at Princeton and continued it at Stanford, organised by the WordNet hierarchy. Deng et al. presented it at CVPR 2009. Images were labelled through Amazon Mechanical Turk by tens of thousands of workers. The ImageNet Large Scale Visual Recognition Challenge ran from 2010 to 2017 on a 1,000-class subset with about 1.2 million training images. Its importance was cultural as much as technical: a big, shared, hard benchmark where any method could be compared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Krizhevsky, Ilya Sutskever and Geoffrey Hinton (University of Toronto) entered a deep CNN called SuperVision, now known as AlexNet. It reached 15.3% top-5 test error against 26.2% for the second-best entry, which used classical features. The network had about 60 million parameters and 650,000 neurons in five convolutional and three fully connected layers, and trained for five to six days on two NVIDIA GTX 580 GPUs with 3 GB each. Every trick from this course appears: ReLU, dropout, data augmentation, mini-batch SGD with momentum and weight decay.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ILSVRC classification winners, top-5 error on the test set: 2010 NEC-UIUC 28.2%; 2011 XRCE 25.8%; 2012 AlexNet 15.3%; 2013 Clarifai 11.7%; 2014 GoogLeNet 6.7%; 2015 ResNet 3.57%; 2016 Trimps-Soushen 2.99%; 2017 SENet 2.25%. Andrej Karpathy measured his own top-5 error at about 5.1% on a sample, a commonly cited human reference. ResNet's skip connections and batch normalization let networks grow to 152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2013 word2vec (Mikolov et al.). 2014 generative adversarial networks (Goodfellow et al.), sequence-to-sequence learning, and the Adam optimizer (Kingma and Ba). 2015 ResNet (He et al.) and batch normalization (Ioffe and Szegedy). 2016 AlphaGo beat Lee Sedol 4 to 1. 2017 'Attention Is All You Need' introduced the Transformer. 2018 BERT, and the Turing Award to Hinton, LeCun and Bengio. 2020 AlphaFold 2 and GPT-3. 2022 ChatGPT. 2024 Nobel Prizes in Physics (Hopfield, Hinton) and Chemistry (Baker, Hassabis, Jumper).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mechanics. Everything here appears in this week's three notebooks: criterion, loss.backward(), optimizer.step(). Related reading: Deep Learning series Parts 4, 5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iteration: take a mini-batch, run it forward to get predictions, compute a single loss number, run backprop to get the gradient of the loss with respect to every weight, and let the optimizer take a small step. One pass through all training data is an epoch. In PyTorch these are four lines: out = model(x); loss = criterion(out, y); loss.backward(); optimizer.step(), with optimizer.zero_grad()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loss to match the task and the output layer. Regression: no output activation and mean squared error (the California housing notebook uses nn.MSELoss, with Huber or L1 as alternatives). Binary classification: one sigmoid output and binary cross-entropy (the heart-disease notebook uses nn.Sigmoid and nn.BCELoss). Multi-class: raw logits and nn.CrossEntropyLoss, which applies softmax internally (the MNIST notebook). Cross-entropy punishes confident wrong answers heavily, which gives strong gradients early in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gradient points uphill, in the direction the loss grows fastest, so we step the other way. The learning rate η sets the step size. Too small and training crawls; too large and it overshoots and diverges. This plot is real gradient descent on L(w) = w² with η = 0.05, 0.3 and 1.05. In practice try 1e-3 for Adam and 0.01 to 0.1 for SGD with momentum, then tune; the notebooks expose LEARNING_RATE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network with millions of weights has a loss surface in millions of dimensions with many minima, saddle points and flat plateaus. Dauphin et al. (2014) argued that in high dimensions most problematic critical points are saddle points rather than bad local minima. In practice many minima found by SGD perform similarly well, and the noise of mini-batches helps escape saddles and sharp minima.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compute and cache every intermediate value. Backward: start from the loss and multiply local derivatives going right to left. Each node only needs its own local derivative and the gradient arriving from the right. Because the backward pass reuses cached forward values, computing the gradient for all weights costs about the same as one or two forward passes, which is why backprop scales to billions of weights. PyTorch's autograd does exactly this when you call loss.backward().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to do on the board. Start with x = 2, w = 0.5, b = 0.1, target y = 2, learning rate 0.1, ReLU activation and squared-error loss. Forward: z = 1.1, prediction 1.1, loss 0.405. Backward: dL/dŷ = -0.9, dŷ/dz = 1 because z &gt; 0, dz/dw = x = 2, so dL/dw = -1.8 and dL/db = -0.9. Update: w becomes 0.68 and b becomes 0.19. Check: the new prediction is 1.55 and the loss falls to about 0.101, a 75% drop in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gradient descent uses all N examples for every update: accurate but slow, and impossible when data does not fit in memory. Stochastic gradient descent (Robbins and Monro, 1951) uses one example: cheap and noisy. Mini-batch is the practical default, typically 32 to 512 examples: it uses GPU parallelism well and its moderate noise helps generalization. In PyTorch the optimizer called SGD is really mini-batch SGD; the batch size is set in the DataLoader.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SGD zig-zags across narrow valleys. Momentum (Polyak's heavy-ball method, 1964) keeps an exponentially weighted moving average of past gradients, so steps that agree add up and steps that flip sign cancel. With β = 0.9 the velocity averages roughly the last 10 gradients. Nesterov's accelerated gradient (1983) evaluates the gradient at the look-ahead point, which corrects the step before it overshoots. In PyTorch: optim.SGD(params, lr=0.01, momentum=0.9, nesterov=True).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AdaGrad (Duchi, Hazan and Singer, 2011) divides each weight's step by the root of its accumulated squared gradients, so rarely updated weights take bigger steps; but the accumulator only grows, so learning eventually stalls. RMSprop (Hinton, Coursera lecture 6e, 2012) replaces the sum with a moving average. Adam (Kingma and Ba, 2014) combines momentum with RMSprop and corrects the bias of the averages in the first steps; defaults β1 = 0.9, β2 = 0.999, lr = 1e-3. AdamW (Loshchilov and Hutter) decouples weight decay from the adaptive step and is standard for Transformers. All three notebooks use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knobs marked with arrows in the notebooks: swap the activation, remove BatchNorm, change dropout, switch the optimizer. Related reading: Deep Learning series Parts 6,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non-linear activation, stacking layers is pointless: W2(W1x) = (W2W1)x, a single linear map. The activation lets each layer bend the space. Solid lines are the functions, dashed lines their derivatives, which is what backprop multiplies. Sigmoid and tanh saturate: their slopes go to zero for large |z|. ReLU's slope is exactly 1 for positive inputs. Leaky ReLU (Maas et al. 2013) and ELU (Clevert et al. 2015) keep a small slope for negatives; GELU (Hendrycks and Gimpel 2016) is the smooth default in Transformers like BERT and 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deep sigmoid networks did not train in the 1990s. The gradient reaching layer 1 contains a product of one activation slope per layer. With sigmoid the best case is 0.25 per layer, so after 10 layers it is about one millionth. ReLU passes gradients through unchanged for active units. The opposite problem, exploding gradients, happens when the per-layer factor exceeds 1; gradient clipping and careful initialization address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to ReLU in hidden layers of MLPs and CNNs, and GELU in Transformers. If many ReLU units die (always output zero after a big negative update), try Leaky ReLU or lower the learning rate. Use sigmoid only at the output for binary classification, softmax at the output for multi-class, and no activation at the output for regression. The notebooks let you swap nn.ReLU for nn.Tanh, nn.LeakyReLU(0.1), nn.ELU or nn.GELU.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a real NumPy simulation: 1,000 inputs through 10 layers of 512 units, histogram of activations at layers 1, 3, 5, 8 and 10. Too-small weights shrink the signal until every activation is zero, so gradients vanish. Too-large weights push tanh into saturation at plus or minus one, so gradients also vanish. Xavier/Glorot (2010) sets the variance so signals keep roughly the same scale through tanh layers; He/Kaiming (2015) doubles it to compensate for ReLU zeroing half its inputs. Initializing all weights to zero is worse still: every unit in a layer gets the same gradient and they never differ, the symmetry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Ioffe and Szegedy (2015) normalize each unit's pre-activations over the mini-batch to mean 0 and variance 1, then let the network re-scale with learned γ and shift with β, so it can undo the normalization if that helps. They motivated it as reducing internal covariate shift; later work (Santurkar et al. 2018) suggests the main benefit is a smoother loss landscape. It allows higher learning rates, makes training less sensitive to initialization and adds a little regularization. At inference it uses running averages, so call model.eval(). Layer normalization (Ba, Kiros and Hinton 2016) normalizes across features instead and is used in Transformers. In the notebooks, remove the BatchNorm1d lines to see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networks have far more parameters than examples (the Week 1 MNIST MLP had 109,386 weights for 5,000 images), so they can memorize noise. The tell-tale sign is training loss still falling while validation loss rises. The figure is illustrative. Regularization is anything that trades a little training accuracy for better generalization; the next slides cover the main tools, and the notebooks let you vary dropout and BatchNorm and compare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penalty to the loss. L2 (ridge, weight decay) adds lambda times the sum of squared weights; its gradient shrinks every weight in proportion to its size, so weights stay small but rarely become exactly zero. L1 (lasso) adds lambda times the sum of absolute weights; the constraint region has corners on the axes, so the optimum often lands on one, setting some weights exactly to zero. Geometrically, the solution is where the loss contours first touch the constraint region. In PyTorch, weight_decay in the optimizer is L2; for Adam prefer AdamW, which applies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Srivastava, Hinton, Krizhevsky, Sutskever and Salakhutdinov, JMLR 2014 (first described by Hinton et al. in 2012). During training each unit is kept with probability p and dropped otherwise, so the network cannot rely on any single unit; co-adaptations break up and features become more robust. Each mini-batch trains a different thinned network, and the full network at test time behaves like an average of exponentially many of them. Typical drop rates: 0.2 to 0.5 for hidden layers. PyTorch uses inverted dropout: it scales kept activations by 1/(1−p) during training so nothing changes at test time, and model.eval() turns dropout off. The notebooks use nn.Dropout(0.3) and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checklist while running the notebooks. Always look at both training and validation curves. Change one knob at a time and record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from Multi_Class_Classification.ipynb, lightly simplified. Every line maps to something from today. There is no softmax at the end because CrossEntropyLoss applies it. Try the arrows in the notebook: swap the activation, remove BatchNorm, change dropout, switch Adam for SGD with momentum, and plot the train and test curves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notebooks, same skeleton, different heads. Each has arrows marking knobs to change. Run the baseline, then change one knob at a time, and write up what moved and why using today's vocabulary. The APA 7 student paper guide in the folder is the formatting reference for the written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threads: the story and the mechanics are one story. Every historical failure (no learning, XOR, vanishing gradients) has a modern fix you will toggle in the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nine-part Deep Learning series on Towards AI follows the same sequence as today's lecture; each part goes deeper with derivations and figures. Primary sources are listed for students who want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Wikimedia Commons images are used under the licences shown; CC BY-SA images remain under CC BY-SA. Course diagrams come from the instructor's Deep Learning series and earlier AA-5750 decks; plots marked simulated or illustrative were generated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rtlCol="0"/>
          <a:lstStyle>
            <a:lvl1pPr algn="l" indent="0" marL="0">
              <a:buNone/>
              <a:defRPr lang="en-US" sz="4400"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886200"/>
            <a:ext cx="10698480" cy="1097280"/>
          </a:xfrm>
          <a:prstGeom prst="rect">
            <a:avLst/>
          </a:prstGeom>
          <a:noFill/>
          <a:ln/>
        </p:spPr>
        <p:txBody>
          <a:bodyPr wrap="square" rtlCol="0"/>
          <a:lstStyle>
            <a:lvl1pPr indent="0" marL="0">
              <a:buNone/>
              <a:defRPr lang="en-US" sz="2000" dirty="0">
                <a:solidFill>
                  <a:schemeClr val="accent1"/>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371600"/>
          </a:xfrm>
          <a:prstGeom prst="rect">
            <a:avLst/>
          </a:prstGeom>
          <a:noFill/>
          <a:ln/>
        </p:spPr>
        <p:txBody>
          <a:bodyPr wrap="square" rtlCol="0"/>
          <a:lstStyle>
            <a:lvl1pPr algn="l" indent="0" marL="0">
              <a:buNone/>
              <a:defRPr lang="en-US" sz="4000"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886200"/>
            <a:ext cx="10698480" cy="2011680"/>
          </a:xfrm>
          <a:prstGeom prst="rect">
            <a:avLst/>
          </a:prstGeom>
          <a:noFill/>
          <a:ln/>
        </p:spPr>
        <p:txBody>
          <a:bodyPr wrap="square" rtlCol="0"/>
          <a:lstStyle>
            <a:lvl1pPr indent="0" marL="0">
              <a:buNone/>
              <a:defRPr lang="en-US" sz="2000" dirty="0">
                <a:solidFill>
                  <a:schemeClr val="accent1"/>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200"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AA-5750 · Week 2</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e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e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jpe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image" Target="../media/image-26-6.jpeg"/><Relationship Id="rId7" Type="http://schemas.openxmlformats.org/officeDocument/2006/relationships/image" Target="../media/image-26-7.jpeg"/><Relationship Id="rId8" Type="http://schemas.openxmlformats.org/officeDocument/2006/relationships/image" Target="../media/image-26-8.jpeg"/><Relationship Id="rId9" Type="http://schemas.openxmlformats.org/officeDocument/2006/relationships/slideLayout" Target="../slideLayouts/slideLayout4.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4.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4.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jpeg"/><Relationship Id="rId3" Type="http://schemas.openxmlformats.org/officeDocument/2006/relationships/image" Target="../media/image-41-3.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slideLayout" Target="../slideLayouts/slideLayout4.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slideLayout" Target="../slideLayouts/slideLayout4.xml"/><Relationship Id="rId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4.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4.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medium.com/towards-artificial-intelligence/deep-learning-series-a-brief-history-of-deep-learning-evolution-1-92e7873218c7?sk=c0eb6a425e357938cb6b7a86fd268440" TargetMode="External"/><Relationship Id="rId2" Type="http://schemas.openxmlformats.org/officeDocument/2006/relationships/hyperlink" Target="https://medium.com/towards-artificial-intelligence/deep-learning-biological-neural-network-vs-artificial-neural-network-580f92129b47?sk=cbe75a78211ce42147829df600ade1db" TargetMode="External"/><Relationship Id="rId3" Type="http://schemas.openxmlformats.org/officeDocument/2006/relationships/hyperlink" Target="https://medium.com/towards-artificial-intelligence/deep-learning-perceptron-vs-logistic-regression-3f73f91e01d3?sk=563986820350d714c9297ffe5c87af0b" TargetMode="External"/><Relationship Id="rId4" Type="http://schemas.openxmlformats.org/officeDocument/2006/relationships/hyperlink" Target="https://medium.com/towards-artificial-intelligence/deep-learning-multi-layered-perceptron-mlp-8abef7ee5662?sk=9d192d242ae351f44b7f9657bb3845a2" TargetMode="External"/><Relationship Id="rId5" Type="http://schemas.openxmlformats.org/officeDocument/2006/relationships/hyperlink" Target="https://medium.com/towards-artificial-intelligence/deep-learning-part-5-how-to-train-your-neural-networks-92ea8fea370f?sk=9b23d03c15d8332c156b43bfcf4fd5d4" TargetMode="External"/><Relationship Id="rId6" Type="http://schemas.openxmlformats.org/officeDocument/2006/relationships/hyperlink" Target="https://medium.com/towards-artificial-intelligence/deep-learning-part-6-activation-functions-in-neural-networks-d448b397c0fa?sk=38fdf3818be87ce3628c7b2cecd11530" TargetMode="External"/><Relationship Id="rId7" Type="http://schemas.openxmlformats.org/officeDocument/2006/relationships/hyperlink" Target="https://medium.com/towards-artificial-intelligence/deep-learning-7-optimize-your-neural-networks-through-dropouts-regularization-dc2ff156ff3c?sk=adeb8721f544c784cb9ad9702c8fc0bb" TargetMode="External"/><Relationship Id="rId8" Type="http://schemas.openxmlformats.org/officeDocument/2006/relationships/hyperlink" Target="https://medium.com/towards-artificial-intelligence/deep-learning-part-8-optimizing-neural-networks-learning-through-initialization-normalization-da2793d22a60?sk=23cd0fedca66727b634896f2f6b0c782" TargetMode="External"/><Relationship Id="rId9" Type="http://schemas.openxmlformats.org/officeDocument/2006/relationships/hyperlink" Target="https://medium.com/towards-artificial-intelligence/deep-learning-part-9-optimizers-are-what-you-need-04b0605498c0?sk=d358fd7f4c555a089feb9a84cc66dde3" TargetMode="External"/><Relationship Id="rId10" Type="http://schemas.openxmlformats.org/officeDocument/2006/relationships/slideLayout" Target="../slideLayouts/slideLayout4.xml"/><Relationship Id="rId11"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828800"/>
          </a:xfrm>
          <a:prstGeom prst="rect">
            <a:avLst/>
          </a:prstGeom>
          <a:noFill/>
          <a:ln/>
        </p:spPr>
        <p:txBody>
          <a:bodyPr wrap="square" lIns="0" tIns="0" rIns="0" bIns="0" rtlCol="0" anchor="b"/>
          <a:lstStyle/>
          <a:p>
            <a:pPr algn="l" indent="0" marL="0">
              <a:buNone/>
            </a:pPr>
            <a:r>
              <a:rPr lang="en-US" sz="4400" dirty="0">
                <a:solidFill>
                  <a:schemeClr val="bg1"/>
                </a:solidFill>
                <a:latin typeface="Cambria" pitchFamily="34" charset="0"/>
                <a:ea typeface="Cambria" pitchFamily="34" charset="-122"/>
                <a:cs typeface="Cambria" pitchFamily="34" charset="-120"/>
              </a:rPr>
              <a:t>Deep Learning: From a Logical Neuron to Networks That Learn</a:t>
            </a:r>
            <a:endParaRPr lang="en-US" sz="4400" dirty="0"/>
          </a:p>
        </p:txBody>
      </p:sp>
      <p:sp>
        <p:nvSpPr>
          <p:cNvPr id="3" name="Text 0"/>
          <p:cNvSpPr/>
          <p:nvPr>
            <p:ph idx="101" type="body" hasCustomPrompt="1"/>
          </p:nvPr>
        </p:nvSpPr>
        <p:spPr>
          <a:xfrm>
            <a:off x="731520" y="3886200"/>
            <a:ext cx="10698480" cy="10972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AA-5750 Contemporary Issues in Analytics · Week 2 · Chandra Prakash Bathula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Today's journey</a:t>
            </a:r>
            <a:endParaRPr lang="en-US" sz="3200" dirty="0"/>
          </a:p>
        </p:txBody>
      </p:sp>
      <p:sp>
        <p:nvSpPr>
          <p:cNvPr id="4" name="journey-0"/>
          <p:cNvSpPr/>
          <p:nvPr/>
        </p:nvSpPr>
        <p:spPr>
          <a:xfrm>
            <a:off x="548640" y="1325880"/>
            <a:ext cx="3575304" cy="2286000"/>
          </a:xfrm>
          <a:prstGeom prst="rect">
            <a:avLst/>
          </a:prstGeom>
          <a:solidFill>
            <a:schemeClr val="bg2"/>
          </a:solidFill>
          <a:ln/>
        </p:spPr>
      </p:sp>
      <p:sp>
        <p:nvSpPr>
          <p:cNvPr id="5" name="Text 2"/>
          <p:cNvSpPr txBox="1"/>
          <p:nvPr/>
        </p:nvSpPr>
        <p:spPr>
          <a:xfrm>
            <a:off x="822960" y="155448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01</a:t>
            </a:r>
            <a:endParaRPr lang="en-US" sz="2200" dirty="0"/>
          </a:p>
        </p:txBody>
      </p:sp>
      <p:sp>
        <p:nvSpPr>
          <p:cNvPr id="6" name="Shape 3"/>
          <p:cNvSpPr/>
          <p:nvPr/>
        </p:nvSpPr>
        <p:spPr>
          <a:xfrm>
            <a:off x="3346704" y="1554480"/>
            <a:ext cx="502920" cy="502920"/>
          </a:xfrm>
          <a:prstGeom prst="ellipse">
            <a:avLst/>
          </a:prstGeom>
          <a:solidFill>
            <a:schemeClr val="accent2"/>
          </a:solidFill>
          <a:ln/>
        </p:spPr>
      </p:sp>
      <p:pic>
        <p:nvPicPr>
          <p:cNvPr id="7" name="Image 0" descr="Industry icon">    </p:cNvPr>
          <p:cNvPicPr>
            <a:picLocks noChangeAspect="1"/>
          </p:cNvPicPr>
          <p:nvPr/>
        </p:nvPicPr>
        <p:blipFill>
          <a:blip r:embed="rId1"/>
          <a:stretch>
            <a:fillRect/>
          </a:stretch>
        </p:blipFill>
        <p:spPr>
          <a:xfrm>
            <a:off x="3472434" y="1680210"/>
            <a:ext cx="251460" cy="251460"/>
          </a:xfrm>
          <a:prstGeom prst="rect">
            <a:avLst/>
          </a:prstGeom>
        </p:spPr>
      </p:pic>
      <p:sp>
        <p:nvSpPr>
          <p:cNvPr id="8" name="Text 4"/>
          <p:cNvSpPr txBox="1"/>
          <p:nvPr/>
        </p:nvSpPr>
        <p:spPr>
          <a:xfrm>
            <a:off x="822960" y="219456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Why deep learning?</a:t>
            </a:r>
            <a:endParaRPr lang="en-US" sz="1700" dirty="0"/>
          </a:p>
        </p:txBody>
      </p:sp>
      <p:sp>
        <p:nvSpPr>
          <p:cNvPr id="9" name="Text 5"/>
          <p:cNvSpPr txBox="1"/>
          <p:nvPr/>
        </p:nvSpPr>
        <p:spPr>
          <a:xfrm>
            <a:off x="822960" y="2606040"/>
            <a:ext cx="3026664"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Where classical ML hits a wall, industry by industry.</a:t>
            </a:r>
            <a:endParaRPr lang="en-US" sz="1300" dirty="0"/>
          </a:p>
        </p:txBody>
      </p:sp>
      <p:sp>
        <p:nvSpPr>
          <p:cNvPr id="10" name="journey-1"/>
          <p:cNvSpPr/>
          <p:nvPr/>
        </p:nvSpPr>
        <p:spPr>
          <a:xfrm>
            <a:off x="4306824" y="1325880"/>
            <a:ext cx="3575304" cy="2286000"/>
          </a:xfrm>
          <a:prstGeom prst="rect">
            <a:avLst/>
          </a:prstGeom>
          <a:solidFill>
            <a:schemeClr val="bg2"/>
          </a:solidFill>
          <a:ln/>
        </p:spPr>
      </p:sp>
      <p:sp>
        <p:nvSpPr>
          <p:cNvPr id="11" name="Text 7"/>
          <p:cNvSpPr txBox="1"/>
          <p:nvPr/>
        </p:nvSpPr>
        <p:spPr>
          <a:xfrm>
            <a:off x="4581144" y="155448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02</a:t>
            </a:r>
            <a:endParaRPr lang="en-US" sz="2200" dirty="0"/>
          </a:p>
        </p:txBody>
      </p:sp>
      <p:sp>
        <p:nvSpPr>
          <p:cNvPr id="12" name="Shape 8"/>
          <p:cNvSpPr/>
          <p:nvPr/>
        </p:nvSpPr>
        <p:spPr>
          <a:xfrm>
            <a:off x="7104888" y="1554480"/>
            <a:ext cx="502920" cy="502920"/>
          </a:xfrm>
          <a:prstGeom prst="ellipse">
            <a:avLst/>
          </a:prstGeom>
          <a:solidFill>
            <a:schemeClr val="accent2"/>
          </a:solidFill>
          <a:ln/>
        </p:spPr>
      </p:sp>
      <p:pic>
        <p:nvPicPr>
          <p:cNvPr id="13" name="Image 1" descr="History icon">    </p:cNvPr>
          <p:cNvPicPr>
            <a:picLocks noChangeAspect="1"/>
          </p:cNvPicPr>
          <p:nvPr/>
        </p:nvPicPr>
        <p:blipFill>
          <a:blip r:embed="rId2"/>
          <a:stretch>
            <a:fillRect/>
          </a:stretch>
        </p:blipFill>
        <p:spPr>
          <a:xfrm>
            <a:off x="7230618" y="1680210"/>
            <a:ext cx="251460" cy="251460"/>
          </a:xfrm>
          <a:prstGeom prst="rect">
            <a:avLst/>
          </a:prstGeom>
        </p:spPr>
      </p:pic>
      <p:sp>
        <p:nvSpPr>
          <p:cNvPr id="14" name="Text 9"/>
          <p:cNvSpPr txBox="1"/>
          <p:nvPr/>
        </p:nvSpPr>
        <p:spPr>
          <a:xfrm>
            <a:off x="4581144" y="219456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Origins, 1943 to 1969</a:t>
            </a:r>
            <a:endParaRPr lang="en-US" sz="1700" dirty="0"/>
          </a:p>
        </p:txBody>
      </p:sp>
      <p:sp>
        <p:nvSpPr>
          <p:cNvPr id="15" name="Text 10"/>
          <p:cNvSpPr txBox="1"/>
          <p:nvPr/>
        </p:nvSpPr>
        <p:spPr>
          <a:xfrm>
            <a:off x="4581144" y="2606040"/>
            <a:ext cx="3026664"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McCulloch and Pitts, Hebb, Turing, the perceptron, ADALINE and XOR.</a:t>
            </a:r>
            <a:endParaRPr lang="en-US" sz="1300" dirty="0"/>
          </a:p>
        </p:txBody>
      </p:sp>
      <p:sp>
        <p:nvSpPr>
          <p:cNvPr id="16" name="journey-2"/>
          <p:cNvSpPr/>
          <p:nvPr/>
        </p:nvSpPr>
        <p:spPr>
          <a:xfrm>
            <a:off x="8065008" y="1325880"/>
            <a:ext cx="3575304" cy="2286000"/>
          </a:xfrm>
          <a:prstGeom prst="rect">
            <a:avLst/>
          </a:prstGeom>
          <a:solidFill>
            <a:schemeClr val="bg2"/>
          </a:solidFill>
          <a:ln/>
        </p:spPr>
      </p:sp>
      <p:sp>
        <p:nvSpPr>
          <p:cNvPr id="17" name="Text 12"/>
          <p:cNvSpPr txBox="1"/>
          <p:nvPr/>
        </p:nvSpPr>
        <p:spPr>
          <a:xfrm>
            <a:off x="8339328" y="155448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03</a:t>
            </a:r>
            <a:endParaRPr lang="en-US" sz="2200" dirty="0"/>
          </a:p>
        </p:txBody>
      </p:sp>
      <p:sp>
        <p:nvSpPr>
          <p:cNvPr id="18" name="Shape 13"/>
          <p:cNvSpPr/>
          <p:nvPr/>
        </p:nvSpPr>
        <p:spPr>
          <a:xfrm>
            <a:off x="10863072" y="1554480"/>
            <a:ext cx="502920" cy="502920"/>
          </a:xfrm>
          <a:prstGeom prst="ellipse">
            <a:avLst/>
          </a:prstGeom>
          <a:solidFill>
            <a:schemeClr val="accent2"/>
          </a:solidFill>
          <a:ln/>
        </p:spPr>
      </p:sp>
      <p:pic>
        <p:nvPicPr>
          <p:cNvPr id="19" name="Image 2" descr="Snowflake icon">    </p:cNvPr>
          <p:cNvPicPr>
            <a:picLocks noChangeAspect="1"/>
          </p:cNvPicPr>
          <p:nvPr/>
        </p:nvPicPr>
        <p:blipFill>
          <a:blip r:embed="rId3"/>
          <a:stretch>
            <a:fillRect/>
          </a:stretch>
        </p:blipFill>
        <p:spPr>
          <a:xfrm>
            <a:off x="10988802" y="1680210"/>
            <a:ext cx="251460" cy="251460"/>
          </a:xfrm>
          <a:prstGeom prst="rect">
            <a:avLst/>
          </a:prstGeom>
        </p:spPr>
      </p:pic>
      <p:sp>
        <p:nvSpPr>
          <p:cNvPr id="20" name="Text 14"/>
          <p:cNvSpPr txBox="1"/>
          <p:nvPr/>
        </p:nvSpPr>
        <p:spPr>
          <a:xfrm>
            <a:off x="8339328" y="219456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Winters and revival</a:t>
            </a:r>
            <a:endParaRPr lang="en-US" sz="1700" dirty="0"/>
          </a:p>
        </p:txBody>
      </p:sp>
      <p:sp>
        <p:nvSpPr>
          <p:cNvPr id="21" name="Text 15"/>
          <p:cNvSpPr txBox="1"/>
          <p:nvPr/>
        </p:nvSpPr>
        <p:spPr>
          <a:xfrm>
            <a:off x="8339328" y="2606040"/>
            <a:ext cx="3026664"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Two AI winters, backprop in 1986, LeNet, LSTM and the people who persisted.</a:t>
            </a:r>
            <a:endParaRPr lang="en-US" sz="1300" dirty="0"/>
          </a:p>
        </p:txBody>
      </p:sp>
      <p:sp>
        <p:nvSpPr>
          <p:cNvPr id="22" name="journey-3"/>
          <p:cNvSpPr/>
          <p:nvPr/>
        </p:nvSpPr>
        <p:spPr>
          <a:xfrm>
            <a:off x="548640" y="3840480"/>
            <a:ext cx="3575304" cy="2286000"/>
          </a:xfrm>
          <a:prstGeom prst="rect">
            <a:avLst/>
          </a:prstGeom>
          <a:solidFill>
            <a:schemeClr val="bg2"/>
          </a:solidFill>
          <a:ln/>
        </p:spPr>
      </p:sp>
      <p:sp>
        <p:nvSpPr>
          <p:cNvPr id="23" name="Text 17"/>
          <p:cNvSpPr txBox="1"/>
          <p:nvPr/>
        </p:nvSpPr>
        <p:spPr>
          <a:xfrm>
            <a:off x="822960" y="406908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04</a:t>
            </a:r>
            <a:endParaRPr lang="en-US" sz="2200" dirty="0"/>
          </a:p>
        </p:txBody>
      </p:sp>
      <p:sp>
        <p:nvSpPr>
          <p:cNvPr id="24" name="Shape 18"/>
          <p:cNvSpPr/>
          <p:nvPr/>
        </p:nvSpPr>
        <p:spPr>
          <a:xfrm>
            <a:off x="3346704" y="4069080"/>
            <a:ext cx="502920" cy="502920"/>
          </a:xfrm>
          <a:prstGeom prst="ellipse">
            <a:avLst/>
          </a:prstGeom>
          <a:solidFill>
            <a:schemeClr val="accent2"/>
          </a:solidFill>
          <a:ln/>
        </p:spPr>
      </p:sp>
      <p:pic>
        <p:nvPicPr>
          <p:cNvPr id="25" name="Image 3" descr="Rocket icon">    </p:cNvPr>
          <p:cNvPicPr>
            <a:picLocks noChangeAspect="1"/>
          </p:cNvPicPr>
          <p:nvPr/>
        </p:nvPicPr>
        <p:blipFill>
          <a:blip r:embed="rId4"/>
          <a:stretch>
            <a:fillRect/>
          </a:stretch>
        </p:blipFill>
        <p:spPr>
          <a:xfrm>
            <a:off x="3472434" y="4194810"/>
            <a:ext cx="251460" cy="251460"/>
          </a:xfrm>
          <a:prstGeom prst="rect">
            <a:avLst/>
          </a:prstGeom>
        </p:spPr>
      </p:pic>
      <p:sp>
        <p:nvSpPr>
          <p:cNvPr id="26" name="Text 19"/>
          <p:cNvSpPr txBox="1"/>
          <p:nvPr/>
        </p:nvSpPr>
        <p:spPr>
          <a:xfrm>
            <a:off x="822960" y="470916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The rise, 2006 onward</a:t>
            </a:r>
            <a:endParaRPr lang="en-US" sz="1700" dirty="0"/>
          </a:p>
        </p:txBody>
      </p:sp>
      <p:sp>
        <p:nvSpPr>
          <p:cNvPr id="27" name="Text 20"/>
          <p:cNvSpPr txBox="1"/>
          <p:nvPr/>
        </p:nvSpPr>
        <p:spPr>
          <a:xfrm>
            <a:off x="822960" y="5120640"/>
            <a:ext cx="3026664"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Data, GPUs and better algorithms meet at ImageNet 2012.</a:t>
            </a:r>
            <a:endParaRPr lang="en-US" sz="1300" dirty="0"/>
          </a:p>
        </p:txBody>
      </p:sp>
      <p:sp>
        <p:nvSpPr>
          <p:cNvPr id="28" name="journey-4"/>
          <p:cNvSpPr/>
          <p:nvPr/>
        </p:nvSpPr>
        <p:spPr>
          <a:xfrm>
            <a:off x="4306824" y="3840480"/>
            <a:ext cx="3575304" cy="2286000"/>
          </a:xfrm>
          <a:prstGeom prst="rect">
            <a:avLst/>
          </a:prstGeom>
          <a:solidFill>
            <a:schemeClr val="bg2"/>
          </a:solidFill>
          <a:ln/>
        </p:spPr>
      </p:sp>
      <p:sp>
        <p:nvSpPr>
          <p:cNvPr id="29" name="Text 22"/>
          <p:cNvSpPr txBox="1"/>
          <p:nvPr/>
        </p:nvSpPr>
        <p:spPr>
          <a:xfrm>
            <a:off x="4581144" y="406908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05</a:t>
            </a:r>
            <a:endParaRPr lang="en-US" sz="2200" dirty="0"/>
          </a:p>
        </p:txBody>
      </p:sp>
      <p:sp>
        <p:nvSpPr>
          <p:cNvPr id="30" name="Shape 23"/>
          <p:cNvSpPr/>
          <p:nvPr/>
        </p:nvSpPr>
        <p:spPr>
          <a:xfrm>
            <a:off x="7104888" y="4069080"/>
            <a:ext cx="502920" cy="502920"/>
          </a:xfrm>
          <a:prstGeom prst="ellipse">
            <a:avLst/>
          </a:prstGeom>
          <a:solidFill>
            <a:schemeClr val="accent2"/>
          </a:solidFill>
          <a:ln/>
        </p:spPr>
      </p:sp>
      <p:pic>
        <p:nvPicPr>
          <p:cNvPr id="31" name="Image 4" descr="ProjectDiagram icon">    </p:cNvPr>
          <p:cNvPicPr>
            <a:picLocks noChangeAspect="1"/>
          </p:cNvPicPr>
          <p:nvPr/>
        </p:nvPicPr>
        <p:blipFill>
          <a:blip r:embed="rId5"/>
          <a:stretch>
            <a:fillRect/>
          </a:stretch>
        </p:blipFill>
        <p:spPr>
          <a:xfrm>
            <a:off x="7230618" y="4194810"/>
            <a:ext cx="251460" cy="251460"/>
          </a:xfrm>
          <a:prstGeom prst="rect">
            <a:avLst/>
          </a:prstGeom>
        </p:spPr>
      </p:pic>
      <p:sp>
        <p:nvSpPr>
          <p:cNvPr id="32" name="Text 24"/>
          <p:cNvSpPr txBox="1"/>
          <p:nvPr/>
        </p:nvSpPr>
        <p:spPr>
          <a:xfrm>
            <a:off x="4581144" y="470916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How a network learns</a:t>
            </a:r>
            <a:endParaRPr lang="en-US" sz="1700" dirty="0"/>
          </a:p>
        </p:txBody>
      </p:sp>
      <p:sp>
        <p:nvSpPr>
          <p:cNvPr id="33" name="Text 25"/>
          <p:cNvSpPr txBox="1"/>
          <p:nvPr/>
        </p:nvSpPr>
        <p:spPr>
          <a:xfrm>
            <a:off x="4581144" y="5120640"/>
            <a:ext cx="3026664"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Loss, gradient descent, backprop, SGD and modern optimizers.</a:t>
            </a:r>
            <a:endParaRPr lang="en-US" sz="1300" dirty="0"/>
          </a:p>
        </p:txBody>
      </p:sp>
      <p:sp>
        <p:nvSpPr>
          <p:cNvPr id="34" name="journey-5"/>
          <p:cNvSpPr/>
          <p:nvPr/>
        </p:nvSpPr>
        <p:spPr>
          <a:xfrm>
            <a:off x="8065008" y="3840480"/>
            <a:ext cx="3575304" cy="2286000"/>
          </a:xfrm>
          <a:prstGeom prst="rect">
            <a:avLst/>
          </a:prstGeom>
          <a:solidFill>
            <a:schemeClr val="bg2"/>
          </a:solidFill>
          <a:ln/>
        </p:spPr>
      </p:sp>
      <p:sp>
        <p:nvSpPr>
          <p:cNvPr id="35" name="Text 27"/>
          <p:cNvSpPr txBox="1"/>
          <p:nvPr/>
        </p:nvSpPr>
        <p:spPr>
          <a:xfrm>
            <a:off x="8339328" y="406908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06</a:t>
            </a:r>
            <a:endParaRPr lang="en-US" sz="2200" dirty="0"/>
          </a:p>
        </p:txBody>
      </p:sp>
      <p:sp>
        <p:nvSpPr>
          <p:cNvPr id="36" name="Shape 28"/>
          <p:cNvSpPr/>
          <p:nvPr/>
        </p:nvSpPr>
        <p:spPr>
          <a:xfrm>
            <a:off x="10863072" y="4069080"/>
            <a:ext cx="502920" cy="502920"/>
          </a:xfrm>
          <a:prstGeom prst="ellipse">
            <a:avLst/>
          </a:prstGeom>
          <a:solidFill>
            <a:schemeClr val="accent2"/>
          </a:solidFill>
          <a:ln/>
        </p:spPr>
      </p:sp>
      <p:pic>
        <p:nvPicPr>
          <p:cNvPr id="37" name="Image 5" descr="SlidersH icon">    </p:cNvPr>
          <p:cNvPicPr>
            <a:picLocks noChangeAspect="1"/>
          </p:cNvPicPr>
          <p:nvPr/>
        </p:nvPicPr>
        <p:blipFill>
          <a:blip r:embed="rId6"/>
          <a:stretch>
            <a:fillRect/>
          </a:stretch>
        </p:blipFill>
        <p:spPr>
          <a:xfrm>
            <a:off x="10988802" y="4194810"/>
            <a:ext cx="251460" cy="251460"/>
          </a:xfrm>
          <a:prstGeom prst="rect">
            <a:avLst/>
          </a:prstGeom>
        </p:spPr>
      </p:pic>
      <p:sp>
        <p:nvSpPr>
          <p:cNvPr id="38" name="Text 29"/>
          <p:cNvSpPr txBox="1"/>
          <p:nvPr/>
        </p:nvSpPr>
        <p:spPr>
          <a:xfrm>
            <a:off x="8339328" y="470916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Making it trainable</a:t>
            </a:r>
            <a:endParaRPr lang="en-US" sz="1700" dirty="0"/>
          </a:p>
        </p:txBody>
      </p:sp>
      <p:sp>
        <p:nvSpPr>
          <p:cNvPr id="39" name="Text 30"/>
          <p:cNvSpPr txBox="1"/>
          <p:nvPr/>
        </p:nvSpPr>
        <p:spPr>
          <a:xfrm>
            <a:off x="8339328" y="5120640"/>
            <a:ext cx="3026664"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Activations, initialization, batch norm and regularization.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828800"/>
            <a:ext cx="10698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PART 1 · WHY DEEP LEARNING</a:t>
            </a:r>
            <a:endParaRPr lang="en-US" sz="1400" dirty="0"/>
          </a:p>
        </p:txBody>
      </p:sp>
      <p:sp>
        <p:nvSpPr>
          <p:cNvPr id="3"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000" dirty="0">
                <a:solidFill>
                  <a:schemeClr val="bg1"/>
                </a:solidFill>
                <a:latin typeface="Cambria" pitchFamily="34" charset="0"/>
                <a:ea typeface="Cambria" pitchFamily="34" charset="-122"/>
                <a:cs typeface="Cambria" pitchFamily="34" charset="-120"/>
              </a:rPr>
              <a:t>Where classical machine learning hits a wall</a:t>
            </a:r>
            <a:endParaRPr lang="en-US" sz="4000" dirty="0"/>
          </a:p>
        </p:txBody>
      </p:sp>
      <p:sp>
        <p:nvSpPr>
          <p:cNvPr id="4"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And how deep learning changed the answer in industry after industry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Classical ML learns from features someone designed</a:t>
            </a:r>
            <a:endParaRPr lang="en-US" sz="3200" dirty="0"/>
          </a:p>
        </p:txBody>
      </p:sp>
      <p:sp>
        <p:nvSpPr>
          <p:cNvPr id="4" name="Text 1"/>
          <p:cNvSpPr txBox="1"/>
          <p:nvPr/>
        </p:nvSpPr>
        <p:spPr>
          <a:xfrm>
            <a:off x="548640" y="1280160"/>
            <a:ext cx="54864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Classical machine learning</a:t>
            </a:r>
            <a:endParaRPr lang="en-US" sz="1400" dirty="0"/>
          </a:p>
        </p:txBody>
      </p:sp>
      <p:sp>
        <p:nvSpPr>
          <p:cNvPr id="5" name="Text 2"/>
          <p:cNvSpPr txBox="1"/>
          <p:nvPr/>
        </p:nvSpPr>
        <p:spPr>
          <a:xfrm>
            <a:off x="548640" y="3337560"/>
            <a:ext cx="54864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Deep learning</a:t>
            </a:r>
            <a:endParaRPr lang="en-US" sz="1400" dirty="0"/>
          </a:p>
        </p:txBody>
      </p:sp>
      <p:sp>
        <p:nvSpPr>
          <p:cNvPr id="6" name="Shape 3"/>
          <p:cNvSpPr/>
          <p:nvPr/>
        </p:nvSpPr>
        <p:spPr>
          <a:xfrm>
            <a:off x="548640" y="1645920"/>
            <a:ext cx="2450592" cy="1097280"/>
          </a:xfrm>
          <a:prstGeom prst="rect">
            <a:avLst/>
          </a:prstGeom>
          <a:solidFill>
            <a:schemeClr val="bg2"/>
          </a:solidFill>
          <a:ln/>
        </p:spPr>
      </p:sp>
      <p:sp>
        <p:nvSpPr>
          <p:cNvPr id="7" name="Text 4"/>
          <p:cNvSpPr txBox="1"/>
          <p:nvPr/>
        </p:nvSpPr>
        <p:spPr>
          <a:xfrm>
            <a:off x="685800" y="1828800"/>
            <a:ext cx="2176272"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Raw data</a:t>
            </a:r>
            <a:endParaRPr lang="en-US" sz="1500" dirty="0"/>
          </a:p>
        </p:txBody>
      </p:sp>
      <p:sp>
        <p:nvSpPr>
          <p:cNvPr id="8" name="Text 5"/>
          <p:cNvSpPr txBox="1"/>
          <p:nvPr/>
        </p:nvSpPr>
        <p:spPr>
          <a:xfrm>
            <a:off x="685800" y="2194560"/>
            <a:ext cx="2176272" cy="4572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pixels, audio, text</a:t>
            </a:r>
            <a:endParaRPr lang="en-US" sz="1200" dirty="0"/>
          </a:p>
        </p:txBody>
      </p:sp>
      <p:sp>
        <p:nvSpPr>
          <p:cNvPr id="9" name="Shape 6"/>
          <p:cNvSpPr/>
          <p:nvPr/>
        </p:nvSpPr>
        <p:spPr>
          <a:xfrm>
            <a:off x="3044952" y="2194560"/>
            <a:ext cx="338328" cy="914"/>
          </a:xfrm>
          <a:prstGeom prst="line">
            <a:avLst/>
          </a:prstGeom>
          <a:noFill/>
          <a:ln w="19050">
            <a:solidFill>
              <a:srgbClr val="7A8793"/>
            </a:solidFill>
            <a:prstDash val="solid"/>
            <a:tailEnd type="triangle"/>
          </a:ln>
        </p:spPr>
      </p:sp>
      <p:sp>
        <p:nvSpPr>
          <p:cNvPr id="10" name="Shape 7"/>
          <p:cNvSpPr/>
          <p:nvPr/>
        </p:nvSpPr>
        <p:spPr>
          <a:xfrm>
            <a:off x="3429000" y="1645920"/>
            <a:ext cx="2450592" cy="1097280"/>
          </a:xfrm>
          <a:prstGeom prst="rect">
            <a:avLst/>
          </a:prstGeom>
          <a:solidFill>
            <a:schemeClr val="accent2"/>
          </a:solidFill>
          <a:ln/>
        </p:spPr>
      </p:sp>
      <p:sp>
        <p:nvSpPr>
          <p:cNvPr id="11" name="Text 8"/>
          <p:cNvSpPr txBox="1"/>
          <p:nvPr/>
        </p:nvSpPr>
        <p:spPr>
          <a:xfrm>
            <a:off x="3566160" y="1828800"/>
            <a:ext cx="2176272" cy="32004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Hand-crafted features</a:t>
            </a:r>
            <a:endParaRPr lang="en-US" sz="1500" dirty="0"/>
          </a:p>
        </p:txBody>
      </p:sp>
      <p:sp>
        <p:nvSpPr>
          <p:cNvPr id="12" name="Text 9"/>
          <p:cNvSpPr txBox="1"/>
          <p:nvPr/>
        </p:nvSpPr>
        <p:spPr>
          <a:xfrm>
            <a:off x="3566160" y="2194560"/>
            <a:ext cx="2176272"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SIFT, HOG, MFCC, n-grams, ratios</a:t>
            </a:r>
            <a:endParaRPr lang="en-US" sz="1200" dirty="0"/>
          </a:p>
        </p:txBody>
      </p:sp>
      <p:sp>
        <p:nvSpPr>
          <p:cNvPr id="13" name="Shape 10"/>
          <p:cNvSpPr/>
          <p:nvPr/>
        </p:nvSpPr>
        <p:spPr>
          <a:xfrm>
            <a:off x="5925312" y="2194560"/>
            <a:ext cx="338328" cy="914"/>
          </a:xfrm>
          <a:prstGeom prst="line">
            <a:avLst/>
          </a:prstGeom>
          <a:noFill/>
          <a:ln w="19050">
            <a:solidFill>
              <a:srgbClr val="7A8793"/>
            </a:solidFill>
            <a:prstDash val="solid"/>
            <a:tailEnd type="triangle"/>
          </a:ln>
        </p:spPr>
      </p:sp>
      <p:sp>
        <p:nvSpPr>
          <p:cNvPr id="14" name="Shape 11"/>
          <p:cNvSpPr/>
          <p:nvPr/>
        </p:nvSpPr>
        <p:spPr>
          <a:xfrm>
            <a:off x="6309360" y="1645920"/>
            <a:ext cx="2450592" cy="1097280"/>
          </a:xfrm>
          <a:prstGeom prst="rect">
            <a:avLst/>
          </a:prstGeom>
          <a:solidFill>
            <a:schemeClr val="bg2"/>
          </a:solidFill>
          <a:ln/>
        </p:spPr>
      </p:sp>
      <p:sp>
        <p:nvSpPr>
          <p:cNvPr id="15" name="Text 12"/>
          <p:cNvSpPr txBox="1"/>
          <p:nvPr/>
        </p:nvSpPr>
        <p:spPr>
          <a:xfrm>
            <a:off x="6446520" y="1828800"/>
            <a:ext cx="2176272"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Classical model</a:t>
            </a:r>
            <a:endParaRPr lang="en-US" sz="1500" dirty="0"/>
          </a:p>
        </p:txBody>
      </p:sp>
      <p:sp>
        <p:nvSpPr>
          <p:cNvPr id="16" name="Text 13"/>
          <p:cNvSpPr txBox="1"/>
          <p:nvPr/>
        </p:nvSpPr>
        <p:spPr>
          <a:xfrm>
            <a:off x="6446520" y="2194560"/>
            <a:ext cx="2176272" cy="4572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SVM, random forest, logistic regression</a:t>
            </a:r>
            <a:endParaRPr lang="en-US" sz="1200" dirty="0"/>
          </a:p>
        </p:txBody>
      </p:sp>
      <p:sp>
        <p:nvSpPr>
          <p:cNvPr id="17" name="Shape 14"/>
          <p:cNvSpPr/>
          <p:nvPr/>
        </p:nvSpPr>
        <p:spPr>
          <a:xfrm>
            <a:off x="8805672" y="2194560"/>
            <a:ext cx="338328" cy="914"/>
          </a:xfrm>
          <a:prstGeom prst="line">
            <a:avLst/>
          </a:prstGeom>
          <a:noFill/>
          <a:ln w="19050">
            <a:solidFill>
              <a:srgbClr val="7A8793"/>
            </a:solidFill>
            <a:prstDash val="solid"/>
            <a:tailEnd type="triangle"/>
          </a:ln>
        </p:spPr>
      </p:sp>
      <p:sp>
        <p:nvSpPr>
          <p:cNvPr id="18" name="Shape 15"/>
          <p:cNvSpPr/>
          <p:nvPr/>
        </p:nvSpPr>
        <p:spPr>
          <a:xfrm>
            <a:off x="9189720" y="1645920"/>
            <a:ext cx="2450592" cy="1097280"/>
          </a:xfrm>
          <a:prstGeom prst="rect">
            <a:avLst/>
          </a:prstGeom>
          <a:solidFill>
            <a:schemeClr val="tx1"/>
          </a:solidFill>
          <a:ln/>
        </p:spPr>
      </p:sp>
      <p:sp>
        <p:nvSpPr>
          <p:cNvPr id="19" name="Text 16"/>
          <p:cNvSpPr txBox="1"/>
          <p:nvPr/>
        </p:nvSpPr>
        <p:spPr>
          <a:xfrm>
            <a:off x="9326880" y="1828800"/>
            <a:ext cx="2176272" cy="32004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Prediction</a:t>
            </a:r>
            <a:endParaRPr lang="en-US" sz="1500" dirty="0"/>
          </a:p>
        </p:txBody>
      </p:sp>
      <p:sp>
        <p:nvSpPr>
          <p:cNvPr id="20" name="Text 17"/>
          <p:cNvSpPr txBox="1"/>
          <p:nvPr/>
        </p:nvSpPr>
        <p:spPr>
          <a:xfrm>
            <a:off x="3429000" y="2807208"/>
            <a:ext cx="2450592" cy="274320"/>
          </a:xfrm>
          <a:prstGeom prst="rect">
            <a:avLst/>
          </a:prstGeom>
          <a:noFill/>
          <a:ln/>
        </p:spPr>
        <p:txBody>
          <a:bodyPr wrap="square" lIns="0" tIns="0" rIns="0" bIns="0" rtlCol="0" anchor="t"/>
          <a:lstStyle/>
          <a:p>
            <a:pPr algn="ctr" indent="0" marL="0">
              <a:buNone/>
            </a:pPr>
            <a:r>
              <a:rPr lang="en-US" sz="1100" i="1" dirty="0">
                <a:solidFill>
                  <a:schemeClr val="accent2"/>
                </a:solidFill>
                <a:latin typeface="Calibri" pitchFamily="34" charset="0"/>
                <a:ea typeface="Calibri" pitchFamily="34" charset="-122"/>
                <a:cs typeface="Calibri" pitchFamily="34" charset="-120"/>
              </a:rPr>
              <a:t>Designed by a human expert</a:t>
            </a:r>
            <a:endParaRPr lang="en-US" sz="1100" dirty="0"/>
          </a:p>
        </p:txBody>
      </p:sp>
      <p:sp>
        <p:nvSpPr>
          <p:cNvPr id="21" name="Shape 18"/>
          <p:cNvSpPr/>
          <p:nvPr/>
        </p:nvSpPr>
        <p:spPr>
          <a:xfrm>
            <a:off x="548640" y="3703320"/>
            <a:ext cx="2450592" cy="1097280"/>
          </a:xfrm>
          <a:prstGeom prst="rect">
            <a:avLst/>
          </a:prstGeom>
          <a:solidFill>
            <a:schemeClr val="bg2"/>
          </a:solidFill>
          <a:ln/>
        </p:spPr>
      </p:sp>
      <p:sp>
        <p:nvSpPr>
          <p:cNvPr id="22" name="Text 19"/>
          <p:cNvSpPr txBox="1"/>
          <p:nvPr/>
        </p:nvSpPr>
        <p:spPr>
          <a:xfrm>
            <a:off x="685800" y="3886200"/>
            <a:ext cx="2176272"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Raw data</a:t>
            </a:r>
            <a:endParaRPr lang="en-US" sz="1500" dirty="0"/>
          </a:p>
        </p:txBody>
      </p:sp>
      <p:sp>
        <p:nvSpPr>
          <p:cNvPr id="23" name="Text 20"/>
          <p:cNvSpPr txBox="1"/>
          <p:nvPr/>
        </p:nvSpPr>
        <p:spPr>
          <a:xfrm>
            <a:off x="685800" y="4251960"/>
            <a:ext cx="2176272" cy="45720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the same pixels, audio, text</a:t>
            </a:r>
            <a:endParaRPr lang="en-US" sz="1200" dirty="0"/>
          </a:p>
        </p:txBody>
      </p:sp>
      <p:sp>
        <p:nvSpPr>
          <p:cNvPr id="24" name="Shape 21"/>
          <p:cNvSpPr/>
          <p:nvPr/>
        </p:nvSpPr>
        <p:spPr>
          <a:xfrm>
            <a:off x="3044952" y="4251960"/>
            <a:ext cx="338328" cy="914"/>
          </a:xfrm>
          <a:prstGeom prst="line">
            <a:avLst/>
          </a:prstGeom>
          <a:noFill/>
          <a:ln w="19050">
            <a:solidFill>
              <a:srgbClr val="7A8793"/>
            </a:solidFill>
            <a:prstDash val="solid"/>
            <a:tailEnd type="triangle"/>
          </a:ln>
        </p:spPr>
      </p:sp>
      <p:sp>
        <p:nvSpPr>
          <p:cNvPr id="25" name="Shape 22"/>
          <p:cNvSpPr/>
          <p:nvPr/>
        </p:nvSpPr>
        <p:spPr>
          <a:xfrm>
            <a:off x="3429000" y="3703320"/>
            <a:ext cx="5330952" cy="1097280"/>
          </a:xfrm>
          <a:prstGeom prst="rect">
            <a:avLst/>
          </a:prstGeom>
          <a:solidFill>
            <a:schemeClr val="accent1"/>
          </a:solidFill>
          <a:ln/>
        </p:spPr>
      </p:sp>
      <p:sp>
        <p:nvSpPr>
          <p:cNvPr id="26" name="Shape 23"/>
          <p:cNvSpPr/>
          <p:nvPr/>
        </p:nvSpPr>
        <p:spPr>
          <a:xfrm>
            <a:off x="3611880" y="3886200"/>
            <a:ext cx="1078992" cy="731520"/>
          </a:xfrm>
          <a:prstGeom prst="roundRect">
            <a:avLst>
              <a:gd name="adj" fmla="val 10000"/>
            </a:avLst>
          </a:prstGeom>
          <a:solidFill>
            <a:schemeClr val="bg1"/>
          </a:solidFill>
          <a:ln/>
        </p:spPr>
      </p:sp>
      <p:sp>
        <p:nvSpPr>
          <p:cNvPr id="27" name="Text 24"/>
          <p:cNvSpPr txBox="1"/>
          <p:nvPr/>
        </p:nvSpPr>
        <p:spPr>
          <a:xfrm>
            <a:off x="3611880" y="3950208"/>
            <a:ext cx="1078992" cy="64008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layer 1</a:t>
            </a:r>
            <a:endParaRPr lang="en-US" sz="1300" dirty="0"/>
          </a:p>
          <a:p>
            <a:pPr algn="ctr" indent="0" marL="0">
              <a:buNone/>
            </a:pPr>
            <a:r>
              <a:rPr lang="en-US" sz="1300" b="1" dirty="0">
                <a:solidFill>
                  <a:schemeClr val="tx1"/>
                </a:solidFill>
                <a:latin typeface="Calibri" pitchFamily="34" charset="0"/>
                <a:ea typeface="Calibri" pitchFamily="34" charset="-122"/>
                <a:cs typeface="Calibri" pitchFamily="34" charset="-120"/>
              </a:rPr>
              <a:t>edges</a:t>
            </a:r>
            <a:endParaRPr lang="en-US" sz="1300" dirty="0"/>
          </a:p>
        </p:txBody>
      </p:sp>
      <p:sp>
        <p:nvSpPr>
          <p:cNvPr id="28" name="Shape 25"/>
          <p:cNvSpPr/>
          <p:nvPr/>
        </p:nvSpPr>
        <p:spPr>
          <a:xfrm>
            <a:off x="4873752" y="3886200"/>
            <a:ext cx="1078992" cy="731520"/>
          </a:xfrm>
          <a:prstGeom prst="roundRect">
            <a:avLst>
              <a:gd name="adj" fmla="val 10000"/>
            </a:avLst>
          </a:prstGeom>
          <a:solidFill>
            <a:schemeClr val="bg1"/>
          </a:solidFill>
          <a:ln/>
        </p:spPr>
      </p:sp>
      <p:sp>
        <p:nvSpPr>
          <p:cNvPr id="29" name="Text 26"/>
          <p:cNvSpPr txBox="1"/>
          <p:nvPr/>
        </p:nvSpPr>
        <p:spPr>
          <a:xfrm>
            <a:off x="4873752" y="3950208"/>
            <a:ext cx="1078992" cy="64008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layer 2</a:t>
            </a:r>
            <a:endParaRPr lang="en-US" sz="1300" dirty="0"/>
          </a:p>
          <a:p>
            <a:pPr algn="ctr" indent="0" marL="0">
              <a:buNone/>
            </a:pPr>
            <a:r>
              <a:rPr lang="en-US" sz="1300" b="1" dirty="0">
                <a:solidFill>
                  <a:schemeClr val="tx1"/>
                </a:solidFill>
                <a:latin typeface="Calibri" pitchFamily="34" charset="0"/>
                <a:ea typeface="Calibri" pitchFamily="34" charset="-122"/>
                <a:cs typeface="Calibri" pitchFamily="34" charset="-120"/>
              </a:rPr>
              <a:t>textures</a:t>
            </a:r>
            <a:endParaRPr lang="en-US" sz="1300" dirty="0"/>
          </a:p>
        </p:txBody>
      </p:sp>
      <p:sp>
        <p:nvSpPr>
          <p:cNvPr id="30" name="Shape 27"/>
          <p:cNvSpPr/>
          <p:nvPr/>
        </p:nvSpPr>
        <p:spPr>
          <a:xfrm>
            <a:off x="6135624" y="3886200"/>
            <a:ext cx="1078992" cy="731520"/>
          </a:xfrm>
          <a:prstGeom prst="roundRect">
            <a:avLst>
              <a:gd name="adj" fmla="val 10000"/>
            </a:avLst>
          </a:prstGeom>
          <a:solidFill>
            <a:schemeClr val="bg1"/>
          </a:solidFill>
          <a:ln/>
        </p:spPr>
      </p:sp>
      <p:sp>
        <p:nvSpPr>
          <p:cNvPr id="31" name="Text 28"/>
          <p:cNvSpPr txBox="1"/>
          <p:nvPr/>
        </p:nvSpPr>
        <p:spPr>
          <a:xfrm>
            <a:off x="6135624" y="3950208"/>
            <a:ext cx="1078992" cy="64008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layer 3</a:t>
            </a:r>
            <a:endParaRPr lang="en-US" sz="1300" dirty="0"/>
          </a:p>
          <a:p>
            <a:pPr algn="ctr" indent="0" marL="0">
              <a:buNone/>
            </a:pPr>
            <a:r>
              <a:rPr lang="en-US" sz="1300" b="1" dirty="0">
                <a:solidFill>
                  <a:schemeClr val="tx1"/>
                </a:solidFill>
                <a:latin typeface="Calibri" pitchFamily="34" charset="0"/>
                <a:ea typeface="Calibri" pitchFamily="34" charset="-122"/>
                <a:cs typeface="Calibri" pitchFamily="34" charset="-120"/>
              </a:rPr>
              <a:t>parts</a:t>
            </a:r>
            <a:endParaRPr lang="en-US" sz="1300" dirty="0"/>
          </a:p>
        </p:txBody>
      </p:sp>
      <p:sp>
        <p:nvSpPr>
          <p:cNvPr id="32" name="Shape 29"/>
          <p:cNvSpPr/>
          <p:nvPr/>
        </p:nvSpPr>
        <p:spPr>
          <a:xfrm>
            <a:off x="7397496" y="3886200"/>
            <a:ext cx="1078992" cy="731520"/>
          </a:xfrm>
          <a:prstGeom prst="roundRect">
            <a:avLst>
              <a:gd name="adj" fmla="val 10000"/>
            </a:avLst>
          </a:prstGeom>
          <a:solidFill>
            <a:schemeClr val="bg1"/>
          </a:solidFill>
          <a:ln/>
        </p:spPr>
      </p:sp>
      <p:sp>
        <p:nvSpPr>
          <p:cNvPr id="33" name="Text 30"/>
          <p:cNvSpPr txBox="1"/>
          <p:nvPr/>
        </p:nvSpPr>
        <p:spPr>
          <a:xfrm>
            <a:off x="7397496" y="3950208"/>
            <a:ext cx="1078992" cy="64008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layer 4</a:t>
            </a:r>
            <a:endParaRPr lang="en-US" sz="1300" dirty="0"/>
          </a:p>
          <a:p>
            <a:pPr algn="ctr" indent="0" marL="0">
              <a:buNone/>
            </a:pPr>
            <a:r>
              <a:rPr lang="en-US" sz="1300" b="1" dirty="0">
                <a:solidFill>
                  <a:schemeClr val="tx1"/>
                </a:solidFill>
                <a:latin typeface="Calibri" pitchFamily="34" charset="0"/>
                <a:ea typeface="Calibri" pitchFamily="34" charset="-122"/>
                <a:cs typeface="Calibri" pitchFamily="34" charset="-120"/>
              </a:rPr>
              <a:t>objects</a:t>
            </a:r>
            <a:endParaRPr lang="en-US" sz="1300" dirty="0"/>
          </a:p>
        </p:txBody>
      </p:sp>
      <p:sp>
        <p:nvSpPr>
          <p:cNvPr id="34" name="Text 31"/>
          <p:cNvSpPr txBox="1"/>
          <p:nvPr/>
        </p:nvSpPr>
        <p:spPr>
          <a:xfrm>
            <a:off x="3429000" y="4864608"/>
            <a:ext cx="5330952" cy="274320"/>
          </a:xfrm>
          <a:prstGeom prst="rect">
            <a:avLst/>
          </a:prstGeom>
          <a:noFill/>
          <a:ln/>
        </p:spPr>
        <p:txBody>
          <a:bodyPr wrap="square" lIns="0" tIns="0" rIns="0" bIns="0" rtlCol="0" anchor="t"/>
          <a:lstStyle/>
          <a:p>
            <a:pPr algn="ctr" indent="0" marL="0">
              <a:buNone/>
            </a:pPr>
            <a:r>
              <a:rPr lang="en-US" sz="1100" i="1" dirty="0">
                <a:solidFill>
                  <a:schemeClr val="accent1"/>
                </a:solidFill>
                <a:latin typeface="Calibri" pitchFamily="34" charset="0"/>
                <a:ea typeface="Calibri" pitchFamily="34" charset="-122"/>
                <a:cs typeface="Calibri" pitchFamily="34" charset="-120"/>
              </a:rPr>
              <a:t>Features learned from data, layer by layer</a:t>
            </a:r>
            <a:endParaRPr lang="en-US" sz="1100" dirty="0"/>
          </a:p>
        </p:txBody>
      </p:sp>
      <p:sp>
        <p:nvSpPr>
          <p:cNvPr id="35" name="Shape 32"/>
          <p:cNvSpPr/>
          <p:nvPr/>
        </p:nvSpPr>
        <p:spPr>
          <a:xfrm>
            <a:off x="8805672" y="4251960"/>
            <a:ext cx="338328" cy="914"/>
          </a:xfrm>
          <a:prstGeom prst="line">
            <a:avLst/>
          </a:prstGeom>
          <a:noFill/>
          <a:ln w="19050">
            <a:solidFill>
              <a:srgbClr val="7A8793"/>
            </a:solidFill>
            <a:prstDash val="solid"/>
            <a:tailEnd type="triangle"/>
          </a:ln>
        </p:spPr>
      </p:sp>
      <p:sp>
        <p:nvSpPr>
          <p:cNvPr id="36" name="Shape 33"/>
          <p:cNvSpPr/>
          <p:nvPr/>
        </p:nvSpPr>
        <p:spPr>
          <a:xfrm>
            <a:off x="9189720" y="3703320"/>
            <a:ext cx="2450592" cy="1097280"/>
          </a:xfrm>
          <a:prstGeom prst="rect">
            <a:avLst/>
          </a:prstGeom>
          <a:solidFill>
            <a:schemeClr val="tx1"/>
          </a:solidFill>
          <a:ln/>
        </p:spPr>
      </p:sp>
      <p:sp>
        <p:nvSpPr>
          <p:cNvPr id="37" name="Text 34"/>
          <p:cNvSpPr txBox="1"/>
          <p:nvPr/>
        </p:nvSpPr>
        <p:spPr>
          <a:xfrm>
            <a:off x="9326880" y="3886200"/>
            <a:ext cx="2176272" cy="32004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Prediction</a:t>
            </a:r>
            <a:endParaRPr lang="en-US" sz="1500" dirty="0"/>
          </a:p>
        </p:txBody>
      </p:sp>
      <p:sp>
        <p:nvSpPr>
          <p:cNvPr id="38" name="Shape 35"/>
          <p:cNvSpPr/>
          <p:nvPr/>
        </p:nvSpPr>
        <p:spPr>
          <a:xfrm>
            <a:off x="548640" y="5486400"/>
            <a:ext cx="11091672" cy="640080"/>
          </a:xfrm>
          <a:prstGeom prst="rect">
            <a:avLst/>
          </a:prstGeom>
          <a:solidFill>
            <a:schemeClr val="tx1"/>
          </a:solidFill>
          <a:ln/>
        </p:spPr>
      </p:sp>
      <p:sp>
        <p:nvSpPr>
          <p:cNvPr id="39" name="Text 36"/>
          <p:cNvSpPr txBox="1"/>
          <p:nvPr/>
        </p:nvSpPr>
        <p:spPr>
          <a:xfrm>
            <a:off x="777240" y="548640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The bottleneck moved.  </a:t>
            </a:r>
            <a:pPr indent="0" marL="0">
              <a:buNone/>
            </a:pPr>
            <a:r>
              <a:rPr lang="en-US" sz="1400" dirty="0">
                <a:solidFill>
                  <a:schemeClr val="bg1"/>
                </a:solidFill>
                <a:latin typeface="Calibri" pitchFamily="34" charset="0"/>
                <a:ea typeface="Calibri" pitchFamily="34" charset="-122"/>
                <a:cs typeface="Calibri" pitchFamily="34" charset="-120"/>
              </a:rPr>
              <a:t>Classical ML is limited by how good the hand-made features are; deep learning by data and compute, which kept getting cheaper.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Four walls classical ML runs into</a:t>
            </a:r>
            <a:endParaRPr lang="en-US" sz="3200" dirty="0"/>
          </a:p>
        </p:txBody>
      </p:sp>
      <p:sp>
        <p:nvSpPr>
          <p:cNvPr id="4" name="Shape 1"/>
          <p:cNvSpPr/>
          <p:nvPr/>
        </p:nvSpPr>
        <p:spPr>
          <a:xfrm>
            <a:off x="548640" y="1325880"/>
            <a:ext cx="3246120" cy="2286000"/>
          </a:xfrm>
          <a:prstGeom prst="rect">
            <a:avLst/>
          </a:prstGeom>
          <a:solidFill>
            <a:schemeClr val="bg2"/>
          </a:solidFill>
          <a:ln/>
        </p:spPr>
      </p:sp>
      <p:sp>
        <p:nvSpPr>
          <p:cNvPr id="5" name="Shape 2"/>
          <p:cNvSpPr/>
          <p:nvPr/>
        </p:nvSpPr>
        <p:spPr>
          <a:xfrm>
            <a:off x="777240" y="1554480"/>
            <a:ext cx="502920" cy="502920"/>
          </a:xfrm>
          <a:prstGeom prst="ellipse">
            <a:avLst/>
          </a:prstGeom>
          <a:solidFill>
            <a:schemeClr val="accent3"/>
          </a:solidFill>
          <a:ln/>
        </p:spPr>
      </p:sp>
      <p:pic>
        <p:nvPicPr>
          <p:cNvPr id="6" name="Image 0" descr="Image icon">    </p:cNvPr>
          <p:cNvPicPr>
            <a:picLocks noChangeAspect="1"/>
          </p:cNvPicPr>
          <p:nvPr/>
        </p:nvPicPr>
        <p:blipFill>
          <a:blip r:embed="rId1"/>
          <a:stretch>
            <a:fillRect/>
          </a:stretch>
        </p:blipFill>
        <p:spPr>
          <a:xfrm>
            <a:off x="902970" y="1680210"/>
            <a:ext cx="251460" cy="251460"/>
          </a:xfrm>
          <a:prstGeom prst="rect">
            <a:avLst/>
          </a:prstGeom>
        </p:spPr>
      </p:pic>
      <p:sp>
        <p:nvSpPr>
          <p:cNvPr id="7" name="Text 3"/>
          <p:cNvSpPr txBox="1"/>
          <p:nvPr/>
        </p:nvSpPr>
        <p:spPr>
          <a:xfrm>
            <a:off x="777240" y="2194560"/>
            <a:ext cx="278892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Raw input is huge and unstructured</a:t>
            </a:r>
            <a:endParaRPr lang="en-US" sz="1400" dirty="0"/>
          </a:p>
        </p:txBody>
      </p:sp>
      <p:sp>
        <p:nvSpPr>
          <p:cNvPr id="8" name="Text 4"/>
          <p:cNvSpPr txBox="1"/>
          <p:nvPr/>
        </p:nvSpPr>
        <p:spPr>
          <a:xfrm>
            <a:off x="777240" y="2651760"/>
            <a:ext cx="2834640" cy="9144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A 224 × 224 colour image is 150,528 numbers. No single pixel means anything; meaning lives in patterns across thousands.</a:t>
            </a:r>
            <a:endParaRPr lang="en-US" sz="1200" dirty="0"/>
          </a:p>
        </p:txBody>
      </p:sp>
      <p:sp>
        <p:nvSpPr>
          <p:cNvPr id="9" name="Shape 5"/>
          <p:cNvSpPr/>
          <p:nvPr/>
        </p:nvSpPr>
        <p:spPr>
          <a:xfrm>
            <a:off x="3977640" y="1325880"/>
            <a:ext cx="3246120" cy="2286000"/>
          </a:xfrm>
          <a:prstGeom prst="rect">
            <a:avLst/>
          </a:prstGeom>
          <a:solidFill>
            <a:schemeClr val="bg2"/>
          </a:solidFill>
          <a:ln/>
        </p:spPr>
      </p:sp>
      <p:sp>
        <p:nvSpPr>
          <p:cNvPr id="10" name="Shape 6"/>
          <p:cNvSpPr/>
          <p:nvPr/>
        </p:nvSpPr>
        <p:spPr>
          <a:xfrm>
            <a:off x="4206240" y="1554480"/>
            <a:ext cx="502920" cy="502920"/>
          </a:xfrm>
          <a:prstGeom prst="ellipse">
            <a:avLst/>
          </a:prstGeom>
          <a:solidFill>
            <a:schemeClr val="accent3"/>
          </a:solidFill>
          <a:ln/>
        </p:spPr>
      </p:sp>
      <p:pic>
        <p:nvPicPr>
          <p:cNvPr id="11" name="Image 1" descr="Tools icon">    </p:cNvPr>
          <p:cNvPicPr>
            <a:picLocks noChangeAspect="1"/>
          </p:cNvPicPr>
          <p:nvPr/>
        </p:nvPicPr>
        <p:blipFill>
          <a:blip r:embed="rId2"/>
          <a:stretch>
            <a:fillRect/>
          </a:stretch>
        </p:blipFill>
        <p:spPr>
          <a:xfrm>
            <a:off x="4331970" y="1680210"/>
            <a:ext cx="251460" cy="251460"/>
          </a:xfrm>
          <a:prstGeom prst="rect">
            <a:avLst/>
          </a:prstGeom>
        </p:spPr>
      </p:pic>
      <p:sp>
        <p:nvSpPr>
          <p:cNvPr id="12" name="Text 7"/>
          <p:cNvSpPr txBox="1"/>
          <p:nvPr/>
        </p:nvSpPr>
        <p:spPr>
          <a:xfrm>
            <a:off x="4206240" y="2194560"/>
            <a:ext cx="278892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Features must be engineered by hand</a:t>
            </a:r>
            <a:endParaRPr lang="en-US" sz="1400" dirty="0"/>
          </a:p>
        </p:txBody>
      </p:sp>
      <p:sp>
        <p:nvSpPr>
          <p:cNvPr id="13" name="Text 8"/>
          <p:cNvSpPr txBox="1"/>
          <p:nvPr/>
        </p:nvSpPr>
        <p:spPr>
          <a:xfrm>
            <a:off x="4206240" y="2651760"/>
            <a:ext cx="2834640" cy="9144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SIFT and HOG for vision, MFCCs for speech, n-grams for text: each took experts years and breaks when conditions change.</a:t>
            </a:r>
            <a:endParaRPr lang="en-US" sz="1200" dirty="0"/>
          </a:p>
        </p:txBody>
      </p:sp>
      <p:sp>
        <p:nvSpPr>
          <p:cNvPr id="14" name="Shape 9"/>
          <p:cNvSpPr/>
          <p:nvPr/>
        </p:nvSpPr>
        <p:spPr>
          <a:xfrm>
            <a:off x="548640" y="3749040"/>
            <a:ext cx="3246120" cy="2286000"/>
          </a:xfrm>
          <a:prstGeom prst="rect">
            <a:avLst/>
          </a:prstGeom>
          <a:solidFill>
            <a:schemeClr val="bg2"/>
          </a:solidFill>
          <a:ln/>
        </p:spPr>
      </p:sp>
      <p:sp>
        <p:nvSpPr>
          <p:cNvPr id="15" name="Shape 10"/>
          <p:cNvSpPr/>
          <p:nvPr/>
        </p:nvSpPr>
        <p:spPr>
          <a:xfrm>
            <a:off x="777240" y="3977640"/>
            <a:ext cx="502920" cy="502920"/>
          </a:xfrm>
          <a:prstGeom prst="ellipse">
            <a:avLst/>
          </a:prstGeom>
          <a:solidFill>
            <a:schemeClr val="accent3"/>
          </a:solidFill>
          <a:ln/>
        </p:spPr>
      </p:sp>
      <p:pic>
        <p:nvPicPr>
          <p:cNvPr id="16" name="Image 2" descr="ChartLine icon">    </p:cNvPr>
          <p:cNvPicPr>
            <a:picLocks noChangeAspect="1"/>
          </p:cNvPicPr>
          <p:nvPr/>
        </p:nvPicPr>
        <p:blipFill>
          <a:blip r:embed="rId3"/>
          <a:stretch>
            <a:fillRect/>
          </a:stretch>
        </p:blipFill>
        <p:spPr>
          <a:xfrm>
            <a:off x="902970" y="4103370"/>
            <a:ext cx="251460" cy="251460"/>
          </a:xfrm>
          <a:prstGeom prst="rect">
            <a:avLst/>
          </a:prstGeom>
        </p:spPr>
      </p:pic>
      <p:sp>
        <p:nvSpPr>
          <p:cNvPr id="17" name="Text 11"/>
          <p:cNvSpPr txBox="1"/>
          <p:nvPr/>
        </p:nvSpPr>
        <p:spPr>
          <a:xfrm>
            <a:off x="777240" y="4617720"/>
            <a:ext cx="278892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More data stops helping</a:t>
            </a:r>
            <a:endParaRPr lang="en-US" sz="1400" dirty="0"/>
          </a:p>
        </p:txBody>
      </p:sp>
      <p:sp>
        <p:nvSpPr>
          <p:cNvPr id="18" name="Text 12"/>
          <p:cNvSpPr txBox="1"/>
          <p:nvPr/>
        </p:nvSpPr>
        <p:spPr>
          <a:xfrm>
            <a:off x="777240" y="5074920"/>
            <a:ext cx="2834640" cy="9144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Linear models and trees saturate; kernel SVMs need time and memory that grow with the square of the data or worse.</a:t>
            </a:r>
            <a:endParaRPr lang="en-US" sz="1200" dirty="0"/>
          </a:p>
        </p:txBody>
      </p:sp>
      <p:sp>
        <p:nvSpPr>
          <p:cNvPr id="19" name="Shape 13"/>
          <p:cNvSpPr/>
          <p:nvPr/>
        </p:nvSpPr>
        <p:spPr>
          <a:xfrm>
            <a:off x="3977640" y="3749040"/>
            <a:ext cx="3246120" cy="2286000"/>
          </a:xfrm>
          <a:prstGeom prst="rect">
            <a:avLst/>
          </a:prstGeom>
          <a:solidFill>
            <a:schemeClr val="bg2"/>
          </a:solidFill>
          <a:ln/>
        </p:spPr>
      </p:sp>
      <p:sp>
        <p:nvSpPr>
          <p:cNvPr id="20" name="Shape 14"/>
          <p:cNvSpPr/>
          <p:nvPr/>
        </p:nvSpPr>
        <p:spPr>
          <a:xfrm>
            <a:off x="4206240" y="3977640"/>
            <a:ext cx="502920" cy="502920"/>
          </a:xfrm>
          <a:prstGeom prst="ellipse">
            <a:avLst/>
          </a:prstGeom>
          <a:solidFill>
            <a:schemeClr val="accent3"/>
          </a:solidFill>
          <a:ln/>
        </p:spPr>
      </p:sp>
      <p:pic>
        <p:nvPicPr>
          <p:cNvPr id="21" name="Image 3" descr="Stream icon">    </p:cNvPr>
          <p:cNvPicPr>
            <a:picLocks noChangeAspect="1"/>
          </p:cNvPicPr>
          <p:nvPr/>
        </p:nvPicPr>
        <p:blipFill>
          <a:blip r:embed="rId4"/>
          <a:stretch>
            <a:fillRect/>
          </a:stretch>
        </p:blipFill>
        <p:spPr>
          <a:xfrm>
            <a:off x="4331970" y="4103370"/>
            <a:ext cx="251460" cy="251460"/>
          </a:xfrm>
          <a:prstGeom prst="rect">
            <a:avLst/>
          </a:prstGeom>
        </p:spPr>
      </p:pic>
      <p:sp>
        <p:nvSpPr>
          <p:cNvPr id="22" name="Text 15"/>
          <p:cNvSpPr txBox="1"/>
          <p:nvPr/>
        </p:nvSpPr>
        <p:spPr>
          <a:xfrm>
            <a:off x="4206240" y="4617720"/>
            <a:ext cx="278892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Order and context are ignored</a:t>
            </a:r>
            <a:endParaRPr lang="en-US" sz="1400" dirty="0"/>
          </a:p>
        </p:txBody>
      </p:sp>
      <p:sp>
        <p:nvSpPr>
          <p:cNvPr id="23" name="Text 16"/>
          <p:cNvSpPr txBox="1"/>
          <p:nvPr/>
        </p:nvSpPr>
        <p:spPr>
          <a:xfrm>
            <a:off x="4206240" y="5074920"/>
            <a:ext cx="2834640" cy="9144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Bag-of-words treats "not good" like "good". Speech, language and sensor streams need models that read sequences.</a:t>
            </a:r>
            <a:endParaRPr lang="en-US" sz="1200" dirty="0"/>
          </a:p>
        </p:txBody>
      </p:sp>
      <p:sp>
        <p:nvSpPr>
          <p:cNvPr id="24" name="Shape 17"/>
          <p:cNvSpPr/>
          <p:nvPr/>
        </p:nvSpPr>
        <p:spPr>
          <a:xfrm>
            <a:off x="7498080" y="1325880"/>
            <a:ext cx="4142232" cy="4343400"/>
          </a:xfrm>
          <a:prstGeom prst="rect">
            <a:avLst/>
          </a:prstGeom>
          <a:solidFill>
            <a:schemeClr val="bg1"/>
          </a:solidFill>
          <a:ln/>
        </p:spPr>
      </p:sp>
      <p:pic>
        <p:nvPicPr>
          <p:cNvPr id="25" name="Image 4" descr="Schematic: classical ML plateaus as data grows while large deep networks keep improving">    </p:cNvPr>
          <p:cNvPicPr>
            <a:picLocks noChangeAspect="1"/>
          </p:cNvPicPr>
          <p:nvPr/>
        </p:nvPicPr>
        <p:blipFill>
          <a:blip r:embed="rId5"/>
          <a:stretch>
            <a:fillRect/>
          </a:stretch>
        </p:blipFill>
        <p:spPr>
          <a:xfrm>
            <a:off x="7600089" y="1325880"/>
            <a:ext cx="3938214" cy="4343400"/>
          </a:xfrm>
          <a:prstGeom prst="rect">
            <a:avLst/>
          </a:prstGeom>
        </p:spPr>
      </p:pic>
      <p:sp>
        <p:nvSpPr>
          <p:cNvPr id="26" name="Text 18"/>
          <p:cNvSpPr txBox="1"/>
          <p:nvPr/>
        </p:nvSpPr>
        <p:spPr>
          <a:xfrm>
            <a:off x="7498080" y="5760720"/>
            <a:ext cx="4142232"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Shape only, after Andrew Ng's widely used sketch; not measured results.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Industry by industry: perception and language</a:t>
            </a:r>
            <a:endParaRPr lang="en-US" sz="3200" dirty="0"/>
          </a:p>
        </p:txBody>
      </p:sp>
      <p:sp>
        <p:nvSpPr>
          <p:cNvPr id="4" name="Shape 1"/>
          <p:cNvSpPr/>
          <p:nvPr/>
        </p:nvSpPr>
        <p:spPr>
          <a:xfrm>
            <a:off x="548640" y="1325880"/>
            <a:ext cx="3547872" cy="4846320"/>
          </a:xfrm>
          <a:prstGeom prst="rect">
            <a:avLst/>
          </a:prstGeom>
          <a:solidFill>
            <a:schemeClr val="bg2"/>
          </a:solidFill>
          <a:ln/>
        </p:spPr>
      </p:sp>
      <p:sp>
        <p:nvSpPr>
          <p:cNvPr id="5" name="Shape 2"/>
          <p:cNvSpPr/>
          <p:nvPr/>
        </p:nvSpPr>
        <p:spPr>
          <a:xfrm>
            <a:off x="777240" y="1554480"/>
            <a:ext cx="548640" cy="548640"/>
          </a:xfrm>
          <a:prstGeom prst="ellipse">
            <a:avLst/>
          </a:prstGeom>
          <a:solidFill>
            <a:schemeClr val="accent2"/>
          </a:solidFill>
          <a:ln/>
        </p:spPr>
      </p:sp>
      <p:pic>
        <p:nvPicPr>
          <p:cNvPr id="6" name="Image 0" descr="Heartbeat icon">    </p:cNvPr>
          <p:cNvPicPr>
            <a:picLocks noChangeAspect="1"/>
          </p:cNvPicPr>
          <p:nvPr/>
        </p:nvPicPr>
        <p:blipFill>
          <a:blip r:embed="rId1"/>
          <a:stretch>
            <a:fillRect/>
          </a:stretch>
        </p:blipFill>
        <p:spPr>
          <a:xfrm>
            <a:off x="914400" y="1691640"/>
            <a:ext cx="274320" cy="274320"/>
          </a:xfrm>
          <a:prstGeom prst="rect">
            <a:avLst/>
          </a:prstGeom>
        </p:spPr>
      </p:pic>
      <p:sp>
        <p:nvSpPr>
          <p:cNvPr id="7" name="Text 3"/>
          <p:cNvSpPr txBox="1"/>
          <p:nvPr/>
        </p:nvSpPr>
        <p:spPr>
          <a:xfrm>
            <a:off x="1463040" y="1600200"/>
            <a:ext cx="2450592"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Healthcare imaging</a:t>
            </a:r>
            <a:endParaRPr lang="en-US" sz="1700" dirty="0"/>
          </a:p>
        </p:txBody>
      </p:sp>
      <p:sp>
        <p:nvSpPr>
          <p:cNvPr id="8" name="Text 4"/>
          <p:cNvSpPr txBox="1"/>
          <p:nvPr/>
        </p:nvSpPr>
        <p:spPr>
          <a:xfrm>
            <a:off x="777240" y="2286000"/>
            <a:ext cx="3090672" cy="1143000"/>
          </a:xfrm>
          <a:prstGeom prst="rect">
            <a:avLst/>
          </a:prstGeom>
          <a:noFill/>
          <a:ln/>
        </p:spPr>
        <p:txBody>
          <a:bodyPr wrap="square" lIns="0" tIns="0" rIns="0" bIns="0" rtlCol="0" anchor="t"/>
          <a:lstStyle/>
          <a:p>
            <a:pPr indent="0" marL="0">
              <a:buNone/>
            </a:pPr>
            <a:r>
              <a:rPr lang="en-US" sz="1250" b="1" dirty="0">
                <a:solidFill>
                  <a:schemeClr val="accent3"/>
                </a:solidFill>
                <a:latin typeface="Calibri" pitchFamily="34" charset="0"/>
                <a:ea typeface="Calibri" pitchFamily="34" charset="-122"/>
                <a:cs typeface="Calibri" pitchFamily="34" charset="-120"/>
              </a:rPr>
              <a:t>Classical approach</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Expert-designed lesion features fed to SVMs. Fragile across scanners and hospitals; missed subtle patterns.</a:t>
            </a:r>
            <a:endParaRPr lang="en-US" sz="1250" dirty="0"/>
          </a:p>
        </p:txBody>
      </p:sp>
      <p:sp>
        <p:nvSpPr>
          <p:cNvPr id="9" name="Text 5"/>
          <p:cNvSpPr txBox="1"/>
          <p:nvPr/>
        </p:nvSpPr>
        <p:spPr>
          <a:xfrm>
            <a:off x="777240" y="3474720"/>
            <a:ext cx="3090672" cy="114300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Deep learning answer</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Convolutional networks read raw retinal photos, X-rays and skin images and learn the features themselves.</a:t>
            </a:r>
            <a:endParaRPr lang="en-US" sz="1250" dirty="0"/>
          </a:p>
        </p:txBody>
      </p:sp>
      <p:sp>
        <p:nvSpPr>
          <p:cNvPr id="10" name="Shape 6"/>
          <p:cNvSpPr/>
          <p:nvPr/>
        </p:nvSpPr>
        <p:spPr>
          <a:xfrm>
            <a:off x="777240" y="4892040"/>
            <a:ext cx="3090672" cy="1051560"/>
          </a:xfrm>
          <a:prstGeom prst="rect">
            <a:avLst/>
          </a:prstGeom>
          <a:solidFill>
            <a:schemeClr val="bg1"/>
          </a:solidFill>
          <a:ln/>
        </p:spPr>
      </p:sp>
      <p:sp>
        <p:nvSpPr>
          <p:cNvPr id="11" name="Text 7"/>
          <p:cNvSpPr txBox="1"/>
          <p:nvPr/>
        </p:nvSpPr>
        <p:spPr>
          <a:xfrm>
            <a:off x="914400" y="4937760"/>
            <a:ext cx="2816352" cy="9601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Landmark  </a:t>
            </a:r>
            <a:pPr indent="0" marL="0">
              <a:buNone/>
            </a:pPr>
            <a:r>
              <a:rPr lang="en-US" sz="1250" dirty="0">
                <a:solidFill>
                  <a:schemeClr val="tx1"/>
                </a:solidFill>
                <a:latin typeface="Calibri" pitchFamily="34" charset="0"/>
                <a:ea typeface="Calibri" pitchFamily="34" charset="-122"/>
                <a:cs typeface="Calibri" pitchFamily="34" charset="-120"/>
              </a:rPr>
              <a:t>Gulshan et al., JAMA 2016: diabetic retinopathy screening at ophthalmologist level (AUC ≈ 0.99).</a:t>
            </a:r>
            <a:endParaRPr lang="en-US" sz="1250" dirty="0"/>
          </a:p>
        </p:txBody>
      </p:sp>
      <p:sp>
        <p:nvSpPr>
          <p:cNvPr id="12" name="Shape 8"/>
          <p:cNvSpPr/>
          <p:nvPr/>
        </p:nvSpPr>
        <p:spPr>
          <a:xfrm>
            <a:off x="4315968" y="1325880"/>
            <a:ext cx="3547872" cy="4846320"/>
          </a:xfrm>
          <a:prstGeom prst="rect">
            <a:avLst/>
          </a:prstGeom>
          <a:solidFill>
            <a:schemeClr val="bg2"/>
          </a:solidFill>
          <a:ln/>
        </p:spPr>
      </p:sp>
      <p:sp>
        <p:nvSpPr>
          <p:cNvPr id="13" name="Shape 9"/>
          <p:cNvSpPr/>
          <p:nvPr/>
        </p:nvSpPr>
        <p:spPr>
          <a:xfrm>
            <a:off x="4544568" y="1554480"/>
            <a:ext cx="548640" cy="548640"/>
          </a:xfrm>
          <a:prstGeom prst="ellipse">
            <a:avLst/>
          </a:prstGeom>
          <a:solidFill>
            <a:schemeClr val="accent2"/>
          </a:solidFill>
          <a:ln/>
        </p:spPr>
      </p:sp>
      <p:pic>
        <p:nvPicPr>
          <p:cNvPr id="14" name="Image 1" descr="Microphone icon">    </p:cNvPr>
          <p:cNvPicPr>
            <a:picLocks noChangeAspect="1"/>
          </p:cNvPicPr>
          <p:nvPr/>
        </p:nvPicPr>
        <p:blipFill>
          <a:blip r:embed="rId2"/>
          <a:stretch>
            <a:fillRect/>
          </a:stretch>
        </p:blipFill>
        <p:spPr>
          <a:xfrm>
            <a:off x="4681728" y="1691640"/>
            <a:ext cx="274320" cy="274320"/>
          </a:xfrm>
          <a:prstGeom prst="rect">
            <a:avLst/>
          </a:prstGeom>
        </p:spPr>
      </p:pic>
      <p:sp>
        <p:nvSpPr>
          <p:cNvPr id="15" name="Text 10"/>
          <p:cNvSpPr txBox="1"/>
          <p:nvPr/>
        </p:nvSpPr>
        <p:spPr>
          <a:xfrm>
            <a:off x="5230368" y="1600200"/>
            <a:ext cx="2450592"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Speech recognition</a:t>
            </a:r>
            <a:endParaRPr lang="en-US" sz="1700" dirty="0"/>
          </a:p>
        </p:txBody>
      </p:sp>
      <p:sp>
        <p:nvSpPr>
          <p:cNvPr id="16" name="Text 11"/>
          <p:cNvSpPr txBox="1"/>
          <p:nvPr/>
        </p:nvSpPr>
        <p:spPr>
          <a:xfrm>
            <a:off x="4544568" y="2286000"/>
            <a:ext cx="3090672" cy="1143000"/>
          </a:xfrm>
          <a:prstGeom prst="rect">
            <a:avLst/>
          </a:prstGeom>
          <a:noFill/>
          <a:ln/>
        </p:spPr>
        <p:txBody>
          <a:bodyPr wrap="square" lIns="0" tIns="0" rIns="0" bIns="0" rtlCol="0" anchor="t"/>
          <a:lstStyle/>
          <a:p>
            <a:pPr indent="0" marL="0">
              <a:buNone/>
            </a:pPr>
            <a:r>
              <a:rPr lang="en-US" sz="1250" b="1" dirty="0">
                <a:solidFill>
                  <a:schemeClr val="accent3"/>
                </a:solidFill>
                <a:latin typeface="Calibri" pitchFamily="34" charset="0"/>
                <a:ea typeface="Calibri" pitchFamily="34" charset="-122"/>
                <a:cs typeface="Calibri" pitchFamily="34" charset="-120"/>
              </a:rPr>
              <a:t>Classical approach</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Gaussian mixture + hidden Markov models over hand-made MFCC features. Error rates barely moved for a decade.</a:t>
            </a:r>
            <a:endParaRPr lang="en-US" sz="1250" dirty="0"/>
          </a:p>
        </p:txBody>
      </p:sp>
      <p:sp>
        <p:nvSpPr>
          <p:cNvPr id="17" name="Text 12"/>
          <p:cNvSpPr txBox="1"/>
          <p:nvPr/>
        </p:nvSpPr>
        <p:spPr>
          <a:xfrm>
            <a:off x="4544568" y="3474720"/>
            <a:ext cx="3090672" cy="114300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Deep learning answer</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Deep acoustic models (2012), then recurrent and Transformer models trained end to end on audio.</a:t>
            </a:r>
            <a:endParaRPr lang="en-US" sz="1250" dirty="0"/>
          </a:p>
        </p:txBody>
      </p:sp>
      <p:sp>
        <p:nvSpPr>
          <p:cNvPr id="18" name="Shape 13"/>
          <p:cNvSpPr/>
          <p:nvPr/>
        </p:nvSpPr>
        <p:spPr>
          <a:xfrm>
            <a:off x="4544568" y="4892040"/>
            <a:ext cx="3090672" cy="1051560"/>
          </a:xfrm>
          <a:prstGeom prst="rect">
            <a:avLst/>
          </a:prstGeom>
          <a:solidFill>
            <a:schemeClr val="bg1"/>
          </a:solidFill>
          <a:ln/>
        </p:spPr>
      </p:sp>
      <p:sp>
        <p:nvSpPr>
          <p:cNvPr id="19" name="Text 14"/>
          <p:cNvSpPr txBox="1"/>
          <p:nvPr/>
        </p:nvSpPr>
        <p:spPr>
          <a:xfrm>
            <a:off x="4681728" y="4937760"/>
            <a:ext cx="2816352" cy="9601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Landmark  </a:t>
            </a:r>
            <a:pPr indent="0" marL="0">
              <a:buNone/>
            </a:pPr>
            <a:r>
              <a:rPr lang="en-US" sz="1250" dirty="0">
                <a:solidFill>
                  <a:schemeClr val="tx1"/>
                </a:solidFill>
                <a:latin typeface="Calibri" pitchFamily="34" charset="0"/>
                <a:ea typeface="Calibri" pitchFamily="34" charset="-122"/>
                <a:cs typeface="Calibri" pitchFamily="34" charset="-120"/>
              </a:rPr>
              <a:t>Microsoft 2016: 5.9% word error on Switchboard, on par with professional transcribers.</a:t>
            </a:r>
            <a:endParaRPr lang="en-US" sz="1250" dirty="0"/>
          </a:p>
        </p:txBody>
      </p:sp>
      <p:sp>
        <p:nvSpPr>
          <p:cNvPr id="20" name="Shape 15"/>
          <p:cNvSpPr/>
          <p:nvPr/>
        </p:nvSpPr>
        <p:spPr>
          <a:xfrm>
            <a:off x="8092440" y="1325880"/>
            <a:ext cx="3547872" cy="4846320"/>
          </a:xfrm>
          <a:prstGeom prst="rect">
            <a:avLst/>
          </a:prstGeom>
          <a:solidFill>
            <a:schemeClr val="bg2"/>
          </a:solidFill>
          <a:ln/>
        </p:spPr>
      </p:sp>
      <p:sp>
        <p:nvSpPr>
          <p:cNvPr id="21" name="Shape 16"/>
          <p:cNvSpPr/>
          <p:nvPr/>
        </p:nvSpPr>
        <p:spPr>
          <a:xfrm>
            <a:off x="8321040" y="1554480"/>
            <a:ext cx="548640" cy="548640"/>
          </a:xfrm>
          <a:prstGeom prst="ellipse">
            <a:avLst/>
          </a:prstGeom>
          <a:solidFill>
            <a:schemeClr val="accent2"/>
          </a:solidFill>
          <a:ln/>
        </p:spPr>
      </p:sp>
      <p:pic>
        <p:nvPicPr>
          <p:cNvPr id="22" name="Image 2" descr="Language icon">    </p:cNvPr>
          <p:cNvPicPr>
            <a:picLocks noChangeAspect="1"/>
          </p:cNvPicPr>
          <p:nvPr/>
        </p:nvPicPr>
        <p:blipFill>
          <a:blip r:embed="rId3"/>
          <a:stretch>
            <a:fillRect/>
          </a:stretch>
        </p:blipFill>
        <p:spPr>
          <a:xfrm>
            <a:off x="8458200" y="1691640"/>
            <a:ext cx="274320" cy="274320"/>
          </a:xfrm>
          <a:prstGeom prst="rect">
            <a:avLst/>
          </a:prstGeom>
        </p:spPr>
      </p:pic>
      <p:sp>
        <p:nvSpPr>
          <p:cNvPr id="23" name="Text 17"/>
          <p:cNvSpPr txBox="1"/>
          <p:nvPr/>
        </p:nvSpPr>
        <p:spPr>
          <a:xfrm>
            <a:off x="9006840" y="1600200"/>
            <a:ext cx="2450592"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Translation and text</a:t>
            </a:r>
            <a:endParaRPr lang="en-US" sz="1700" dirty="0"/>
          </a:p>
        </p:txBody>
      </p:sp>
      <p:sp>
        <p:nvSpPr>
          <p:cNvPr id="24" name="Text 18"/>
          <p:cNvSpPr txBox="1"/>
          <p:nvPr/>
        </p:nvSpPr>
        <p:spPr>
          <a:xfrm>
            <a:off x="8321040" y="2286000"/>
            <a:ext cx="3090672" cy="1143000"/>
          </a:xfrm>
          <a:prstGeom prst="rect">
            <a:avLst/>
          </a:prstGeom>
          <a:noFill/>
          <a:ln/>
        </p:spPr>
        <p:txBody>
          <a:bodyPr wrap="square" lIns="0" tIns="0" rIns="0" bIns="0" rtlCol="0" anchor="t"/>
          <a:lstStyle/>
          <a:p>
            <a:pPr indent="0" marL="0">
              <a:buNone/>
            </a:pPr>
            <a:r>
              <a:rPr lang="en-US" sz="1250" b="1" dirty="0">
                <a:solidFill>
                  <a:schemeClr val="accent3"/>
                </a:solidFill>
                <a:latin typeface="Calibri" pitchFamily="34" charset="0"/>
                <a:ea typeface="Calibri" pitchFamily="34" charset="-122"/>
                <a:cs typeface="Calibri" pitchFamily="34" charset="-120"/>
              </a:rPr>
              <a:t>Classical approach</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Phrase-based statistical translation with n-gram language models. Lost long-range context and word order.</a:t>
            </a:r>
            <a:endParaRPr lang="en-US" sz="1250" dirty="0"/>
          </a:p>
        </p:txBody>
      </p:sp>
      <p:sp>
        <p:nvSpPr>
          <p:cNvPr id="25" name="Text 19"/>
          <p:cNvSpPr txBox="1"/>
          <p:nvPr/>
        </p:nvSpPr>
        <p:spPr>
          <a:xfrm>
            <a:off x="8321040" y="3474720"/>
            <a:ext cx="3090672" cy="114300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Deep learning answer</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Sequence-to-sequence networks with attention, then Transformers (2017) that read the whole sentence.</a:t>
            </a:r>
            <a:endParaRPr lang="en-US" sz="1250" dirty="0"/>
          </a:p>
        </p:txBody>
      </p:sp>
      <p:sp>
        <p:nvSpPr>
          <p:cNvPr id="26" name="Shape 20"/>
          <p:cNvSpPr/>
          <p:nvPr/>
        </p:nvSpPr>
        <p:spPr>
          <a:xfrm>
            <a:off x="8321040" y="4892040"/>
            <a:ext cx="3090672" cy="1051560"/>
          </a:xfrm>
          <a:prstGeom prst="rect">
            <a:avLst/>
          </a:prstGeom>
          <a:solidFill>
            <a:schemeClr val="bg1"/>
          </a:solidFill>
          <a:ln/>
        </p:spPr>
      </p:sp>
      <p:sp>
        <p:nvSpPr>
          <p:cNvPr id="27" name="Text 21"/>
          <p:cNvSpPr txBox="1"/>
          <p:nvPr/>
        </p:nvSpPr>
        <p:spPr>
          <a:xfrm>
            <a:off x="8458200" y="4937760"/>
            <a:ext cx="2816352" cy="9601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Landmark  </a:t>
            </a:r>
            <a:pPr indent="0" marL="0">
              <a:buNone/>
            </a:pPr>
            <a:r>
              <a:rPr lang="en-US" sz="1250" dirty="0">
                <a:solidFill>
                  <a:schemeClr val="tx1"/>
                </a:solidFill>
                <a:latin typeface="Calibri" pitchFamily="34" charset="0"/>
                <a:ea typeface="Calibri" pitchFamily="34" charset="-122"/>
                <a:cs typeface="Calibri" pitchFamily="34" charset="-120"/>
              </a:rPr>
              <a:t>Google GNMT 2016: about 60% fewer translation errors than its phrase-based system in human ratings.</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Industry by industry: decisions, vision and science</a:t>
            </a:r>
            <a:endParaRPr lang="en-US" sz="3200" dirty="0"/>
          </a:p>
        </p:txBody>
      </p:sp>
      <p:sp>
        <p:nvSpPr>
          <p:cNvPr id="4" name="Shape 1"/>
          <p:cNvSpPr/>
          <p:nvPr/>
        </p:nvSpPr>
        <p:spPr>
          <a:xfrm>
            <a:off x="548640" y="1325880"/>
            <a:ext cx="3547872" cy="4846320"/>
          </a:xfrm>
          <a:prstGeom prst="rect">
            <a:avLst/>
          </a:prstGeom>
          <a:solidFill>
            <a:schemeClr val="bg2"/>
          </a:solidFill>
          <a:ln/>
        </p:spPr>
      </p:sp>
      <p:sp>
        <p:nvSpPr>
          <p:cNvPr id="5" name="Shape 2"/>
          <p:cNvSpPr/>
          <p:nvPr/>
        </p:nvSpPr>
        <p:spPr>
          <a:xfrm>
            <a:off x="777240" y="1554480"/>
            <a:ext cx="548640" cy="548640"/>
          </a:xfrm>
          <a:prstGeom prst="ellipse">
            <a:avLst/>
          </a:prstGeom>
          <a:solidFill>
            <a:schemeClr val="accent2"/>
          </a:solidFill>
          <a:ln/>
        </p:spPr>
      </p:sp>
      <p:pic>
        <p:nvPicPr>
          <p:cNvPr id="6" name="Image 0" descr="Car icon">    </p:cNvPr>
          <p:cNvPicPr>
            <a:picLocks noChangeAspect="1"/>
          </p:cNvPicPr>
          <p:nvPr/>
        </p:nvPicPr>
        <p:blipFill>
          <a:blip r:embed="rId1"/>
          <a:stretch>
            <a:fillRect/>
          </a:stretch>
        </p:blipFill>
        <p:spPr>
          <a:xfrm>
            <a:off x="914400" y="1691640"/>
            <a:ext cx="274320" cy="274320"/>
          </a:xfrm>
          <a:prstGeom prst="rect">
            <a:avLst/>
          </a:prstGeom>
        </p:spPr>
      </p:pic>
      <p:sp>
        <p:nvSpPr>
          <p:cNvPr id="7" name="Text 3"/>
          <p:cNvSpPr txBox="1"/>
          <p:nvPr/>
        </p:nvSpPr>
        <p:spPr>
          <a:xfrm>
            <a:off x="1463040" y="1600200"/>
            <a:ext cx="2450592"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Autonomous driving</a:t>
            </a:r>
            <a:endParaRPr lang="en-US" sz="1700" dirty="0"/>
          </a:p>
        </p:txBody>
      </p:sp>
      <p:sp>
        <p:nvSpPr>
          <p:cNvPr id="8" name="Text 4"/>
          <p:cNvSpPr txBox="1"/>
          <p:nvPr/>
        </p:nvSpPr>
        <p:spPr>
          <a:xfrm>
            <a:off x="777240" y="2286000"/>
            <a:ext cx="3090672" cy="1143000"/>
          </a:xfrm>
          <a:prstGeom prst="rect">
            <a:avLst/>
          </a:prstGeom>
          <a:noFill/>
          <a:ln/>
        </p:spPr>
        <p:txBody>
          <a:bodyPr wrap="square" lIns="0" tIns="0" rIns="0" bIns="0" rtlCol="0" anchor="t"/>
          <a:lstStyle/>
          <a:p>
            <a:pPr indent="0" marL="0">
              <a:buNone/>
            </a:pPr>
            <a:r>
              <a:rPr lang="en-US" sz="1250" b="1" dirty="0">
                <a:solidFill>
                  <a:schemeClr val="accent3"/>
                </a:solidFill>
                <a:latin typeface="Calibri" pitchFamily="34" charset="0"/>
                <a:ea typeface="Calibri" pitchFamily="34" charset="-122"/>
                <a:cs typeface="Calibri" pitchFamily="34" charset="-120"/>
              </a:rPr>
              <a:t>Classical approach</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Hand-coded rules plus HOG + SVM pedestrian detectors. Impossible to list every road, light and weather case.</a:t>
            </a:r>
            <a:endParaRPr lang="en-US" sz="1250" dirty="0"/>
          </a:p>
        </p:txBody>
      </p:sp>
      <p:sp>
        <p:nvSpPr>
          <p:cNvPr id="9" name="Text 5"/>
          <p:cNvSpPr txBox="1"/>
          <p:nvPr/>
        </p:nvSpPr>
        <p:spPr>
          <a:xfrm>
            <a:off x="777240" y="3474720"/>
            <a:ext cx="3090672" cy="114300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Deep learning answer</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Deep networks for detection, segmentation and tracking on camera and LiDAR, trained on millions of labelled frames.</a:t>
            </a:r>
            <a:endParaRPr lang="en-US" sz="1250" dirty="0"/>
          </a:p>
        </p:txBody>
      </p:sp>
      <p:sp>
        <p:nvSpPr>
          <p:cNvPr id="10" name="Shape 6"/>
          <p:cNvSpPr/>
          <p:nvPr/>
        </p:nvSpPr>
        <p:spPr>
          <a:xfrm>
            <a:off x="777240" y="4892040"/>
            <a:ext cx="3090672" cy="1051560"/>
          </a:xfrm>
          <a:prstGeom prst="rect">
            <a:avLst/>
          </a:prstGeom>
          <a:solidFill>
            <a:schemeClr val="bg1"/>
          </a:solidFill>
          <a:ln/>
        </p:spPr>
      </p:sp>
      <p:sp>
        <p:nvSpPr>
          <p:cNvPr id="11" name="Text 7"/>
          <p:cNvSpPr txBox="1"/>
          <p:nvPr/>
        </p:nvSpPr>
        <p:spPr>
          <a:xfrm>
            <a:off x="914400" y="4937760"/>
            <a:ext cx="2816352" cy="9601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Landmark  </a:t>
            </a:r>
            <a:pPr indent="0" marL="0">
              <a:buNone/>
            </a:pPr>
            <a:r>
              <a:rPr lang="en-US" sz="1250" dirty="0">
                <a:solidFill>
                  <a:schemeClr val="tx1"/>
                </a:solidFill>
                <a:latin typeface="Calibri" pitchFamily="34" charset="0"/>
                <a:ea typeface="Calibri" pitchFamily="34" charset="-122"/>
                <a:cs typeface="Calibri" pitchFamily="34" charset="-120"/>
              </a:rPr>
              <a:t>Deep detectors now underpin perception in driver-assistance and robotaxi systems.</a:t>
            </a:r>
            <a:endParaRPr lang="en-US" sz="1250" dirty="0"/>
          </a:p>
        </p:txBody>
      </p:sp>
      <p:sp>
        <p:nvSpPr>
          <p:cNvPr id="12" name="Shape 8"/>
          <p:cNvSpPr/>
          <p:nvPr/>
        </p:nvSpPr>
        <p:spPr>
          <a:xfrm>
            <a:off x="4315968" y="1325880"/>
            <a:ext cx="3547872" cy="4846320"/>
          </a:xfrm>
          <a:prstGeom prst="rect">
            <a:avLst/>
          </a:prstGeom>
          <a:solidFill>
            <a:schemeClr val="bg2"/>
          </a:solidFill>
          <a:ln/>
        </p:spPr>
      </p:sp>
      <p:sp>
        <p:nvSpPr>
          <p:cNvPr id="13" name="Shape 9"/>
          <p:cNvSpPr/>
          <p:nvPr/>
        </p:nvSpPr>
        <p:spPr>
          <a:xfrm>
            <a:off x="4544568" y="1554480"/>
            <a:ext cx="548640" cy="548640"/>
          </a:xfrm>
          <a:prstGeom prst="ellipse">
            <a:avLst/>
          </a:prstGeom>
          <a:solidFill>
            <a:schemeClr val="accent2"/>
          </a:solidFill>
          <a:ln/>
        </p:spPr>
      </p:sp>
      <p:pic>
        <p:nvPicPr>
          <p:cNvPr id="14" name="Image 1" descr="ShoppingCart icon">    </p:cNvPr>
          <p:cNvPicPr>
            <a:picLocks noChangeAspect="1"/>
          </p:cNvPicPr>
          <p:nvPr/>
        </p:nvPicPr>
        <p:blipFill>
          <a:blip r:embed="rId2"/>
          <a:stretch>
            <a:fillRect/>
          </a:stretch>
        </p:blipFill>
        <p:spPr>
          <a:xfrm>
            <a:off x="4681728" y="1691640"/>
            <a:ext cx="274320" cy="274320"/>
          </a:xfrm>
          <a:prstGeom prst="rect">
            <a:avLst/>
          </a:prstGeom>
        </p:spPr>
      </p:pic>
      <p:sp>
        <p:nvSpPr>
          <p:cNvPr id="15" name="Text 10"/>
          <p:cNvSpPr txBox="1"/>
          <p:nvPr/>
        </p:nvSpPr>
        <p:spPr>
          <a:xfrm>
            <a:off x="5230368" y="1600200"/>
            <a:ext cx="2450592"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Retail and recommendations</a:t>
            </a:r>
            <a:endParaRPr lang="en-US" sz="1700" dirty="0"/>
          </a:p>
        </p:txBody>
      </p:sp>
      <p:sp>
        <p:nvSpPr>
          <p:cNvPr id="16" name="Text 11"/>
          <p:cNvSpPr txBox="1"/>
          <p:nvPr/>
        </p:nvSpPr>
        <p:spPr>
          <a:xfrm>
            <a:off x="4544568" y="2286000"/>
            <a:ext cx="3090672" cy="1143000"/>
          </a:xfrm>
          <a:prstGeom prst="rect">
            <a:avLst/>
          </a:prstGeom>
          <a:noFill/>
          <a:ln/>
        </p:spPr>
        <p:txBody>
          <a:bodyPr wrap="square" lIns="0" tIns="0" rIns="0" bIns="0" rtlCol="0" anchor="t"/>
          <a:lstStyle/>
          <a:p>
            <a:pPr indent="0" marL="0">
              <a:buNone/>
            </a:pPr>
            <a:r>
              <a:rPr lang="en-US" sz="1250" b="1" dirty="0">
                <a:solidFill>
                  <a:schemeClr val="accent3"/>
                </a:solidFill>
                <a:latin typeface="Calibri" pitchFamily="34" charset="0"/>
                <a:ea typeface="Calibri" pitchFamily="34" charset="-122"/>
                <a:cs typeface="Calibri" pitchFamily="34" charset="-120"/>
              </a:rPr>
              <a:t>Classical approach</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Matrix factorization of a user × item table. Ignores content, context and time; struggles with new items.</a:t>
            </a:r>
            <a:endParaRPr lang="en-US" sz="1250" dirty="0"/>
          </a:p>
        </p:txBody>
      </p:sp>
      <p:sp>
        <p:nvSpPr>
          <p:cNvPr id="17" name="Text 12"/>
          <p:cNvSpPr txBox="1"/>
          <p:nvPr/>
        </p:nvSpPr>
        <p:spPr>
          <a:xfrm>
            <a:off x="4544568" y="3474720"/>
            <a:ext cx="3090672" cy="114300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Deep learning answer</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Deep recommenders learn embeddings for users, items, text and images, and combine them with context.</a:t>
            </a:r>
            <a:endParaRPr lang="en-US" sz="1250" dirty="0"/>
          </a:p>
        </p:txBody>
      </p:sp>
      <p:sp>
        <p:nvSpPr>
          <p:cNvPr id="18" name="Shape 13"/>
          <p:cNvSpPr/>
          <p:nvPr/>
        </p:nvSpPr>
        <p:spPr>
          <a:xfrm>
            <a:off x="4544568" y="4892040"/>
            <a:ext cx="3090672" cy="1051560"/>
          </a:xfrm>
          <a:prstGeom prst="rect">
            <a:avLst/>
          </a:prstGeom>
          <a:solidFill>
            <a:schemeClr val="bg1"/>
          </a:solidFill>
          <a:ln/>
        </p:spPr>
      </p:sp>
      <p:sp>
        <p:nvSpPr>
          <p:cNvPr id="19" name="Text 14"/>
          <p:cNvSpPr txBox="1"/>
          <p:nvPr/>
        </p:nvSpPr>
        <p:spPr>
          <a:xfrm>
            <a:off x="4681728" y="4937760"/>
            <a:ext cx="2816352" cy="9601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Landmark  </a:t>
            </a:r>
            <a:pPr indent="0" marL="0">
              <a:buNone/>
            </a:pPr>
            <a:r>
              <a:rPr lang="en-US" sz="1250" dirty="0">
                <a:solidFill>
                  <a:schemeClr val="tx1"/>
                </a:solidFill>
                <a:latin typeface="Calibri" pitchFamily="34" charset="0"/>
                <a:ea typeface="Calibri" pitchFamily="34" charset="-122"/>
                <a:cs typeface="Calibri" pitchFamily="34" charset="-120"/>
              </a:rPr>
              <a:t>YouTube (RecSys 2016) and Google Play's Wide &amp; Deep (2016) moved to deep recommenders.</a:t>
            </a:r>
            <a:endParaRPr lang="en-US" sz="1250" dirty="0"/>
          </a:p>
        </p:txBody>
      </p:sp>
      <p:sp>
        <p:nvSpPr>
          <p:cNvPr id="20" name="Shape 15"/>
          <p:cNvSpPr/>
          <p:nvPr/>
        </p:nvSpPr>
        <p:spPr>
          <a:xfrm>
            <a:off x="8092440" y="1325880"/>
            <a:ext cx="3547872" cy="4846320"/>
          </a:xfrm>
          <a:prstGeom prst="rect">
            <a:avLst/>
          </a:prstGeom>
          <a:solidFill>
            <a:schemeClr val="bg2"/>
          </a:solidFill>
          <a:ln/>
        </p:spPr>
      </p:sp>
      <p:sp>
        <p:nvSpPr>
          <p:cNvPr id="21" name="Shape 16"/>
          <p:cNvSpPr/>
          <p:nvPr/>
        </p:nvSpPr>
        <p:spPr>
          <a:xfrm>
            <a:off x="8321040" y="1554480"/>
            <a:ext cx="548640" cy="548640"/>
          </a:xfrm>
          <a:prstGeom prst="ellipse">
            <a:avLst/>
          </a:prstGeom>
          <a:solidFill>
            <a:schemeClr val="accent2"/>
          </a:solidFill>
          <a:ln/>
        </p:spPr>
      </p:sp>
      <p:pic>
        <p:nvPicPr>
          <p:cNvPr id="22" name="Image 2" descr="Dna icon">    </p:cNvPr>
          <p:cNvPicPr>
            <a:picLocks noChangeAspect="1"/>
          </p:cNvPicPr>
          <p:nvPr/>
        </p:nvPicPr>
        <p:blipFill>
          <a:blip r:embed="rId3"/>
          <a:stretch>
            <a:fillRect/>
          </a:stretch>
        </p:blipFill>
        <p:spPr>
          <a:xfrm>
            <a:off x="8458200" y="1691640"/>
            <a:ext cx="274320" cy="274320"/>
          </a:xfrm>
          <a:prstGeom prst="rect">
            <a:avLst/>
          </a:prstGeom>
        </p:spPr>
      </p:pic>
      <p:sp>
        <p:nvSpPr>
          <p:cNvPr id="23" name="Text 17"/>
          <p:cNvSpPr txBox="1"/>
          <p:nvPr/>
        </p:nvSpPr>
        <p:spPr>
          <a:xfrm>
            <a:off x="9006840" y="1600200"/>
            <a:ext cx="2450592"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Science: protein folding</a:t>
            </a:r>
            <a:endParaRPr lang="en-US" sz="1700" dirty="0"/>
          </a:p>
        </p:txBody>
      </p:sp>
      <p:sp>
        <p:nvSpPr>
          <p:cNvPr id="24" name="Text 18"/>
          <p:cNvSpPr txBox="1"/>
          <p:nvPr/>
        </p:nvSpPr>
        <p:spPr>
          <a:xfrm>
            <a:off x="8321040" y="2286000"/>
            <a:ext cx="3090672" cy="1143000"/>
          </a:xfrm>
          <a:prstGeom prst="rect">
            <a:avLst/>
          </a:prstGeom>
          <a:noFill/>
          <a:ln/>
        </p:spPr>
        <p:txBody>
          <a:bodyPr wrap="square" lIns="0" tIns="0" rIns="0" bIns="0" rtlCol="0" anchor="t"/>
          <a:lstStyle/>
          <a:p>
            <a:pPr indent="0" marL="0">
              <a:buNone/>
            </a:pPr>
            <a:r>
              <a:rPr lang="en-US" sz="1250" b="1" dirty="0">
                <a:solidFill>
                  <a:schemeClr val="accent3"/>
                </a:solidFill>
                <a:latin typeface="Calibri" pitchFamily="34" charset="0"/>
                <a:ea typeface="Calibri" pitchFamily="34" charset="-122"/>
                <a:cs typeface="Calibri" pitchFamily="34" charset="-120"/>
              </a:rPr>
              <a:t>Classical approach</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Physics-based simulation and templates. Structure from sequence was a 50-year grand challenge.</a:t>
            </a:r>
            <a:endParaRPr lang="en-US" sz="1250" dirty="0"/>
          </a:p>
        </p:txBody>
      </p:sp>
      <p:sp>
        <p:nvSpPr>
          <p:cNvPr id="25" name="Text 19"/>
          <p:cNvSpPr txBox="1"/>
          <p:nvPr/>
        </p:nvSpPr>
        <p:spPr>
          <a:xfrm>
            <a:off x="8321040" y="3474720"/>
            <a:ext cx="3090672" cy="114300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Deep learning answer</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AlphaFold 2 learns from known structures, using attention over sequence alignments and residue pairs.</a:t>
            </a:r>
            <a:endParaRPr lang="en-US" sz="1250" dirty="0"/>
          </a:p>
        </p:txBody>
      </p:sp>
      <p:sp>
        <p:nvSpPr>
          <p:cNvPr id="26" name="Shape 20"/>
          <p:cNvSpPr/>
          <p:nvPr/>
        </p:nvSpPr>
        <p:spPr>
          <a:xfrm>
            <a:off x="8321040" y="4892040"/>
            <a:ext cx="3090672" cy="1051560"/>
          </a:xfrm>
          <a:prstGeom prst="rect">
            <a:avLst/>
          </a:prstGeom>
          <a:solidFill>
            <a:schemeClr val="bg1"/>
          </a:solidFill>
          <a:ln/>
        </p:spPr>
      </p:sp>
      <p:sp>
        <p:nvSpPr>
          <p:cNvPr id="27" name="Text 21"/>
          <p:cNvSpPr txBox="1"/>
          <p:nvPr/>
        </p:nvSpPr>
        <p:spPr>
          <a:xfrm>
            <a:off x="8458200" y="4937760"/>
            <a:ext cx="2816352" cy="960120"/>
          </a:xfrm>
          <a:prstGeom prst="rect">
            <a:avLst/>
          </a:prstGeom>
          <a:noFill/>
          <a:ln/>
        </p:spPr>
        <p:txBody>
          <a:bodyPr wrap="square" lIns="0" tIns="0" rIns="0" bIns="0" rtlCol="0" anchor="ctr"/>
          <a:lstStyle/>
          <a:p>
            <a:pPr indent="0" marL="0">
              <a:buNone/>
            </a:pPr>
            <a:r>
              <a:rPr lang="en-US" sz="1250" b="1" dirty="0">
                <a:solidFill>
                  <a:schemeClr val="accent1"/>
                </a:solidFill>
                <a:latin typeface="Calibri" pitchFamily="34" charset="0"/>
                <a:ea typeface="Calibri" pitchFamily="34" charset="-122"/>
                <a:cs typeface="Calibri" pitchFamily="34" charset="-120"/>
              </a:rPr>
              <a:t>Landmark  </a:t>
            </a:r>
            <a:pPr indent="0" marL="0">
              <a:buNone/>
            </a:pPr>
            <a:r>
              <a:rPr lang="en-US" sz="1250" dirty="0">
                <a:solidFill>
                  <a:schemeClr val="tx1"/>
                </a:solidFill>
                <a:latin typeface="Calibri" pitchFamily="34" charset="0"/>
                <a:ea typeface="Calibri" pitchFamily="34" charset="-122"/>
                <a:cs typeface="Calibri" pitchFamily="34" charset="-120"/>
              </a:rPr>
              <a:t>CASP14, 2020: median accuracy 92.4 GDT. 2024 Nobel Prize in Chemistry.</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But not everywhere: when classical ML still wins</a:t>
            </a:r>
            <a:endParaRPr lang="en-US" sz="3200" dirty="0"/>
          </a:p>
        </p:txBody>
      </p:sp>
      <p:sp>
        <p:nvSpPr>
          <p:cNvPr id="4" name="Shape 1"/>
          <p:cNvSpPr/>
          <p:nvPr/>
        </p:nvSpPr>
        <p:spPr>
          <a:xfrm>
            <a:off x="548640" y="1417320"/>
            <a:ext cx="548640" cy="548640"/>
          </a:xfrm>
          <a:prstGeom prst="ellipse">
            <a:avLst/>
          </a:prstGeom>
          <a:solidFill>
            <a:schemeClr val="accent4"/>
          </a:solidFill>
          <a:ln/>
        </p:spPr>
      </p:sp>
      <p:pic>
        <p:nvPicPr>
          <p:cNvPr id="5" name="Image 0" descr="Table icon">    </p:cNvPr>
          <p:cNvPicPr>
            <a:picLocks noChangeAspect="1"/>
          </p:cNvPicPr>
          <p:nvPr/>
        </p:nvPicPr>
        <p:blipFill>
          <a:blip r:embed="rId1"/>
          <a:stretch>
            <a:fillRect/>
          </a:stretch>
        </p:blipFill>
        <p:spPr>
          <a:xfrm>
            <a:off x="685800" y="1554480"/>
            <a:ext cx="274320" cy="274320"/>
          </a:xfrm>
          <a:prstGeom prst="rect">
            <a:avLst/>
          </a:prstGeom>
        </p:spPr>
      </p:pic>
      <p:sp>
        <p:nvSpPr>
          <p:cNvPr id="6" name="Text 2"/>
          <p:cNvSpPr txBox="1"/>
          <p:nvPr/>
        </p:nvSpPr>
        <p:spPr>
          <a:xfrm>
            <a:off x="1325880" y="1353312"/>
            <a:ext cx="5120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Tabular data</a:t>
            </a:r>
            <a:endParaRPr lang="en-US" sz="1500" dirty="0"/>
          </a:p>
        </p:txBody>
      </p:sp>
      <p:sp>
        <p:nvSpPr>
          <p:cNvPr id="7" name="Text 3"/>
          <p:cNvSpPr txBox="1"/>
          <p:nvPr/>
        </p:nvSpPr>
        <p:spPr>
          <a:xfrm>
            <a:off x="1325880" y="1691640"/>
            <a:ext cx="5120640" cy="5943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On spreadsheets of mixed columns, gradient-boosted trees (XGBoost, LightGBM) still often beat deep nets (Grinsztajn et al., NeurIPS 2022).</a:t>
            </a:r>
            <a:endParaRPr lang="en-US" sz="1200" dirty="0"/>
          </a:p>
        </p:txBody>
      </p:sp>
      <p:sp>
        <p:nvSpPr>
          <p:cNvPr id="8" name="Shape 4"/>
          <p:cNvSpPr/>
          <p:nvPr/>
        </p:nvSpPr>
        <p:spPr>
          <a:xfrm>
            <a:off x="548640" y="2423160"/>
            <a:ext cx="548640" cy="548640"/>
          </a:xfrm>
          <a:prstGeom prst="ellipse">
            <a:avLst/>
          </a:prstGeom>
          <a:solidFill>
            <a:schemeClr val="accent4"/>
          </a:solidFill>
          <a:ln/>
        </p:spPr>
      </p:sp>
      <p:pic>
        <p:nvPicPr>
          <p:cNvPr id="9" name="Image 1" descr="Vial icon">    </p:cNvPr>
          <p:cNvPicPr>
            <a:picLocks noChangeAspect="1"/>
          </p:cNvPicPr>
          <p:nvPr/>
        </p:nvPicPr>
        <p:blipFill>
          <a:blip r:embed="rId2"/>
          <a:stretch>
            <a:fillRect/>
          </a:stretch>
        </p:blipFill>
        <p:spPr>
          <a:xfrm>
            <a:off x="685800" y="2560320"/>
            <a:ext cx="274320" cy="274320"/>
          </a:xfrm>
          <a:prstGeom prst="rect">
            <a:avLst/>
          </a:prstGeom>
        </p:spPr>
      </p:pic>
      <p:sp>
        <p:nvSpPr>
          <p:cNvPr id="10" name="Text 5"/>
          <p:cNvSpPr txBox="1"/>
          <p:nvPr/>
        </p:nvSpPr>
        <p:spPr>
          <a:xfrm>
            <a:off x="1325880" y="2359152"/>
            <a:ext cx="5120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Small datasets</a:t>
            </a:r>
            <a:endParaRPr lang="en-US" sz="1500" dirty="0"/>
          </a:p>
        </p:txBody>
      </p:sp>
      <p:sp>
        <p:nvSpPr>
          <p:cNvPr id="11" name="Text 6"/>
          <p:cNvSpPr txBox="1"/>
          <p:nvPr/>
        </p:nvSpPr>
        <p:spPr>
          <a:xfrm>
            <a:off x="1325880" y="2697480"/>
            <a:ext cx="5120640" cy="5943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With a few hundred labelled rows, a network has too many weights to fit reliably; simpler models generalize better.</a:t>
            </a:r>
            <a:endParaRPr lang="en-US" sz="1200" dirty="0"/>
          </a:p>
        </p:txBody>
      </p:sp>
      <p:sp>
        <p:nvSpPr>
          <p:cNvPr id="12" name="Shape 7"/>
          <p:cNvSpPr/>
          <p:nvPr/>
        </p:nvSpPr>
        <p:spPr>
          <a:xfrm>
            <a:off x="548640" y="3429000"/>
            <a:ext cx="548640" cy="548640"/>
          </a:xfrm>
          <a:prstGeom prst="ellipse">
            <a:avLst/>
          </a:prstGeom>
          <a:solidFill>
            <a:schemeClr val="accent4"/>
          </a:solidFill>
          <a:ln/>
        </p:spPr>
      </p:sp>
      <p:pic>
        <p:nvPicPr>
          <p:cNvPr id="13" name="Image 2" descr="BalanceScale icon">    </p:cNvPr>
          <p:cNvPicPr>
            <a:picLocks noChangeAspect="1"/>
          </p:cNvPicPr>
          <p:nvPr/>
        </p:nvPicPr>
        <p:blipFill>
          <a:blip r:embed="rId3"/>
          <a:stretch>
            <a:fillRect/>
          </a:stretch>
        </p:blipFill>
        <p:spPr>
          <a:xfrm>
            <a:off x="685800" y="3566160"/>
            <a:ext cx="274320" cy="274320"/>
          </a:xfrm>
          <a:prstGeom prst="rect">
            <a:avLst/>
          </a:prstGeom>
        </p:spPr>
      </p:pic>
      <p:sp>
        <p:nvSpPr>
          <p:cNvPr id="14" name="Text 8"/>
          <p:cNvSpPr txBox="1"/>
          <p:nvPr/>
        </p:nvSpPr>
        <p:spPr>
          <a:xfrm>
            <a:off x="1325880" y="3364992"/>
            <a:ext cx="5120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Explanation required</a:t>
            </a:r>
            <a:endParaRPr lang="en-US" sz="1500" dirty="0"/>
          </a:p>
        </p:txBody>
      </p:sp>
      <p:sp>
        <p:nvSpPr>
          <p:cNvPr id="15" name="Text 9"/>
          <p:cNvSpPr txBox="1"/>
          <p:nvPr/>
        </p:nvSpPr>
        <p:spPr>
          <a:xfrm>
            <a:off x="1325880" y="3703320"/>
            <a:ext cx="5120640" cy="5943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Credit, insurance and hiring decisions may need reasons a regulator can audit. Linear models and small trees explain themselves.</a:t>
            </a:r>
            <a:endParaRPr lang="en-US" sz="1200" dirty="0"/>
          </a:p>
        </p:txBody>
      </p:sp>
      <p:sp>
        <p:nvSpPr>
          <p:cNvPr id="16" name="Shape 10"/>
          <p:cNvSpPr/>
          <p:nvPr/>
        </p:nvSpPr>
        <p:spPr>
          <a:xfrm>
            <a:off x="548640" y="4434840"/>
            <a:ext cx="548640" cy="548640"/>
          </a:xfrm>
          <a:prstGeom prst="ellipse">
            <a:avLst/>
          </a:prstGeom>
          <a:solidFill>
            <a:schemeClr val="accent4"/>
          </a:solidFill>
          <a:ln/>
        </p:spPr>
      </p:sp>
      <p:pic>
        <p:nvPicPr>
          <p:cNvPr id="17" name="Image 3" descr="Bolt icon">    </p:cNvPr>
          <p:cNvPicPr>
            <a:picLocks noChangeAspect="1"/>
          </p:cNvPicPr>
          <p:nvPr/>
        </p:nvPicPr>
        <p:blipFill>
          <a:blip r:embed="rId4"/>
          <a:stretch>
            <a:fillRect/>
          </a:stretch>
        </p:blipFill>
        <p:spPr>
          <a:xfrm>
            <a:off x="685800" y="4572000"/>
            <a:ext cx="274320" cy="274320"/>
          </a:xfrm>
          <a:prstGeom prst="rect">
            <a:avLst/>
          </a:prstGeom>
        </p:spPr>
      </p:pic>
      <p:sp>
        <p:nvSpPr>
          <p:cNvPr id="18" name="Text 11"/>
          <p:cNvSpPr txBox="1"/>
          <p:nvPr/>
        </p:nvSpPr>
        <p:spPr>
          <a:xfrm>
            <a:off x="1325880" y="4370832"/>
            <a:ext cx="51206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Tight compute budget</a:t>
            </a:r>
            <a:endParaRPr lang="en-US" sz="1500" dirty="0"/>
          </a:p>
        </p:txBody>
      </p:sp>
      <p:sp>
        <p:nvSpPr>
          <p:cNvPr id="19" name="Text 12"/>
          <p:cNvSpPr txBox="1"/>
          <p:nvPr/>
        </p:nvSpPr>
        <p:spPr>
          <a:xfrm>
            <a:off x="1325880" y="4709160"/>
            <a:ext cx="5120640" cy="59436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On-device or millisecond-latency settings can favour a small linear model over a large network.</a:t>
            </a:r>
            <a:endParaRPr lang="en-US" sz="1200" dirty="0"/>
          </a:p>
        </p:txBody>
      </p:sp>
      <p:sp>
        <p:nvSpPr>
          <p:cNvPr id="20" name="Shape 13"/>
          <p:cNvSpPr/>
          <p:nvPr/>
        </p:nvSpPr>
        <p:spPr>
          <a:xfrm>
            <a:off x="6812280" y="1325880"/>
            <a:ext cx="4828032" cy="3931920"/>
          </a:xfrm>
          <a:prstGeom prst="rect">
            <a:avLst/>
          </a:prstGeom>
          <a:solidFill>
            <a:schemeClr val="bg2"/>
          </a:solidFill>
          <a:ln/>
        </p:spPr>
      </p:sp>
      <p:sp>
        <p:nvSpPr>
          <p:cNvPr id="21" name="Text 14"/>
          <p:cNvSpPr txBox="1"/>
          <p:nvPr/>
        </p:nvSpPr>
        <p:spPr>
          <a:xfrm>
            <a:off x="7086600" y="1508760"/>
            <a:ext cx="42976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Rule of thumb</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86600" y="1965960"/>
          <a:ext cx="4297680" cy="914400"/>
        </p:xfrm>
        <a:graphic>
          <a:graphicData uri="http://schemas.openxmlformats.org/drawingml/2006/table">
            <a:tbl>
              <a:tblPr/>
              <a:tblGrid>
                <a:gridCol w="1828800"/>
                <a:gridCol w="2468880"/>
              </a:tblGrid>
              <a:tr h="438912">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Data type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Usual first choice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438912">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Images, video</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Deep learning (CNNs, ViTs)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38912">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Audio, speech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Deep learning</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38912">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Text, documents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Deep learning (Transformers)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38912">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Sequences, logs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Deep learning or boosted trees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38912">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Tabular, &lt; 100k rows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Boosted trees, then try an MLP</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23" name="Shape 15"/>
          <p:cNvSpPr/>
          <p:nvPr/>
        </p:nvSpPr>
        <p:spPr>
          <a:xfrm>
            <a:off x="548640" y="5486400"/>
            <a:ext cx="11091672" cy="640080"/>
          </a:xfrm>
          <a:prstGeom prst="rect">
            <a:avLst/>
          </a:prstGeom>
          <a:solidFill>
            <a:schemeClr val="tx1"/>
          </a:solidFill>
          <a:ln/>
        </p:spPr>
      </p:sp>
      <p:sp>
        <p:nvSpPr>
          <p:cNvPr id="24" name="Text 16"/>
          <p:cNvSpPr txBox="1"/>
          <p:nvPr/>
        </p:nvSpPr>
        <p:spPr>
          <a:xfrm>
            <a:off x="777240" y="548640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Analytics lesson:  </a:t>
            </a:r>
            <a:pPr indent="0" marL="0">
              <a:buNone/>
            </a:pPr>
            <a:r>
              <a:rPr lang="en-US" sz="1400" dirty="0">
                <a:solidFill>
                  <a:schemeClr val="bg1"/>
                </a:solidFill>
                <a:latin typeface="Calibri" pitchFamily="34" charset="0"/>
                <a:ea typeface="Calibri" pitchFamily="34" charset="-122"/>
                <a:cs typeface="Calibri" pitchFamily="34" charset="-120"/>
              </a:rPr>
              <a:t>pick the model for the data. Deep learning wins on raw, high-dimensional, unstructured data at scale.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1828800"/>
            <a:ext cx="10698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PART 2 · ORIGINS</a:t>
            </a:r>
            <a:endParaRPr lang="en-US" sz="1400" dirty="0"/>
          </a:p>
        </p:txBody>
      </p:sp>
      <p:sp>
        <p:nvSpPr>
          <p:cNvPr id="3"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000" dirty="0">
                <a:solidFill>
                  <a:schemeClr val="bg1"/>
                </a:solidFill>
                <a:latin typeface="Cambria" pitchFamily="34" charset="0"/>
                <a:ea typeface="Cambria" pitchFamily="34" charset="-122"/>
                <a:cs typeface="Cambria" pitchFamily="34" charset="-120"/>
              </a:rPr>
              <a:t>1943 to 1969: the idea of an artificial neuron</a:t>
            </a:r>
            <a:endParaRPr lang="en-US" sz="4000" dirty="0"/>
          </a:p>
        </p:txBody>
      </p:sp>
      <p:sp>
        <p:nvSpPr>
          <p:cNvPr id="4"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From logic gates to the first machine that learned its own weights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Eighty years in one picture</a:t>
            </a:r>
            <a:endParaRPr lang="en-US" sz="3200" dirty="0"/>
          </a:p>
        </p:txBody>
      </p:sp>
      <p:sp>
        <p:nvSpPr>
          <p:cNvPr id="4" name="Shape 1"/>
          <p:cNvSpPr/>
          <p:nvPr/>
        </p:nvSpPr>
        <p:spPr>
          <a:xfrm>
            <a:off x="548640" y="2606040"/>
            <a:ext cx="11091672" cy="914"/>
          </a:xfrm>
          <a:prstGeom prst="line">
            <a:avLst/>
          </a:prstGeom>
          <a:noFill/>
          <a:ln w="25400">
            <a:solidFill>
              <a:srgbClr val="D9DEE3"/>
            </a:solidFill>
            <a:prstDash val="solid"/>
          </a:ln>
        </p:spPr>
      </p:sp>
      <p:sp>
        <p:nvSpPr>
          <p:cNvPr id="5" name="Shape 2"/>
          <p:cNvSpPr/>
          <p:nvPr/>
        </p:nvSpPr>
        <p:spPr>
          <a:xfrm>
            <a:off x="892947" y="2523744"/>
            <a:ext cx="164592" cy="164592"/>
          </a:xfrm>
          <a:prstGeom prst="ellipse">
            <a:avLst/>
          </a:prstGeom>
          <a:solidFill>
            <a:schemeClr val="accent2"/>
          </a:solidFill>
          <a:ln w="19050">
            <a:solidFill>
              <a:srgbClr val="FFFFFF"/>
            </a:solidFill>
            <a:prstDash val="solid"/>
          </a:ln>
        </p:spPr>
      </p:sp>
      <p:sp>
        <p:nvSpPr>
          <p:cNvPr id="6" name="Text 3"/>
          <p:cNvSpPr txBox="1"/>
          <p:nvPr/>
        </p:nvSpPr>
        <p:spPr>
          <a:xfrm>
            <a:off x="164698" y="155448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1943</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McCulloch &amp; Pitts logical neuron</a:t>
            </a:r>
            <a:endParaRPr lang="en-US" sz="1300" dirty="0"/>
          </a:p>
        </p:txBody>
      </p:sp>
      <p:sp>
        <p:nvSpPr>
          <p:cNvPr id="7" name="Shape 4"/>
          <p:cNvSpPr/>
          <p:nvPr/>
        </p:nvSpPr>
        <p:spPr>
          <a:xfrm>
            <a:off x="1746152" y="2523744"/>
            <a:ext cx="164592" cy="164592"/>
          </a:xfrm>
          <a:prstGeom prst="ellipse">
            <a:avLst/>
          </a:prstGeom>
          <a:solidFill>
            <a:schemeClr val="accent2"/>
          </a:solidFill>
          <a:ln w="19050">
            <a:solidFill>
              <a:srgbClr val="FFFFFF"/>
            </a:solidFill>
            <a:prstDash val="solid"/>
          </a:ln>
        </p:spPr>
      </p:sp>
      <p:sp>
        <p:nvSpPr>
          <p:cNvPr id="8" name="Text 5"/>
          <p:cNvSpPr txBox="1"/>
          <p:nvPr/>
        </p:nvSpPr>
        <p:spPr>
          <a:xfrm>
            <a:off x="1017903" y="278892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1949</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Hebb: learning as wiring</a:t>
            </a:r>
            <a:endParaRPr lang="en-US" sz="1300" dirty="0"/>
          </a:p>
        </p:txBody>
      </p:sp>
      <p:sp>
        <p:nvSpPr>
          <p:cNvPr id="9" name="Shape 6"/>
          <p:cNvSpPr/>
          <p:nvPr/>
        </p:nvSpPr>
        <p:spPr>
          <a:xfrm>
            <a:off x="2599358" y="2523744"/>
            <a:ext cx="164592" cy="164592"/>
          </a:xfrm>
          <a:prstGeom prst="ellipse">
            <a:avLst/>
          </a:prstGeom>
          <a:solidFill>
            <a:schemeClr val="accent2"/>
          </a:solidFill>
          <a:ln w="19050">
            <a:solidFill>
              <a:srgbClr val="FFFFFF"/>
            </a:solidFill>
            <a:prstDash val="solid"/>
          </a:ln>
        </p:spPr>
      </p:sp>
      <p:sp>
        <p:nvSpPr>
          <p:cNvPr id="10" name="Text 7"/>
          <p:cNvSpPr txBox="1"/>
          <p:nvPr/>
        </p:nvSpPr>
        <p:spPr>
          <a:xfrm>
            <a:off x="1871109" y="155448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1950</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Turing: can machines think?</a:t>
            </a:r>
            <a:endParaRPr lang="en-US" sz="1300" dirty="0"/>
          </a:p>
        </p:txBody>
      </p:sp>
      <p:sp>
        <p:nvSpPr>
          <p:cNvPr id="11" name="Shape 8"/>
          <p:cNvSpPr/>
          <p:nvPr/>
        </p:nvSpPr>
        <p:spPr>
          <a:xfrm>
            <a:off x="3452563" y="2523744"/>
            <a:ext cx="164592" cy="164592"/>
          </a:xfrm>
          <a:prstGeom prst="ellipse">
            <a:avLst/>
          </a:prstGeom>
          <a:solidFill>
            <a:schemeClr val="accent2"/>
          </a:solidFill>
          <a:ln w="19050">
            <a:solidFill>
              <a:srgbClr val="FFFFFF"/>
            </a:solidFill>
            <a:prstDash val="solid"/>
          </a:ln>
        </p:spPr>
      </p:sp>
      <p:sp>
        <p:nvSpPr>
          <p:cNvPr id="12" name="Text 9"/>
          <p:cNvSpPr txBox="1"/>
          <p:nvPr/>
        </p:nvSpPr>
        <p:spPr>
          <a:xfrm>
            <a:off x="2724314" y="278892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1956</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Dartmouth names "AI"</a:t>
            </a:r>
            <a:endParaRPr lang="en-US" sz="1300" dirty="0"/>
          </a:p>
        </p:txBody>
      </p:sp>
      <p:sp>
        <p:nvSpPr>
          <p:cNvPr id="13" name="Shape 10"/>
          <p:cNvSpPr/>
          <p:nvPr/>
        </p:nvSpPr>
        <p:spPr>
          <a:xfrm>
            <a:off x="4305769" y="2523744"/>
            <a:ext cx="164592" cy="164592"/>
          </a:xfrm>
          <a:prstGeom prst="ellipse">
            <a:avLst/>
          </a:prstGeom>
          <a:solidFill>
            <a:schemeClr val="accent2"/>
          </a:solidFill>
          <a:ln w="19050">
            <a:solidFill>
              <a:srgbClr val="FFFFFF"/>
            </a:solidFill>
            <a:prstDash val="solid"/>
          </a:ln>
        </p:spPr>
      </p:sp>
      <p:sp>
        <p:nvSpPr>
          <p:cNvPr id="14" name="Text 11"/>
          <p:cNvSpPr txBox="1"/>
          <p:nvPr/>
        </p:nvSpPr>
        <p:spPr>
          <a:xfrm>
            <a:off x="3577520" y="155448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1958</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Rosenblatt's perceptron</a:t>
            </a:r>
            <a:endParaRPr lang="en-US" sz="1300" dirty="0"/>
          </a:p>
        </p:txBody>
      </p:sp>
      <p:sp>
        <p:nvSpPr>
          <p:cNvPr id="15" name="Shape 12"/>
          <p:cNvSpPr/>
          <p:nvPr/>
        </p:nvSpPr>
        <p:spPr>
          <a:xfrm>
            <a:off x="5158974" y="2523744"/>
            <a:ext cx="164592" cy="164592"/>
          </a:xfrm>
          <a:prstGeom prst="ellipse">
            <a:avLst/>
          </a:prstGeom>
          <a:solidFill>
            <a:schemeClr val="accent2"/>
          </a:solidFill>
          <a:ln w="19050">
            <a:solidFill>
              <a:srgbClr val="FFFFFF"/>
            </a:solidFill>
            <a:prstDash val="solid"/>
          </a:ln>
        </p:spPr>
      </p:sp>
      <p:sp>
        <p:nvSpPr>
          <p:cNvPr id="16" name="Text 13"/>
          <p:cNvSpPr txBox="1"/>
          <p:nvPr/>
        </p:nvSpPr>
        <p:spPr>
          <a:xfrm>
            <a:off x="4430725" y="278892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1960</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Widrow &amp; Hoff ADALINE</a:t>
            </a:r>
            <a:endParaRPr lang="en-US" sz="1300" dirty="0"/>
          </a:p>
        </p:txBody>
      </p:sp>
      <p:sp>
        <p:nvSpPr>
          <p:cNvPr id="17" name="Shape 14"/>
          <p:cNvSpPr/>
          <p:nvPr/>
        </p:nvSpPr>
        <p:spPr>
          <a:xfrm>
            <a:off x="6012180" y="2523744"/>
            <a:ext cx="164592" cy="164592"/>
          </a:xfrm>
          <a:prstGeom prst="ellipse">
            <a:avLst/>
          </a:prstGeom>
          <a:solidFill>
            <a:schemeClr val="accent3"/>
          </a:solidFill>
          <a:ln w="19050">
            <a:solidFill>
              <a:srgbClr val="FFFFFF"/>
            </a:solidFill>
            <a:prstDash val="solid"/>
          </a:ln>
        </p:spPr>
      </p:sp>
      <p:sp>
        <p:nvSpPr>
          <p:cNvPr id="18" name="Text 15"/>
          <p:cNvSpPr txBox="1"/>
          <p:nvPr/>
        </p:nvSpPr>
        <p:spPr>
          <a:xfrm>
            <a:off x="5283931" y="1554480"/>
            <a:ext cx="1621091" cy="868680"/>
          </a:xfrm>
          <a:prstGeom prst="rect">
            <a:avLst/>
          </a:prstGeom>
          <a:noFill/>
          <a:ln/>
        </p:spPr>
        <p:txBody>
          <a:bodyPr wrap="square" lIns="0" tIns="0" rIns="0" bIns="0" rtlCol="0" anchor="b"/>
          <a:lstStyle/>
          <a:p>
            <a:pPr algn="ctr" indent="0" marL="0">
              <a:buNone/>
            </a:pPr>
            <a:r>
              <a:rPr lang="en-US" sz="1400" b="1" dirty="0">
                <a:solidFill>
                  <a:schemeClr val="accent3"/>
                </a:solidFill>
                <a:latin typeface="Cambria" pitchFamily="34" charset="0"/>
                <a:ea typeface="Cambria" pitchFamily="34" charset="-122"/>
                <a:cs typeface="Cambria" pitchFamily="34" charset="-120"/>
              </a:rPr>
              <a:t>1969</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Minsky &amp; Papert: XOR</a:t>
            </a:r>
            <a:endParaRPr lang="en-US" sz="1300" dirty="0"/>
          </a:p>
        </p:txBody>
      </p:sp>
      <p:sp>
        <p:nvSpPr>
          <p:cNvPr id="19" name="Shape 16"/>
          <p:cNvSpPr/>
          <p:nvPr/>
        </p:nvSpPr>
        <p:spPr>
          <a:xfrm>
            <a:off x="6865386" y="2523744"/>
            <a:ext cx="164592" cy="164592"/>
          </a:xfrm>
          <a:prstGeom prst="ellipse">
            <a:avLst/>
          </a:prstGeom>
          <a:solidFill>
            <a:schemeClr val="accent3"/>
          </a:solidFill>
          <a:ln w="19050">
            <a:solidFill>
              <a:srgbClr val="FFFFFF"/>
            </a:solidFill>
            <a:prstDash val="solid"/>
          </a:ln>
        </p:spPr>
      </p:sp>
      <p:sp>
        <p:nvSpPr>
          <p:cNvPr id="20" name="Text 17"/>
          <p:cNvSpPr txBox="1"/>
          <p:nvPr/>
        </p:nvSpPr>
        <p:spPr>
          <a:xfrm>
            <a:off x="6137136" y="2788920"/>
            <a:ext cx="1621091" cy="868680"/>
          </a:xfrm>
          <a:prstGeom prst="rect">
            <a:avLst/>
          </a:prstGeom>
          <a:noFill/>
          <a:ln/>
        </p:spPr>
        <p:txBody>
          <a:bodyPr wrap="square" lIns="0" tIns="0" rIns="0" bIns="0" rtlCol="0" anchor="t"/>
          <a:lstStyle/>
          <a:p>
            <a:pPr algn="ctr" indent="0" marL="0">
              <a:buNone/>
            </a:pPr>
            <a:r>
              <a:rPr lang="en-US" sz="1400" b="1" dirty="0">
                <a:solidFill>
                  <a:schemeClr val="accent3"/>
                </a:solidFill>
                <a:latin typeface="Cambria" pitchFamily="34" charset="0"/>
                <a:ea typeface="Cambria" pitchFamily="34" charset="-122"/>
                <a:cs typeface="Cambria" pitchFamily="34" charset="-120"/>
              </a:rPr>
              <a:t>1974</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First AI winter</a:t>
            </a:r>
            <a:endParaRPr lang="en-US" sz="1300" dirty="0"/>
          </a:p>
        </p:txBody>
      </p:sp>
      <p:sp>
        <p:nvSpPr>
          <p:cNvPr id="21" name="Shape 18"/>
          <p:cNvSpPr/>
          <p:nvPr/>
        </p:nvSpPr>
        <p:spPr>
          <a:xfrm>
            <a:off x="7718591" y="2523744"/>
            <a:ext cx="164592" cy="164592"/>
          </a:xfrm>
          <a:prstGeom prst="ellipse">
            <a:avLst/>
          </a:prstGeom>
          <a:solidFill>
            <a:schemeClr val="accent1"/>
          </a:solidFill>
          <a:ln w="19050">
            <a:solidFill>
              <a:srgbClr val="FFFFFF"/>
            </a:solidFill>
            <a:prstDash val="solid"/>
          </a:ln>
        </p:spPr>
      </p:sp>
      <p:sp>
        <p:nvSpPr>
          <p:cNvPr id="22" name="Text 19"/>
          <p:cNvSpPr txBox="1"/>
          <p:nvPr/>
        </p:nvSpPr>
        <p:spPr>
          <a:xfrm>
            <a:off x="6990342" y="1554480"/>
            <a:ext cx="1621091" cy="868680"/>
          </a:xfrm>
          <a:prstGeom prst="rect">
            <a:avLst/>
          </a:prstGeom>
          <a:noFill/>
          <a:ln/>
        </p:spPr>
        <p:txBody>
          <a:bodyPr wrap="square" lIns="0" tIns="0" rIns="0" bIns="0" rtlCol="0" anchor="b"/>
          <a:lstStyle/>
          <a:p>
            <a:pPr algn="ctr" indent="0" marL="0">
              <a:buNone/>
            </a:pPr>
            <a:r>
              <a:rPr lang="en-US" sz="1400" b="1" dirty="0">
                <a:solidFill>
                  <a:schemeClr val="accent1"/>
                </a:solidFill>
                <a:latin typeface="Cambria" pitchFamily="34" charset="0"/>
                <a:ea typeface="Cambria" pitchFamily="34" charset="-122"/>
                <a:cs typeface="Cambria" pitchFamily="34" charset="-120"/>
              </a:rPr>
              <a:t>1982</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Hopfield networks</a:t>
            </a:r>
            <a:endParaRPr lang="en-US" sz="1300" dirty="0"/>
          </a:p>
        </p:txBody>
      </p:sp>
      <p:sp>
        <p:nvSpPr>
          <p:cNvPr id="23" name="Shape 20"/>
          <p:cNvSpPr/>
          <p:nvPr/>
        </p:nvSpPr>
        <p:spPr>
          <a:xfrm>
            <a:off x="8571797" y="2523744"/>
            <a:ext cx="164592" cy="164592"/>
          </a:xfrm>
          <a:prstGeom prst="ellipse">
            <a:avLst/>
          </a:prstGeom>
          <a:solidFill>
            <a:schemeClr val="accent1"/>
          </a:solidFill>
          <a:ln w="19050">
            <a:solidFill>
              <a:srgbClr val="FFFFFF"/>
            </a:solidFill>
            <a:prstDash val="solid"/>
          </a:ln>
        </p:spPr>
      </p:sp>
      <p:sp>
        <p:nvSpPr>
          <p:cNvPr id="24" name="Text 21"/>
          <p:cNvSpPr txBox="1"/>
          <p:nvPr/>
        </p:nvSpPr>
        <p:spPr>
          <a:xfrm>
            <a:off x="7843547" y="2788920"/>
            <a:ext cx="1621091" cy="868680"/>
          </a:xfrm>
          <a:prstGeom prst="rect">
            <a:avLst/>
          </a:prstGeom>
          <a:noFill/>
          <a:ln/>
        </p:spPr>
        <p:txBody>
          <a:bodyPr wrap="square" lIns="0" tIns="0" rIns="0" bIns="0" rtlCol="0" anchor="t"/>
          <a:lstStyle/>
          <a:p>
            <a:pPr algn="ctr" indent="0" marL="0">
              <a:buNone/>
            </a:pPr>
            <a:r>
              <a:rPr lang="en-US" sz="1400" b="1" dirty="0">
                <a:solidFill>
                  <a:schemeClr val="accent1"/>
                </a:solidFill>
                <a:latin typeface="Cambria" pitchFamily="34" charset="0"/>
                <a:ea typeface="Cambria" pitchFamily="34" charset="-122"/>
                <a:cs typeface="Cambria" pitchFamily="34" charset="-120"/>
              </a:rPr>
              <a:t>1986</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Backprop in Nature</a:t>
            </a:r>
            <a:endParaRPr lang="en-US" sz="1300" dirty="0"/>
          </a:p>
        </p:txBody>
      </p:sp>
      <p:sp>
        <p:nvSpPr>
          <p:cNvPr id="25" name="Shape 22"/>
          <p:cNvSpPr/>
          <p:nvPr/>
        </p:nvSpPr>
        <p:spPr>
          <a:xfrm>
            <a:off x="9425002" y="2523744"/>
            <a:ext cx="164592" cy="164592"/>
          </a:xfrm>
          <a:prstGeom prst="ellipse">
            <a:avLst/>
          </a:prstGeom>
          <a:solidFill>
            <a:schemeClr val="accent3"/>
          </a:solidFill>
          <a:ln w="19050">
            <a:solidFill>
              <a:srgbClr val="FFFFFF"/>
            </a:solidFill>
            <a:prstDash val="solid"/>
          </a:ln>
        </p:spPr>
      </p:sp>
      <p:sp>
        <p:nvSpPr>
          <p:cNvPr id="26" name="Text 23"/>
          <p:cNvSpPr txBox="1"/>
          <p:nvPr/>
        </p:nvSpPr>
        <p:spPr>
          <a:xfrm>
            <a:off x="8696753" y="1554480"/>
            <a:ext cx="1621091" cy="868680"/>
          </a:xfrm>
          <a:prstGeom prst="rect">
            <a:avLst/>
          </a:prstGeom>
          <a:noFill/>
          <a:ln/>
        </p:spPr>
        <p:txBody>
          <a:bodyPr wrap="square" lIns="0" tIns="0" rIns="0" bIns="0" rtlCol="0" anchor="b"/>
          <a:lstStyle/>
          <a:p>
            <a:pPr algn="ctr" indent="0" marL="0">
              <a:buNone/>
            </a:pPr>
            <a:r>
              <a:rPr lang="en-US" sz="1400" b="1" dirty="0">
                <a:solidFill>
                  <a:schemeClr val="accent3"/>
                </a:solidFill>
                <a:latin typeface="Cambria" pitchFamily="34" charset="0"/>
                <a:ea typeface="Cambria" pitchFamily="34" charset="-122"/>
                <a:cs typeface="Cambria" pitchFamily="34" charset="-120"/>
              </a:rPr>
              <a:t>1987</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Second AI winter</a:t>
            </a:r>
            <a:endParaRPr lang="en-US" sz="1300" dirty="0"/>
          </a:p>
        </p:txBody>
      </p:sp>
      <p:sp>
        <p:nvSpPr>
          <p:cNvPr id="27" name="Shape 24"/>
          <p:cNvSpPr/>
          <p:nvPr/>
        </p:nvSpPr>
        <p:spPr>
          <a:xfrm>
            <a:off x="10278208" y="2523744"/>
            <a:ext cx="164592" cy="164592"/>
          </a:xfrm>
          <a:prstGeom prst="ellipse">
            <a:avLst/>
          </a:prstGeom>
          <a:solidFill>
            <a:schemeClr val="accent1"/>
          </a:solidFill>
          <a:ln w="19050">
            <a:solidFill>
              <a:srgbClr val="FFFFFF"/>
            </a:solidFill>
            <a:prstDash val="solid"/>
          </a:ln>
        </p:spPr>
      </p:sp>
      <p:sp>
        <p:nvSpPr>
          <p:cNvPr id="28" name="Text 25"/>
          <p:cNvSpPr txBox="1"/>
          <p:nvPr/>
        </p:nvSpPr>
        <p:spPr>
          <a:xfrm>
            <a:off x="9549958" y="2788920"/>
            <a:ext cx="1621091" cy="868680"/>
          </a:xfrm>
          <a:prstGeom prst="rect">
            <a:avLst/>
          </a:prstGeom>
          <a:noFill/>
          <a:ln/>
        </p:spPr>
        <p:txBody>
          <a:bodyPr wrap="square" lIns="0" tIns="0" rIns="0" bIns="0" rtlCol="0" anchor="t"/>
          <a:lstStyle/>
          <a:p>
            <a:pPr algn="ctr" indent="0" marL="0">
              <a:buNone/>
            </a:pPr>
            <a:r>
              <a:rPr lang="en-US" sz="1400" b="1" dirty="0">
                <a:solidFill>
                  <a:schemeClr val="accent1"/>
                </a:solidFill>
                <a:latin typeface="Cambria" pitchFamily="34" charset="0"/>
                <a:ea typeface="Cambria" pitchFamily="34" charset="-122"/>
                <a:cs typeface="Cambria" pitchFamily="34" charset="-120"/>
              </a:rPr>
              <a:t>1989</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CNN reads ZIP codes</a:t>
            </a:r>
            <a:endParaRPr lang="en-US" sz="1300" dirty="0"/>
          </a:p>
        </p:txBody>
      </p:sp>
      <p:sp>
        <p:nvSpPr>
          <p:cNvPr id="29" name="Shape 26"/>
          <p:cNvSpPr/>
          <p:nvPr/>
        </p:nvSpPr>
        <p:spPr>
          <a:xfrm>
            <a:off x="11131413" y="2523744"/>
            <a:ext cx="164592" cy="164592"/>
          </a:xfrm>
          <a:prstGeom prst="ellipse">
            <a:avLst/>
          </a:prstGeom>
          <a:solidFill>
            <a:schemeClr val="accent1"/>
          </a:solidFill>
          <a:ln w="19050">
            <a:solidFill>
              <a:srgbClr val="FFFFFF"/>
            </a:solidFill>
            <a:prstDash val="solid"/>
          </a:ln>
        </p:spPr>
      </p:sp>
      <p:sp>
        <p:nvSpPr>
          <p:cNvPr id="30" name="Text 27"/>
          <p:cNvSpPr txBox="1"/>
          <p:nvPr/>
        </p:nvSpPr>
        <p:spPr>
          <a:xfrm>
            <a:off x="10403164" y="1554480"/>
            <a:ext cx="1621091" cy="868680"/>
          </a:xfrm>
          <a:prstGeom prst="rect">
            <a:avLst/>
          </a:prstGeom>
          <a:noFill/>
          <a:ln/>
        </p:spPr>
        <p:txBody>
          <a:bodyPr wrap="square" lIns="0" tIns="0" rIns="0" bIns="0" rtlCol="0" anchor="b"/>
          <a:lstStyle/>
          <a:p>
            <a:pPr algn="ctr" indent="0" marL="0">
              <a:buNone/>
            </a:pPr>
            <a:r>
              <a:rPr lang="en-US" sz="1400" b="1" dirty="0">
                <a:solidFill>
                  <a:schemeClr val="accent1"/>
                </a:solidFill>
                <a:latin typeface="Cambria" pitchFamily="34" charset="0"/>
                <a:ea typeface="Cambria" pitchFamily="34" charset="-122"/>
                <a:cs typeface="Cambria" pitchFamily="34" charset="-120"/>
              </a:rPr>
              <a:t>1997</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LSTM</a:t>
            </a:r>
            <a:endParaRPr lang="en-US" sz="1300" dirty="0"/>
          </a:p>
        </p:txBody>
      </p:sp>
      <p:sp>
        <p:nvSpPr>
          <p:cNvPr id="31" name="Shape 28"/>
          <p:cNvSpPr/>
          <p:nvPr/>
        </p:nvSpPr>
        <p:spPr>
          <a:xfrm>
            <a:off x="548640" y="5074920"/>
            <a:ext cx="11091672" cy="914"/>
          </a:xfrm>
          <a:prstGeom prst="line">
            <a:avLst/>
          </a:prstGeom>
          <a:noFill/>
          <a:ln w="25400">
            <a:solidFill>
              <a:srgbClr val="D9DEE3"/>
            </a:solidFill>
            <a:prstDash val="solid"/>
          </a:ln>
        </p:spPr>
      </p:sp>
      <p:sp>
        <p:nvSpPr>
          <p:cNvPr id="32" name="Shape 29"/>
          <p:cNvSpPr/>
          <p:nvPr/>
        </p:nvSpPr>
        <p:spPr>
          <a:xfrm>
            <a:off x="892947" y="4992624"/>
            <a:ext cx="164592" cy="164592"/>
          </a:xfrm>
          <a:prstGeom prst="ellipse">
            <a:avLst/>
          </a:prstGeom>
          <a:solidFill>
            <a:schemeClr val="accent2"/>
          </a:solidFill>
          <a:ln w="19050">
            <a:solidFill>
              <a:srgbClr val="FFFFFF"/>
            </a:solidFill>
            <a:prstDash val="solid"/>
          </a:ln>
        </p:spPr>
      </p:sp>
      <p:sp>
        <p:nvSpPr>
          <p:cNvPr id="33" name="Text 30"/>
          <p:cNvSpPr txBox="1"/>
          <p:nvPr/>
        </p:nvSpPr>
        <p:spPr>
          <a:xfrm>
            <a:off x="164698" y="402336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1998</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LeNet-5 reads cheques</a:t>
            </a:r>
            <a:endParaRPr lang="en-US" sz="1300" dirty="0"/>
          </a:p>
        </p:txBody>
      </p:sp>
      <p:sp>
        <p:nvSpPr>
          <p:cNvPr id="34" name="Shape 31"/>
          <p:cNvSpPr/>
          <p:nvPr/>
        </p:nvSpPr>
        <p:spPr>
          <a:xfrm>
            <a:off x="1746152" y="4992624"/>
            <a:ext cx="164592" cy="164592"/>
          </a:xfrm>
          <a:prstGeom prst="ellipse">
            <a:avLst/>
          </a:prstGeom>
          <a:solidFill>
            <a:schemeClr val="accent1"/>
          </a:solidFill>
          <a:ln w="19050">
            <a:solidFill>
              <a:srgbClr val="FFFFFF"/>
            </a:solidFill>
            <a:prstDash val="solid"/>
          </a:ln>
        </p:spPr>
      </p:sp>
      <p:sp>
        <p:nvSpPr>
          <p:cNvPr id="35" name="Text 32"/>
          <p:cNvSpPr txBox="1"/>
          <p:nvPr/>
        </p:nvSpPr>
        <p:spPr>
          <a:xfrm>
            <a:off x="1017903" y="5257800"/>
            <a:ext cx="1621091" cy="868680"/>
          </a:xfrm>
          <a:prstGeom prst="rect">
            <a:avLst/>
          </a:prstGeom>
          <a:noFill/>
          <a:ln/>
        </p:spPr>
        <p:txBody>
          <a:bodyPr wrap="square" lIns="0" tIns="0" rIns="0" bIns="0" rtlCol="0" anchor="t"/>
          <a:lstStyle/>
          <a:p>
            <a:pPr algn="ctr" indent="0" marL="0">
              <a:buNone/>
            </a:pPr>
            <a:r>
              <a:rPr lang="en-US" sz="1400" b="1" dirty="0">
                <a:solidFill>
                  <a:schemeClr val="accent1"/>
                </a:solidFill>
                <a:latin typeface="Cambria" pitchFamily="34" charset="0"/>
                <a:ea typeface="Cambria" pitchFamily="34" charset="-122"/>
                <a:cs typeface="Cambria" pitchFamily="34" charset="-120"/>
              </a:rPr>
              <a:t>2006</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Deep belief nets</a:t>
            </a:r>
            <a:endParaRPr lang="en-US" sz="1300" dirty="0"/>
          </a:p>
        </p:txBody>
      </p:sp>
      <p:sp>
        <p:nvSpPr>
          <p:cNvPr id="36" name="Shape 33"/>
          <p:cNvSpPr/>
          <p:nvPr/>
        </p:nvSpPr>
        <p:spPr>
          <a:xfrm>
            <a:off x="2599358" y="4992624"/>
            <a:ext cx="164592" cy="164592"/>
          </a:xfrm>
          <a:prstGeom prst="ellipse">
            <a:avLst/>
          </a:prstGeom>
          <a:solidFill>
            <a:schemeClr val="accent2"/>
          </a:solidFill>
          <a:ln w="19050">
            <a:solidFill>
              <a:srgbClr val="FFFFFF"/>
            </a:solidFill>
            <a:prstDash val="solid"/>
          </a:ln>
        </p:spPr>
      </p:sp>
      <p:sp>
        <p:nvSpPr>
          <p:cNvPr id="37" name="Text 34"/>
          <p:cNvSpPr txBox="1"/>
          <p:nvPr/>
        </p:nvSpPr>
        <p:spPr>
          <a:xfrm>
            <a:off x="1871109" y="402336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2009</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ImageNet; GPUs</a:t>
            </a:r>
            <a:endParaRPr lang="en-US" sz="1300" dirty="0"/>
          </a:p>
        </p:txBody>
      </p:sp>
      <p:sp>
        <p:nvSpPr>
          <p:cNvPr id="38" name="Shape 35"/>
          <p:cNvSpPr/>
          <p:nvPr/>
        </p:nvSpPr>
        <p:spPr>
          <a:xfrm>
            <a:off x="3452563" y="4992624"/>
            <a:ext cx="164592" cy="164592"/>
          </a:xfrm>
          <a:prstGeom prst="ellipse">
            <a:avLst/>
          </a:prstGeom>
          <a:solidFill>
            <a:schemeClr val="accent2"/>
          </a:solidFill>
          <a:ln w="19050">
            <a:solidFill>
              <a:srgbClr val="FFFFFF"/>
            </a:solidFill>
            <a:prstDash val="solid"/>
          </a:ln>
        </p:spPr>
      </p:sp>
      <p:sp>
        <p:nvSpPr>
          <p:cNvPr id="39" name="Text 36"/>
          <p:cNvSpPr txBox="1"/>
          <p:nvPr/>
        </p:nvSpPr>
        <p:spPr>
          <a:xfrm>
            <a:off x="2724314" y="525780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2010</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ReLU, Xavier init</a:t>
            </a:r>
            <a:endParaRPr lang="en-US" sz="1300" dirty="0"/>
          </a:p>
        </p:txBody>
      </p:sp>
      <p:sp>
        <p:nvSpPr>
          <p:cNvPr id="40" name="Shape 37"/>
          <p:cNvSpPr/>
          <p:nvPr/>
        </p:nvSpPr>
        <p:spPr>
          <a:xfrm>
            <a:off x="4305769" y="4992624"/>
            <a:ext cx="164592" cy="164592"/>
          </a:xfrm>
          <a:prstGeom prst="ellipse">
            <a:avLst/>
          </a:prstGeom>
          <a:solidFill>
            <a:schemeClr val="accent1"/>
          </a:solidFill>
          <a:ln w="19050">
            <a:solidFill>
              <a:srgbClr val="FFFFFF"/>
            </a:solidFill>
            <a:prstDash val="solid"/>
          </a:ln>
        </p:spPr>
      </p:sp>
      <p:sp>
        <p:nvSpPr>
          <p:cNvPr id="41" name="Text 38"/>
          <p:cNvSpPr txBox="1"/>
          <p:nvPr/>
        </p:nvSpPr>
        <p:spPr>
          <a:xfrm>
            <a:off x="3577520" y="4023360"/>
            <a:ext cx="1621091" cy="868680"/>
          </a:xfrm>
          <a:prstGeom prst="rect">
            <a:avLst/>
          </a:prstGeom>
          <a:noFill/>
          <a:ln/>
        </p:spPr>
        <p:txBody>
          <a:bodyPr wrap="square" lIns="0" tIns="0" rIns="0" bIns="0" rtlCol="0" anchor="b"/>
          <a:lstStyle/>
          <a:p>
            <a:pPr algn="ctr" indent="0" marL="0">
              <a:buNone/>
            </a:pPr>
            <a:r>
              <a:rPr lang="en-US" sz="1400" b="1" dirty="0">
                <a:solidFill>
                  <a:schemeClr val="accent1"/>
                </a:solidFill>
                <a:latin typeface="Cambria" pitchFamily="34" charset="0"/>
                <a:ea typeface="Cambria" pitchFamily="34" charset="-122"/>
                <a:cs typeface="Cambria" pitchFamily="34" charset="-120"/>
              </a:rPr>
              <a:t>2012</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AlexNet wins ImageNet</a:t>
            </a:r>
            <a:endParaRPr lang="en-US" sz="1300" dirty="0"/>
          </a:p>
        </p:txBody>
      </p:sp>
      <p:sp>
        <p:nvSpPr>
          <p:cNvPr id="42" name="Shape 39"/>
          <p:cNvSpPr/>
          <p:nvPr/>
        </p:nvSpPr>
        <p:spPr>
          <a:xfrm>
            <a:off x="5158974" y="4992624"/>
            <a:ext cx="164592" cy="164592"/>
          </a:xfrm>
          <a:prstGeom prst="ellipse">
            <a:avLst/>
          </a:prstGeom>
          <a:solidFill>
            <a:schemeClr val="accent2"/>
          </a:solidFill>
          <a:ln w="19050">
            <a:solidFill>
              <a:srgbClr val="FFFFFF"/>
            </a:solidFill>
            <a:prstDash val="solid"/>
          </a:ln>
        </p:spPr>
      </p:sp>
      <p:sp>
        <p:nvSpPr>
          <p:cNvPr id="43" name="Text 40"/>
          <p:cNvSpPr txBox="1"/>
          <p:nvPr/>
        </p:nvSpPr>
        <p:spPr>
          <a:xfrm>
            <a:off x="4430725" y="525780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2014</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GANs, Adam</a:t>
            </a:r>
            <a:endParaRPr lang="en-US" sz="1300" dirty="0"/>
          </a:p>
        </p:txBody>
      </p:sp>
      <p:sp>
        <p:nvSpPr>
          <p:cNvPr id="44" name="Shape 41"/>
          <p:cNvSpPr/>
          <p:nvPr/>
        </p:nvSpPr>
        <p:spPr>
          <a:xfrm>
            <a:off x="6012180" y="4992624"/>
            <a:ext cx="164592" cy="164592"/>
          </a:xfrm>
          <a:prstGeom prst="ellipse">
            <a:avLst/>
          </a:prstGeom>
          <a:solidFill>
            <a:schemeClr val="accent2"/>
          </a:solidFill>
          <a:ln w="19050">
            <a:solidFill>
              <a:srgbClr val="FFFFFF"/>
            </a:solidFill>
            <a:prstDash val="solid"/>
          </a:ln>
        </p:spPr>
      </p:sp>
      <p:sp>
        <p:nvSpPr>
          <p:cNvPr id="45" name="Text 42"/>
          <p:cNvSpPr txBox="1"/>
          <p:nvPr/>
        </p:nvSpPr>
        <p:spPr>
          <a:xfrm>
            <a:off x="5283931" y="402336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2015</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ResNet, batch norm</a:t>
            </a:r>
            <a:endParaRPr lang="en-US" sz="1300" dirty="0"/>
          </a:p>
        </p:txBody>
      </p:sp>
      <p:sp>
        <p:nvSpPr>
          <p:cNvPr id="46" name="Shape 43"/>
          <p:cNvSpPr/>
          <p:nvPr/>
        </p:nvSpPr>
        <p:spPr>
          <a:xfrm>
            <a:off x="6865386" y="4992624"/>
            <a:ext cx="164592" cy="164592"/>
          </a:xfrm>
          <a:prstGeom prst="ellipse">
            <a:avLst/>
          </a:prstGeom>
          <a:solidFill>
            <a:schemeClr val="accent2"/>
          </a:solidFill>
          <a:ln w="19050">
            <a:solidFill>
              <a:srgbClr val="FFFFFF"/>
            </a:solidFill>
            <a:prstDash val="solid"/>
          </a:ln>
        </p:spPr>
      </p:sp>
      <p:sp>
        <p:nvSpPr>
          <p:cNvPr id="47" name="Text 44"/>
          <p:cNvSpPr txBox="1"/>
          <p:nvPr/>
        </p:nvSpPr>
        <p:spPr>
          <a:xfrm>
            <a:off x="6137136" y="525780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2016</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AlphaGo</a:t>
            </a:r>
            <a:endParaRPr lang="en-US" sz="1300" dirty="0"/>
          </a:p>
        </p:txBody>
      </p:sp>
      <p:sp>
        <p:nvSpPr>
          <p:cNvPr id="48" name="Shape 45"/>
          <p:cNvSpPr/>
          <p:nvPr/>
        </p:nvSpPr>
        <p:spPr>
          <a:xfrm>
            <a:off x="7718591" y="4992624"/>
            <a:ext cx="164592" cy="164592"/>
          </a:xfrm>
          <a:prstGeom prst="ellipse">
            <a:avLst/>
          </a:prstGeom>
          <a:solidFill>
            <a:schemeClr val="accent1"/>
          </a:solidFill>
          <a:ln w="19050">
            <a:solidFill>
              <a:srgbClr val="FFFFFF"/>
            </a:solidFill>
            <a:prstDash val="solid"/>
          </a:ln>
        </p:spPr>
      </p:sp>
      <p:sp>
        <p:nvSpPr>
          <p:cNvPr id="49" name="Text 46"/>
          <p:cNvSpPr txBox="1"/>
          <p:nvPr/>
        </p:nvSpPr>
        <p:spPr>
          <a:xfrm>
            <a:off x="6990342" y="4023360"/>
            <a:ext cx="1621091" cy="868680"/>
          </a:xfrm>
          <a:prstGeom prst="rect">
            <a:avLst/>
          </a:prstGeom>
          <a:noFill/>
          <a:ln/>
        </p:spPr>
        <p:txBody>
          <a:bodyPr wrap="square" lIns="0" tIns="0" rIns="0" bIns="0" rtlCol="0" anchor="b"/>
          <a:lstStyle/>
          <a:p>
            <a:pPr algn="ctr" indent="0" marL="0">
              <a:buNone/>
            </a:pPr>
            <a:r>
              <a:rPr lang="en-US" sz="1400" b="1" dirty="0">
                <a:solidFill>
                  <a:schemeClr val="accent1"/>
                </a:solidFill>
                <a:latin typeface="Cambria" pitchFamily="34" charset="0"/>
                <a:ea typeface="Cambria" pitchFamily="34" charset="-122"/>
                <a:cs typeface="Cambria" pitchFamily="34" charset="-120"/>
              </a:rPr>
              <a:t>2017</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Transformer</a:t>
            </a:r>
            <a:endParaRPr lang="en-US" sz="1300" dirty="0"/>
          </a:p>
        </p:txBody>
      </p:sp>
      <p:sp>
        <p:nvSpPr>
          <p:cNvPr id="50" name="Shape 47"/>
          <p:cNvSpPr/>
          <p:nvPr/>
        </p:nvSpPr>
        <p:spPr>
          <a:xfrm>
            <a:off x="8571797" y="4992624"/>
            <a:ext cx="164592" cy="164592"/>
          </a:xfrm>
          <a:prstGeom prst="ellipse">
            <a:avLst/>
          </a:prstGeom>
          <a:solidFill>
            <a:schemeClr val="accent2"/>
          </a:solidFill>
          <a:ln w="19050">
            <a:solidFill>
              <a:srgbClr val="FFFFFF"/>
            </a:solidFill>
            <a:prstDash val="solid"/>
          </a:ln>
        </p:spPr>
      </p:sp>
      <p:sp>
        <p:nvSpPr>
          <p:cNvPr id="51" name="Text 48"/>
          <p:cNvSpPr txBox="1"/>
          <p:nvPr/>
        </p:nvSpPr>
        <p:spPr>
          <a:xfrm>
            <a:off x="7843547" y="525780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2018</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Turing Award: Hinton, LeCun, Bengio</a:t>
            </a:r>
            <a:endParaRPr lang="en-US" sz="1300" dirty="0"/>
          </a:p>
        </p:txBody>
      </p:sp>
      <p:sp>
        <p:nvSpPr>
          <p:cNvPr id="52" name="Shape 49"/>
          <p:cNvSpPr/>
          <p:nvPr/>
        </p:nvSpPr>
        <p:spPr>
          <a:xfrm>
            <a:off x="9425002" y="4992624"/>
            <a:ext cx="164592" cy="164592"/>
          </a:xfrm>
          <a:prstGeom prst="ellipse">
            <a:avLst/>
          </a:prstGeom>
          <a:solidFill>
            <a:schemeClr val="accent2"/>
          </a:solidFill>
          <a:ln w="19050">
            <a:solidFill>
              <a:srgbClr val="FFFFFF"/>
            </a:solidFill>
            <a:prstDash val="solid"/>
          </a:ln>
        </p:spPr>
      </p:sp>
      <p:sp>
        <p:nvSpPr>
          <p:cNvPr id="53" name="Text 50"/>
          <p:cNvSpPr txBox="1"/>
          <p:nvPr/>
        </p:nvSpPr>
        <p:spPr>
          <a:xfrm>
            <a:off x="8696753" y="4023360"/>
            <a:ext cx="1621091" cy="868680"/>
          </a:xfrm>
          <a:prstGeom prst="rect">
            <a:avLst/>
          </a:prstGeom>
          <a:noFill/>
          <a:ln/>
        </p:spPr>
        <p:txBody>
          <a:bodyPr wrap="square" lIns="0" tIns="0" rIns="0" bIns="0" rtlCol="0" anchor="b"/>
          <a:lstStyle/>
          <a:p>
            <a:pPr algn="ctr" indent="0" marL="0">
              <a:buNone/>
            </a:pPr>
            <a:r>
              <a:rPr lang="en-US" sz="1400" b="1" dirty="0">
                <a:solidFill>
                  <a:schemeClr val="accent2"/>
                </a:solidFill>
                <a:latin typeface="Cambria" pitchFamily="34" charset="0"/>
                <a:ea typeface="Cambria" pitchFamily="34" charset="-122"/>
                <a:cs typeface="Cambria" pitchFamily="34" charset="-120"/>
              </a:rPr>
              <a:t>2020</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AlphaFold 2</a:t>
            </a:r>
            <a:endParaRPr lang="en-US" sz="1300" dirty="0"/>
          </a:p>
        </p:txBody>
      </p:sp>
      <p:sp>
        <p:nvSpPr>
          <p:cNvPr id="54" name="Shape 51"/>
          <p:cNvSpPr/>
          <p:nvPr/>
        </p:nvSpPr>
        <p:spPr>
          <a:xfrm>
            <a:off x="10278208" y="4992624"/>
            <a:ext cx="164592" cy="164592"/>
          </a:xfrm>
          <a:prstGeom prst="ellipse">
            <a:avLst/>
          </a:prstGeom>
          <a:solidFill>
            <a:schemeClr val="accent2"/>
          </a:solidFill>
          <a:ln w="19050">
            <a:solidFill>
              <a:srgbClr val="FFFFFF"/>
            </a:solidFill>
            <a:prstDash val="solid"/>
          </a:ln>
        </p:spPr>
      </p:sp>
      <p:sp>
        <p:nvSpPr>
          <p:cNvPr id="55" name="Text 52"/>
          <p:cNvSpPr txBox="1"/>
          <p:nvPr/>
        </p:nvSpPr>
        <p:spPr>
          <a:xfrm>
            <a:off x="9549958" y="5257800"/>
            <a:ext cx="1621091" cy="868680"/>
          </a:xfrm>
          <a:prstGeom prst="rect">
            <a:avLst/>
          </a:prstGeom>
          <a:noFill/>
          <a:ln/>
        </p:spPr>
        <p:txBody>
          <a:bodyPr wrap="square" lIns="0" tIns="0" rIns="0" bIns="0" rtlCol="0" anchor="t"/>
          <a:lstStyle/>
          <a:p>
            <a:pPr algn="ctr" indent="0" marL="0">
              <a:buNone/>
            </a:pPr>
            <a:r>
              <a:rPr lang="en-US" sz="1400" b="1" dirty="0">
                <a:solidFill>
                  <a:schemeClr val="accent2"/>
                </a:solidFill>
                <a:latin typeface="Cambria" pitchFamily="34" charset="0"/>
                <a:ea typeface="Cambria" pitchFamily="34" charset="-122"/>
                <a:cs typeface="Cambria" pitchFamily="34" charset="-120"/>
              </a:rPr>
              <a:t>2022</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ChatGPT</a:t>
            </a:r>
            <a:endParaRPr lang="en-US" sz="1300" dirty="0"/>
          </a:p>
        </p:txBody>
      </p:sp>
      <p:sp>
        <p:nvSpPr>
          <p:cNvPr id="56" name="Shape 53"/>
          <p:cNvSpPr/>
          <p:nvPr/>
        </p:nvSpPr>
        <p:spPr>
          <a:xfrm>
            <a:off x="11131413" y="4992624"/>
            <a:ext cx="164592" cy="164592"/>
          </a:xfrm>
          <a:prstGeom prst="ellipse">
            <a:avLst/>
          </a:prstGeom>
          <a:solidFill>
            <a:schemeClr val="accent1"/>
          </a:solidFill>
          <a:ln w="19050">
            <a:solidFill>
              <a:srgbClr val="FFFFFF"/>
            </a:solidFill>
            <a:prstDash val="solid"/>
          </a:ln>
        </p:spPr>
      </p:sp>
      <p:sp>
        <p:nvSpPr>
          <p:cNvPr id="57" name="Text 54"/>
          <p:cNvSpPr txBox="1"/>
          <p:nvPr/>
        </p:nvSpPr>
        <p:spPr>
          <a:xfrm>
            <a:off x="10403164" y="4023360"/>
            <a:ext cx="1621091" cy="868680"/>
          </a:xfrm>
          <a:prstGeom prst="rect">
            <a:avLst/>
          </a:prstGeom>
          <a:noFill/>
          <a:ln/>
        </p:spPr>
        <p:txBody>
          <a:bodyPr wrap="square" lIns="0" tIns="0" rIns="0" bIns="0" rtlCol="0" anchor="b"/>
          <a:lstStyle/>
          <a:p>
            <a:pPr algn="ctr" indent="0" marL="0">
              <a:buNone/>
            </a:pPr>
            <a:r>
              <a:rPr lang="en-US" sz="1400" b="1" dirty="0">
                <a:solidFill>
                  <a:schemeClr val="accent1"/>
                </a:solidFill>
                <a:latin typeface="Cambria" pitchFamily="34" charset="0"/>
                <a:ea typeface="Cambria" pitchFamily="34" charset="-122"/>
                <a:cs typeface="Cambria" pitchFamily="34" charset="-120"/>
              </a:rPr>
              <a:t>2024</a:t>
            </a:r>
            <a:endParaRPr lang="en-US" sz="1300" dirty="0"/>
          </a:p>
          <a:p>
            <a:pPr algn="ctr" indent="0" marL="0">
              <a:buNone/>
            </a:pPr>
            <a:r>
              <a:rPr lang="en-US" sz="1100" dirty="0">
                <a:solidFill>
                  <a:schemeClr val="tx2"/>
                </a:solidFill>
                <a:latin typeface="Calibri" pitchFamily="34" charset="0"/>
                <a:ea typeface="Calibri" pitchFamily="34" charset="-122"/>
                <a:cs typeface="Calibri" pitchFamily="34" charset="-120"/>
              </a:rPr>
              <a:t>Nobel Prizes for AI</a:t>
            </a:r>
            <a:endParaRPr lang="en-US" sz="1300" dirty="0"/>
          </a:p>
        </p:txBody>
      </p:sp>
      <p:sp>
        <p:nvSpPr>
          <p:cNvPr id="58" name="Shape 55"/>
          <p:cNvSpPr/>
          <p:nvPr/>
        </p:nvSpPr>
        <p:spPr>
          <a:xfrm>
            <a:off x="7406640" y="1207008"/>
            <a:ext cx="128016" cy="128016"/>
          </a:xfrm>
          <a:prstGeom prst="ellipse">
            <a:avLst/>
          </a:prstGeom>
          <a:solidFill>
            <a:schemeClr val="accent2"/>
          </a:solidFill>
          <a:ln/>
        </p:spPr>
      </p:sp>
      <p:sp>
        <p:nvSpPr>
          <p:cNvPr id="59" name="Text 56"/>
          <p:cNvSpPr txBox="1"/>
          <p:nvPr/>
        </p:nvSpPr>
        <p:spPr>
          <a:xfrm>
            <a:off x="7589520" y="1161288"/>
            <a:ext cx="1005840" cy="228600"/>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Progress</a:t>
            </a:r>
            <a:endParaRPr lang="en-US" sz="1000" dirty="0"/>
          </a:p>
        </p:txBody>
      </p:sp>
      <p:sp>
        <p:nvSpPr>
          <p:cNvPr id="60" name="Shape 57"/>
          <p:cNvSpPr/>
          <p:nvPr/>
        </p:nvSpPr>
        <p:spPr>
          <a:xfrm>
            <a:off x="8732520" y="1207008"/>
            <a:ext cx="128016" cy="128016"/>
          </a:xfrm>
          <a:prstGeom prst="ellipse">
            <a:avLst/>
          </a:prstGeom>
          <a:solidFill>
            <a:schemeClr val="accent3"/>
          </a:solidFill>
          <a:ln/>
        </p:spPr>
      </p:sp>
      <p:sp>
        <p:nvSpPr>
          <p:cNvPr id="61" name="Text 58"/>
          <p:cNvSpPr txBox="1"/>
          <p:nvPr/>
        </p:nvSpPr>
        <p:spPr>
          <a:xfrm>
            <a:off x="8915400" y="1161288"/>
            <a:ext cx="914400" cy="228600"/>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Setback</a:t>
            </a:r>
            <a:endParaRPr lang="en-US" sz="1000" dirty="0"/>
          </a:p>
        </p:txBody>
      </p:sp>
      <p:sp>
        <p:nvSpPr>
          <p:cNvPr id="62" name="Shape 59"/>
          <p:cNvSpPr/>
          <p:nvPr/>
        </p:nvSpPr>
        <p:spPr>
          <a:xfrm>
            <a:off x="9966960" y="1207008"/>
            <a:ext cx="128016" cy="128016"/>
          </a:xfrm>
          <a:prstGeom prst="ellipse">
            <a:avLst/>
          </a:prstGeom>
          <a:solidFill>
            <a:schemeClr val="accent1"/>
          </a:solidFill>
          <a:ln/>
        </p:spPr>
      </p:sp>
      <p:sp>
        <p:nvSpPr>
          <p:cNvPr id="63" name="Text 60"/>
          <p:cNvSpPr txBox="1"/>
          <p:nvPr/>
        </p:nvSpPr>
        <p:spPr>
          <a:xfrm>
            <a:off x="10149840" y="1161288"/>
            <a:ext cx="1737360" cy="228600"/>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Revival / breakthrough</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1943: McCulloch and Pitts model the neuron as a logic gate</a:t>
            </a:r>
            <a:endParaRPr lang="en-US" sz="3200" dirty="0"/>
          </a:p>
        </p:txBody>
      </p:sp>
      <p:pic>
        <p:nvPicPr>
          <p:cNvPr id="4" name="Image 0" descr="Walter Pitts in front of a blackboard, 1954">    </p:cNvPr>
          <p:cNvPicPr>
            <a:picLocks noChangeAspect="1"/>
          </p:cNvPicPr>
          <p:nvPr/>
        </p:nvPicPr>
        <p:blipFill>
          <a:blip r:embed="rId1"/>
          <a:stretch>
            <a:fillRect/>
          </a:stretch>
        </p:blipFill>
        <p:spPr>
          <a:xfrm>
            <a:off x="548640" y="1325880"/>
            <a:ext cx="2194560" cy="3017520"/>
          </a:xfrm>
          <a:prstGeom prst="rect">
            <a:avLst/>
          </a:prstGeom>
        </p:spPr>
      </p:pic>
      <p:sp>
        <p:nvSpPr>
          <p:cNvPr id="5" name="Text 1"/>
          <p:cNvSpPr txBox="1"/>
          <p:nvPr/>
        </p:nvSpPr>
        <p:spPr>
          <a:xfrm>
            <a:off x="548640" y="4389120"/>
            <a:ext cx="21945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Walter Pitts, 1954. Photo: Francis Bello, public domain</a:t>
            </a:r>
            <a:endParaRPr lang="en-US" sz="1000" dirty="0"/>
          </a:p>
        </p:txBody>
      </p:sp>
      <p:sp>
        <p:nvSpPr>
          <p:cNvPr id="6" name="Text 2"/>
          <p:cNvSpPr txBox="1"/>
          <p:nvPr/>
        </p:nvSpPr>
        <p:spPr>
          <a:xfrm>
            <a:off x="548640" y="4892040"/>
            <a:ext cx="2194560" cy="1234440"/>
          </a:xfrm>
          <a:prstGeom prst="rect">
            <a:avLst/>
          </a:prstGeom>
          <a:noFill/>
          <a:ln/>
        </p:spPr>
        <p:txBody>
          <a:bodyPr wrap="square" lIns="0" tIns="0" rIns="0" bIns="0" rtlCol="0" anchor="t"/>
          <a:lstStyle/>
          <a:p>
            <a:pPr indent="0" marL="0">
              <a:buNone/>
            </a:pPr>
            <a:r>
              <a:rPr lang="en-US" sz="1150" i="1" dirty="0">
                <a:solidFill>
                  <a:schemeClr val="tx2"/>
                </a:solidFill>
                <a:latin typeface="Calibri" pitchFamily="34" charset="0"/>
                <a:ea typeface="Calibri" pitchFamily="34" charset="-122"/>
                <a:cs typeface="Calibri" pitchFamily="34" charset="-120"/>
              </a:rPr>
              <a:t>Warren McCulloch (neurophysiologist) and Walter Pitts (logician), "A Logical Calculus of the Ideas Immanent in Nervous Activity", 1943</a:t>
            </a:r>
            <a:endParaRPr lang="en-US" sz="1150" dirty="0"/>
          </a:p>
        </p:txBody>
      </p:sp>
      <p:sp>
        <p:nvSpPr>
          <p:cNvPr id="7" name="Shape 3"/>
          <p:cNvSpPr/>
          <p:nvPr/>
        </p:nvSpPr>
        <p:spPr>
          <a:xfrm>
            <a:off x="3017520" y="1325880"/>
            <a:ext cx="4572000" cy="3017520"/>
          </a:xfrm>
          <a:prstGeom prst="rect">
            <a:avLst/>
          </a:prstGeom>
          <a:solidFill>
            <a:schemeClr val="bg2"/>
          </a:solidFill>
          <a:ln/>
        </p:spPr>
      </p:sp>
      <p:sp>
        <p:nvSpPr>
          <p:cNvPr id="8" name="Shape 4"/>
          <p:cNvSpPr/>
          <p:nvPr/>
        </p:nvSpPr>
        <p:spPr>
          <a:xfrm>
            <a:off x="3291840" y="1691640"/>
            <a:ext cx="548640" cy="548640"/>
          </a:xfrm>
          <a:prstGeom prst="ellipse">
            <a:avLst/>
          </a:prstGeom>
          <a:solidFill>
            <a:schemeClr val="bg1"/>
          </a:solidFill>
          <a:ln w="19050">
            <a:solidFill>
              <a:srgbClr val="3A4651"/>
            </a:solidFill>
            <a:prstDash val="solid"/>
          </a:ln>
        </p:spPr>
      </p:sp>
      <p:sp>
        <p:nvSpPr>
          <p:cNvPr id="9" name="Text 5"/>
          <p:cNvSpPr txBox="1"/>
          <p:nvPr/>
        </p:nvSpPr>
        <p:spPr>
          <a:xfrm>
            <a:off x="3291840" y="1691640"/>
            <a:ext cx="548640" cy="54864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x₁</a:t>
            </a:r>
            <a:endParaRPr lang="en-US" sz="1600" dirty="0"/>
          </a:p>
        </p:txBody>
      </p:sp>
      <p:sp>
        <p:nvSpPr>
          <p:cNvPr id="10" name="Shape 6"/>
          <p:cNvSpPr/>
          <p:nvPr/>
        </p:nvSpPr>
        <p:spPr>
          <a:xfrm>
            <a:off x="3840480" y="1965960"/>
            <a:ext cx="1234440" cy="731520"/>
          </a:xfrm>
          <a:prstGeom prst="line">
            <a:avLst/>
          </a:prstGeom>
          <a:noFill/>
          <a:ln w="19050">
            <a:solidFill>
              <a:srgbClr val="3A4651"/>
            </a:solidFill>
            <a:prstDash val="solid"/>
            <a:tailEnd type="triangle"/>
          </a:ln>
        </p:spPr>
      </p:sp>
      <p:sp>
        <p:nvSpPr>
          <p:cNvPr id="11" name="Shape 7"/>
          <p:cNvSpPr/>
          <p:nvPr/>
        </p:nvSpPr>
        <p:spPr>
          <a:xfrm>
            <a:off x="3291840" y="2971800"/>
            <a:ext cx="548640" cy="548640"/>
          </a:xfrm>
          <a:prstGeom prst="ellipse">
            <a:avLst/>
          </a:prstGeom>
          <a:solidFill>
            <a:schemeClr val="bg1"/>
          </a:solidFill>
          <a:ln w="19050">
            <a:solidFill>
              <a:srgbClr val="3A4651"/>
            </a:solidFill>
            <a:prstDash val="solid"/>
          </a:ln>
        </p:spPr>
      </p:sp>
      <p:sp>
        <p:nvSpPr>
          <p:cNvPr id="12" name="Text 8"/>
          <p:cNvSpPr txBox="1"/>
          <p:nvPr/>
        </p:nvSpPr>
        <p:spPr>
          <a:xfrm>
            <a:off x="3291840" y="2971800"/>
            <a:ext cx="548640" cy="54864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x₂</a:t>
            </a:r>
            <a:endParaRPr lang="en-US" sz="1600" dirty="0"/>
          </a:p>
        </p:txBody>
      </p:sp>
      <p:sp>
        <p:nvSpPr>
          <p:cNvPr id="13" name="Shape 9"/>
          <p:cNvSpPr/>
          <p:nvPr/>
        </p:nvSpPr>
        <p:spPr>
          <a:xfrm flipV="1">
            <a:off x="3840480" y="2697480"/>
            <a:ext cx="1234440" cy="548640"/>
          </a:xfrm>
          <a:prstGeom prst="line">
            <a:avLst/>
          </a:prstGeom>
          <a:noFill/>
          <a:ln w="19050">
            <a:solidFill>
              <a:srgbClr val="3A4651"/>
            </a:solidFill>
            <a:prstDash val="solid"/>
            <a:tailEnd type="triangle"/>
          </a:ln>
        </p:spPr>
      </p:sp>
      <p:sp>
        <p:nvSpPr>
          <p:cNvPr id="14" name="Shape 10"/>
          <p:cNvSpPr/>
          <p:nvPr/>
        </p:nvSpPr>
        <p:spPr>
          <a:xfrm>
            <a:off x="5074920" y="2148840"/>
            <a:ext cx="1097280" cy="1097280"/>
          </a:xfrm>
          <a:prstGeom prst="ellipse">
            <a:avLst/>
          </a:prstGeom>
          <a:solidFill>
            <a:schemeClr val="accent2"/>
          </a:solidFill>
          <a:ln/>
        </p:spPr>
      </p:sp>
      <p:sp>
        <p:nvSpPr>
          <p:cNvPr id="15" name="Text 11"/>
          <p:cNvSpPr txBox="1"/>
          <p:nvPr/>
        </p:nvSpPr>
        <p:spPr>
          <a:xfrm>
            <a:off x="5074920" y="2148840"/>
            <a:ext cx="1097280" cy="10972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Σ ≥ θ ?</a:t>
            </a:r>
            <a:endParaRPr lang="en-US" sz="1600" dirty="0"/>
          </a:p>
        </p:txBody>
      </p:sp>
      <p:sp>
        <p:nvSpPr>
          <p:cNvPr id="16" name="Shape 12"/>
          <p:cNvSpPr/>
          <p:nvPr/>
        </p:nvSpPr>
        <p:spPr>
          <a:xfrm>
            <a:off x="6172200" y="2697480"/>
            <a:ext cx="640080" cy="914"/>
          </a:xfrm>
          <a:prstGeom prst="line">
            <a:avLst/>
          </a:prstGeom>
          <a:noFill/>
          <a:ln w="19050">
            <a:solidFill>
              <a:srgbClr val="3A4651"/>
            </a:solidFill>
            <a:prstDash val="solid"/>
            <a:tailEnd type="triangle"/>
          </a:ln>
        </p:spPr>
      </p:sp>
      <p:sp>
        <p:nvSpPr>
          <p:cNvPr id="17" name="Text 13"/>
          <p:cNvSpPr txBox="1"/>
          <p:nvPr/>
        </p:nvSpPr>
        <p:spPr>
          <a:xfrm>
            <a:off x="6355080" y="2834640"/>
            <a:ext cx="1188720" cy="3200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y ∈ {0, 1}</a:t>
            </a:r>
            <a:endParaRPr lang="en-US" sz="1400" dirty="0"/>
          </a:p>
        </p:txBody>
      </p:sp>
      <p:sp>
        <p:nvSpPr>
          <p:cNvPr id="18" name="Text 14"/>
          <p:cNvSpPr txBox="1"/>
          <p:nvPr/>
        </p:nvSpPr>
        <p:spPr>
          <a:xfrm>
            <a:off x="3200400" y="3840480"/>
            <a:ext cx="4206240" cy="365760"/>
          </a:xfrm>
          <a:prstGeom prst="rect">
            <a:avLst/>
          </a:prstGeom>
          <a:noFill/>
          <a:ln/>
        </p:spPr>
        <p:txBody>
          <a:bodyPr wrap="square" lIns="0" tIns="0" rIns="0" bIns="0" rtlCol="0" anchor="t"/>
          <a:lstStyle/>
          <a:p>
            <a:pPr algn="ctr" indent="0" marL="0">
              <a:buNone/>
            </a:pPr>
            <a:r>
              <a:rPr lang="en-US" sz="1200" i="1" dirty="0">
                <a:solidFill>
                  <a:schemeClr val="accent5"/>
                </a:solidFill>
                <a:latin typeface="Calibri" pitchFamily="34" charset="0"/>
                <a:ea typeface="Calibri" pitchFamily="34" charset="-122"/>
                <a:cs typeface="Calibri" pitchFamily="34" charset="-120"/>
              </a:rPr>
              <a:t>Binary inputs, fixed threshold θ, all-or-nothing output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017520" y="4526280"/>
          <a:ext cx="4572000" cy="914400"/>
        </p:xfrm>
        <a:graphic>
          <a:graphicData uri="http://schemas.openxmlformats.org/drawingml/2006/table">
            <a:tbl>
              <a:tblPr/>
              <a:tblGrid>
                <a:gridCol w="731520"/>
                <a:gridCol w="731520"/>
                <a:gridCol w="1554480"/>
                <a:gridCol w="1554480"/>
              </a:tblGrid>
              <a:tr h="310896">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x₁</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x₂</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AND (θ = 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OR (θ = 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310896">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10896">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10896">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10896">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3A46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20" name="Shape 15"/>
          <p:cNvSpPr/>
          <p:nvPr/>
        </p:nvSpPr>
        <p:spPr>
          <a:xfrm>
            <a:off x="7863840" y="1325880"/>
            <a:ext cx="3776472" cy="4846320"/>
          </a:xfrm>
          <a:prstGeom prst="rect">
            <a:avLst/>
          </a:prstGeom>
          <a:solidFill>
            <a:schemeClr val="bg2"/>
          </a:solidFill>
          <a:ln/>
        </p:spPr>
      </p:sp>
      <p:sp>
        <p:nvSpPr>
          <p:cNvPr id="21" name="Text 16"/>
          <p:cNvSpPr txBox="1"/>
          <p:nvPr/>
        </p:nvSpPr>
        <p:spPr>
          <a:xfrm>
            <a:off x="8092440" y="1508760"/>
            <a:ext cx="3383280"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What it showed</a:t>
            </a:r>
            <a:endParaRPr lang="en-US" sz="1500" dirty="0"/>
          </a:p>
        </p:txBody>
      </p:sp>
      <p:sp>
        <p:nvSpPr>
          <p:cNvPr id="22" name="Text 17"/>
          <p:cNvSpPr txBox="1"/>
          <p:nvPr/>
        </p:nvSpPr>
        <p:spPr>
          <a:xfrm>
            <a:off x="8092440" y="1874520"/>
            <a:ext cx="333756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A neuron can be treated as a logic gate</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Networks of them can compute any logical function, like a computer</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Influenced von Neumann's computer design and cybernetics</a:t>
            </a:r>
            <a:endParaRPr lang="en-US" sz="1300" dirty="0"/>
          </a:p>
        </p:txBody>
      </p:sp>
      <p:sp>
        <p:nvSpPr>
          <p:cNvPr id="23" name="Text 18"/>
          <p:cNvSpPr txBox="1"/>
          <p:nvPr/>
        </p:nvSpPr>
        <p:spPr>
          <a:xfrm>
            <a:off x="8092440" y="3840480"/>
            <a:ext cx="3383280" cy="320040"/>
          </a:xfrm>
          <a:prstGeom prst="rect">
            <a:avLst/>
          </a:prstGeom>
          <a:noFill/>
          <a:ln/>
        </p:spPr>
        <p:txBody>
          <a:bodyPr wrap="square" lIns="0" tIns="0" rIns="0" bIns="0" rtlCol="0" anchor="t"/>
          <a:lstStyle/>
          <a:p>
            <a:pPr indent="0" marL="0">
              <a:buNone/>
            </a:pPr>
            <a:r>
              <a:rPr lang="en-US" sz="1500" b="1" dirty="0">
                <a:solidFill>
                  <a:schemeClr val="accent3"/>
                </a:solidFill>
                <a:latin typeface="Calibri" pitchFamily="34" charset="0"/>
                <a:ea typeface="Calibri" pitchFamily="34" charset="-122"/>
                <a:cs typeface="Calibri" pitchFamily="34" charset="-120"/>
              </a:rPr>
              <a:t>What it lacked</a:t>
            </a:r>
            <a:endParaRPr lang="en-US" sz="1500" dirty="0"/>
          </a:p>
        </p:txBody>
      </p:sp>
      <p:sp>
        <p:nvSpPr>
          <p:cNvPr id="24" name="Text 19"/>
          <p:cNvSpPr txBox="1"/>
          <p:nvPr/>
        </p:nvSpPr>
        <p:spPr>
          <a:xfrm>
            <a:off x="8092440" y="4206240"/>
            <a:ext cx="333756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No learning: every weight and threshold set by hand</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Only 0/1 signals, no degrees of confidence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Why the McCulloch–Pitts neuron was not enough</a:t>
            </a:r>
            <a:endParaRPr lang="en-US" sz="3200" dirty="0"/>
          </a:p>
        </p:txBody>
      </p:sp>
      <p:sp>
        <p:nvSpPr>
          <p:cNvPr id="4" name="Shape 1"/>
          <p:cNvSpPr/>
          <p:nvPr/>
        </p:nvSpPr>
        <p:spPr>
          <a:xfrm>
            <a:off x="548640" y="1325880"/>
            <a:ext cx="4297680" cy="3794760"/>
          </a:xfrm>
          <a:prstGeom prst="rect">
            <a:avLst/>
          </a:prstGeom>
          <a:solidFill>
            <a:schemeClr val="bg2"/>
          </a:solidFill>
          <a:ln/>
        </p:spPr>
      </p:sp>
      <p:sp>
        <p:nvSpPr>
          <p:cNvPr id="5" name="Text 2"/>
          <p:cNvSpPr txBox="1"/>
          <p:nvPr/>
        </p:nvSpPr>
        <p:spPr>
          <a:xfrm>
            <a:off x="777240" y="1508760"/>
            <a:ext cx="38404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The activation was a hard step</a:t>
            </a:r>
            <a:endParaRPr lang="en-US" sz="1500" dirty="0"/>
          </a:p>
        </p:txBody>
      </p:sp>
      <p:sp>
        <p:nvSpPr>
          <p:cNvPr id="6" name="Shape 3"/>
          <p:cNvSpPr/>
          <p:nvPr/>
        </p:nvSpPr>
        <p:spPr>
          <a:xfrm>
            <a:off x="777240" y="1965960"/>
            <a:ext cx="3840480" cy="1143000"/>
          </a:xfrm>
          <a:prstGeom prst="rect">
            <a:avLst/>
          </a:prstGeom>
          <a:solidFill>
            <a:schemeClr val="bg1"/>
          </a:solidFill>
          <a:ln/>
        </p:spPr>
      </p:sp>
      <p:pic>
        <p:nvPicPr>
          <p:cNvPr id="7" name="Image 0" descr="Step function: h(z) is 0 below the threshold and 1 at or above it">    </p:cNvPr>
          <p:cNvPicPr>
            <a:picLocks noChangeAspect="1"/>
          </p:cNvPicPr>
          <p:nvPr/>
        </p:nvPicPr>
        <p:blipFill>
          <a:blip r:embed="rId1"/>
          <a:stretch>
            <a:fillRect/>
          </a:stretch>
        </p:blipFill>
        <p:spPr>
          <a:xfrm>
            <a:off x="822960" y="2042304"/>
            <a:ext cx="3749040" cy="990312"/>
          </a:xfrm>
          <a:prstGeom prst="rect">
            <a:avLst/>
          </a:prstGeom>
        </p:spPr>
      </p:pic>
      <p:sp>
        <p:nvSpPr>
          <p:cNvPr id="8" name="Text 4"/>
          <p:cNvSpPr txBox="1"/>
          <p:nvPr/>
        </p:nvSpPr>
        <p:spPr>
          <a:xfrm>
            <a:off x="777240" y="3291840"/>
            <a:ext cx="3840480" cy="14630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Flat almost everywhere, then a jump. A small change in a weight either changes nothing or flips the answer, so there is no direction that says "improve a little".</a:t>
            </a:r>
            <a:endParaRPr lang="en-US" sz="1300" dirty="0"/>
          </a:p>
        </p:txBody>
      </p:sp>
      <p:sp>
        <p:nvSpPr>
          <p:cNvPr id="9" name="Shape 5"/>
          <p:cNvSpPr/>
          <p:nvPr/>
        </p:nvSpPr>
        <p:spPr>
          <a:xfrm>
            <a:off x="5074920" y="1325880"/>
            <a:ext cx="3236976" cy="1810512"/>
          </a:xfrm>
          <a:prstGeom prst="rect">
            <a:avLst/>
          </a:prstGeom>
          <a:solidFill>
            <a:schemeClr val="bg2"/>
          </a:solidFill>
          <a:ln/>
        </p:spPr>
      </p:sp>
      <p:sp>
        <p:nvSpPr>
          <p:cNvPr id="10" name="Shape 6"/>
          <p:cNvSpPr/>
          <p:nvPr/>
        </p:nvSpPr>
        <p:spPr>
          <a:xfrm>
            <a:off x="5303520" y="1554480"/>
            <a:ext cx="457200" cy="457200"/>
          </a:xfrm>
          <a:prstGeom prst="ellipse">
            <a:avLst/>
          </a:prstGeom>
          <a:solidFill>
            <a:schemeClr val="accent3"/>
          </a:solidFill>
          <a:ln/>
        </p:spPr>
      </p:sp>
      <p:pic>
        <p:nvPicPr>
          <p:cNvPr id="11" name="Image 1" descr="HandPaper icon">    </p:cNvPr>
          <p:cNvPicPr>
            <a:picLocks noChangeAspect="1"/>
          </p:cNvPicPr>
          <p:nvPr/>
        </p:nvPicPr>
        <p:blipFill>
          <a:blip r:embed="rId2"/>
          <a:stretch>
            <a:fillRect/>
          </a:stretch>
        </p:blipFill>
        <p:spPr>
          <a:xfrm>
            <a:off x="5417820" y="1668780"/>
            <a:ext cx="228600" cy="228600"/>
          </a:xfrm>
          <a:prstGeom prst="rect">
            <a:avLst/>
          </a:prstGeom>
        </p:spPr>
      </p:pic>
      <p:sp>
        <p:nvSpPr>
          <p:cNvPr id="12" name="Text 7"/>
          <p:cNvSpPr txBox="1"/>
          <p:nvPr/>
        </p:nvSpPr>
        <p:spPr>
          <a:xfrm>
            <a:off x="5897880" y="1600200"/>
            <a:ext cx="2231136"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No learning</a:t>
            </a:r>
            <a:endParaRPr lang="en-US" sz="1500" dirty="0"/>
          </a:p>
        </p:txBody>
      </p:sp>
      <p:sp>
        <p:nvSpPr>
          <p:cNvPr id="13" name="Text 8"/>
          <p:cNvSpPr txBox="1"/>
          <p:nvPr/>
        </p:nvSpPr>
        <p:spPr>
          <a:xfrm>
            <a:off x="5303520" y="2194560"/>
            <a:ext cx="2779776" cy="8686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A human had to design every weight and threshold for each task.</a:t>
            </a:r>
            <a:endParaRPr lang="en-US" sz="1250" dirty="0"/>
          </a:p>
        </p:txBody>
      </p:sp>
      <p:sp>
        <p:nvSpPr>
          <p:cNvPr id="14" name="Shape 9"/>
          <p:cNvSpPr/>
          <p:nvPr/>
        </p:nvSpPr>
        <p:spPr>
          <a:xfrm>
            <a:off x="8403336" y="1325880"/>
            <a:ext cx="3236976" cy="1810512"/>
          </a:xfrm>
          <a:prstGeom prst="rect">
            <a:avLst/>
          </a:prstGeom>
          <a:solidFill>
            <a:schemeClr val="bg2"/>
          </a:solidFill>
          <a:ln/>
        </p:spPr>
      </p:sp>
      <p:sp>
        <p:nvSpPr>
          <p:cNvPr id="15" name="Shape 10"/>
          <p:cNvSpPr/>
          <p:nvPr/>
        </p:nvSpPr>
        <p:spPr>
          <a:xfrm>
            <a:off x="8631936" y="1554480"/>
            <a:ext cx="457200" cy="457200"/>
          </a:xfrm>
          <a:prstGeom prst="ellipse">
            <a:avLst/>
          </a:prstGeom>
          <a:solidFill>
            <a:schemeClr val="accent3"/>
          </a:solidFill>
          <a:ln/>
        </p:spPr>
      </p:sp>
      <p:pic>
        <p:nvPicPr>
          <p:cNvPr id="16" name="Image 2" descr="ToggleOn icon">    </p:cNvPr>
          <p:cNvPicPr>
            <a:picLocks noChangeAspect="1"/>
          </p:cNvPicPr>
          <p:nvPr/>
        </p:nvPicPr>
        <p:blipFill>
          <a:blip r:embed="rId3"/>
          <a:stretch>
            <a:fillRect/>
          </a:stretch>
        </p:blipFill>
        <p:spPr>
          <a:xfrm>
            <a:off x="8746236" y="1668780"/>
            <a:ext cx="228600" cy="228600"/>
          </a:xfrm>
          <a:prstGeom prst="rect">
            <a:avLst/>
          </a:prstGeom>
        </p:spPr>
      </p:pic>
      <p:sp>
        <p:nvSpPr>
          <p:cNvPr id="17" name="Text 11"/>
          <p:cNvSpPr txBox="1"/>
          <p:nvPr/>
        </p:nvSpPr>
        <p:spPr>
          <a:xfrm>
            <a:off x="9226296" y="1600200"/>
            <a:ext cx="2231136"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Binary only</a:t>
            </a:r>
            <a:endParaRPr lang="en-US" sz="1500" dirty="0"/>
          </a:p>
        </p:txBody>
      </p:sp>
      <p:sp>
        <p:nvSpPr>
          <p:cNvPr id="18" name="Text 12"/>
          <p:cNvSpPr txBox="1"/>
          <p:nvPr/>
        </p:nvSpPr>
        <p:spPr>
          <a:xfrm>
            <a:off x="8631936" y="2194560"/>
            <a:ext cx="2779776" cy="8686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Inputs and outputs were 0 or 1. Real signals such as pixel brightness are graded.</a:t>
            </a:r>
            <a:endParaRPr lang="en-US" sz="1250" dirty="0"/>
          </a:p>
        </p:txBody>
      </p:sp>
      <p:sp>
        <p:nvSpPr>
          <p:cNvPr id="19" name="Shape 13"/>
          <p:cNvSpPr/>
          <p:nvPr/>
        </p:nvSpPr>
        <p:spPr>
          <a:xfrm>
            <a:off x="5074920" y="3273552"/>
            <a:ext cx="3236976" cy="1810512"/>
          </a:xfrm>
          <a:prstGeom prst="rect">
            <a:avLst/>
          </a:prstGeom>
          <a:solidFill>
            <a:schemeClr val="bg2"/>
          </a:solidFill>
          <a:ln/>
        </p:spPr>
      </p:sp>
      <p:sp>
        <p:nvSpPr>
          <p:cNvPr id="20" name="Shape 14"/>
          <p:cNvSpPr/>
          <p:nvPr/>
        </p:nvSpPr>
        <p:spPr>
          <a:xfrm>
            <a:off x="5303520" y="3502152"/>
            <a:ext cx="457200" cy="457200"/>
          </a:xfrm>
          <a:prstGeom prst="ellipse">
            <a:avLst/>
          </a:prstGeom>
          <a:solidFill>
            <a:schemeClr val="accent3"/>
          </a:solidFill>
          <a:ln/>
        </p:spPr>
      </p:sp>
      <p:pic>
        <p:nvPicPr>
          <p:cNvPr id="21" name="Image 3" descr="Equals icon">    </p:cNvPr>
          <p:cNvPicPr>
            <a:picLocks noChangeAspect="1"/>
          </p:cNvPicPr>
          <p:nvPr/>
        </p:nvPicPr>
        <p:blipFill>
          <a:blip r:embed="rId4"/>
          <a:stretch>
            <a:fillRect/>
          </a:stretch>
        </p:blipFill>
        <p:spPr>
          <a:xfrm>
            <a:off x="5417820" y="3616452"/>
            <a:ext cx="228600" cy="228600"/>
          </a:xfrm>
          <a:prstGeom prst="rect">
            <a:avLst/>
          </a:prstGeom>
        </p:spPr>
      </p:pic>
      <p:sp>
        <p:nvSpPr>
          <p:cNvPr id="22" name="Text 15"/>
          <p:cNvSpPr txBox="1"/>
          <p:nvPr/>
        </p:nvSpPr>
        <p:spPr>
          <a:xfrm>
            <a:off x="5897880" y="3547872"/>
            <a:ext cx="2231136"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Equal excitatory inputs</a:t>
            </a:r>
            <a:endParaRPr lang="en-US" sz="1500" dirty="0"/>
          </a:p>
        </p:txBody>
      </p:sp>
      <p:sp>
        <p:nvSpPr>
          <p:cNvPr id="23" name="Text 16"/>
          <p:cNvSpPr txBox="1"/>
          <p:nvPr/>
        </p:nvSpPr>
        <p:spPr>
          <a:xfrm>
            <a:off x="5303520" y="4142232"/>
            <a:ext cx="2779776" cy="8686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All active inputs counted the same; one inhibitory input vetoed firing.</a:t>
            </a:r>
            <a:endParaRPr lang="en-US" sz="1250" dirty="0"/>
          </a:p>
        </p:txBody>
      </p:sp>
      <p:sp>
        <p:nvSpPr>
          <p:cNvPr id="24" name="Shape 17"/>
          <p:cNvSpPr/>
          <p:nvPr/>
        </p:nvSpPr>
        <p:spPr>
          <a:xfrm>
            <a:off x="8403336" y="3273552"/>
            <a:ext cx="3236976" cy="1810512"/>
          </a:xfrm>
          <a:prstGeom prst="rect">
            <a:avLst/>
          </a:prstGeom>
          <a:solidFill>
            <a:schemeClr val="bg2"/>
          </a:solidFill>
          <a:ln/>
        </p:spPr>
      </p:sp>
      <p:sp>
        <p:nvSpPr>
          <p:cNvPr id="25" name="Shape 18"/>
          <p:cNvSpPr/>
          <p:nvPr/>
        </p:nvSpPr>
        <p:spPr>
          <a:xfrm>
            <a:off x="8631936" y="3502152"/>
            <a:ext cx="457200" cy="457200"/>
          </a:xfrm>
          <a:prstGeom prst="ellipse">
            <a:avLst/>
          </a:prstGeom>
          <a:solidFill>
            <a:schemeClr val="accent3"/>
          </a:solidFill>
          <a:ln/>
        </p:spPr>
      </p:sp>
      <p:pic>
        <p:nvPicPr>
          <p:cNvPr id="26" name="Image 4" descr="Question icon">    </p:cNvPr>
          <p:cNvPicPr>
            <a:picLocks noChangeAspect="1"/>
          </p:cNvPicPr>
          <p:nvPr/>
        </p:nvPicPr>
        <p:blipFill>
          <a:blip r:embed="rId5"/>
          <a:stretch>
            <a:fillRect/>
          </a:stretch>
        </p:blipFill>
        <p:spPr>
          <a:xfrm>
            <a:off x="8746236" y="3616452"/>
            <a:ext cx="228600" cy="228600"/>
          </a:xfrm>
          <a:prstGeom prst="rect">
            <a:avLst/>
          </a:prstGeom>
        </p:spPr>
      </p:pic>
      <p:sp>
        <p:nvSpPr>
          <p:cNvPr id="27" name="Text 19"/>
          <p:cNvSpPr txBox="1"/>
          <p:nvPr/>
        </p:nvSpPr>
        <p:spPr>
          <a:xfrm>
            <a:off x="9226296" y="3547872"/>
            <a:ext cx="2231136"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No uncertainty</a:t>
            </a:r>
            <a:endParaRPr lang="en-US" sz="1500" dirty="0"/>
          </a:p>
        </p:txBody>
      </p:sp>
      <p:sp>
        <p:nvSpPr>
          <p:cNvPr id="28" name="Text 20"/>
          <p:cNvSpPr txBox="1"/>
          <p:nvPr/>
        </p:nvSpPr>
        <p:spPr>
          <a:xfrm>
            <a:off x="8631936" y="4142232"/>
            <a:ext cx="2779776" cy="8686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No probability, no confidence: just fire or don't.</a:t>
            </a:r>
            <a:endParaRPr lang="en-US" sz="1250" dirty="0"/>
          </a:p>
        </p:txBody>
      </p:sp>
      <p:sp>
        <p:nvSpPr>
          <p:cNvPr id="29" name="Shape 21"/>
          <p:cNvSpPr/>
          <p:nvPr/>
        </p:nvSpPr>
        <p:spPr>
          <a:xfrm>
            <a:off x="548640" y="5394960"/>
            <a:ext cx="11091672" cy="640080"/>
          </a:xfrm>
          <a:prstGeom prst="rect">
            <a:avLst/>
          </a:prstGeom>
          <a:solidFill>
            <a:schemeClr val="tx1"/>
          </a:solidFill>
          <a:ln/>
        </p:spPr>
      </p:sp>
      <p:sp>
        <p:nvSpPr>
          <p:cNvPr id="30" name="Text 22"/>
          <p:cNvSpPr txBox="1"/>
          <p:nvPr/>
        </p:nvSpPr>
        <p:spPr>
          <a:xfrm>
            <a:off x="777240" y="539496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The missing piece:  </a:t>
            </a:r>
            <a:pPr indent="0" marL="0">
              <a:buNone/>
            </a:pPr>
            <a:r>
              <a:rPr lang="en-US" sz="1400" dirty="0">
                <a:solidFill>
                  <a:schemeClr val="bg1"/>
                </a:solidFill>
                <a:latin typeface="Calibri" pitchFamily="34" charset="0"/>
                <a:ea typeface="Calibri" pitchFamily="34" charset="-122"/>
                <a:cs typeface="Calibri" pitchFamily="34" charset="-120"/>
              </a:rPr>
              <a:t>a rule that adjusts the weights from examples. The next 40 years are a search for one.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From a biological neuron to an artificial one</a:t>
            </a:r>
            <a:endParaRPr lang="en-US" sz="3200" dirty="0"/>
          </a:p>
        </p:txBody>
      </p:sp>
      <p:sp>
        <p:nvSpPr>
          <p:cNvPr id="4" name="Shape 1"/>
          <p:cNvSpPr/>
          <p:nvPr/>
        </p:nvSpPr>
        <p:spPr>
          <a:xfrm>
            <a:off x="548640" y="1325880"/>
            <a:ext cx="3931920" cy="3291840"/>
          </a:xfrm>
          <a:prstGeom prst="rect">
            <a:avLst/>
          </a:prstGeom>
          <a:solidFill>
            <a:schemeClr val="bg2"/>
          </a:solidFill>
          <a:ln/>
        </p:spPr>
      </p:sp>
      <p:pic>
        <p:nvPicPr>
          <p:cNvPr id="5" name="Image 0" descr="Sketch of connected biological neurons with dendrites, cell body and axon">    </p:cNvPr>
          <p:cNvPicPr>
            <a:picLocks noChangeAspect="1"/>
          </p:cNvPicPr>
          <p:nvPr/>
        </p:nvPicPr>
        <p:blipFill>
          <a:blip r:embed="rId1"/>
          <a:stretch>
            <a:fillRect/>
          </a:stretch>
        </p:blipFill>
        <p:spPr>
          <a:xfrm>
            <a:off x="1140094" y="1463040"/>
            <a:ext cx="2749012" cy="3017520"/>
          </a:xfrm>
          <a:prstGeom prst="rect">
            <a:avLst/>
          </a:prstGeom>
        </p:spPr>
      </p:pic>
      <p:sp>
        <p:nvSpPr>
          <p:cNvPr id="6" name="Shape 2"/>
          <p:cNvSpPr/>
          <p:nvPr/>
        </p:nvSpPr>
        <p:spPr>
          <a:xfrm>
            <a:off x="4663440" y="2971800"/>
            <a:ext cx="594360" cy="914"/>
          </a:xfrm>
          <a:prstGeom prst="line">
            <a:avLst/>
          </a:prstGeom>
          <a:noFill/>
          <a:ln w="50800">
            <a:solidFill>
              <a:srgbClr val="E09F3E"/>
            </a:solidFill>
            <a:prstDash val="solid"/>
            <a:tailEnd type="triangle"/>
          </a:ln>
        </p:spPr>
      </p:sp>
      <p:sp>
        <p:nvSpPr>
          <p:cNvPr id="7" name="Shape 3"/>
          <p:cNvSpPr/>
          <p:nvPr/>
        </p:nvSpPr>
        <p:spPr>
          <a:xfrm>
            <a:off x="5440680" y="1325880"/>
            <a:ext cx="6199632" cy="3291840"/>
          </a:xfrm>
          <a:prstGeom prst="rect">
            <a:avLst/>
          </a:prstGeom>
          <a:solidFill>
            <a:schemeClr val="bg2"/>
          </a:solidFill>
          <a:ln/>
        </p:spPr>
      </p:sp>
      <p:pic>
        <p:nvPicPr>
          <p:cNvPr id="8" name="Image 1" descr="Artificial neuron: inputs x1 to xn times weights, summed with bias into z, then activation f">    </p:cNvPr>
          <p:cNvPicPr>
            <a:picLocks noChangeAspect="1"/>
          </p:cNvPicPr>
          <p:nvPr/>
        </p:nvPicPr>
        <p:blipFill>
          <a:blip r:embed="rId2"/>
          <a:stretch>
            <a:fillRect/>
          </a:stretch>
        </p:blipFill>
        <p:spPr>
          <a:xfrm>
            <a:off x="5725450" y="1463040"/>
            <a:ext cx="5630091" cy="3017520"/>
          </a:xfrm>
          <a:prstGeom prst="rect">
            <a:avLst/>
          </a:prstGeom>
        </p:spPr>
      </p:pic>
      <p:sp>
        <p:nvSpPr>
          <p:cNvPr id="9" name="Text 4"/>
          <p:cNvSpPr txBox="1"/>
          <p:nvPr/>
        </p:nvSpPr>
        <p:spPr>
          <a:xfrm>
            <a:off x="548640" y="4663440"/>
            <a:ext cx="731520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C. P. Bathula, Deep Learning series, Part 2 (Towards AI)</a:t>
            </a:r>
            <a:endParaRPr lang="en-US" sz="1000" dirty="0"/>
          </a:p>
        </p:txBody>
      </p:sp>
      <p:sp>
        <p:nvSpPr>
          <p:cNvPr id="10" name="Shape 5"/>
          <p:cNvSpPr/>
          <p:nvPr/>
        </p:nvSpPr>
        <p:spPr>
          <a:xfrm>
            <a:off x="548640" y="5029200"/>
            <a:ext cx="2116836" cy="1143000"/>
          </a:xfrm>
          <a:prstGeom prst="rect">
            <a:avLst/>
          </a:prstGeom>
          <a:solidFill>
            <a:schemeClr val="bg2"/>
          </a:solidFill>
          <a:ln/>
        </p:spPr>
      </p:sp>
      <p:sp>
        <p:nvSpPr>
          <p:cNvPr id="11" name="Text 6"/>
          <p:cNvSpPr txBox="1"/>
          <p:nvPr/>
        </p:nvSpPr>
        <p:spPr>
          <a:xfrm>
            <a:off x="731520" y="5138928"/>
            <a:ext cx="1751076" cy="32004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Dendrites</a:t>
            </a:r>
            <a:endParaRPr lang="en-US" sz="1300" dirty="0"/>
          </a:p>
        </p:txBody>
      </p:sp>
      <p:sp>
        <p:nvSpPr>
          <p:cNvPr id="12" name="Text 7"/>
          <p:cNvSpPr txBox="1"/>
          <p:nvPr/>
        </p:nvSpPr>
        <p:spPr>
          <a:xfrm>
            <a:off x="731520" y="5486400"/>
            <a:ext cx="1751076"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inputs xᵢ</a:t>
            </a:r>
            <a:endParaRPr lang="en-US" sz="1400" dirty="0"/>
          </a:p>
        </p:txBody>
      </p:sp>
      <p:sp>
        <p:nvSpPr>
          <p:cNvPr id="13" name="Shape 8"/>
          <p:cNvSpPr/>
          <p:nvPr/>
        </p:nvSpPr>
        <p:spPr>
          <a:xfrm>
            <a:off x="2802636" y="5029200"/>
            <a:ext cx="2116836" cy="1143000"/>
          </a:xfrm>
          <a:prstGeom prst="rect">
            <a:avLst/>
          </a:prstGeom>
          <a:solidFill>
            <a:schemeClr val="bg2"/>
          </a:solidFill>
          <a:ln/>
        </p:spPr>
      </p:sp>
      <p:sp>
        <p:nvSpPr>
          <p:cNvPr id="14" name="Text 9"/>
          <p:cNvSpPr txBox="1"/>
          <p:nvPr/>
        </p:nvSpPr>
        <p:spPr>
          <a:xfrm>
            <a:off x="2985516" y="5138928"/>
            <a:ext cx="1751076" cy="32004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Synapse strength</a:t>
            </a:r>
            <a:endParaRPr lang="en-US" sz="1300" dirty="0"/>
          </a:p>
        </p:txBody>
      </p:sp>
      <p:sp>
        <p:nvSpPr>
          <p:cNvPr id="15" name="Text 10"/>
          <p:cNvSpPr txBox="1"/>
          <p:nvPr/>
        </p:nvSpPr>
        <p:spPr>
          <a:xfrm>
            <a:off x="2985516" y="5486400"/>
            <a:ext cx="1751076"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weights wᵢ</a:t>
            </a:r>
            <a:endParaRPr lang="en-US" sz="1400" dirty="0"/>
          </a:p>
        </p:txBody>
      </p:sp>
      <p:sp>
        <p:nvSpPr>
          <p:cNvPr id="16" name="Shape 11"/>
          <p:cNvSpPr/>
          <p:nvPr/>
        </p:nvSpPr>
        <p:spPr>
          <a:xfrm>
            <a:off x="5056632" y="5029200"/>
            <a:ext cx="2116836" cy="1143000"/>
          </a:xfrm>
          <a:prstGeom prst="rect">
            <a:avLst/>
          </a:prstGeom>
          <a:solidFill>
            <a:schemeClr val="bg2"/>
          </a:solidFill>
          <a:ln/>
        </p:spPr>
      </p:sp>
      <p:sp>
        <p:nvSpPr>
          <p:cNvPr id="17" name="Text 12"/>
          <p:cNvSpPr txBox="1"/>
          <p:nvPr/>
        </p:nvSpPr>
        <p:spPr>
          <a:xfrm>
            <a:off x="5239512" y="5138928"/>
            <a:ext cx="1751076" cy="32004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Cell body</a:t>
            </a:r>
            <a:endParaRPr lang="en-US" sz="1300" dirty="0"/>
          </a:p>
        </p:txBody>
      </p:sp>
      <p:sp>
        <p:nvSpPr>
          <p:cNvPr id="18" name="Text 13"/>
          <p:cNvSpPr txBox="1"/>
          <p:nvPr/>
        </p:nvSpPr>
        <p:spPr>
          <a:xfrm>
            <a:off x="5239512" y="5486400"/>
            <a:ext cx="1751076"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z = Σ wᵢxᵢ + b</a:t>
            </a:r>
            <a:endParaRPr lang="en-US" sz="1400" dirty="0"/>
          </a:p>
        </p:txBody>
      </p:sp>
      <p:sp>
        <p:nvSpPr>
          <p:cNvPr id="19" name="Shape 14"/>
          <p:cNvSpPr/>
          <p:nvPr/>
        </p:nvSpPr>
        <p:spPr>
          <a:xfrm>
            <a:off x="7310628" y="5029200"/>
            <a:ext cx="2116836" cy="1143000"/>
          </a:xfrm>
          <a:prstGeom prst="rect">
            <a:avLst/>
          </a:prstGeom>
          <a:solidFill>
            <a:schemeClr val="bg2"/>
          </a:solidFill>
          <a:ln/>
        </p:spPr>
      </p:sp>
      <p:sp>
        <p:nvSpPr>
          <p:cNvPr id="20" name="Text 15"/>
          <p:cNvSpPr txBox="1"/>
          <p:nvPr/>
        </p:nvSpPr>
        <p:spPr>
          <a:xfrm>
            <a:off x="7493508" y="5138928"/>
            <a:ext cx="1751076" cy="32004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Fires or not</a:t>
            </a:r>
            <a:endParaRPr lang="en-US" sz="1300" dirty="0"/>
          </a:p>
        </p:txBody>
      </p:sp>
      <p:sp>
        <p:nvSpPr>
          <p:cNvPr id="21" name="Text 16"/>
          <p:cNvSpPr txBox="1"/>
          <p:nvPr/>
        </p:nvSpPr>
        <p:spPr>
          <a:xfrm>
            <a:off x="7493508" y="5486400"/>
            <a:ext cx="1751076"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activation f(z)</a:t>
            </a:r>
            <a:endParaRPr lang="en-US" sz="1400" dirty="0"/>
          </a:p>
        </p:txBody>
      </p:sp>
      <p:sp>
        <p:nvSpPr>
          <p:cNvPr id="22" name="Shape 17"/>
          <p:cNvSpPr/>
          <p:nvPr/>
        </p:nvSpPr>
        <p:spPr>
          <a:xfrm>
            <a:off x="9564624" y="5029200"/>
            <a:ext cx="2116836" cy="1143000"/>
          </a:xfrm>
          <a:prstGeom prst="rect">
            <a:avLst/>
          </a:prstGeom>
          <a:solidFill>
            <a:schemeClr val="bg2"/>
          </a:solidFill>
          <a:ln/>
        </p:spPr>
      </p:sp>
      <p:sp>
        <p:nvSpPr>
          <p:cNvPr id="23" name="Text 18"/>
          <p:cNvSpPr txBox="1"/>
          <p:nvPr/>
        </p:nvSpPr>
        <p:spPr>
          <a:xfrm>
            <a:off x="9747504" y="5138928"/>
            <a:ext cx="1751076" cy="32004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Axon</a:t>
            </a:r>
            <a:endParaRPr lang="en-US" sz="1300" dirty="0"/>
          </a:p>
        </p:txBody>
      </p:sp>
      <p:sp>
        <p:nvSpPr>
          <p:cNvPr id="24" name="Text 19"/>
          <p:cNvSpPr txBox="1"/>
          <p:nvPr/>
        </p:nvSpPr>
        <p:spPr>
          <a:xfrm>
            <a:off x="9747504" y="5486400"/>
            <a:ext cx="1751076"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output to next layer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1949: Hebb, learning is a change in connection strength</a:t>
            </a:r>
            <a:endParaRPr lang="en-US" sz="3200" dirty="0"/>
          </a:p>
        </p:txBody>
      </p:sp>
      <p:sp>
        <p:nvSpPr>
          <p:cNvPr id="4" name="Shape 1"/>
          <p:cNvSpPr/>
          <p:nvPr/>
        </p:nvSpPr>
        <p:spPr>
          <a:xfrm>
            <a:off x="548640" y="1325880"/>
            <a:ext cx="4937760" cy="3703320"/>
          </a:xfrm>
          <a:prstGeom prst="rect">
            <a:avLst/>
          </a:prstGeom>
          <a:solidFill>
            <a:schemeClr val="bg2"/>
          </a:solidFill>
          <a:ln/>
        </p:spPr>
      </p:sp>
      <p:sp>
        <p:nvSpPr>
          <p:cNvPr id="5" name="Text 2"/>
          <p:cNvSpPr txBox="1"/>
          <p:nvPr/>
        </p:nvSpPr>
        <p:spPr>
          <a:xfrm>
            <a:off x="777240" y="1481328"/>
            <a:ext cx="45720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Donald Hebb, The Organization of Behavior (1949)</a:t>
            </a:r>
            <a:endParaRPr lang="en-US" sz="1500" dirty="0"/>
          </a:p>
        </p:txBody>
      </p:sp>
      <p:sp>
        <p:nvSpPr>
          <p:cNvPr id="6" name="Text 3"/>
          <p:cNvSpPr txBox="1"/>
          <p:nvPr/>
        </p:nvSpPr>
        <p:spPr>
          <a:xfrm>
            <a:off x="777240" y="1901952"/>
            <a:ext cx="4526280" cy="1874520"/>
          </a:xfrm>
          <a:prstGeom prst="rect">
            <a:avLst/>
          </a:prstGeom>
          <a:noFill/>
          <a:ln/>
        </p:spPr>
        <p:txBody>
          <a:bodyPr wrap="square" lIns="0" tIns="0" rIns="0" bIns="0" rtlCol="0" anchor="t"/>
          <a:lstStyle/>
          <a:p>
            <a:pPr indent="0" marL="0">
              <a:buNone/>
            </a:pPr>
            <a:r>
              <a:rPr lang="en-US" sz="1350" i="1" dirty="0">
                <a:solidFill>
                  <a:schemeClr val="tx1"/>
                </a:solidFill>
                <a:latin typeface="Calibri" pitchFamily="34" charset="0"/>
                <a:ea typeface="Calibri" pitchFamily="34" charset="-122"/>
                <a:cs typeface="Calibri" pitchFamily="34" charset="-120"/>
              </a:rPr>
              <a:t>"When an axon of cell A is near enough to excite a cell B and repeatedly or persistently takes part in firing it, some growth process or metabolic change takes place in one or both cells such that A's efficiency, as one of the cells firing B, is increased."</a:t>
            </a:r>
            <a:endParaRPr lang="en-US" sz="1350" dirty="0"/>
          </a:p>
        </p:txBody>
      </p:sp>
      <p:sp>
        <p:nvSpPr>
          <p:cNvPr id="7" name="Text 4"/>
          <p:cNvSpPr txBox="1"/>
          <p:nvPr/>
        </p:nvSpPr>
        <p:spPr>
          <a:xfrm>
            <a:off x="777240" y="3886200"/>
            <a:ext cx="4526280" cy="1005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Learning = strengthening connections used together</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First learning rule: Δw = η · x · y</a:t>
            </a:r>
            <a:endParaRPr lang="en-US" sz="1300" dirty="0"/>
          </a:p>
        </p:txBody>
      </p:sp>
      <p:sp>
        <p:nvSpPr>
          <p:cNvPr id="8" name="Shape 5"/>
          <p:cNvSpPr/>
          <p:nvPr/>
        </p:nvSpPr>
        <p:spPr>
          <a:xfrm>
            <a:off x="5760720" y="1325880"/>
            <a:ext cx="2834640" cy="3703320"/>
          </a:xfrm>
          <a:prstGeom prst="rect">
            <a:avLst/>
          </a:prstGeom>
          <a:solidFill>
            <a:schemeClr val="bg1"/>
          </a:solidFill>
          <a:ln/>
        </p:spPr>
      </p:sp>
      <p:pic>
        <p:nvPicPr>
          <p:cNvPr id="9" name="Image 0" descr="Network of neurons wired by tasting something sweet">    </p:cNvPr>
          <p:cNvPicPr>
            <a:picLocks noChangeAspect="1"/>
          </p:cNvPicPr>
          <p:nvPr/>
        </p:nvPicPr>
        <p:blipFill>
          <a:blip r:embed="rId1"/>
          <a:stretch>
            <a:fillRect/>
          </a:stretch>
        </p:blipFill>
        <p:spPr>
          <a:xfrm>
            <a:off x="5852160" y="1488237"/>
            <a:ext cx="2651760" cy="2875686"/>
          </a:xfrm>
          <a:prstGeom prst="rect">
            <a:avLst/>
          </a:prstGeom>
        </p:spPr>
      </p:pic>
      <p:sp>
        <p:nvSpPr>
          <p:cNvPr id="10" name="Text 6"/>
          <p:cNvSpPr txBox="1"/>
          <p:nvPr/>
        </p:nvSpPr>
        <p:spPr>
          <a:xfrm>
            <a:off x="5760720" y="4526280"/>
            <a:ext cx="28346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Tasting something sweet</a:t>
            </a:r>
            <a:endParaRPr lang="en-US" sz="1200" dirty="0"/>
          </a:p>
        </p:txBody>
      </p:sp>
      <p:sp>
        <p:nvSpPr>
          <p:cNvPr id="11" name="Shape 7"/>
          <p:cNvSpPr/>
          <p:nvPr/>
        </p:nvSpPr>
        <p:spPr>
          <a:xfrm>
            <a:off x="8805672" y="1325880"/>
            <a:ext cx="2834640" cy="3703320"/>
          </a:xfrm>
          <a:prstGeom prst="rect">
            <a:avLst/>
          </a:prstGeom>
          <a:solidFill>
            <a:schemeClr val="bg1"/>
          </a:solidFill>
          <a:ln/>
        </p:spPr>
      </p:sp>
      <p:pic>
        <p:nvPicPr>
          <p:cNvPr id="12" name="Image 1" descr="Network of neurons wired by touching something hot">    </p:cNvPr>
          <p:cNvPicPr>
            <a:picLocks noChangeAspect="1"/>
          </p:cNvPicPr>
          <p:nvPr/>
        </p:nvPicPr>
        <p:blipFill>
          <a:blip r:embed="rId2"/>
          <a:stretch>
            <a:fillRect/>
          </a:stretch>
        </p:blipFill>
        <p:spPr>
          <a:xfrm>
            <a:off x="8897112" y="1488237"/>
            <a:ext cx="2651760" cy="2875686"/>
          </a:xfrm>
          <a:prstGeom prst="rect">
            <a:avLst/>
          </a:prstGeom>
        </p:spPr>
      </p:pic>
      <p:sp>
        <p:nvSpPr>
          <p:cNvPr id="13" name="Text 8"/>
          <p:cNvSpPr txBox="1"/>
          <p:nvPr/>
        </p:nvSpPr>
        <p:spPr>
          <a:xfrm>
            <a:off x="8805672" y="4526280"/>
            <a:ext cx="28346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Touching something hot</a:t>
            </a:r>
            <a:endParaRPr lang="en-US" sz="1200" dirty="0"/>
          </a:p>
        </p:txBody>
      </p:sp>
      <p:sp>
        <p:nvSpPr>
          <p:cNvPr id="14" name="Text 9"/>
          <p:cNvSpPr txBox="1"/>
          <p:nvPr/>
        </p:nvSpPr>
        <p:spPr>
          <a:xfrm>
            <a:off x="5760720" y="5047488"/>
            <a:ext cx="58521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C. P. Bathula, Deep Learning series, Part 2 (Towards AI)</a:t>
            </a:r>
            <a:endParaRPr lang="en-US" sz="1000" dirty="0"/>
          </a:p>
        </p:txBody>
      </p:sp>
      <p:sp>
        <p:nvSpPr>
          <p:cNvPr id="15" name="Shape 10"/>
          <p:cNvSpPr/>
          <p:nvPr/>
        </p:nvSpPr>
        <p:spPr>
          <a:xfrm>
            <a:off x="548640" y="5440680"/>
            <a:ext cx="11091672" cy="685800"/>
          </a:xfrm>
          <a:prstGeom prst="rect">
            <a:avLst/>
          </a:prstGeom>
          <a:solidFill>
            <a:schemeClr val="tx1"/>
          </a:solidFill>
          <a:ln/>
        </p:spPr>
      </p:sp>
      <p:sp>
        <p:nvSpPr>
          <p:cNvPr id="16" name="Text 11"/>
          <p:cNvSpPr txBox="1"/>
          <p:nvPr/>
        </p:nvSpPr>
        <p:spPr>
          <a:xfrm>
            <a:off x="777240" y="5440680"/>
            <a:ext cx="10634472" cy="6858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Limitation:  </a:t>
            </a:r>
            <a:pPr indent="0" marL="0">
              <a:buNone/>
            </a:pPr>
            <a:r>
              <a:rPr lang="en-US" sz="1400" dirty="0">
                <a:solidFill>
                  <a:schemeClr val="bg1"/>
                </a:solidFill>
                <a:latin typeface="Calibri" pitchFamily="34" charset="0"/>
                <a:ea typeface="Calibri" pitchFamily="34" charset="-122"/>
                <a:cs typeface="Calibri" pitchFamily="34" charset="-120"/>
              </a:rPr>
              <a:t>Hebb's rule has no notion of error. It strengthens whatever fires together, right or wrong. Rosenblatt adds the error signal in 1958.</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1950: Turing asks whether a machine can learn</a:t>
            </a:r>
            <a:endParaRPr lang="en-US" sz="3200" dirty="0"/>
          </a:p>
        </p:txBody>
      </p:sp>
      <p:pic>
        <p:nvPicPr>
          <p:cNvPr id="4" name="Image 0" descr="Portrait of Alan Turing">    </p:cNvPr>
          <p:cNvPicPr>
            <a:picLocks noChangeAspect="1"/>
          </p:cNvPicPr>
          <p:nvPr/>
        </p:nvPicPr>
        <p:blipFill>
          <a:blip r:embed="rId1"/>
          <a:stretch>
            <a:fillRect/>
          </a:stretch>
        </p:blipFill>
        <p:spPr>
          <a:xfrm>
            <a:off x="548640" y="1325880"/>
            <a:ext cx="2560320" cy="3291840"/>
          </a:xfrm>
          <a:prstGeom prst="rect">
            <a:avLst/>
          </a:prstGeom>
        </p:spPr>
      </p:pic>
      <p:sp>
        <p:nvSpPr>
          <p:cNvPr id="5" name="Text 1"/>
          <p:cNvSpPr txBox="1"/>
          <p:nvPr/>
        </p:nvSpPr>
        <p:spPr>
          <a:xfrm>
            <a:off x="548640" y="4663440"/>
            <a:ext cx="256032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Alan Turing. Photo: Elliott &amp; Fry, public domain</a:t>
            </a:r>
            <a:endParaRPr lang="en-US" sz="1000" dirty="0"/>
          </a:p>
        </p:txBody>
      </p:sp>
      <p:sp>
        <p:nvSpPr>
          <p:cNvPr id="6" name="Shape 2"/>
          <p:cNvSpPr/>
          <p:nvPr/>
        </p:nvSpPr>
        <p:spPr>
          <a:xfrm>
            <a:off x="3383280" y="1325880"/>
            <a:ext cx="8257032" cy="1051560"/>
          </a:xfrm>
          <a:prstGeom prst="rect">
            <a:avLst/>
          </a:prstGeom>
          <a:solidFill>
            <a:schemeClr val="bg2"/>
          </a:solidFill>
          <a:ln/>
        </p:spPr>
      </p:sp>
      <p:sp>
        <p:nvSpPr>
          <p:cNvPr id="7" name="Text 3"/>
          <p:cNvSpPr txBox="1"/>
          <p:nvPr/>
        </p:nvSpPr>
        <p:spPr>
          <a:xfrm>
            <a:off x="3566160" y="1463040"/>
            <a:ext cx="914400" cy="777240"/>
          </a:xfrm>
          <a:prstGeom prst="rect">
            <a:avLst/>
          </a:prstGeom>
          <a:noFill/>
          <a:ln/>
        </p:spPr>
        <p:txBody>
          <a:bodyPr wrap="square" lIns="0" tIns="0" rIns="0" bIns="0" rtlCol="0" anchor="ctr"/>
          <a:lstStyle/>
          <a:p>
            <a:pPr indent="0" marL="0">
              <a:buNone/>
            </a:pPr>
            <a:r>
              <a:rPr lang="en-US" sz="2400" dirty="0">
                <a:solidFill>
                  <a:schemeClr val="accent1"/>
                </a:solidFill>
                <a:latin typeface="Cambria" pitchFamily="34" charset="0"/>
                <a:ea typeface="Cambria" pitchFamily="34" charset="-122"/>
                <a:cs typeface="Cambria" pitchFamily="34" charset="-120"/>
              </a:rPr>
              <a:t>1948</a:t>
            </a:r>
            <a:endParaRPr lang="en-US" sz="2400" dirty="0"/>
          </a:p>
        </p:txBody>
      </p:sp>
      <p:sp>
        <p:nvSpPr>
          <p:cNvPr id="8" name="Text 4"/>
          <p:cNvSpPr txBox="1"/>
          <p:nvPr/>
        </p:nvSpPr>
        <p:spPr>
          <a:xfrm>
            <a:off x="4572000" y="1435608"/>
            <a:ext cx="68580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"Intelligent Machinery"</a:t>
            </a:r>
            <a:endParaRPr lang="en-US" sz="1500" dirty="0"/>
          </a:p>
        </p:txBody>
      </p:sp>
      <p:sp>
        <p:nvSpPr>
          <p:cNvPr id="9" name="Text 5"/>
          <p:cNvSpPr txBox="1"/>
          <p:nvPr/>
        </p:nvSpPr>
        <p:spPr>
          <a:xfrm>
            <a:off x="4572000" y="1764792"/>
            <a:ext cx="685800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Describes "unorganised machines": randomly wired networks of simple units trained by adjusting connections. Unpublished until 1968.</a:t>
            </a:r>
            <a:endParaRPr lang="en-US" sz="1250" dirty="0"/>
          </a:p>
        </p:txBody>
      </p:sp>
      <p:sp>
        <p:nvSpPr>
          <p:cNvPr id="10" name="Shape 6"/>
          <p:cNvSpPr/>
          <p:nvPr/>
        </p:nvSpPr>
        <p:spPr>
          <a:xfrm>
            <a:off x="3383280" y="2514600"/>
            <a:ext cx="8257032" cy="1051560"/>
          </a:xfrm>
          <a:prstGeom prst="rect">
            <a:avLst/>
          </a:prstGeom>
          <a:solidFill>
            <a:schemeClr val="bg2"/>
          </a:solidFill>
          <a:ln/>
        </p:spPr>
      </p:sp>
      <p:sp>
        <p:nvSpPr>
          <p:cNvPr id="11" name="Text 7"/>
          <p:cNvSpPr txBox="1"/>
          <p:nvPr/>
        </p:nvSpPr>
        <p:spPr>
          <a:xfrm>
            <a:off x="3566160" y="2651760"/>
            <a:ext cx="914400" cy="777240"/>
          </a:xfrm>
          <a:prstGeom prst="rect">
            <a:avLst/>
          </a:prstGeom>
          <a:noFill/>
          <a:ln/>
        </p:spPr>
        <p:txBody>
          <a:bodyPr wrap="square" lIns="0" tIns="0" rIns="0" bIns="0" rtlCol="0" anchor="ctr"/>
          <a:lstStyle/>
          <a:p>
            <a:pPr indent="0" marL="0">
              <a:buNone/>
            </a:pPr>
            <a:r>
              <a:rPr lang="en-US" sz="2400" dirty="0">
                <a:solidFill>
                  <a:schemeClr val="accent1"/>
                </a:solidFill>
                <a:latin typeface="Cambria" pitchFamily="34" charset="0"/>
                <a:ea typeface="Cambria" pitchFamily="34" charset="-122"/>
                <a:cs typeface="Cambria" pitchFamily="34" charset="-120"/>
              </a:rPr>
              <a:t>1950</a:t>
            </a:r>
            <a:endParaRPr lang="en-US" sz="2400" dirty="0"/>
          </a:p>
        </p:txBody>
      </p:sp>
      <p:sp>
        <p:nvSpPr>
          <p:cNvPr id="12" name="Text 8"/>
          <p:cNvSpPr txBox="1"/>
          <p:nvPr/>
        </p:nvSpPr>
        <p:spPr>
          <a:xfrm>
            <a:off x="4572000" y="2624328"/>
            <a:ext cx="68580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"Computing Machinery and Intelligence"</a:t>
            </a:r>
            <a:endParaRPr lang="en-US" sz="1500" dirty="0"/>
          </a:p>
        </p:txBody>
      </p:sp>
      <p:sp>
        <p:nvSpPr>
          <p:cNvPr id="13" name="Text 9"/>
          <p:cNvSpPr txBox="1"/>
          <p:nvPr/>
        </p:nvSpPr>
        <p:spPr>
          <a:xfrm>
            <a:off x="4572000" y="2953512"/>
            <a:ext cx="685800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Asks "Can machines think?", proposes the imitation game, and argues for machines that learn from experience.</a:t>
            </a:r>
            <a:endParaRPr lang="en-US" sz="1250" dirty="0"/>
          </a:p>
        </p:txBody>
      </p:sp>
      <p:sp>
        <p:nvSpPr>
          <p:cNvPr id="14" name="Shape 10"/>
          <p:cNvSpPr/>
          <p:nvPr/>
        </p:nvSpPr>
        <p:spPr>
          <a:xfrm>
            <a:off x="3383280" y="3703320"/>
            <a:ext cx="8257032" cy="1051560"/>
          </a:xfrm>
          <a:prstGeom prst="rect">
            <a:avLst/>
          </a:prstGeom>
          <a:solidFill>
            <a:schemeClr val="bg2"/>
          </a:solidFill>
          <a:ln/>
        </p:spPr>
      </p:sp>
      <p:sp>
        <p:nvSpPr>
          <p:cNvPr id="15" name="Text 11"/>
          <p:cNvSpPr txBox="1"/>
          <p:nvPr/>
        </p:nvSpPr>
        <p:spPr>
          <a:xfrm>
            <a:off x="3566160" y="3840480"/>
            <a:ext cx="914400" cy="777240"/>
          </a:xfrm>
          <a:prstGeom prst="rect">
            <a:avLst/>
          </a:prstGeom>
          <a:noFill/>
          <a:ln/>
        </p:spPr>
        <p:txBody>
          <a:bodyPr wrap="square" lIns="0" tIns="0" rIns="0" bIns="0" rtlCol="0" anchor="ctr"/>
          <a:lstStyle/>
          <a:p>
            <a:pPr indent="0" marL="0">
              <a:buNone/>
            </a:pPr>
            <a:r>
              <a:rPr lang="en-US" sz="2400" dirty="0">
                <a:solidFill>
                  <a:schemeClr val="accent1"/>
                </a:solidFill>
                <a:latin typeface="Cambria" pitchFamily="34" charset="0"/>
                <a:ea typeface="Cambria" pitchFamily="34" charset="-122"/>
                <a:cs typeface="Cambria" pitchFamily="34" charset="-120"/>
              </a:rPr>
              <a:t>1956</a:t>
            </a:r>
            <a:endParaRPr lang="en-US" sz="2400" dirty="0"/>
          </a:p>
        </p:txBody>
      </p:sp>
      <p:sp>
        <p:nvSpPr>
          <p:cNvPr id="16" name="Text 12"/>
          <p:cNvSpPr txBox="1"/>
          <p:nvPr/>
        </p:nvSpPr>
        <p:spPr>
          <a:xfrm>
            <a:off x="4572000" y="3813048"/>
            <a:ext cx="68580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Dartmouth workshop</a:t>
            </a:r>
            <a:endParaRPr lang="en-US" sz="1500" dirty="0"/>
          </a:p>
        </p:txBody>
      </p:sp>
      <p:sp>
        <p:nvSpPr>
          <p:cNvPr id="17" name="Text 13"/>
          <p:cNvSpPr txBox="1"/>
          <p:nvPr/>
        </p:nvSpPr>
        <p:spPr>
          <a:xfrm>
            <a:off x="4572000" y="4142232"/>
            <a:ext cx="685800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McCarthy, Minsky, Rochester and Shannon coin "artificial intelligence". The field splits: symbolic rules vs learning networks.</a:t>
            </a:r>
            <a:endParaRPr lang="en-US" sz="1250" dirty="0"/>
          </a:p>
        </p:txBody>
      </p:sp>
      <p:sp>
        <p:nvSpPr>
          <p:cNvPr id="18" name="Shape 14"/>
          <p:cNvSpPr/>
          <p:nvPr/>
        </p:nvSpPr>
        <p:spPr>
          <a:xfrm>
            <a:off x="3383280" y="4937760"/>
            <a:ext cx="8257032" cy="1234440"/>
          </a:xfrm>
          <a:prstGeom prst="rect">
            <a:avLst/>
          </a:prstGeom>
          <a:solidFill>
            <a:schemeClr val="tx1"/>
          </a:solidFill>
          <a:ln/>
        </p:spPr>
      </p:sp>
      <p:sp>
        <p:nvSpPr>
          <p:cNvPr id="19" name="Text 15"/>
          <p:cNvSpPr txBox="1"/>
          <p:nvPr/>
        </p:nvSpPr>
        <p:spPr>
          <a:xfrm>
            <a:off x="3611880" y="4983480"/>
            <a:ext cx="7863840" cy="1143000"/>
          </a:xfrm>
          <a:prstGeom prst="rect">
            <a:avLst/>
          </a:prstGeom>
          <a:noFill/>
          <a:ln/>
        </p:spPr>
        <p:txBody>
          <a:bodyPr wrap="square" lIns="0" tIns="0" rIns="0" bIns="0" rtlCol="0" anchor="ctr"/>
          <a:lstStyle/>
          <a:p>
            <a:pPr indent="0" marL="0">
              <a:buNone/>
            </a:pPr>
            <a:r>
              <a:rPr lang="en-US" sz="1500" i="1" dirty="0">
                <a:solidFill>
                  <a:schemeClr val="bg1"/>
                </a:solidFill>
                <a:latin typeface="Cambria" pitchFamily="34" charset="0"/>
                <a:ea typeface="Cambria" pitchFamily="34" charset="-122"/>
                <a:cs typeface="Cambria" pitchFamily="34" charset="-120"/>
              </a:rPr>
              <a:t>"Instead of trying to produce a programme to simulate the adult mind, why not rather try to produce one which simulates the child's?"</a:t>
            </a:r>
            <a:endParaRPr lang="en-US" sz="1500" dirty="0"/>
          </a:p>
          <a:p>
            <a:pPr indent="0" marL="0">
              <a:buNone/>
            </a:pPr>
            <a:r>
              <a:rPr lang="en-US" sz="1100" dirty="0">
                <a:solidFill>
                  <a:schemeClr val="accent1"/>
                </a:solidFill>
                <a:latin typeface="Calibri" pitchFamily="34" charset="0"/>
                <a:ea typeface="Calibri" pitchFamily="34" charset="-122"/>
                <a:cs typeface="Calibri" pitchFamily="34" charset="-120"/>
              </a:rPr>
              <a:t>Alan Turing, Mind, 1950</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1958: Rosenblatt's perceptron learns its own weights</a:t>
            </a:r>
            <a:endParaRPr lang="en-US" sz="3200" dirty="0"/>
          </a:p>
        </p:txBody>
      </p:sp>
      <p:pic>
        <p:nvPicPr>
          <p:cNvPr id="4" name="Image 0" descr="Portrait of Frank Rosenblatt">    </p:cNvPr>
          <p:cNvPicPr>
            <a:picLocks noChangeAspect="1"/>
          </p:cNvPicPr>
          <p:nvPr/>
        </p:nvPicPr>
        <p:blipFill>
          <a:blip r:embed="rId1"/>
          <a:stretch>
            <a:fillRect/>
          </a:stretch>
        </p:blipFill>
        <p:spPr>
          <a:xfrm>
            <a:off x="548640" y="1325880"/>
            <a:ext cx="2103120" cy="2697480"/>
          </a:xfrm>
          <a:prstGeom prst="rect">
            <a:avLst/>
          </a:prstGeom>
        </p:spPr>
      </p:pic>
      <p:sp>
        <p:nvSpPr>
          <p:cNvPr id="5" name="Text 1"/>
          <p:cNvSpPr txBox="1"/>
          <p:nvPr/>
        </p:nvSpPr>
        <p:spPr>
          <a:xfrm>
            <a:off x="548640" y="4069080"/>
            <a:ext cx="210312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Frank Rosenblatt. CC BY-SA 4.0</a:t>
            </a:r>
            <a:endParaRPr lang="en-US" sz="1000" dirty="0"/>
          </a:p>
        </p:txBody>
      </p:sp>
      <p:sp>
        <p:nvSpPr>
          <p:cNvPr id="6" name="Shape 2"/>
          <p:cNvSpPr/>
          <p:nvPr/>
        </p:nvSpPr>
        <p:spPr>
          <a:xfrm>
            <a:off x="2880360" y="1325880"/>
            <a:ext cx="3931920" cy="3063240"/>
          </a:xfrm>
          <a:prstGeom prst="rect">
            <a:avLst/>
          </a:prstGeom>
          <a:solidFill>
            <a:schemeClr val="bg1"/>
          </a:solidFill>
          <a:ln/>
        </p:spPr>
      </p:sp>
      <p:pic>
        <p:nvPicPr>
          <p:cNvPr id="7" name="Image 1" descr="Diagram of the Mark I Perceptron hardware with camera, patch panel and response units">    </p:cNvPr>
          <p:cNvPicPr>
            <a:picLocks noChangeAspect="1"/>
          </p:cNvPicPr>
          <p:nvPr/>
        </p:nvPicPr>
        <p:blipFill>
          <a:blip r:embed="rId2"/>
          <a:stretch>
            <a:fillRect/>
          </a:stretch>
        </p:blipFill>
        <p:spPr>
          <a:xfrm>
            <a:off x="2984718" y="1325880"/>
            <a:ext cx="3723205" cy="3017520"/>
          </a:xfrm>
          <a:prstGeom prst="rect">
            <a:avLst/>
          </a:prstGeom>
        </p:spPr>
      </p:pic>
      <p:sp>
        <p:nvSpPr>
          <p:cNvPr id="8" name="Text 3"/>
          <p:cNvSpPr txBox="1"/>
          <p:nvPr/>
        </p:nvSpPr>
        <p:spPr>
          <a:xfrm>
            <a:off x="2880360" y="4434840"/>
            <a:ext cx="393192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Mark I Perceptron operator's manual (1960), public domain</a:t>
            </a:r>
            <a:endParaRPr lang="en-US" sz="1000" dirty="0"/>
          </a:p>
        </p:txBody>
      </p:sp>
      <p:sp>
        <p:nvSpPr>
          <p:cNvPr id="9" name="Shape 4"/>
          <p:cNvSpPr/>
          <p:nvPr/>
        </p:nvSpPr>
        <p:spPr>
          <a:xfrm>
            <a:off x="7040880" y="1325880"/>
            <a:ext cx="4599432" cy="3291840"/>
          </a:xfrm>
          <a:prstGeom prst="rect">
            <a:avLst/>
          </a:prstGeom>
          <a:solidFill>
            <a:schemeClr val="bg2"/>
          </a:solidFill>
          <a:ln/>
        </p:spPr>
      </p:sp>
      <p:sp>
        <p:nvSpPr>
          <p:cNvPr id="10" name="Text 5"/>
          <p:cNvSpPr txBox="1"/>
          <p:nvPr/>
        </p:nvSpPr>
        <p:spPr>
          <a:xfrm>
            <a:off x="7269480" y="1481328"/>
            <a:ext cx="42062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The learning rule</a:t>
            </a:r>
            <a:endParaRPr lang="en-US" sz="1500" dirty="0"/>
          </a:p>
        </p:txBody>
      </p:sp>
      <p:sp>
        <p:nvSpPr>
          <p:cNvPr id="11" name="Shape 6"/>
          <p:cNvSpPr/>
          <p:nvPr/>
        </p:nvSpPr>
        <p:spPr>
          <a:xfrm>
            <a:off x="7269480" y="1901952"/>
            <a:ext cx="4142232" cy="914400"/>
          </a:xfrm>
          <a:prstGeom prst="rect">
            <a:avLst/>
          </a:prstGeom>
          <a:solidFill>
            <a:schemeClr val="bg1"/>
          </a:solidFill>
          <a:ln/>
        </p:spPr>
      </p:sp>
      <p:sp>
        <p:nvSpPr>
          <p:cNvPr id="12" name="Text 7"/>
          <p:cNvSpPr txBox="1"/>
          <p:nvPr/>
        </p:nvSpPr>
        <p:spPr>
          <a:xfrm>
            <a:off x="7452360" y="1947672"/>
            <a:ext cx="3840480" cy="822960"/>
          </a:xfrm>
          <a:prstGeom prst="rect">
            <a:avLst/>
          </a:prstGeom>
          <a:noFill/>
          <a:ln/>
        </p:spPr>
        <p:txBody>
          <a:bodyPr wrap="square" lIns="0" tIns="0" rIns="0" bIns="0" rtlCol="0" anchor="ctr"/>
          <a:lstStyle/>
          <a:p>
            <a:pPr indent="0" marL="0">
              <a:buNone/>
            </a:pPr>
            <a:r>
              <a:rPr lang="en-US" sz="1700" dirty="0">
                <a:solidFill>
                  <a:schemeClr val="tx1"/>
                </a:solidFill>
                <a:latin typeface="Cambria" pitchFamily="34" charset="0"/>
                <a:ea typeface="Cambria" pitchFamily="34" charset="-122"/>
                <a:cs typeface="Cambria" pitchFamily="34" charset="-120"/>
              </a:rPr>
              <a:t>ŷ = step(w · x + b)</a:t>
            </a:r>
            <a:endParaRPr lang="en-US" sz="1700" dirty="0"/>
          </a:p>
          <a:p>
            <a:pPr indent="0" marL="0">
              <a:buNone/>
            </a:pPr>
            <a:r>
              <a:rPr lang="en-US" sz="1700" dirty="0">
                <a:solidFill>
                  <a:schemeClr val="tx1"/>
                </a:solidFill>
                <a:latin typeface="Cambria" pitchFamily="34" charset="0"/>
                <a:ea typeface="Cambria" pitchFamily="34" charset="-122"/>
                <a:cs typeface="Cambria" pitchFamily="34" charset="-120"/>
              </a:rPr>
              <a:t>w ← w + η (y − ŷ) x</a:t>
            </a:r>
            <a:endParaRPr lang="en-US" sz="1700" dirty="0"/>
          </a:p>
        </p:txBody>
      </p:sp>
      <p:sp>
        <p:nvSpPr>
          <p:cNvPr id="13" name="Text 8"/>
          <p:cNvSpPr txBox="1"/>
          <p:nvPr/>
        </p:nvSpPr>
        <p:spPr>
          <a:xfrm>
            <a:off x="7269480" y="2971800"/>
            <a:ext cx="4206240" cy="16002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Right answer: y − ŷ = 0, no change</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Wrong answer: weights move toward the correct class</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Converges if a straight line can separate the classes (Novikoff, 1962)</a:t>
            </a:r>
            <a:endParaRPr lang="en-US" sz="1250" dirty="0"/>
          </a:p>
        </p:txBody>
      </p:sp>
      <p:sp>
        <p:nvSpPr>
          <p:cNvPr id="14" name="Shape 9"/>
          <p:cNvSpPr/>
          <p:nvPr/>
        </p:nvSpPr>
        <p:spPr>
          <a:xfrm>
            <a:off x="548640" y="4846320"/>
            <a:ext cx="11091672" cy="1325880"/>
          </a:xfrm>
          <a:prstGeom prst="rect">
            <a:avLst/>
          </a:prstGeom>
          <a:solidFill>
            <a:schemeClr val="tx1"/>
          </a:solidFill>
          <a:ln/>
        </p:spPr>
      </p:sp>
      <p:sp>
        <p:nvSpPr>
          <p:cNvPr id="15" name="Text 10"/>
          <p:cNvSpPr txBox="1"/>
          <p:nvPr/>
        </p:nvSpPr>
        <p:spPr>
          <a:xfrm>
            <a:off x="777240" y="4937760"/>
            <a:ext cx="1463040" cy="1143000"/>
          </a:xfrm>
          <a:prstGeom prst="rect">
            <a:avLst/>
          </a:prstGeom>
          <a:noFill/>
          <a:ln/>
        </p:spPr>
        <p:txBody>
          <a:bodyPr wrap="square" lIns="0" tIns="0" rIns="0" bIns="0" rtlCol="0" anchor="ctr"/>
          <a:lstStyle/>
          <a:p>
            <a:pPr indent="0" marL="0">
              <a:buNone/>
            </a:pPr>
            <a:r>
              <a:rPr lang="en-US" sz="4400" dirty="0">
                <a:solidFill>
                  <a:schemeClr val="accent1"/>
                </a:solidFill>
                <a:latin typeface="Cambria" pitchFamily="34" charset="0"/>
                <a:ea typeface="Cambria" pitchFamily="34" charset="-122"/>
                <a:cs typeface="Cambria" pitchFamily="34" charset="-120"/>
              </a:rPr>
              <a:t>400</a:t>
            </a:r>
            <a:endParaRPr lang="en-US" sz="4400" dirty="0"/>
          </a:p>
        </p:txBody>
      </p:sp>
      <p:sp>
        <p:nvSpPr>
          <p:cNvPr id="16" name="Text 11"/>
          <p:cNvSpPr txBox="1"/>
          <p:nvPr/>
        </p:nvSpPr>
        <p:spPr>
          <a:xfrm>
            <a:off x="2286000" y="4937760"/>
            <a:ext cx="9144000" cy="114300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photocells in a 20 × 20 "retina"; weights were motor-driven potentiometers.</a:t>
            </a:r>
            <a:endParaRPr lang="en-US" sz="1400" dirty="0"/>
          </a:p>
          <a:p>
            <a:pPr indent="0" marL="0">
              <a:buNone/>
            </a:pPr>
            <a:r>
              <a:rPr lang="en-US" sz="1250" i="1" dirty="0">
                <a:solidFill>
                  <a:schemeClr val="accent6"/>
                </a:solidFill>
                <a:latin typeface="Calibri" pitchFamily="34" charset="0"/>
                <a:ea typeface="Calibri" pitchFamily="34" charset="-122"/>
                <a:cs typeface="Calibri" pitchFamily="34" charset="-120"/>
              </a:rPr>
              <a:t>New York Times, 8 July 1958: "the embryo of an electronic computer that [the Navy] expects will be able to walk, talk, see, write, reproduce itself and be conscious of its existence."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Perceptron vs logistic regression: same score, different last step</a:t>
            </a:r>
            <a:endParaRPr lang="en-US" sz="3200" dirty="0"/>
          </a:p>
        </p:txBody>
      </p:sp>
      <p:sp>
        <p:nvSpPr>
          <p:cNvPr id="4" name="Shape 1"/>
          <p:cNvSpPr/>
          <p:nvPr/>
        </p:nvSpPr>
        <p:spPr>
          <a:xfrm>
            <a:off x="548640" y="1325880"/>
            <a:ext cx="5440680" cy="2697480"/>
          </a:xfrm>
          <a:prstGeom prst="rect">
            <a:avLst/>
          </a:prstGeom>
          <a:solidFill>
            <a:schemeClr val="bg2"/>
          </a:solidFill>
          <a:ln/>
        </p:spPr>
      </p:sp>
      <p:pic>
        <p:nvPicPr>
          <p:cNvPr id="5" name="Image 0" descr="Perceptron diagram: inputs with weights into z, step activation, output">    </p:cNvPr>
          <p:cNvPicPr>
            <a:picLocks noChangeAspect="1"/>
          </p:cNvPicPr>
          <p:nvPr/>
        </p:nvPicPr>
        <p:blipFill>
          <a:blip r:embed="rId1"/>
          <a:stretch>
            <a:fillRect/>
          </a:stretch>
        </p:blipFill>
        <p:spPr>
          <a:xfrm>
            <a:off x="685800" y="1589198"/>
            <a:ext cx="3657600" cy="2170845"/>
          </a:xfrm>
          <a:prstGeom prst="rect">
            <a:avLst/>
          </a:prstGeom>
        </p:spPr>
      </p:pic>
      <p:sp>
        <p:nvSpPr>
          <p:cNvPr id="6" name="Text 2"/>
          <p:cNvSpPr txBox="1"/>
          <p:nvPr/>
        </p:nvSpPr>
        <p:spPr>
          <a:xfrm>
            <a:off x="4434840" y="1554480"/>
            <a:ext cx="1463040" cy="7315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Perceptron</a:t>
            </a:r>
            <a:endParaRPr lang="en-US" sz="1300" dirty="0"/>
          </a:p>
          <a:p>
            <a:pPr indent="0" marL="0">
              <a:buNone/>
            </a:pPr>
            <a:r>
              <a:rPr lang="en-US" sz="1300" dirty="0">
                <a:solidFill>
                  <a:schemeClr val="accent3"/>
                </a:solidFill>
                <a:latin typeface="Calibri" pitchFamily="34" charset="0"/>
                <a:ea typeface="Calibri" pitchFamily="34" charset="-122"/>
                <a:cs typeface="Calibri" pitchFamily="34" charset="-120"/>
              </a:rPr>
              <a:t>a switch: 0 or 1</a:t>
            </a:r>
            <a:endParaRPr lang="en-US" sz="1300" dirty="0"/>
          </a:p>
        </p:txBody>
      </p:sp>
      <p:sp>
        <p:nvSpPr>
          <p:cNvPr id="7" name="Shape 3"/>
          <p:cNvSpPr/>
          <p:nvPr/>
        </p:nvSpPr>
        <p:spPr>
          <a:xfrm>
            <a:off x="6199632" y="1325880"/>
            <a:ext cx="5440680" cy="2697480"/>
          </a:xfrm>
          <a:prstGeom prst="rect">
            <a:avLst/>
          </a:prstGeom>
          <a:solidFill>
            <a:schemeClr val="bg2"/>
          </a:solidFill>
          <a:ln/>
        </p:spPr>
      </p:sp>
      <p:pic>
        <p:nvPicPr>
          <p:cNvPr id="8" name="Image 1" descr="Logistic regression diagram: inputs with weights into z, sigmoid, output probability">    </p:cNvPr>
          <p:cNvPicPr>
            <a:picLocks noChangeAspect="1"/>
          </p:cNvPicPr>
          <p:nvPr/>
        </p:nvPicPr>
        <p:blipFill>
          <a:blip r:embed="rId2"/>
          <a:stretch>
            <a:fillRect/>
          </a:stretch>
        </p:blipFill>
        <p:spPr>
          <a:xfrm>
            <a:off x="6336792" y="1488864"/>
            <a:ext cx="3657600" cy="2371511"/>
          </a:xfrm>
          <a:prstGeom prst="rect">
            <a:avLst/>
          </a:prstGeom>
        </p:spPr>
      </p:pic>
      <p:sp>
        <p:nvSpPr>
          <p:cNvPr id="9" name="Text 4"/>
          <p:cNvSpPr txBox="1"/>
          <p:nvPr/>
        </p:nvSpPr>
        <p:spPr>
          <a:xfrm>
            <a:off x="10058400" y="1554480"/>
            <a:ext cx="1508760" cy="7315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Logistic regression</a:t>
            </a:r>
            <a:endParaRPr lang="en-US" sz="1300" dirty="0"/>
          </a:p>
          <a:p>
            <a:pPr indent="0" marL="0">
              <a:buNone/>
            </a:pPr>
            <a:r>
              <a:rPr lang="en-US" sz="1300" dirty="0">
                <a:solidFill>
                  <a:schemeClr val="accent2"/>
                </a:solidFill>
                <a:latin typeface="Calibri" pitchFamily="34" charset="0"/>
                <a:ea typeface="Calibri" pitchFamily="34" charset="-122"/>
                <a:cs typeface="Calibri" pitchFamily="34" charset="-120"/>
              </a:rPr>
              <a:t>a dimmer: probability</a:t>
            </a:r>
            <a:endParaRPr lang="en-US" sz="1300" dirty="0"/>
          </a:p>
        </p:txBody>
      </p:sp>
      <p:sp>
        <p:nvSpPr>
          <p:cNvPr id="10" name="Text 5"/>
          <p:cNvSpPr txBox="1"/>
          <p:nvPr/>
        </p:nvSpPr>
        <p:spPr>
          <a:xfrm>
            <a:off x="548640" y="4069080"/>
            <a:ext cx="731520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C. P. Bathula, Deep Learning series, Part 3 (Towards AI)</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91672" cy="914400"/>
        </p:xfrm>
        <a:graphic>
          <a:graphicData uri="http://schemas.openxmlformats.org/drawingml/2006/table">
            <a:tbl>
              <a:tblPr/>
              <a:tblGrid>
                <a:gridCol w="1463040"/>
                <a:gridCol w="4572000"/>
                <a:gridCol w="5056632"/>
              </a:tblGrid>
              <a:tr h="347472">
                <a:tc>
                  <a:txBody>
                    <a:bodyPr/>
                    <a:lstStyle/>
                    <a:p>
                      <a:pPr indent="0" marL="0">
                        <a:buNone/>
                      </a:pP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Perceptron (1958)</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347472">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Score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z = w·x + b</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z = w·x + b (identical)</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47472">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step(z): 1 if z ≥ 0, else 0</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σ(z) = 1 / (1 + e⁻ᶻ), between 0 and 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47472">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Update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w ← w + η (y − ŷ) x, only when wrong</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w ← w + η (y − σ(z)) x, every example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47472">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Converges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Only if classes are linearly separable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Convex loss: settles even when classes overlap</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1960: ADALINE learns from the size of the error</a:t>
            </a:r>
            <a:endParaRPr lang="en-US" sz="3200" dirty="0"/>
          </a:p>
        </p:txBody>
      </p:sp>
      <p:pic>
        <p:nvPicPr>
          <p:cNvPr id="4" name="Image 0" descr="Bernard Widrow with the ADALINE machine">    </p:cNvPr>
          <p:cNvPicPr>
            <a:picLocks noChangeAspect="1"/>
          </p:cNvPicPr>
          <p:nvPr/>
        </p:nvPicPr>
        <p:blipFill>
          <a:blip r:embed="rId1"/>
          <a:stretch>
            <a:fillRect/>
          </a:stretch>
        </p:blipFill>
        <p:spPr>
          <a:xfrm>
            <a:off x="548640" y="1325880"/>
            <a:ext cx="5120640" cy="3520440"/>
          </a:xfrm>
          <a:prstGeom prst="rect">
            <a:avLst/>
          </a:prstGeom>
        </p:spPr>
      </p:pic>
      <p:sp>
        <p:nvSpPr>
          <p:cNvPr id="5" name="Text 1"/>
          <p:cNvSpPr txBox="1"/>
          <p:nvPr/>
        </p:nvSpPr>
        <p:spPr>
          <a:xfrm>
            <a:off x="548640" y="4892040"/>
            <a:ext cx="512064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Bernard Widrow with ADALINE. Stanford Today, 1963, public domain</a:t>
            </a:r>
            <a:endParaRPr lang="en-US" sz="1000" dirty="0"/>
          </a:p>
        </p:txBody>
      </p:sp>
      <p:sp>
        <p:nvSpPr>
          <p:cNvPr id="6" name="Shape 2"/>
          <p:cNvSpPr/>
          <p:nvPr/>
        </p:nvSpPr>
        <p:spPr>
          <a:xfrm>
            <a:off x="5897880" y="1325880"/>
            <a:ext cx="5742432" cy="2057400"/>
          </a:xfrm>
          <a:prstGeom prst="rect">
            <a:avLst/>
          </a:prstGeom>
          <a:solidFill>
            <a:schemeClr val="bg2"/>
          </a:solidFill>
          <a:ln/>
        </p:spPr>
      </p:sp>
      <p:sp>
        <p:nvSpPr>
          <p:cNvPr id="7" name="Text 3"/>
          <p:cNvSpPr txBox="1"/>
          <p:nvPr/>
        </p:nvSpPr>
        <p:spPr>
          <a:xfrm>
            <a:off x="6126480" y="1463040"/>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Perceptron vs ADALINE</a:t>
            </a:r>
            <a:endParaRPr lang="en-US" sz="1500" dirty="0"/>
          </a:p>
        </p:txBody>
      </p:sp>
      <p:sp>
        <p:nvSpPr>
          <p:cNvPr id="8" name="Text 4"/>
          <p:cNvSpPr txBox="1"/>
          <p:nvPr/>
        </p:nvSpPr>
        <p:spPr>
          <a:xfrm>
            <a:off x="6126480" y="1847088"/>
            <a:ext cx="5303520" cy="868680"/>
          </a:xfrm>
          <a:prstGeom prst="rect">
            <a:avLst/>
          </a:prstGeom>
          <a:noFill/>
          <a:ln/>
        </p:spPr>
        <p:txBody>
          <a:bodyPr wrap="square" lIns="0" tIns="0" rIns="0" bIns="0" rtlCol="0" anchor="t"/>
          <a:lstStyle/>
          <a:p>
            <a:pPr indent="0" marL="0">
              <a:spcAft>
                <a:spcPts val="600"/>
              </a:spcAft>
              <a:buNone/>
            </a:pPr>
            <a:r>
              <a:rPr lang="en-US" sz="1600" b="1" dirty="0">
                <a:solidFill>
                  <a:schemeClr val="accent3"/>
                </a:solidFill>
                <a:latin typeface="Calibri" pitchFamily="34" charset="0"/>
                <a:ea typeface="Calibri" pitchFamily="34" charset="-122"/>
                <a:cs typeface="Calibri" pitchFamily="34" charset="-120"/>
              </a:rPr>
              <a:t>Perceptron:  </a:t>
            </a:r>
            <a:pPr indent="0" marL="0">
              <a:spcAft>
                <a:spcPts val="600"/>
              </a:spcAft>
              <a:buNone/>
            </a:pPr>
            <a:r>
              <a:rPr lang="en-US" sz="1600" dirty="0">
                <a:solidFill>
                  <a:schemeClr val="tx1"/>
                </a:solidFill>
                <a:latin typeface="Cambria" pitchFamily="34" charset="0"/>
                <a:ea typeface="Cambria" pitchFamily="34" charset="-122"/>
                <a:cs typeface="Cambria" pitchFamily="34" charset="-120"/>
              </a:rPr>
              <a:t>w ← w + η (y − step(z)) x</a:t>
            </a:r>
            <a:endParaRPr lang="en-US" sz="1600" dirty="0"/>
          </a:p>
          <a:p>
            <a:pPr indent="0" marL="0">
              <a:spcAft>
                <a:spcPts val="600"/>
              </a:spcAft>
              <a:buNone/>
            </a:pPr>
            <a:r>
              <a:rPr lang="en-US" sz="1600" b="1" dirty="0">
                <a:solidFill>
                  <a:schemeClr val="accent2"/>
                </a:solidFill>
                <a:latin typeface="Calibri" pitchFamily="34" charset="0"/>
                <a:ea typeface="Calibri" pitchFamily="34" charset="-122"/>
                <a:cs typeface="Calibri" pitchFamily="34" charset="-120"/>
              </a:rPr>
              <a:t>ADALINE (LMS):  </a:t>
            </a:r>
            <a:pPr indent="0" marL="0">
              <a:spcAft>
                <a:spcPts val="600"/>
              </a:spcAft>
              <a:buNone/>
            </a:pPr>
            <a:r>
              <a:rPr lang="en-US" sz="1600" dirty="0">
                <a:solidFill>
                  <a:schemeClr val="tx1"/>
                </a:solidFill>
                <a:latin typeface="Cambria" pitchFamily="34" charset="0"/>
                <a:ea typeface="Cambria" pitchFamily="34" charset="-122"/>
                <a:cs typeface="Cambria" pitchFamily="34" charset="-120"/>
              </a:rPr>
              <a:t>w ← w + η (y − z) x</a:t>
            </a:r>
            <a:endParaRPr lang="en-US" sz="1600" dirty="0"/>
          </a:p>
        </p:txBody>
      </p:sp>
      <p:sp>
        <p:nvSpPr>
          <p:cNvPr id="9" name="Text 5"/>
          <p:cNvSpPr txBox="1"/>
          <p:nvPr/>
        </p:nvSpPr>
        <p:spPr>
          <a:xfrm>
            <a:off x="6126480" y="2788920"/>
            <a:ext cx="5303520"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ADALINE learns from how far off z is, not just whether the class was wrong.</a:t>
            </a:r>
            <a:endParaRPr lang="en-US" sz="1250" dirty="0"/>
          </a:p>
        </p:txBody>
      </p:sp>
      <p:sp>
        <p:nvSpPr>
          <p:cNvPr id="10" name="Shape 6"/>
          <p:cNvSpPr/>
          <p:nvPr/>
        </p:nvSpPr>
        <p:spPr>
          <a:xfrm>
            <a:off x="5897880" y="3566160"/>
            <a:ext cx="1847088" cy="1691640"/>
          </a:xfrm>
          <a:prstGeom prst="rect">
            <a:avLst/>
          </a:prstGeom>
          <a:solidFill>
            <a:schemeClr val="bg2"/>
          </a:solidFill>
          <a:ln/>
        </p:spPr>
      </p:sp>
      <p:sp>
        <p:nvSpPr>
          <p:cNvPr id="11" name="Shape 7"/>
          <p:cNvSpPr/>
          <p:nvPr/>
        </p:nvSpPr>
        <p:spPr>
          <a:xfrm>
            <a:off x="6080760" y="3703320"/>
            <a:ext cx="411480" cy="411480"/>
          </a:xfrm>
          <a:prstGeom prst="ellipse">
            <a:avLst/>
          </a:prstGeom>
          <a:solidFill>
            <a:schemeClr val="accent2"/>
          </a:solidFill>
          <a:ln/>
        </p:spPr>
      </p:sp>
      <p:pic>
        <p:nvPicPr>
          <p:cNvPr id="12" name="Image 1" descr="ChartArea icon">    </p:cNvPr>
          <p:cNvPicPr>
            <a:picLocks noChangeAspect="1"/>
          </p:cNvPicPr>
          <p:nvPr/>
        </p:nvPicPr>
        <p:blipFill>
          <a:blip r:embed="rId2"/>
          <a:stretch>
            <a:fillRect/>
          </a:stretch>
        </p:blipFill>
        <p:spPr>
          <a:xfrm>
            <a:off x="6183630" y="3806190"/>
            <a:ext cx="205740" cy="205740"/>
          </a:xfrm>
          <a:prstGeom prst="rect">
            <a:avLst/>
          </a:prstGeom>
        </p:spPr>
      </p:pic>
      <p:sp>
        <p:nvSpPr>
          <p:cNvPr id="13" name="Text 8"/>
          <p:cNvSpPr txBox="1"/>
          <p:nvPr/>
        </p:nvSpPr>
        <p:spPr>
          <a:xfrm>
            <a:off x="6080760" y="4206240"/>
            <a:ext cx="1527048"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Smooth error</a:t>
            </a:r>
            <a:endParaRPr lang="en-US" sz="1300" dirty="0"/>
          </a:p>
        </p:txBody>
      </p:sp>
      <p:sp>
        <p:nvSpPr>
          <p:cNvPr id="14" name="Text 9"/>
          <p:cNvSpPr txBox="1"/>
          <p:nvPr/>
        </p:nvSpPr>
        <p:spPr>
          <a:xfrm>
            <a:off x="6080760" y="4507992"/>
            <a:ext cx="1572768" cy="7315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The squared error (y − z)² is a bowl in weight space.</a:t>
            </a:r>
            <a:endParaRPr lang="en-US" sz="1150" dirty="0"/>
          </a:p>
        </p:txBody>
      </p:sp>
      <p:sp>
        <p:nvSpPr>
          <p:cNvPr id="15" name="Shape 10"/>
          <p:cNvSpPr/>
          <p:nvPr/>
        </p:nvSpPr>
        <p:spPr>
          <a:xfrm>
            <a:off x="7845552" y="3566160"/>
            <a:ext cx="1847088" cy="1691640"/>
          </a:xfrm>
          <a:prstGeom prst="rect">
            <a:avLst/>
          </a:prstGeom>
          <a:solidFill>
            <a:schemeClr val="bg2"/>
          </a:solidFill>
          <a:ln/>
        </p:spPr>
      </p:sp>
      <p:sp>
        <p:nvSpPr>
          <p:cNvPr id="16" name="Shape 11"/>
          <p:cNvSpPr/>
          <p:nvPr/>
        </p:nvSpPr>
        <p:spPr>
          <a:xfrm>
            <a:off x="8028432" y="3703320"/>
            <a:ext cx="411480" cy="411480"/>
          </a:xfrm>
          <a:prstGeom prst="ellipse">
            <a:avLst/>
          </a:prstGeom>
          <a:solidFill>
            <a:schemeClr val="accent2"/>
          </a:solidFill>
          <a:ln/>
        </p:spPr>
      </p:sp>
      <p:pic>
        <p:nvPicPr>
          <p:cNvPr id="17" name="Image 2" descr="ArrowDown icon">    </p:cNvPr>
          <p:cNvPicPr>
            <a:picLocks noChangeAspect="1"/>
          </p:cNvPicPr>
          <p:nvPr/>
        </p:nvPicPr>
        <p:blipFill>
          <a:blip r:embed="rId3"/>
          <a:stretch>
            <a:fillRect/>
          </a:stretch>
        </p:blipFill>
        <p:spPr>
          <a:xfrm>
            <a:off x="8131302" y="3806190"/>
            <a:ext cx="205740" cy="205740"/>
          </a:xfrm>
          <a:prstGeom prst="rect">
            <a:avLst/>
          </a:prstGeom>
        </p:spPr>
      </p:pic>
      <p:sp>
        <p:nvSpPr>
          <p:cNvPr id="18" name="Text 12"/>
          <p:cNvSpPr txBox="1"/>
          <p:nvPr/>
        </p:nvSpPr>
        <p:spPr>
          <a:xfrm>
            <a:off x="8028432" y="4206240"/>
            <a:ext cx="1527048"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Gradient descent</a:t>
            </a:r>
            <a:endParaRPr lang="en-US" sz="1300" dirty="0"/>
          </a:p>
        </p:txBody>
      </p:sp>
      <p:sp>
        <p:nvSpPr>
          <p:cNvPr id="19" name="Text 13"/>
          <p:cNvSpPr txBox="1"/>
          <p:nvPr/>
        </p:nvSpPr>
        <p:spPr>
          <a:xfrm>
            <a:off x="8028432" y="4507992"/>
            <a:ext cx="1572768" cy="7315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LMS steps downhill on that bowl: the ancestor of every optimizer.</a:t>
            </a:r>
            <a:endParaRPr lang="en-US" sz="1150" dirty="0"/>
          </a:p>
        </p:txBody>
      </p:sp>
      <p:sp>
        <p:nvSpPr>
          <p:cNvPr id="20" name="Shape 14"/>
          <p:cNvSpPr/>
          <p:nvPr/>
        </p:nvSpPr>
        <p:spPr>
          <a:xfrm>
            <a:off x="9793224" y="3566160"/>
            <a:ext cx="1847088" cy="1691640"/>
          </a:xfrm>
          <a:prstGeom prst="rect">
            <a:avLst/>
          </a:prstGeom>
          <a:solidFill>
            <a:schemeClr val="bg2"/>
          </a:solidFill>
          <a:ln/>
        </p:spPr>
      </p:sp>
      <p:sp>
        <p:nvSpPr>
          <p:cNvPr id="21" name="Shape 15"/>
          <p:cNvSpPr/>
          <p:nvPr/>
        </p:nvSpPr>
        <p:spPr>
          <a:xfrm>
            <a:off x="9976104" y="3703320"/>
            <a:ext cx="411480" cy="411480"/>
          </a:xfrm>
          <a:prstGeom prst="ellipse">
            <a:avLst/>
          </a:prstGeom>
          <a:solidFill>
            <a:schemeClr val="accent2"/>
          </a:solidFill>
          <a:ln/>
        </p:spPr>
      </p:sp>
      <p:pic>
        <p:nvPicPr>
          <p:cNvPr id="22" name="Image 3" descr="Phone icon">    </p:cNvPr>
          <p:cNvPicPr>
            <a:picLocks noChangeAspect="1"/>
          </p:cNvPicPr>
          <p:nvPr/>
        </p:nvPicPr>
        <p:blipFill>
          <a:blip r:embed="rId4"/>
          <a:stretch>
            <a:fillRect/>
          </a:stretch>
        </p:blipFill>
        <p:spPr>
          <a:xfrm>
            <a:off x="10078974" y="3806190"/>
            <a:ext cx="205740" cy="205740"/>
          </a:xfrm>
          <a:prstGeom prst="rect">
            <a:avLst/>
          </a:prstGeom>
        </p:spPr>
      </p:pic>
      <p:sp>
        <p:nvSpPr>
          <p:cNvPr id="23" name="Text 16"/>
          <p:cNvSpPr txBox="1"/>
          <p:nvPr/>
        </p:nvSpPr>
        <p:spPr>
          <a:xfrm>
            <a:off x="9976104" y="4206240"/>
            <a:ext cx="1527048"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Used in the field</a:t>
            </a:r>
            <a:endParaRPr lang="en-US" sz="1300" dirty="0"/>
          </a:p>
        </p:txBody>
      </p:sp>
      <p:sp>
        <p:nvSpPr>
          <p:cNvPr id="24" name="Text 17"/>
          <p:cNvSpPr txBox="1"/>
          <p:nvPr/>
        </p:nvSpPr>
        <p:spPr>
          <a:xfrm>
            <a:off x="9976104" y="4507992"/>
            <a:ext cx="1572768" cy="7315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MADALINE filters cancelled echoes on phone lines.</a:t>
            </a:r>
            <a:endParaRPr lang="en-US" sz="1150" dirty="0"/>
          </a:p>
        </p:txBody>
      </p:sp>
      <p:sp>
        <p:nvSpPr>
          <p:cNvPr id="25" name="Shape 18"/>
          <p:cNvSpPr/>
          <p:nvPr/>
        </p:nvSpPr>
        <p:spPr>
          <a:xfrm>
            <a:off x="548640" y="5486400"/>
            <a:ext cx="11091672" cy="685800"/>
          </a:xfrm>
          <a:prstGeom prst="rect">
            <a:avLst/>
          </a:prstGeom>
          <a:solidFill>
            <a:schemeClr val="tx1"/>
          </a:solidFill>
          <a:ln/>
        </p:spPr>
      </p:sp>
      <p:sp>
        <p:nvSpPr>
          <p:cNvPr id="26" name="Text 19"/>
          <p:cNvSpPr txBox="1"/>
          <p:nvPr/>
        </p:nvSpPr>
        <p:spPr>
          <a:xfrm>
            <a:off x="777240" y="5486400"/>
            <a:ext cx="10634472" cy="6858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Why it matters:  </a:t>
            </a:r>
            <a:pPr indent="0" marL="0">
              <a:buNone/>
            </a:pPr>
            <a:r>
              <a:rPr lang="en-US" sz="1400" dirty="0">
                <a:solidFill>
                  <a:schemeClr val="bg1"/>
                </a:solidFill>
                <a:latin typeface="Calibri" pitchFamily="34" charset="0"/>
                <a:ea typeface="Calibri" pitchFamily="34" charset="-122"/>
                <a:cs typeface="Calibri" pitchFamily="34" charset="-120"/>
              </a:rPr>
              <a:t>measuring error on a smooth quantity gives a slope to follow. Backpropagation (1986) extends this idea through hidden layers.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1969: Minsky and Papert show what one layer cannot do</a:t>
            </a:r>
            <a:endParaRPr lang="en-US" sz="3200" dirty="0"/>
          </a:p>
        </p:txBody>
      </p:sp>
      <p:pic>
        <p:nvPicPr>
          <p:cNvPr id="4" name="Image 0" descr="Portrait of Marvin Minsky">    </p:cNvPr>
          <p:cNvPicPr>
            <a:picLocks noChangeAspect="1"/>
          </p:cNvPicPr>
          <p:nvPr/>
        </p:nvPicPr>
        <p:blipFill>
          <a:blip r:embed="rId1"/>
          <a:stretch>
            <a:fillRect/>
          </a:stretch>
        </p:blipFill>
        <p:spPr>
          <a:xfrm>
            <a:off x="548640" y="1325880"/>
            <a:ext cx="1737360" cy="2194560"/>
          </a:xfrm>
          <a:prstGeom prst="rect">
            <a:avLst/>
          </a:prstGeom>
        </p:spPr>
      </p:pic>
      <p:pic>
        <p:nvPicPr>
          <p:cNvPr id="5" name="Image 1" descr="Portrait of Seymour Papert">    </p:cNvPr>
          <p:cNvPicPr>
            <a:picLocks noChangeAspect="1"/>
          </p:cNvPicPr>
          <p:nvPr/>
        </p:nvPicPr>
        <p:blipFill>
          <a:blip r:embed="rId2"/>
          <a:stretch>
            <a:fillRect/>
          </a:stretch>
        </p:blipFill>
        <p:spPr>
          <a:xfrm>
            <a:off x="2423160" y="1325880"/>
            <a:ext cx="1737360" cy="2194560"/>
          </a:xfrm>
          <a:prstGeom prst="rect">
            <a:avLst/>
          </a:prstGeom>
        </p:spPr>
      </p:pic>
      <p:sp>
        <p:nvSpPr>
          <p:cNvPr id="6" name="Text 1"/>
          <p:cNvSpPr txBox="1"/>
          <p:nvPr/>
        </p:nvSpPr>
        <p:spPr>
          <a:xfrm>
            <a:off x="548640" y="3566160"/>
            <a:ext cx="361188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Minsky (Sethwoodworth, CC BY 3.0); Papert (CC BY-SA 3.0)</a:t>
            </a:r>
            <a:endParaRPr lang="en-US" sz="1000" dirty="0"/>
          </a:p>
        </p:txBody>
      </p:sp>
      <p:sp>
        <p:nvSpPr>
          <p:cNvPr id="7" name="Text 2"/>
          <p:cNvSpPr txBox="1"/>
          <p:nvPr/>
        </p:nvSpPr>
        <p:spPr>
          <a:xfrm>
            <a:off x="548640" y="3977640"/>
            <a:ext cx="3611880" cy="594360"/>
          </a:xfrm>
          <a:prstGeom prst="rect">
            <a:avLst/>
          </a:prstGeom>
          <a:noFill/>
          <a:ln/>
        </p:spPr>
        <p:txBody>
          <a:bodyPr wrap="square" lIns="0" tIns="0" rIns="0" bIns="0" rtlCol="0" anchor="t"/>
          <a:lstStyle/>
          <a:p>
            <a:pPr indent="0" marL="0">
              <a:buNone/>
            </a:pPr>
            <a:r>
              <a:rPr lang="en-US" sz="1250" i="1" dirty="0">
                <a:solidFill>
                  <a:schemeClr val="tx1"/>
                </a:solidFill>
                <a:latin typeface="Calibri" pitchFamily="34" charset="0"/>
                <a:ea typeface="Calibri" pitchFamily="34" charset="-122"/>
                <a:cs typeface="Calibri" pitchFamily="34" charset="-120"/>
              </a:rPr>
              <a:t>Perceptrons: An Introduction to Computational Geometry (MIT Press, 1969)</a:t>
            </a:r>
            <a:endParaRPr lang="en-US" sz="1250" dirty="0"/>
          </a:p>
        </p:txBody>
      </p:sp>
      <p:sp>
        <p:nvSpPr>
          <p:cNvPr id="8" name="Shape 3"/>
          <p:cNvSpPr/>
          <p:nvPr/>
        </p:nvSpPr>
        <p:spPr>
          <a:xfrm>
            <a:off x="4389120" y="1325880"/>
            <a:ext cx="3566160" cy="3931920"/>
          </a:xfrm>
          <a:prstGeom prst="rect">
            <a:avLst/>
          </a:prstGeom>
          <a:solidFill>
            <a:schemeClr val="bg2"/>
          </a:solidFill>
          <a:ln/>
        </p:spPr>
      </p:sp>
      <p:sp>
        <p:nvSpPr>
          <p:cNvPr id="9" name="Text 4"/>
          <p:cNvSpPr txBox="1"/>
          <p:nvPr/>
        </p:nvSpPr>
        <p:spPr>
          <a:xfrm>
            <a:off x="4617720" y="1463040"/>
            <a:ext cx="31089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XOR: no single line works</a:t>
            </a:r>
            <a:endParaRPr lang="en-US" sz="1400" dirty="0"/>
          </a:p>
        </p:txBody>
      </p:sp>
      <p:sp>
        <p:nvSpPr>
          <p:cNvPr id="10" name="Shape 5"/>
          <p:cNvSpPr/>
          <p:nvPr/>
        </p:nvSpPr>
        <p:spPr>
          <a:xfrm>
            <a:off x="4983480" y="4526280"/>
            <a:ext cx="2560320" cy="914"/>
          </a:xfrm>
          <a:prstGeom prst="line">
            <a:avLst/>
          </a:prstGeom>
          <a:noFill/>
          <a:ln w="12700">
            <a:solidFill>
              <a:srgbClr val="7A8793"/>
            </a:solidFill>
            <a:prstDash val="solid"/>
          </a:ln>
        </p:spPr>
      </p:sp>
      <p:sp>
        <p:nvSpPr>
          <p:cNvPr id="11" name="Shape 6"/>
          <p:cNvSpPr/>
          <p:nvPr/>
        </p:nvSpPr>
        <p:spPr>
          <a:xfrm>
            <a:off x="4983480" y="1965960"/>
            <a:ext cx="914" cy="2560320"/>
          </a:xfrm>
          <a:prstGeom prst="line">
            <a:avLst/>
          </a:prstGeom>
          <a:noFill/>
          <a:ln w="12700">
            <a:solidFill>
              <a:srgbClr val="7A8793"/>
            </a:solidFill>
            <a:prstDash val="solid"/>
          </a:ln>
        </p:spPr>
      </p:sp>
      <p:sp>
        <p:nvSpPr>
          <p:cNvPr id="12" name="Text 7"/>
          <p:cNvSpPr txBox="1"/>
          <p:nvPr/>
        </p:nvSpPr>
        <p:spPr>
          <a:xfrm>
            <a:off x="7452360" y="4544568"/>
            <a:ext cx="36576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x₁</a:t>
            </a:r>
            <a:endParaRPr lang="en-US" sz="1200" dirty="0"/>
          </a:p>
        </p:txBody>
      </p:sp>
      <p:sp>
        <p:nvSpPr>
          <p:cNvPr id="13" name="Text 8"/>
          <p:cNvSpPr txBox="1"/>
          <p:nvPr/>
        </p:nvSpPr>
        <p:spPr>
          <a:xfrm>
            <a:off x="4617720" y="1874520"/>
            <a:ext cx="3200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x₂</a:t>
            </a:r>
            <a:endParaRPr lang="en-US" sz="1200" dirty="0"/>
          </a:p>
        </p:txBody>
      </p:sp>
      <p:sp>
        <p:nvSpPr>
          <p:cNvPr id="14" name="Shape 9"/>
          <p:cNvSpPr/>
          <p:nvPr/>
        </p:nvSpPr>
        <p:spPr>
          <a:xfrm>
            <a:off x="5166360" y="3977640"/>
            <a:ext cx="365760" cy="365760"/>
          </a:xfrm>
          <a:prstGeom prst="ellipse">
            <a:avLst/>
          </a:prstGeom>
          <a:solidFill>
            <a:schemeClr val="bg1"/>
          </a:solidFill>
          <a:ln w="25400">
            <a:solidFill>
              <a:srgbClr val="3A4651"/>
            </a:solidFill>
            <a:prstDash val="solid"/>
          </a:ln>
        </p:spPr>
      </p:sp>
      <p:sp>
        <p:nvSpPr>
          <p:cNvPr id="15" name="Text 10"/>
          <p:cNvSpPr txBox="1"/>
          <p:nvPr/>
        </p:nvSpPr>
        <p:spPr>
          <a:xfrm>
            <a:off x="4983480" y="436168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(0,0)</a:t>
            </a:r>
            <a:endParaRPr lang="en-US" sz="1000" dirty="0"/>
          </a:p>
        </p:txBody>
      </p:sp>
      <p:sp>
        <p:nvSpPr>
          <p:cNvPr id="16" name="Shape 11"/>
          <p:cNvSpPr/>
          <p:nvPr/>
        </p:nvSpPr>
        <p:spPr>
          <a:xfrm>
            <a:off x="5166360" y="2240280"/>
            <a:ext cx="365760" cy="365760"/>
          </a:xfrm>
          <a:prstGeom prst="ellipse">
            <a:avLst/>
          </a:prstGeom>
          <a:solidFill>
            <a:schemeClr val="accent1"/>
          </a:solidFill>
          <a:ln w="25400">
            <a:solidFill>
              <a:srgbClr val="E09F3E"/>
            </a:solidFill>
            <a:prstDash val="solid"/>
          </a:ln>
        </p:spPr>
      </p:sp>
      <p:sp>
        <p:nvSpPr>
          <p:cNvPr id="17" name="Text 12"/>
          <p:cNvSpPr txBox="1"/>
          <p:nvPr/>
        </p:nvSpPr>
        <p:spPr>
          <a:xfrm>
            <a:off x="4983480" y="26243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(0,1)</a:t>
            </a:r>
            <a:endParaRPr lang="en-US" sz="1000" dirty="0"/>
          </a:p>
        </p:txBody>
      </p:sp>
      <p:sp>
        <p:nvSpPr>
          <p:cNvPr id="18" name="Shape 13"/>
          <p:cNvSpPr/>
          <p:nvPr/>
        </p:nvSpPr>
        <p:spPr>
          <a:xfrm>
            <a:off x="6903720" y="3977640"/>
            <a:ext cx="365760" cy="365760"/>
          </a:xfrm>
          <a:prstGeom prst="ellipse">
            <a:avLst/>
          </a:prstGeom>
          <a:solidFill>
            <a:schemeClr val="accent1"/>
          </a:solidFill>
          <a:ln w="25400">
            <a:solidFill>
              <a:srgbClr val="E09F3E"/>
            </a:solidFill>
            <a:prstDash val="solid"/>
          </a:ln>
        </p:spPr>
      </p:sp>
      <p:sp>
        <p:nvSpPr>
          <p:cNvPr id="19" name="Text 14"/>
          <p:cNvSpPr txBox="1"/>
          <p:nvPr/>
        </p:nvSpPr>
        <p:spPr>
          <a:xfrm>
            <a:off x="6720840" y="436168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(1,0)</a:t>
            </a:r>
            <a:endParaRPr lang="en-US" sz="1000" dirty="0"/>
          </a:p>
        </p:txBody>
      </p:sp>
      <p:sp>
        <p:nvSpPr>
          <p:cNvPr id="20" name="Shape 15"/>
          <p:cNvSpPr/>
          <p:nvPr/>
        </p:nvSpPr>
        <p:spPr>
          <a:xfrm>
            <a:off x="6903720" y="2240280"/>
            <a:ext cx="365760" cy="365760"/>
          </a:xfrm>
          <a:prstGeom prst="ellipse">
            <a:avLst/>
          </a:prstGeom>
          <a:solidFill>
            <a:schemeClr val="bg1"/>
          </a:solidFill>
          <a:ln w="25400">
            <a:solidFill>
              <a:srgbClr val="3A4651"/>
            </a:solidFill>
            <a:prstDash val="solid"/>
          </a:ln>
        </p:spPr>
      </p:sp>
      <p:sp>
        <p:nvSpPr>
          <p:cNvPr id="21" name="Text 16"/>
          <p:cNvSpPr txBox="1"/>
          <p:nvPr/>
        </p:nvSpPr>
        <p:spPr>
          <a:xfrm>
            <a:off x="6720840" y="2624328"/>
            <a:ext cx="73152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(1,1)</a:t>
            </a:r>
            <a:endParaRPr lang="en-US" sz="1000" dirty="0"/>
          </a:p>
        </p:txBody>
      </p:sp>
      <p:sp>
        <p:nvSpPr>
          <p:cNvPr id="22" name="Shape 17"/>
          <p:cNvSpPr/>
          <p:nvPr/>
        </p:nvSpPr>
        <p:spPr>
          <a:xfrm>
            <a:off x="5074920" y="3017520"/>
            <a:ext cx="2286000" cy="1280160"/>
          </a:xfrm>
          <a:prstGeom prst="line">
            <a:avLst/>
          </a:prstGeom>
          <a:noFill/>
          <a:ln w="19050">
            <a:solidFill>
              <a:srgbClr val="9E2A2B"/>
            </a:solidFill>
            <a:prstDash val="solid"/>
          </a:ln>
        </p:spPr>
      </p:sp>
      <p:sp>
        <p:nvSpPr>
          <p:cNvPr id="23" name="Text 18"/>
          <p:cNvSpPr txBox="1"/>
          <p:nvPr/>
        </p:nvSpPr>
        <p:spPr>
          <a:xfrm>
            <a:off x="4617720" y="4846320"/>
            <a:ext cx="310896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  output 1     ○  output 0</a:t>
            </a:r>
            <a:endParaRPr lang="en-US" sz="1100" dirty="0"/>
          </a:p>
        </p:txBody>
      </p:sp>
      <p:sp>
        <p:nvSpPr>
          <p:cNvPr id="24" name="Shape 19"/>
          <p:cNvSpPr/>
          <p:nvPr/>
        </p:nvSpPr>
        <p:spPr>
          <a:xfrm>
            <a:off x="8183880" y="1371600"/>
            <a:ext cx="320040" cy="320040"/>
          </a:xfrm>
          <a:prstGeom prst="ellipse">
            <a:avLst/>
          </a:prstGeom>
          <a:solidFill>
            <a:schemeClr val="accent3"/>
          </a:solidFill>
          <a:ln/>
        </p:spPr>
      </p:sp>
      <p:sp>
        <p:nvSpPr>
          <p:cNvPr id="25" name="Text 20"/>
          <p:cNvSpPr txBox="1"/>
          <p:nvPr/>
        </p:nvSpPr>
        <p:spPr>
          <a:xfrm>
            <a:off x="8183880" y="1371600"/>
            <a:ext cx="320040" cy="3200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t>
            </a:r>
            <a:endParaRPr lang="en-US" sz="1200" dirty="0"/>
          </a:p>
        </p:txBody>
      </p:sp>
      <p:sp>
        <p:nvSpPr>
          <p:cNvPr id="26" name="Text 21"/>
          <p:cNvSpPr txBox="1"/>
          <p:nvPr/>
        </p:nvSpPr>
        <p:spPr>
          <a:xfrm>
            <a:off x="8641080" y="1325880"/>
            <a:ext cx="2999232"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XOR and parity</a:t>
            </a:r>
            <a:endParaRPr lang="en-US" sz="1400" dirty="0"/>
          </a:p>
        </p:txBody>
      </p:sp>
      <p:sp>
        <p:nvSpPr>
          <p:cNvPr id="27" name="Text 22"/>
          <p:cNvSpPr txBox="1"/>
          <p:nvPr/>
        </p:nvSpPr>
        <p:spPr>
          <a:xfrm>
            <a:off x="8641080" y="1755648"/>
            <a:ext cx="2999232" cy="7772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No straight line separates the classes.</a:t>
            </a:r>
            <a:endParaRPr lang="en-US" sz="1250" dirty="0"/>
          </a:p>
        </p:txBody>
      </p:sp>
      <p:sp>
        <p:nvSpPr>
          <p:cNvPr id="28" name="Shape 23"/>
          <p:cNvSpPr/>
          <p:nvPr/>
        </p:nvSpPr>
        <p:spPr>
          <a:xfrm>
            <a:off x="8183880" y="2697480"/>
            <a:ext cx="320040" cy="320040"/>
          </a:xfrm>
          <a:prstGeom prst="ellipse">
            <a:avLst/>
          </a:prstGeom>
          <a:solidFill>
            <a:schemeClr val="accent3"/>
          </a:solidFill>
          <a:ln/>
        </p:spPr>
      </p:sp>
      <p:sp>
        <p:nvSpPr>
          <p:cNvPr id="29" name="Text 24"/>
          <p:cNvSpPr txBox="1"/>
          <p:nvPr/>
        </p:nvSpPr>
        <p:spPr>
          <a:xfrm>
            <a:off x="8183880" y="2697480"/>
            <a:ext cx="320040" cy="3200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t>
            </a:r>
            <a:endParaRPr lang="en-US" sz="1200" dirty="0"/>
          </a:p>
        </p:txBody>
      </p:sp>
      <p:sp>
        <p:nvSpPr>
          <p:cNvPr id="30" name="Text 25"/>
          <p:cNvSpPr txBox="1"/>
          <p:nvPr/>
        </p:nvSpPr>
        <p:spPr>
          <a:xfrm>
            <a:off x="8641080" y="2651760"/>
            <a:ext cx="2999232"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Connectedness</a:t>
            </a:r>
            <a:endParaRPr lang="en-US" sz="1400" dirty="0"/>
          </a:p>
        </p:txBody>
      </p:sp>
      <p:sp>
        <p:nvSpPr>
          <p:cNvPr id="31" name="Text 26"/>
          <p:cNvSpPr txBox="1"/>
          <p:nvPr/>
        </p:nvSpPr>
        <p:spPr>
          <a:xfrm>
            <a:off x="8641080" y="3081528"/>
            <a:ext cx="2999232" cy="7772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Units that see only local patches cannot tell if a shape is connected.</a:t>
            </a:r>
            <a:endParaRPr lang="en-US" sz="1250" dirty="0"/>
          </a:p>
        </p:txBody>
      </p:sp>
      <p:sp>
        <p:nvSpPr>
          <p:cNvPr id="32" name="Shape 27"/>
          <p:cNvSpPr/>
          <p:nvPr/>
        </p:nvSpPr>
        <p:spPr>
          <a:xfrm>
            <a:off x="8183880" y="4023360"/>
            <a:ext cx="320040" cy="320040"/>
          </a:xfrm>
          <a:prstGeom prst="ellipse">
            <a:avLst/>
          </a:prstGeom>
          <a:solidFill>
            <a:schemeClr val="accent3"/>
          </a:solidFill>
          <a:ln/>
        </p:spPr>
      </p:sp>
      <p:sp>
        <p:nvSpPr>
          <p:cNvPr id="33" name="Text 28"/>
          <p:cNvSpPr txBox="1"/>
          <p:nvPr/>
        </p:nvSpPr>
        <p:spPr>
          <a:xfrm>
            <a:off x="8183880" y="4023360"/>
            <a:ext cx="320040" cy="3200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t>
            </a:r>
            <a:endParaRPr lang="en-US" sz="1200" dirty="0"/>
          </a:p>
        </p:txBody>
      </p:sp>
      <p:sp>
        <p:nvSpPr>
          <p:cNvPr id="34" name="Text 29"/>
          <p:cNvSpPr txBox="1"/>
          <p:nvPr/>
        </p:nvSpPr>
        <p:spPr>
          <a:xfrm>
            <a:off x="8641080" y="3977640"/>
            <a:ext cx="2999232"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Hidden layers untrainable</a:t>
            </a:r>
            <a:endParaRPr lang="en-US" sz="1400" dirty="0"/>
          </a:p>
        </p:txBody>
      </p:sp>
      <p:sp>
        <p:nvSpPr>
          <p:cNvPr id="35" name="Text 30"/>
          <p:cNvSpPr txBox="1"/>
          <p:nvPr/>
        </p:nvSpPr>
        <p:spPr>
          <a:xfrm>
            <a:off x="8641080" y="4407408"/>
            <a:ext cx="2999232" cy="7772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Multi-layer nets could solve these, but nobody knew how to train them.</a:t>
            </a:r>
            <a:endParaRPr lang="en-US" sz="1250" dirty="0"/>
          </a:p>
        </p:txBody>
      </p:sp>
      <p:sp>
        <p:nvSpPr>
          <p:cNvPr id="36" name="Shape 31"/>
          <p:cNvSpPr/>
          <p:nvPr/>
        </p:nvSpPr>
        <p:spPr>
          <a:xfrm>
            <a:off x="548640" y="5486400"/>
            <a:ext cx="11091672" cy="685800"/>
          </a:xfrm>
          <a:prstGeom prst="rect">
            <a:avLst/>
          </a:prstGeom>
          <a:solidFill>
            <a:schemeClr val="tx1"/>
          </a:solidFill>
          <a:ln/>
        </p:spPr>
      </p:sp>
      <p:sp>
        <p:nvSpPr>
          <p:cNvPr id="37" name="Text 32"/>
          <p:cNvSpPr txBox="1"/>
          <p:nvPr/>
        </p:nvSpPr>
        <p:spPr>
          <a:xfrm>
            <a:off x="777240" y="5486400"/>
            <a:ext cx="10634472" cy="6858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Effect:  </a:t>
            </a:r>
            <a:pPr indent="0" marL="0">
              <a:buNone/>
            </a:pPr>
            <a:r>
              <a:rPr lang="en-US" sz="1400" dirty="0">
                <a:solidFill>
                  <a:schemeClr val="bg1"/>
                </a:solidFill>
                <a:latin typeface="Calibri" pitchFamily="34" charset="0"/>
                <a:ea typeface="Calibri" pitchFamily="34" charset="-122"/>
                <a:cs typeface="Calibri" pitchFamily="34" charset="-120"/>
              </a:rPr>
              <a:t>read as "neural networks are a dead end". Funding and talent moved to symbolic, rule-based AI.</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1828800"/>
            <a:ext cx="10698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PART 3 · WINTERS AND REVIVAL</a:t>
            </a:r>
            <a:endParaRPr lang="en-US" sz="1400" dirty="0"/>
          </a:p>
        </p:txBody>
      </p:sp>
      <p:sp>
        <p:nvSpPr>
          <p:cNvPr id="3"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000" dirty="0">
                <a:solidFill>
                  <a:schemeClr val="bg1"/>
                </a:solidFill>
                <a:latin typeface="Cambria" pitchFamily="34" charset="0"/>
                <a:ea typeface="Cambria" pitchFamily="34" charset="-122"/>
                <a:cs typeface="Cambria" pitchFamily="34" charset="-120"/>
              </a:rPr>
              <a:t>1970 to 2006: two winters, one breakthrough</a:t>
            </a:r>
            <a:endParaRPr lang="en-US" sz="4000" dirty="0"/>
          </a:p>
        </p:txBody>
      </p:sp>
      <p:sp>
        <p:nvSpPr>
          <p:cNvPr id="4"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Backpropagation, convolutional networks and LSTMs grew while funding was scarce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1974 to 1980: the first AI winter</a:t>
            </a:r>
            <a:endParaRPr lang="en-US" sz="3200" dirty="0"/>
          </a:p>
        </p:txBody>
      </p:sp>
      <p:sp>
        <p:nvSpPr>
          <p:cNvPr id="4" name="Shape 1"/>
          <p:cNvSpPr/>
          <p:nvPr/>
        </p:nvSpPr>
        <p:spPr>
          <a:xfrm>
            <a:off x="548640" y="1325880"/>
            <a:ext cx="3291840" cy="3886200"/>
          </a:xfrm>
          <a:prstGeom prst="rect">
            <a:avLst/>
          </a:prstGeom>
          <a:solidFill>
            <a:schemeClr val="tx1"/>
          </a:solidFill>
          <a:ln/>
        </p:spPr>
      </p:sp>
      <p:sp>
        <p:nvSpPr>
          <p:cNvPr id="5" name="Shape 2"/>
          <p:cNvSpPr/>
          <p:nvPr/>
        </p:nvSpPr>
        <p:spPr>
          <a:xfrm>
            <a:off x="1691640" y="1600200"/>
            <a:ext cx="1005840" cy="1005840"/>
          </a:xfrm>
          <a:prstGeom prst="ellipse">
            <a:avLst/>
          </a:prstGeom>
          <a:solidFill>
            <a:schemeClr val="accent2"/>
          </a:solidFill>
          <a:ln/>
        </p:spPr>
      </p:sp>
      <p:pic>
        <p:nvPicPr>
          <p:cNvPr id="6" name="Image 0" descr="Snowflake icon">    </p:cNvPr>
          <p:cNvPicPr>
            <a:picLocks noChangeAspect="1"/>
          </p:cNvPicPr>
          <p:nvPr/>
        </p:nvPicPr>
        <p:blipFill>
          <a:blip r:embed="rId1"/>
          <a:stretch>
            <a:fillRect/>
          </a:stretch>
        </p:blipFill>
        <p:spPr>
          <a:xfrm>
            <a:off x="1943100" y="1851660"/>
            <a:ext cx="502920" cy="502920"/>
          </a:xfrm>
          <a:prstGeom prst="rect">
            <a:avLst/>
          </a:prstGeom>
        </p:spPr>
      </p:pic>
      <p:sp>
        <p:nvSpPr>
          <p:cNvPr id="7" name="Text 3"/>
          <p:cNvSpPr txBox="1"/>
          <p:nvPr/>
        </p:nvSpPr>
        <p:spPr>
          <a:xfrm>
            <a:off x="548640" y="2743200"/>
            <a:ext cx="3291840" cy="640080"/>
          </a:xfrm>
          <a:prstGeom prst="rect">
            <a:avLst/>
          </a:prstGeom>
          <a:noFill/>
          <a:ln/>
        </p:spPr>
        <p:txBody>
          <a:bodyPr wrap="square" lIns="0" tIns="0" rIns="0" bIns="0" rtlCol="0" anchor="t"/>
          <a:lstStyle/>
          <a:p>
            <a:pPr algn="ctr" indent="0" marL="0">
              <a:buNone/>
            </a:pPr>
            <a:r>
              <a:rPr lang="en-US" sz="3400" dirty="0">
                <a:solidFill>
                  <a:schemeClr val="accent1"/>
                </a:solidFill>
                <a:latin typeface="Cambria" pitchFamily="34" charset="0"/>
                <a:ea typeface="Cambria" pitchFamily="34" charset="-122"/>
                <a:cs typeface="Cambria" pitchFamily="34" charset="-120"/>
              </a:rPr>
              <a:t>≈ 6 years</a:t>
            </a:r>
            <a:endParaRPr lang="en-US" sz="3400" dirty="0"/>
          </a:p>
        </p:txBody>
      </p:sp>
      <p:sp>
        <p:nvSpPr>
          <p:cNvPr id="8" name="Text 4"/>
          <p:cNvSpPr txBox="1"/>
          <p:nvPr/>
        </p:nvSpPr>
        <p:spPr>
          <a:xfrm>
            <a:off x="777240" y="3474720"/>
            <a:ext cx="2834640" cy="9144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of sharply reduced neural network and AI funding, roughly 1974 to 1980</a:t>
            </a:r>
            <a:endParaRPr lang="en-US" sz="1300" dirty="0"/>
          </a:p>
        </p:txBody>
      </p:sp>
      <p:sp>
        <p:nvSpPr>
          <p:cNvPr id="9" name="Text 5"/>
          <p:cNvSpPr txBox="1"/>
          <p:nvPr/>
        </p:nvSpPr>
        <p:spPr>
          <a:xfrm>
            <a:off x="4114800" y="1325880"/>
            <a:ext cx="329184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book</a:t>
            </a:r>
            <a:endParaRPr lang="en-US" sz="1400" dirty="0"/>
          </a:p>
        </p:txBody>
      </p:sp>
      <p:sp>
        <p:nvSpPr>
          <p:cNvPr id="10" name="Text 6"/>
          <p:cNvSpPr txBox="1"/>
          <p:nvPr/>
        </p:nvSpPr>
        <p:spPr>
          <a:xfrm>
            <a:off x="4114800" y="1627632"/>
            <a:ext cx="329184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Perceptrons (1969) was read as a verdict on all neural networks.</a:t>
            </a:r>
            <a:endParaRPr lang="en-US" sz="1200" dirty="0"/>
          </a:p>
        </p:txBody>
      </p:sp>
      <p:sp>
        <p:nvSpPr>
          <p:cNvPr id="11" name="Text 7"/>
          <p:cNvSpPr txBox="1"/>
          <p:nvPr/>
        </p:nvSpPr>
        <p:spPr>
          <a:xfrm>
            <a:off x="4114800" y="2304288"/>
            <a:ext cx="329184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reports</a:t>
            </a:r>
            <a:endParaRPr lang="en-US" sz="1400" dirty="0"/>
          </a:p>
        </p:txBody>
      </p:sp>
      <p:sp>
        <p:nvSpPr>
          <p:cNvPr id="12" name="Text 8"/>
          <p:cNvSpPr txBox="1"/>
          <p:nvPr/>
        </p:nvSpPr>
        <p:spPr>
          <a:xfrm>
            <a:off x="4114800" y="2606040"/>
            <a:ext cx="329184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UK Lighthill Report (1973) criticised AI's unmet promises; most UK AI funding was cut.</a:t>
            </a:r>
            <a:endParaRPr lang="en-US" sz="1200" dirty="0"/>
          </a:p>
        </p:txBody>
      </p:sp>
      <p:sp>
        <p:nvSpPr>
          <p:cNvPr id="13" name="Text 9"/>
          <p:cNvSpPr txBox="1"/>
          <p:nvPr/>
        </p:nvSpPr>
        <p:spPr>
          <a:xfrm>
            <a:off x="4114800" y="3282696"/>
            <a:ext cx="329184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money</a:t>
            </a:r>
            <a:endParaRPr lang="en-US" sz="1400" dirty="0"/>
          </a:p>
        </p:txBody>
      </p:sp>
      <p:sp>
        <p:nvSpPr>
          <p:cNvPr id="14" name="Text 10"/>
          <p:cNvSpPr txBox="1"/>
          <p:nvPr/>
        </p:nvSpPr>
        <p:spPr>
          <a:xfrm>
            <a:off x="4114800" y="3584448"/>
            <a:ext cx="329184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US Mansfield Amendment and DARPA cuts (≈1974) ended open-ended AI grants.</a:t>
            </a:r>
            <a:endParaRPr lang="en-US" sz="1200" dirty="0"/>
          </a:p>
        </p:txBody>
      </p:sp>
      <p:sp>
        <p:nvSpPr>
          <p:cNvPr id="15" name="Text 11"/>
          <p:cNvSpPr txBox="1"/>
          <p:nvPr/>
        </p:nvSpPr>
        <p:spPr>
          <a:xfrm>
            <a:off x="4114800" y="4261104"/>
            <a:ext cx="3291840" cy="292608"/>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The people</a:t>
            </a:r>
            <a:endParaRPr lang="en-US" sz="1400" dirty="0"/>
          </a:p>
        </p:txBody>
      </p:sp>
      <p:sp>
        <p:nvSpPr>
          <p:cNvPr id="16" name="Text 12"/>
          <p:cNvSpPr txBox="1"/>
          <p:nvPr/>
        </p:nvSpPr>
        <p:spPr>
          <a:xfrm>
            <a:off x="4114800" y="4562856"/>
            <a:ext cx="329184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Rosenblatt died in 1971. Network research survived in a handful of labs.</a:t>
            </a:r>
            <a:endParaRPr lang="en-US" sz="1200" dirty="0"/>
          </a:p>
        </p:txBody>
      </p:sp>
      <p:sp>
        <p:nvSpPr>
          <p:cNvPr id="17" name="Shape 13"/>
          <p:cNvSpPr/>
          <p:nvPr/>
        </p:nvSpPr>
        <p:spPr>
          <a:xfrm>
            <a:off x="7680960" y="1325880"/>
            <a:ext cx="3959352" cy="3886200"/>
          </a:xfrm>
          <a:prstGeom prst="rect">
            <a:avLst/>
          </a:prstGeom>
          <a:solidFill>
            <a:schemeClr val="bg2"/>
          </a:solidFill>
          <a:ln/>
        </p:spPr>
      </p:sp>
      <p:sp>
        <p:nvSpPr>
          <p:cNvPr id="18" name="Text 14"/>
          <p:cNvSpPr txBox="1"/>
          <p:nvPr/>
        </p:nvSpPr>
        <p:spPr>
          <a:xfrm>
            <a:off x="7909560" y="1463040"/>
            <a:ext cx="3566160"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Seeds planted in the cold</a:t>
            </a:r>
            <a:endParaRPr lang="en-US" sz="1500" dirty="0"/>
          </a:p>
        </p:txBody>
      </p:sp>
      <p:pic>
        <p:nvPicPr>
          <p:cNvPr id="19" name="Image 1" descr="Portrait of Paul Werbos">    </p:cNvPr>
          <p:cNvPicPr>
            <a:picLocks noChangeAspect="1"/>
          </p:cNvPicPr>
          <p:nvPr/>
        </p:nvPicPr>
        <p:blipFill>
          <a:blip r:embed="rId2"/>
          <a:stretch>
            <a:fillRect/>
          </a:stretch>
        </p:blipFill>
        <p:spPr>
          <a:xfrm>
            <a:off x="7909560" y="1874520"/>
            <a:ext cx="1188720" cy="1508760"/>
          </a:xfrm>
          <a:prstGeom prst="rect">
            <a:avLst/>
          </a:prstGeom>
        </p:spPr>
      </p:pic>
      <p:sp>
        <p:nvSpPr>
          <p:cNvPr id="20" name="Text 15"/>
          <p:cNvSpPr txBox="1"/>
          <p:nvPr/>
        </p:nvSpPr>
        <p:spPr>
          <a:xfrm>
            <a:off x="9235440" y="1874520"/>
            <a:ext cx="2286000" cy="1508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1970  </a:t>
            </a:r>
            <a:pPr indent="0" marL="0">
              <a:buNone/>
            </a:pPr>
            <a:r>
              <a:rPr lang="en-US" sz="1200" dirty="0">
                <a:solidFill>
                  <a:schemeClr val="tx2"/>
                </a:solidFill>
                <a:latin typeface="Calibri" pitchFamily="34" charset="0"/>
                <a:ea typeface="Calibri" pitchFamily="34" charset="-122"/>
                <a:cs typeface="Calibri" pitchFamily="34" charset="-120"/>
              </a:rPr>
              <a:t>Seppo Linnainmaa: reverse-mode automatic differentiation, the maths of backprop.</a:t>
            </a:r>
            <a:endParaRPr lang="en-US" sz="1200" dirty="0"/>
          </a:p>
        </p:txBody>
      </p:sp>
      <p:sp>
        <p:nvSpPr>
          <p:cNvPr id="21" name="Text 16"/>
          <p:cNvSpPr txBox="1"/>
          <p:nvPr/>
        </p:nvSpPr>
        <p:spPr>
          <a:xfrm>
            <a:off x="7909560" y="3566160"/>
            <a:ext cx="3566160" cy="9144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1974  </a:t>
            </a:r>
            <a:pPr indent="0" marL="0">
              <a:buNone/>
            </a:pPr>
            <a:r>
              <a:rPr lang="en-US" sz="1200" dirty="0">
                <a:solidFill>
                  <a:schemeClr val="tx2"/>
                </a:solidFill>
                <a:latin typeface="Calibri" pitchFamily="34" charset="0"/>
                <a:ea typeface="Calibri" pitchFamily="34" charset="-122"/>
                <a:cs typeface="Calibri" pitchFamily="34" charset="-120"/>
              </a:rPr>
              <a:t>Paul Werbos's Harvard PhD thesis: use it to train multi-layer networks. Almost nobody noticed for a decade.</a:t>
            </a:r>
            <a:endParaRPr lang="en-US" sz="1200" dirty="0"/>
          </a:p>
        </p:txBody>
      </p:sp>
      <p:sp>
        <p:nvSpPr>
          <p:cNvPr id="22" name="Text 17"/>
          <p:cNvSpPr txBox="1"/>
          <p:nvPr/>
        </p:nvSpPr>
        <p:spPr>
          <a:xfrm>
            <a:off x="7909560" y="4663440"/>
            <a:ext cx="35661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Paul Werbos, 1991. Photo: Rolf Kickuth, CC BY-SA 4.0</a:t>
            </a:r>
            <a:endParaRPr lang="en-US" sz="1000" dirty="0"/>
          </a:p>
        </p:txBody>
      </p:sp>
      <p:sp>
        <p:nvSpPr>
          <p:cNvPr id="23" name="Shape 18"/>
          <p:cNvSpPr/>
          <p:nvPr/>
        </p:nvSpPr>
        <p:spPr>
          <a:xfrm>
            <a:off x="548640" y="5440680"/>
            <a:ext cx="11091672" cy="685800"/>
          </a:xfrm>
          <a:prstGeom prst="rect">
            <a:avLst/>
          </a:prstGeom>
          <a:solidFill>
            <a:schemeClr val="accent1"/>
          </a:solidFill>
          <a:ln/>
        </p:spPr>
      </p:sp>
      <p:sp>
        <p:nvSpPr>
          <p:cNvPr id="24" name="Text 19"/>
          <p:cNvSpPr txBox="1"/>
          <p:nvPr/>
        </p:nvSpPr>
        <p:spPr>
          <a:xfrm>
            <a:off x="777240" y="5440680"/>
            <a:ext cx="10634472"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The lesson:  </a:t>
            </a:r>
            <a:pPr indent="0" marL="0">
              <a:buNone/>
            </a:pPr>
            <a:r>
              <a:rPr lang="en-US" sz="1400" dirty="0">
                <a:solidFill>
                  <a:schemeClr val="tx1"/>
                </a:solidFill>
                <a:latin typeface="Calibri" pitchFamily="34" charset="0"/>
                <a:ea typeface="Calibri" pitchFamily="34" charset="-122"/>
                <a:cs typeface="Calibri" pitchFamily="34" charset="-120"/>
              </a:rPr>
              <a:t>overpromising plus a real limitation plus a famous proof can freeze a field for years. Compare today's AI claims.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1980 to 1985: new architectures in the quiet years</a:t>
            </a:r>
            <a:endParaRPr lang="en-US" sz="3200" dirty="0"/>
          </a:p>
        </p:txBody>
      </p:sp>
      <p:sp>
        <p:nvSpPr>
          <p:cNvPr id="4" name="Shape 1"/>
          <p:cNvSpPr/>
          <p:nvPr/>
        </p:nvSpPr>
        <p:spPr>
          <a:xfrm>
            <a:off x="548640" y="1325880"/>
            <a:ext cx="3575304" cy="3931920"/>
          </a:xfrm>
          <a:prstGeom prst="rect">
            <a:avLst/>
          </a:prstGeom>
          <a:solidFill>
            <a:schemeClr val="bg2"/>
          </a:solidFill>
          <a:ln/>
        </p:spPr>
      </p:sp>
      <p:sp>
        <p:nvSpPr>
          <p:cNvPr id="5" name="Text 2"/>
          <p:cNvSpPr txBox="1"/>
          <p:nvPr/>
        </p:nvSpPr>
        <p:spPr>
          <a:xfrm>
            <a:off x="822960" y="1508760"/>
            <a:ext cx="1371600" cy="457200"/>
          </a:xfrm>
          <a:prstGeom prst="rect">
            <a:avLst/>
          </a:prstGeom>
          <a:noFill/>
          <a:ln/>
        </p:spPr>
        <p:txBody>
          <a:bodyPr wrap="square" lIns="0" tIns="0" rIns="0" bIns="0" rtlCol="0" anchor="t"/>
          <a:lstStyle/>
          <a:p>
            <a:pPr indent="0" marL="0">
              <a:buNone/>
            </a:pPr>
            <a:r>
              <a:rPr lang="en-US" sz="2600" dirty="0">
                <a:solidFill>
                  <a:schemeClr val="accent1"/>
                </a:solidFill>
                <a:latin typeface="Cambria" pitchFamily="34" charset="0"/>
                <a:ea typeface="Cambria" pitchFamily="34" charset="-122"/>
                <a:cs typeface="Cambria" pitchFamily="34" charset="-120"/>
              </a:rPr>
              <a:t>1980</a:t>
            </a:r>
            <a:endParaRPr lang="en-US" sz="2600" dirty="0"/>
          </a:p>
        </p:txBody>
      </p:sp>
      <p:sp>
        <p:nvSpPr>
          <p:cNvPr id="6" name="Shape 3"/>
          <p:cNvSpPr/>
          <p:nvPr/>
        </p:nvSpPr>
        <p:spPr>
          <a:xfrm>
            <a:off x="3163824" y="1554480"/>
            <a:ext cx="685800" cy="685800"/>
          </a:xfrm>
          <a:prstGeom prst="ellipse">
            <a:avLst/>
          </a:prstGeom>
          <a:solidFill>
            <a:schemeClr val="accent2"/>
          </a:solidFill>
          <a:ln/>
        </p:spPr>
      </p:sp>
      <p:pic>
        <p:nvPicPr>
          <p:cNvPr id="7" name="Image 0" descr="Eye icon">    </p:cNvPr>
          <p:cNvPicPr>
            <a:picLocks noChangeAspect="1"/>
          </p:cNvPicPr>
          <p:nvPr/>
        </p:nvPicPr>
        <p:blipFill>
          <a:blip r:embed="rId1"/>
          <a:stretch>
            <a:fillRect/>
          </a:stretch>
        </p:blipFill>
        <p:spPr>
          <a:xfrm>
            <a:off x="3335274" y="1725930"/>
            <a:ext cx="342900" cy="342900"/>
          </a:xfrm>
          <a:prstGeom prst="rect">
            <a:avLst/>
          </a:prstGeom>
        </p:spPr>
      </p:pic>
      <p:sp>
        <p:nvSpPr>
          <p:cNvPr id="8" name="Text 4"/>
          <p:cNvSpPr txBox="1"/>
          <p:nvPr/>
        </p:nvSpPr>
        <p:spPr>
          <a:xfrm>
            <a:off x="822960" y="2788920"/>
            <a:ext cx="302666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Kunihiko Fukushima</a:t>
            </a:r>
            <a:endParaRPr lang="en-US" sz="1400" dirty="0"/>
          </a:p>
        </p:txBody>
      </p:sp>
      <p:sp>
        <p:nvSpPr>
          <p:cNvPr id="9" name="Text 5"/>
          <p:cNvSpPr txBox="1"/>
          <p:nvPr/>
        </p:nvSpPr>
        <p:spPr>
          <a:xfrm>
            <a:off x="822960" y="3108960"/>
            <a:ext cx="3026664"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Neocognitron</a:t>
            </a:r>
            <a:endParaRPr lang="en-US" sz="1400" dirty="0"/>
          </a:p>
        </p:txBody>
      </p:sp>
      <p:sp>
        <p:nvSpPr>
          <p:cNvPr id="10" name="Text 6"/>
          <p:cNvSpPr txBox="1"/>
          <p:nvPr/>
        </p:nvSpPr>
        <p:spPr>
          <a:xfrm>
            <a:off x="822960" y="3520440"/>
            <a:ext cx="3026664" cy="12801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Layers of feature detectors with shift tolerance, modelled on the visual cortex. The blueprint for CNNs.</a:t>
            </a:r>
            <a:endParaRPr lang="en-US" sz="1300" dirty="0"/>
          </a:p>
        </p:txBody>
      </p:sp>
      <p:sp>
        <p:nvSpPr>
          <p:cNvPr id="11" name="Shape 7"/>
          <p:cNvSpPr/>
          <p:nvPr/>
        </p:nvSpPr>
        <p:spPr>
          <a:xfrm>
            <a:off x="4306824" y="1325880"/>
            <a:ext cx="3575304" cy="3931920"/>
          </a:xfrm>
          <a:prstGeom prst="rect">
            <a:avLst/>
          </a:prstGeom>
          <a:solidFill>
            <a:schemeClr val="bg2"/>
          </a:solidFill>
          <a:ln/>
        </p:spPr>
      </p:sp>
      <p:sp>
        <p:nvSpPr>
          <p:cNvPr id="12" name="Text 8"/>
          <p:cNvSpPr txBox="1"/>
          <p:nvPr/>
        </p:nvSpPr>
        <p:spPr>
          <a:xfrm>
            <a:off x="4581144" y="1508760"/>
            <a:ext cx="1371600" cy="457200"/>
          </a:xfrm>
          <a:prstGeom prst="rect">
            <a:avLst/>
          </a:prstGeom>
          <a:noFill/>
          <a:ln/>
        </p:spPr>
        <p:txBody>
          <a:bodyPr wrap="square" lIns="0" tIns="0" rIns="0" bIns="0" rtlCol="0" anchor="t"/>
          <a:lstStyle/>
          <a:p>
            <a:pPr indent="0" marL="0">
              <a:buNone/>
            </a:pPr>
            <a:r>
              <a:rPr lang="en-US" sz="2600" dirty="0">
                <a:solidFill>
                  <a:schemeClr val="accent1"/>
                </a:solidFill>
                <a:latin typeface="Cambria" pitchFamily="34" charset="0"/>
                <a:ea typeface="Cambria" pitchFamily="34" charset="-122"/>
                <a:cs typeface="Cambria" pitchFamily="34" charset="-120"/>
              </a:rPr>
              <a:t>1982</a:t>
            </a:r>
            <a:endParaRPr lang="en-US" sz="2600" dirty="0"/>
          </a:p>
        </p:txBody>
      </p:sp>
      <p:pic>
        <p:nvPicPr>
          <p:cNvPr id="13" name="Image 1" descr="Portrait of John Hopfield">    </p:cNvPr>
          <p:cNvPicPr>
            <a:picLocks noChangeAspect="1"/>
          </p:cNvPicPr>
          <p:nvPr/>
        </p:nvPicPr>
        <p:blipFill>
          <a:blip r:embed="rId2"/>
          <a:stretch>
            <a:fillRect/>
          </a:stretch>
        </p:blipFill>
        <p:spPr>
          <a:xfrm>
            <a:off x="6693408" y="1508760"/>
            <a:ext cx="960120" cy="1188720"/>
          </a:xfrm>
          <a:prstGeom prst="rect">
            <a:avLst/>
          </a:prstGeom>
        </p:spPr>
      </p:pic>
      <p:sp>
        <p:nvSpPr>
          <p:cNvPr id="14" name="Text 9"/>
          <p:cNvSpPr txBox="1"/>
          <p:nvPr/>
        </p:nvSpPr>
        <p:spPr>
          <a:xfrm>
            <a:off x="4581144" y="2788920"/>
            <a:ext cx="302666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John Hopfield</a:t>
            </a:r>
            <a:endParaRPr lang="en-US" sz="1400" dirty="0"/>
          </a:p>
        </p:txBody>
      </p:sp>
      <p:sp>
        <p:nvSpPr>
          <p:cNvPr id="15" name="Text 10"/>
          <p:cNvSpPr txBox="1"/>
          <p:nvPr/>
        </p:nvSpPr>
        <p:spPr>
          <a:xfrm>
            <a:off x="4581144" y="3108960"/>
            <a:ext cx="3026664"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Hopfield network</a:t>
            </a:r>
            <a:endParaRPr lang="en-US" sz="1400" dirty="0"/>
          </a:p>
        </p:txBody>
      </p:sp>
      <p:sp>
        <p:nvSpPr>
          <p:cNvPr id="16" name="Text 11"/>
          <p:cNvSpPr txBox="1"/>
          <p:nvPr/>
        </p:nvSpPr>
        <p:spPr>
          <a:xfrm>
            <a:off x="4581144" y="3520440"/>
            <a:ext cx="3026664" cy="12801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Memories stored as low-energy states of a recurrent network. Brought physicists and new maths into the field.</a:t>
            </a:r>
            <a:endParaRPr lang="en-US" sz="1300" dirty="0"/>
          </a:p>
        </p:txBody>
      </p:sp>
      <p:sp>
        <p:nvSpPr>
          <p:cNvPr id="17" name="Text 12"/>
          <p:cNvSpPr txBox="1"/>
          <p:nvPr/>
        </p:nvSpPr>
        <p:spPr>
          <a:xfrm>
            <a:off x="4581144" y="4892040"/>
            <a:ext cx="3026664"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Photo: Jay Dixit, CC BY-SA 4.0</a:t>
            </a:r>
            <a:endParaRPr lang="en-US" sz="1000" dirty="0"/>
          </a:p>
        </p:txBody>
      </p:sp>
      <p:sp>
        <p:nvSpPr>
          <p:cNvPr id="18" name="Shape 13"/>
          <p:cNvSpPr/>
          <p:nvPr/>
        </p:nvSpPr>
        <p:spPr>
          <a:xfrm>
            <a:off x="8065008" y="1325880"/>
            <a:ext cx="3575304" cy="3931920"/>
          </a:xfrm>
          <a:prstGeom prst="rect">
            <a:avLst/>
          </a:prstGeom>
          <a:solidFill>
            <a:schemeClr val="bg2"/>
          </a:solidFill>
          <a:ln/>
        </p:spPr>
      </p:sp>
      <p:sp>
        <p:nvSpPr>
          <p:cNvPr id="19" name="Text 14"/>
          <p:cNvSpPr txBox="1"/>
          <p:nvPr/>
        </p:nvSpPr>
        <p:spPr>
          <a:xfrm>
            <a:off x="8339328" y="1508760"/>
            <a:ext cx="1371600" cy="457200"/>
          </a:xfrm>
          <a:prstGeom prst="rect">
            <a:avLst/>
          </a:prstGeom>
          <a:noFill/>
          <a:ln/>
        </p:spPr>
        <p:txBody>
          <a:bodyPr wrap="square" lIns="0" tIns="0" rIns="0" bIns="0" rtlCol="0" anchor="t"/>
          <a:lstStyle/>
          <a:p>
            <a:pPr indent="0" marL="0">
              <a:buNone/>
            </a:pPr>
            <a:r>
              <a:rPr lang="en-US" sz="2600" dirty="0">
                <a:solidFill>
                  <a:schemeClr val="accent1"/>
                </a:solidFill>
                <a:latin typeface="Cambria" pitchFamily="34" charset="0"/>
                <a:ea typeface="Cambria" pitchFamily="34" charset="-122"/>
                <a:cs typeface="Cambria" pitchFamily="34" charset="-120"/>
              </a:rPr>
              <a:t>1985</a:t>
            </a:r>
            <a:endParaRPr lang="en-US" sz="2600" dirty="0"/>
          </a:p>
        </p:txBody>
      </p:sp>
      <p:sp>
        <p:nvSpPr>
          <p:cNvPr id="20" name="Shape 15"/>
          <p:cNvSpPr/>
          <p:nvPr/>
        </p:nvSpPr>
        <p:spPr>
          <a:xfrm>
            <a:off x="10680192" y="1554480"/>
            <a:ext cx="685800" cy="685800"/>
          </a:xfrm>
          <a:prstGeom prst="ellipse">
            <a:avLst/>
          </a:prstGeom>
          <a:solidFill>
            <a:schemeClr val="accent2"/>
          </a:solidFill>
          <a:ln/>
        </p:spPr>
      </p:sp>
      <p:pic>
        <p:nvPicPr>
          <p:cNvPr id="21" name="Image 2" descr="Dice icon">    </p:cNvPr>
          <p:cNvPicPr>
            <a:picLocks noChangeAspect="1"/>
          </p:cNvPicPr>
          <p:nvPr/>
        </p:nvPicPr>
        <p:blipFill>
          <a:blip r:embed="rId3"/>
          <a:stretch>
            <a:fillRect/>
          </a:stretch>
        </p:blipFill>
        <p:spPr>
          <a:xfrm>
            <a:off x="10851642" y="1725930"/>
            <a:ext cx="342900" cy="342900"/>
          </a:xfrm>
          <a:prstGeom prst="rect">
            <a:avLst/>
          </a:prstGeom>
        </p:spPr>
      </p:pic>
      <p:sp>
        <p:nvSpPr>
          <p:cNvPr id="22" name="Text 16"/>
          <p:cNvSpPr txBox="1"/>
          <p:nvPr/>
        </p:nvSpPr>
        <p:spPr>
          <a:xfrm>
            <a:off x="8339328" y="2788920"/>
            <a:ext cx="302666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Ackley, Hinton &amp; Sejnowski</a:t>
            </a:r>
            <a:endParaRPr lang="en-US" sz="1400" dirty="0"/>
          </a:p>
        </p:txBody>
      </p:sp>
      <p:sp>
        <p:nvSpPr>
          <p:cNvPr id="23" name="Text 17"/>
          <p:cNvSpPr txBox="1"/>
          <p:nvPr/>
        </p:nvSpPr>
        <p:spPr>
          <a:xfrm>
            <a:off x="8339328" y="3108960"/>
            <a:ext cx="3026664"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Boltzmann machine</a:t>
            </a:r>
            <a:endParaRPr lang="en-US" sz="1400" dirty="0"/>
          </a:p>
        </p:txBody>
      </p:sp>
      <p:sp>
        <p:nvSpPr>
          <p:cNvPr id="24" name="Text 18"/>
          <p:cNvSpPr txBox="1"/>
          <p:nvPr/>
        </p:nvSpPr>
        <p:spPr>
          <a:xfrm>
            <a:off x="8339328" y="3520440"/>
            <a:ext cx="3026664" cy="12801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Stochastic units and a learning rule for hidden units. Its restricted form returns in 2006.</a:t>
            </a:r>
            <a:endParaRPr lang="en-US" sz="1300" dirty="0"/>
          </a:p>
        </p:txBody>
      </p:sp>
      <p:sp>
        <p:nvSpPr>
          <p:cNvPr id="25" name="Shape 19"/>
          <p:cNvSpPr/>
          <p:nvPr/>
        </p:nvSpPr>
        <p:spPr>
          <a:xfrm>
            <a:off x="548640" y="5486400"/>
            <a:ext cx="11091672" cy="685800"/>
          </a:xfrm>
          <a:prstGeom prst="rect">
            <a:avLst/>
          </a:prstGeom>
          <a:solidFill>
            <a:schemeClr val="tx1"/>
          </a:solidFill>
          <a:ln/>
        </p:spPr>
      </p:sp>
      <p:sp>
        <p:nvSpPr>
          <p:cNvPr id="26" name="Text 20"/>
          <p:cNvSpPr txBox="1"/>
          <p:nvPr/>
        </p:nvSpPr>
        <p:spPr>
          <a:xfrm>
            <a:off x="777240" y="5486400"/>
            <a:ext cx="10634472" cy="6858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2024:  </a:t>
            </a:r>
            <a:pPr indent="0" marL="0">
              <a:buNone/>
            </a:pPr>
            <a:r>
              <a:rPr lang="en-US" sz="1400" dirty="0">
                <a:solidFill>
                  <a:schemeClr val="bg1"/>
                </a:solidFill>
                <a:latin typeface="Calibri" pitchFamily="34" charset="0"/>
                <a:ea typeface="Calibri" pitchFamily="34" charset="-122"/>
                <a:cs typeface="Calibri" pitchFamily="34" charset="-120"/>
              </a:rPr>
              <a:t>Hopfield and Hinton received the Nobel Prize in Physics for foundational discoveries that enable machine learning with artificial neural networks.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1986: backpropagation makes hidden layers trainable</a:t>
            </a:r>
            <a:endParaRPr lang="en-US" sz="3200" dirty="0"/>
          </a:p>
        </p:txBody>
      </p:sp>
      <p:pic>
        <p:nvPicPr>
          <p:cNvPr id="4" name="Image 0" descr="Portrait of David Rumelhart">    </p:cNvPr>
          <p:cNvPicPr>
            <a:picLocks noChangeAspect="1"/>
          </p:cNvPicPr>
          <p:nvPr/>
        </p:nvPicPr>
        <p:blipFill>
          <a:blip r:embed="rId1"/>
          <a:stretch>
            <a:fillRect/>
          </a:stretch>
        </p:blipFill>
        <p:spPr>
          <a:xfrm>
            <a:off x="548640" y="1325880"/>
            <a:ext cx="1600200" cy="2011680"/>
          </a:xfrm>
          <a:prstGeom prst="rect">
            <a:avLst/>
          </a:prstGeom>
        </p:spPr>
      </p:pic>
      <p:pic>
        <p:nvPicPr>
          <p:cNvPr id="5" name="Image 1" descr="Portrait of Geoffrey Hinton">    </p:cNvPr>
          <p:cNvPicPr>
            <a:picLocks noChangeAspect="1"/>
          </p:cNvPicPr>
          <p:nvPr/>
        </p:nvPicPr>
        <p:blipFill>
          <a:blip r:embed="rId2"/>
          <a:stretch>
            <a:fillRect/>
          </a:stretch>
        </p:blipFill>
        <p:spPr>
          <a:xfrm>
            <a:off x="2331720" y="1325880"/>
            <a:ext cx="1600200" cy="2011680"/>
          </a:xfrm>
          <a:prstGeom prst="rect">
            <a:avLst/>
          </a:prstGeom>
        </p:spPr>
      </p:pic>
      <p:sp>
        <p:nvSpPr>
          <p:cNvPr id="6" name="Text 1"/>
          <p:cNvSpPr txBox="1"/>
          <p:nvPr/>
        </p:nvSpPr>
        <p:spPr>
          <a:xfrm>
            <a:off x="548640" y="3401568"/>
            <a:ext cx="1691640" cy="5486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David Rumelhart</a:t>
            </a:r>
            <a:endParaRPr lang="en-US" sz="1200" dirty="0"/>
          </a:p>
          <a:p>
            <a:pPr indent="0" marL="0">
              <a:buNone/>
            </a:pPr>
            <a:r>
              <a:rPr lang="en-US" sz="1000" i="1" dirty="0">
                <a:solidFill>
                  <a:schemeClr val="accent5"/>
                </a:solidFill>
                <a:latin typeface="Calibri" pitchFamily="34" charset="0"/>
                <a:ea typeface="Calibri" pitchFamily="34" charset="-122"/>
                <a:cs typeface="Calibri" pitchFamily="34" charset="-120"/>
              </a:rPr>
              <a:t>Rolf Kickuth, CC BY-SA 4.0</a:t>
            </a:r>
            <a:endParaRPr lang="en-US" sz="1200" dirty="0"/>
          </a:p>
        </p:txBody>
      </p:sp>
      <p:sp>
        <p:nvSpPr>
          <p:cNvPr id="7" name="Text 2"/>
          <p:cNvSpPr txBox="1"/>
          <p:nvPr/>
        </p:nvSpPr>
        <p:spPr>
          <a:xfrm>
            <a:off x="2331720" y="3401568"/>
            <a:ext cx="1691640" cy="5486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Geoffrey Hinton</a:t>
            </a:r>
            <a:endParaRPr lang="en-US" sz="1200" dirty="0"/>
          </a:p>
          <a:p>
            <a:pPr indent="0" marL="0">
              <a:buNone/>
            </a:pPr>
            <a:r>
              <a:rPr lang="en-US" sz="1000" i="1" dirty="0">
                <a:solidFill>
                  <a:schemeClr val="accent5"/>
                </a:solidFill>
                <a:latin typeface="Calibri" pitchFamily="34" charset="0"/>
                <a:ea typeface="Calibri" pitchFamily="34" charset="-122"/>
                <a:cs typeface="Calibri" pitchFamily="34" charset="-120"/>
              </a:rPr>
              <a:t>Cmichel67, CC BY-SA 4.0</a:t>
            </a:r>
            <a:endParaRPr lang="en-US" sz="1200" dirty="0"/>
          </a:p>
        </p:txBody>
      </p:sp>
      <p:sp>
        <p:nvSpPr>
          <p:cNvPr id="8" name="Text 3"/>
          <p:cNvSpPr txBox="1"/>
          <p:nvPr/>
        </p:nvSpPr>
        <p:spPr>
          <a:xfrm>
            <a:off x="548640" y="4114800"/>
            <a:ext cx="3383280" cy="91440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with Ronald J. Williams. "Learning representations by back-propagating errors", Nature 323, 533–536 (1986)</a:t>
            </a:r>
            <a:endParaRPr lang="en-US" sz="1200" dirty="0"/>
          </a:p>
        </p:txBody>
      </p:sp>
      <p:sp>
        <p:nvSpPr>
          <p:cNvPr id="9" name="Shape 4"/>
          <p:cNvSpPr/>
          <p:nvPr/>
        </p:nvSpPr>
        <p:spPr>
          <a:xfrm>
            <a:off x="4160520" y="1325880"/>
            <a:ext cx="7479792" cy="2331720"/>
          </a:xfrm>
          <a:prstGeom prst="rect">
            <a:avLst/>
          </a:prstGeom>
          <a:solidFill>
            <a:schemeClr val="bg2"/>
          </a:solidFill>
          <a:ln/>
        </p:spPr>
      </p:sp>
      <p:pic>
        <p:nvPicPr>
          <p:cNvPr id="10" name="Image 2" descr="Two multi-layer perceptrons with input, hidden and output layers">    </p:cNvPr>
          <p:cNvPicPr>
            <a:picLocks noChangeAspect="1"/>
          </p:cNvPicPr>
          <p:nvPr/>
        </p:nvPicPr>
        <p:blipFill>
          <a:blip r:embed="rId3"/>
          <a:stretch>
            <a:fillRect/>
          </a:stretch>
        </p:blipFill>
        <p:spPr>
          <a:xfrm>
            <a:off x="4546832" y="1417320"/>
            <a:ext cx="6725456" cy="2148840"/>
          </a:xfrm>
          <a:prstGeom prst="rect">
            <a:avLst/>
          </a:prstGeom>
        </p:spPr>
      </p:pic>
      <p:sp>
        <p:nvSpPr>
          <p:cNvPr id="11" name="Text 5"/>
          <p:cNvSpPr txBox="1"/>
          <p:nvPr/>
        </p:nvSpPr>
        <p:spPr>
          <a:xfrm>
            <a:off x="4160520" y="3703320"/>
            <a:ext cx="731520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 C. P. Bathula, Deep Learning series, Part 4 (Towards AI)</a:t>
            </a:r>
            <a:endParaRPr lang="en-US" sz="1000" dirty="0"/>
          </a:p>
        </p:txBody>
      </p:sp>
      <p:sp>
        <p:nvSpPr>
          <p:cNvPr id="12" name="Shape 6"/>
          <p:cNvSpPr/>
          <p:nvPr/>
        </p:nvSpPr>
        <p:spPr>
          <a:xfrm>
            <a:off x="4160520" y="4069080"/>
            <a:ext cx="2395728" cy="1280160"/>
          </a:xfrm>
          <a:prstGeom prst="rect">
            <a:avLst/>
          </a:prstGeom>
          <a:solidFill>
            <a:schemeClr val="bg2"/>
          </a:solidFill>
          <a:ln/>
        </p:spPr>
      </p:sp>
      <p:sp>
        <p:nvSpPr>
          <p:cNvPr id="13" name="Shape 7"/>
          <p:cNvSpPr/>
          <p:nvPr/>
        </p:nvSpPr>
        <p:spPr>
          <a:xfrm>
            <a:off x="4297680" y="4206240"/>
            <a:ext cx="411480" cy="411480"/>
          </a:xfrm>
          <a:prstGeom prst="ellipse">
            <a:avLst/>
          </a:prstGeom>
          <a:solidFill>
            <a:schemeClr val="accent1"/>
          </a:solidFill>
          <a:ln/>
        </p:spPr>
      </p:sp>
      <p:pic>
        <p:nvPicPr>
          <p:cNvPr id="14" name="Image 3" descr="ExchangeAlt icon">    </p:cNvPr>
          <p:cNvPicPr>
            <a:picLocks noChangeAspect="1"/>
          </p:cNvPicPr>
          <p:nvPr/>
        </p:nvPicPr>
        <p:blipFill>
          <a:blip r:embed="rId4"/>
          <a:stretch>
            <a:fillRect/>
          </a:stretch>
        </p:blipFill>
        <p:spPr>
          <a:xfrm>
            <a:off x="4400550" y="4309110"/>
            <a:ext cx="205740" cy="205740"/>
          </a:xfrm>
          <a:prstGeom prst="rect">
            <a:avLst/>
          </a:prstGeom>
        </p:spPr>
      </p:pic>
      <p:sp>
        <p:nvSpPr>
          <p:cNvPr id="15" name="Text 8"/>
          <p:cNvSpPr txBox="1"/>
          <p:nvPr/>
        </p:nvSpPr>
        <p:spPr>
          <a:xfrm>
            <a:off x="4800600" y="4206240"/>
            <a:ext cx="1664208"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Smooth activation</a:t>
            </a:r>
            <a:endParaRPr lang="en-US" sz="1300" dirty="0"/>
          </a:p>
        </p:txBody>
      </p:sp>
      <p:sp>
        <p:nvSpPr>
          <p:cNvPr id="16" name="Text 9"/>
          <p:cNvSpPr txBox="1"/>
          <p:nvPr/>
        </p:nvSpPr>
        <p:spPr>
          <a:xfrm>
            <a:off x="4297680" y="4681728"/>
            <a:ext cx="2121408"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Swap the step for a sigmoid so every unit has a slope.</a:t>
            </a:r>
            <a:endParaRPr lang="en-US" sz="1150" dirty="0"/>
          </a:p>
        </p:txBody>
      </p:sp>
      <p:sp>
        <p:nvSpPr>
          <p:cNvPr id="17" name="Shape 10"/>
          <p:cNvSpPr/>
          <p:nvPr/>
        </p:nvSpPr>
        <p:spPr>
          <a:xfrm>
            <a:off x="6702552" y="4069080"/>
            <a:ext cx="2395728" cy="1280160"/>
          </a:xfrm>
          <a:prstGeom prst="rect">
            <a:avLst/>
          </a:prstGeom>
          <a:solidFill>
            <a:schemeClr val="bg2"/>
          </a:solidFill>
          <a:ln/>
        </p:spPr>
      </p:sp>
      <p:sp>
        <p:nvSpPr>
          <p:cNvPr id="18" name="Shape 11"/>
          <p:cNvSpPr/>
          <p:nvPr/>
        </p:nvSpPr>
        <p:spPr>
          <a:xfrm>
            <a:off x="6839712" y="4206240"/>
            <a:ext cx="411480" cy="411480"/>
          </a:xfrm>
          <a:prstGeom prst="ellipse">
            <a:avLst/>
          </a:prstGeom>
          <a:solidFill>
            <a:schemeClr val="accent1"/>
          </a:solidFill>
          <a:ln/>
        </p:spPr>
      </p:sp>
      <p:pic>
        <p:nvPicPr>
          <p:cNvPr id="19" name="Image 4" descr="Undo icon">    </p:cNvPr>
          <p:cNvPicPr>
            <a:picLocks noChangeAspect="1"/>
          </p:cNvPicPr>
          <p:nvPr/>
        </p:nvPicPr>
        <p:blipFill>
          <a:blip r:embed="rId5"/>
          <a:stretch>
            <a:fillRect/>
          </a:stretch>
        </p:blipFill>
        <p:spPr>
          <a:xfrm>
            <a:off x="6942582" y="4309110"/>
            <a:ext cx="205740" cy="205740"/>
          </a:xfrm>
          <a:prstGeom prst="rect">
            <a:avLst/>
          </a:prstGeom>
        </p:spPr>
      </p:pic>
      <p:sp>
        <p:nvSpPr>
          <p:cNvPr id="20" name="Text 12"/>
          <p:cNvSpPr txBox="1"/>
          <p:nvPr/>
        </p:nvSpPr>
        <p:spPr>
          <a:xfrm>
            <a:off x="7342632" y="4206240"/>
            <a:ext cx="1664208"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Errors flow backward</a:t>
            </a:r>
            <a:endParaRPr lang="en-US" sz="1300" dirty="0"/>
          </a:p>
        </p:txBody>
      </p:sp>
      <p:sp>
        <p:nvSpPr>
          <p:cNvPr id="21" name="Text 13"/>
          <p:cNvSpPr txBox="1"/>
          <p:nvPr/>
        </p:nvSpPr>
        <p:spPr>
          <a:xfrm>
            <a:off x="6839712" y="4681728"/>
            <a:ext cx="2121408"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The chain rule passes the output error back through each layer.</a:t>
            </a:r>
            <a:endParaRPr lang="en-US" sz="1150" dirty="0"/>
          </a:p>
        </p:txBody>
      </p:sp>
      <p:sp>
        <p:nvSpPr>
          <p:cNvPr id="22" name="Shape 14"/>
          <p:cNvSpPr/>
          <p:nvPr/>
        </p:nvSpPr>
        <p:spPr>
          <a:xfrm>
            <a:off x="9244584" y="4069080"/>
            <a:ext cx="2395728" cy="1280160"/>
          </a:xfrm>
          <a:prstGeom prst="rect">
            <a:avLst/>
          </a:prstGeom>
          <a:solidFill>
            <a:schemeClr val="bg2"/>
          </a:solidFill>
          <a:ln/>
        </p:spPr>
      </p:sp>
      <p:sp>
        <p:nvSpPr>
          <p:cNvPr id="23" name="Shape 15"/>
          <p:cNvSpPr/>
          <p:nvPr/>
        </p:nvSpPr>
        <p:spPr>
          <a:xfrm>
            <a:off x="9381744" y="4206240"/>
            <a:ext cx="411480" cy="411480"/>
          </a:xfrm>
          <a:prstGeom prst="ellipse">
            <a:avLst/>
          </a:prstGeom>
          <a:solidFill>
            <a:schemeClr val="accent1"/>
          </a:solidFill>
          <a:ln/>
        </p:spPr>
      </p:sp>
      <p:pic>
        <p:nvPicPr>
          <p:cNvPr id="24" name="Image 5" descr="Lightbulb icon">    </p:cNvPr>
          <p:cNvPicPr>
            <a:picLocks noChangeAspect="1"/>
          </p:cNvPicPr>
          <p:nvPr/>
        </p:nvPicPr>
        <p:blipFill>
          <a:blip r:embed="rId6"/>
          <a:stretch>
            <a:fillRect/>
          </a:stretch>
        </p:blipFill>
        <p:spPr>
          <a:xfrm>
            <a:off x="9484614" y="4309110"/>
            <a:ext cx="205740" cy="205740"/>
          </a:xfrm>
          <a:prstGeom prst="rect">
            <a:avLst/>
          </a:prstGeom>
        </p:spPr>
      </p:pic>
      <p:sp>
        <p:nvSpPr>
          <p:cNvPr id="25" name="Text 16"/>
          <p:cNvSpPr txBox="1"/>
          <p:nvPr/>
        </p:nvSpPr>
        <p:spPr>
          <a:xfrm>
            <a:off x="9884664" y="4206240"/>
            <a:ext cx="1664208"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Hidden layers learn</a:t>
            </a:r>
            <a:endParaRPr lang="en-US" sz="1300" dirty="0"/>
          </a:p>
        </p:txBody>
      </p:sp>
      <p:sp>
        <p:nvSpPr>
          <p:cNvPr id="26" name="Text 17"/>
          <p:cNvSpPr txBox="1"/>
          <p:nvPr/>
        </p:nvSpPr>
        <p:spPr>
          <a:xfrm>
            <a:off x="9381744" y="4681728"/>
            <a:ext cx="2121408"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Hidden units discover their own features; XOR becomes easy.</a:t>
            </a:r>
            <a:endParaRPr lang="en-US" sz="1150" dirty="0"/>
          </a:p>
        </p:txBody>
      </p:sp>
      <p:sp>
        <p:nvSpPr>
          <p:cNvPr id="27" name="Shape 18"/>
          <p:cNvSpPr/>
          <p:nvPr/>
        </p:nvSpPr>
        <p:spPr>
          <a:xfrm>
            <a:off x="548640" y="5532120"/>
            <a:ext cx="11091672" cy="640080"/>
          </a:xfrm>
          <a:prstGeom prst="rect">
            <a:avLst/>
          </a:prstGeom>
          <a:solidFill>
            <a:schemeClr val="tx1"/>
          </a:solidFill>
          <a:ln/>
        </p:spPr>
      </p:sp>
      <p:sp>
        <p:nvSpPr>
          <p:cNvPr id="28" name="Text 19"/>
          <p:cNvSpPr txBox="1"/>
          <p:nvPr/>
        </p:nvSpPr>
        <p:spPr>
          <a:xfrm>
            <a:off x="777240" y="553212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The revival:  </a:t>
            </a:r>
            <a:pPr indent="0" marL="0">
              <a:buNone/>
            </a:pPr>
            <a:r>
              <a:rPr lang="en-US" sz="1400" dirty="0">
                <a:solidFill>
                  <a:schemeClr val="bg1"/>
                </a:solidFill>
                <a:latin typeface="Calibri" pitchFamily="34" charset="0"/>
                <a:ea typeface="Calibri" pitchFamily="34" charset="-122"/>
                <a:cs typeface="Calibri" pitchFamily="34" charset="-120"/>
              </a:rPr>
              <a:t>1986 is not a winter. It is the year the field learned to train hidden layers, 28 years after the perceptron.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1989 to 1998: neural networks get practical</a:t>
            </a:r>
            <a:endParaRPr lang="en-US" sz="3200" dirty="0"/>
          </a:p>
        </p:txBody>
      </p:sp>
      <p:pic>
        <p:nvPicPr>
          <p:cNvPr id="4" name="Image 0" descr="Portrait of Yann LeCun">    </p:cNvPr>
          <p:cNvPicPr>
            <a:picLocks noChangeAspect="1"/>
          </p:cNvPicPr>
          <p:nvPr/>
        </p:nvPicPr>
        <p:blipFill>
          <a:blip r:embed="rId1"/>
          <a:stretch>
            <a:fillRect/>
          </a:stretch>
        </p:blipFill>
        <p:spPr>
          <a:xfrm>
            <a:off x="548640" y="1325880"/>
            <a:ext cx="1828800" cy="2240280"/>
          </a:xfrm>
          <a:prstGeom prst="rect">
            <a:avLst/>
          </a:prstGeom>
        </p:spPr>
      </p:pic>
      <p:sp>
        <p:nvSpPr>
          <p:cNvPr id="5" name="Text 1"/>
          <p:cNvSpPr txBox="1"/>
          <p:nvPr/>
        </p:nvSpPr>
        <p:spPr>
          <a:xfrm>
            <a:off x="548640" y="3593592"/>
            <a:ext cx="192024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Jérémy Barande, CC BY-SA 2.0</a:t>
            </a:r>
            <a:endParaRPr lang="en-US" sz="1000" dirty="0"/>
          </a:p>
        </p:txBody>
      </p:sp>
      <p:sp>
        <p:nvSpPr>
          <p:cNvPr id="6" name="Shape 2"/>
          <p:cNvSpPr/>
          <p:nvPr/>
        </p:nvSpPr>
        <p:spPr>
          <a:xfrm>
            <a:off x="2606040" y="1325880"/>
            <a:ext cx="9034272" cy="2240280"/>
          </a:xfrm>
          <a:prstGeom prst="rect">
            <a:avLst/>
          </a:prstGeom>
          <a:solidFill>
            <a:schemeClr val="bg1"/>
          </a:solidFill>
          <a:ln/>
        </p:spPr>
      </p:sp>
      <p:pic>
        <p:nvPicPr>
          <p:cNvPr id="7" name="Image 1" descr="LeNet-5: 28x28 input, convolution and pooling layers, then dense layers to 10 outputs">    </p:cNvPr>
          <p:cNvPicPr>
            <a:picLocks noChangeAspect="1"/>
          </p:cNvPicPr>
          <p:nvPr/>
        </p:nvPicPr>
        <p:blipFill>
          <a:blip r:embed="rId2"/>
          <a:stretch>
            <a:fillRect/>
          </a:stretch>
        </p:blipFill>
        <p:spPr>
          <a:xfrm>
            <a:off x="4281735" y="1371600"/>
            <a:ext cx="5682883" cy="2148840"/>
          </a:xfrm>
          <a:prstGeom prst="rect">
            <a:avLst/>
          </a:prstGeom>
        </p:spPr>
      </p:pic>
      <p:sp>
        <p:nvSpPr>
          <p:cNvPr id="8" name="Text 3"/>
          <p:cNvSpPr txBox="1"/>
          <p:nvPr/>
        </p:nvSpPr>
        <p:spPr>
          <a:xfrm>
            <a:off x="2606040" y="3593592"/>
            <a:ext cx="9034272"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LeNet-5. Zhang, Lipton, Li &amp; Smola, Dive into Deep Learning, CC BY-SA 4.0</a:t>
            </a:r>
            <a:endParaRPr lang="en-US" sz="1000" dirty="0"/>
          </a:p>
        </p:txBody>
      </p:sp>
      <p:sp>
        <p:nvSpPr>
          <p:cNvPr id="9" name="Shape 4"/>
          <p:cNvSpPr/>
          <p:nvPr/>
        </p:nvSpPr>
        <p:spPr>
          <a:xfrm>
            <a:off x="548640" y="4023360"/>
            <a:ext cx="3575304" cy="2148840"/>
          </a:xfrm>
          <a:prstGeom prst="rect">
            <a:avLst/>
          </a:prstGeom>
          <a:solidFill>
            <a:schemeClr val="bg2"/>
          </a:solidFill>
          <a:ln/>
        </p:spPr>
      </p:sp>
      <p:sp>
        <p:nvSpPr>
          <p:cNvPr id="10" name="Text 5"/>
          <p:cNvSpPr txBox="1"/>
          <p:nvPr/>
        </p:nvSpPr>
        <p:spPr>
          <a:xfrm>
            <a:off x="777240" y="416052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1989</a:t>
            </a:r>
            <a:endParaRPr lang="en-US" sz="2200" dirty="0"/>
          </a:p>
        </p:txBody>
      </p:sp>
      <p:sp>
        <p:nvSpPr>
          <p:cNvPr id="11" name="Text 6"/>
          <p:cNvSpPr txBox="1"/>
          <p:nvPr/>
        </p:nvSpPr>
        <p:spPr>
          <a:xfrm>
            <a:off x="777240" y="4617720"/>
            <a:ext cx="311810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CNN reads ZIP codes</a:t>
            </a:r>
            <a:endParaRPr lang="en-US" sz="1400" dirty="0"/>
          </a:p>
        </p:txBody>
      </p:sp>
      <p:sp>
        <p:nvSpPr>
          <p:cNvPr id="12" name="Text 7"/>
          <p:cNvSpPr txBox="1"/>
          <p:nvPr/>
        </p:nvSpPr>
        <p:spPr>
          <a:xfrm>
            <a:off x="777240" y="4983480"/>
            <a:ext cx="3118104" cy="10972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LeCun et al. at Bell Labs train a convolutional net with backprop on handwritten digits.</a:t>
            </a:r>
            <a:endParaRPr lang="en-US" sz="1250" dirty="0"/>
          </a:p>
        </p:txBody>
      </p:sp>
      <p:sp>
        <p:nvSpPr>
          <p:cNvPr id="13" name="Shape 8"/>
          <p:cNvSpPr/>
          <p:nvPr/>
        </p:nvSpPr>
        <p:spPr>
          <a:xfrm>
            <a:off x="4306824" y="4023360"/>
            <a:ext cx="3575304" cy="2148840"/>
          </a:xfrm>
          <a:prstGeom prst="rect">
            <a:avLst/>
          </a:prstGeom>
          <a:solidFill>
            <a:schemeClr val="bg2"/>
          </a:solidFill>
          <a:ln/>
        </p:spPr>
      </p:sp>
      <p:sp>
        <p:nvSpPr>
          <p:cNvPr id="14" name="Text 9"/>
          <p:cNvSpPr txBox="1"/>
          <p:nvPr/>
        </p:nvSpPr>
        <p:spPr>
          <a:xfrm>
            <a:off x="4535424" y="416052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1989</a:t>
            </a:r>
            <a:endParaRPr lang="en-US" sz="2200" dirty="0"/>
          </a:p>
        </p:txBody>
      </p:sp>
      <p:sp>
        <p:nvSpPr>
          <p:cNvPr id="15" name="Text 10"/>
          <p:cNvSpPr txBox="1"/>
          <p:nvPr/>
        </p:nvSpPr>
        <p:spPr>
          <a:xfrm>
            <a:off x="4535424" y="4617720"/>
            <a:ext cx="311810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Universal approximation</a:t>
            </a:r>
            <a:endParaRPr lang="en-US" sz="1400" dirty="0"/>
          </a:p>
        </p:txBody>
      </p:sp>
      <p:sp>
        <p:nvSpPr>
          <p:cNvPr id="16" name="Text 11"/>
          <p:cNvSpPr txBox="1"/>
          <p:nvPr/>
        </p:nvSpPr>
        <p:spPr>
          <a:xfrm>
            <a:off x="4535424" y="4983480"/>
            <a:ext cx="3118104" cy="10972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Cybenko; Hornik et al.: one hidden layer can approximate any continuous function, given enough units.</a:t>
            </a:r>
            <a:endParaRPr lang="en-US" sz="1250" dirty="0"/>
          </a:p>
        </p:txBody>
      </p:sp>
      <p:sp>
        <p:nvSpPr>
          <p:cNvPr id="17" name="Shape 12"/>
          <p:cNvSpPr/>
          <p:nvPr/>
        </p:nvSpPr>
        <p:spPr>
          <a:xfrm>
            <a:off x="8065008" y="4023360"/>
            <a:ext cx="3575304" cy="2148840"/>
          </a:xfrm>
          <a:prstGeom prst="rect">
            <a:avLst/>
          </a:prstGeom>
          <a:solidFill>
            <a:schemeClr val="bg2"/>
          </a:solidFill>
          <a:ln/>
        </p:spPr>
      </p:sp>
      <p:sp>
        <p:nvSpPr>
          <p:cNvPr id="18" name="Text 13"/>
          <p:cNvSpPr txBox="1"/>
          <p:nvPr/>
        </p:nvSpPr>
        <p:spPr>
          <a:xfrm>
            <a:off x="8293608" y="4160520"/>
            <a:ext cx="91440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1998</a:t>
            </a:r>
            <a:endParaRPr lang="en-US" sz="2200" dirty="0"/>
          </a:p>
        </p:txBody>
      </p:sp>
      <p:sp>
        <p:nvSpPr>
          <p:cNvPr id="19" name="Text 14"/>
          <p:cNvSpPr txBox="1"/>
          <p:nvPr/>
        </p:nvSpPr>
        <p:spPr>
          <a:xfrm>
            <a:off x="8293608" y="4617720"/>
            <a:ext cx="311810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LeNet-5 in production</a:t>
            </a:r>
            <a:endParaRPr lang="en-US" sz="1400" dirty="0"/>
          </a:p>
        </p:txBody>
      </p:sp>
      <p:sp>
        <p:nvSpPr>
          <p:cNvPr id="20" name="Text 15"/>
          <p:cNvSpPr txBox="1"/>
          <p:nvPr/>
        </p:nvSpPr>
        <p:spPr>
          <a:xfrm>
            <a:off x="8293608" y="4983480"/>
            <a:ext cx="3118104" cy="109728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Convolution + pooling + dense layers. A cheque reader built on it handled a large share of US cheques.</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Late 1980s to 2000s: the second winter and the vanishing gradient</a:t>
            </a:r>
            <a:endParaRPr lang="en-US" sz="3200" dirty="0"/>
          </a:p>
        </p:txBody>
      </p:sp>
      <p:sp>
        <p:nvSpPr>
          <p:cNvPr id="4" name="Shape 1"/>
          <p:cNvSpPr/>
          <p:nvPr/>
        </p:nvSpPr>
        <p:spPr>
          <a:xfrm>
            <a:off x="548640" y="1325880"/>
            <a:ext cx="6949440" cy="1078992"/>
          </a:xfrm>
          <a:prstGeom prst="rect">
            <a:avLst/>
          </a:prstGeom>
          <a:solidFill>
            <a:schemeClr val="bg2"/>
          </a:solidFill>
          <a:ln/>
        </p:spPr>
      </p:sp>
      <p:sp>
        <p:nvSpPr>
          <p:cNvPr id="5" name="Text 2"/>
          <p:cNvSpPr txBox="1"/>
          <p:nvPr/>
        </p:nvSpPr>
        <p:spPr>
          <a:xfrm>
            <a:off x="777240" y="1463040"/>
            <a:ext cx="1005840" cy="777240"/>
          </a:xfrm>
          <a:prstGeom prst="rect">
            <a:avLst/>
          </a:prstGeom>
          <a:noFill/>
          <a:ln/>
        </p:spPr>
        <p:txBody>
          <a:bodyPr wrap="square" lIns="0" tIns="0" rIns="0" bIns="0" rtlCol="0" anchor="ctr"/>
          <a:lstStyle/>
          <a:p>
            <a:pPr indent="0" marL="0">
              <a:buNone/>
            </a:pPr>
            <a:r>
              <a:rPr lang="en-US" sz="2400" dirty="0">
                <a:solidFill>
                  <a:schemeClr val="accent3"/>
                </a:solidFill>
                <a:latin typeface="Cambria" pitchFamily="34" charset="0"/>
                <a:ea typeface="Cambria" pitchFamily="34" charset="-122"/>
                <a:cs typeface="Cambria" pitchFamily="34" charset="-120"/>
              </a:rPr>
              <a:t>1987</a:t>
            </a:r>
            <a:endParaRPr lang="en-US" sz="2400" dirty="0"/>
          </a:p>
        </p:txBody>
      </p:sp>
      <p:sp>
        <p:nvSpPr>
          <p:cNvPr id="6" name="Text 3"/>
          <p:cNvSpPr txBox="1"/>
          <p:nvPr/>
        </p:nvSpPr>
        <p:spPr>
          <a:xfrm>
            <a:off x="1920240" y="1444752"/>
            <a:ext cx="53949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Expert-system bust</a:t>
            </a:r>
            <a:endParaRPr lang="en-US" sz="1500" dirty="0"/>
          </a:p>
        </p:txBody>
      </p:sp>
      <p:sp>
        <p:nvSpPr>
          <p:cNvPr id="7" name="Text 4"/>
          <p:cNvSpPr txBox="1"/>
          <p:nvPr/>
        </p:nvSpPr>
        <p:spPr>
          <a:xfrm>
            <a:off x="1920240" y="1783080"/>
            <a:ext cx="5394960" cy="566928"/>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The Lisp-machine and expert-system market collapses; AI funding dries up again.</a:t>
            </a:r>
            <a:endParaRPr lang="en-US" sz="1250" dirty="0"/>
          </a:p>
        </p:txBody>
      </p:sp>
      <p:sp>
        <p:nvSpPr>
          <p:cNvPr id="8" name="Shape 5"/>
          <p:cNvSpPr/>
          <p:nvPr/>
        </p:nvSpPr>
        <p:spPr>
          <a:xfrm>
            <a:off x="548640" y="2542032"/>
            <a:ext cx="6949440" cy="1078992"/>
          </a:xfrm>
          <a:prstGeom prst="rect">
            <a:avLst/>
          </a:prstGeom>
          <a:solidFill>
            <a:schemeClr val="bg2"/>
          </a:solidFill>
          <a:ln/>
        </p:spPr>
      </p:sp>
      <p:sp>
        <p:nvSpPr>
          <p:cNvPr id="9" name="Text 6"/>
          <p:cNvSpPr txBox="1"/>
          <p:nvPr/>
        </p:nvSpPr>
        <p:spPr>
          <a:xfrm>
            <a:off x="777240" y="2679192"/>
            <a:ext cx="1005840" cy="777240"/>
          </a:xfrm>
          <a:prstGeom prst="rect">
            <a:avLst/>
          </a:prstGeom>
          <a:noFill/>
          <a:ln/>
        </p:spPr>
        <p:txBody>
          <a:bodyPr wrap="square" lIns="0" tIns="0" rIns="0" bIns="0" rtlCol="0" anchor="ctr"/>
          <a:lstStyle/>
          <a:p>
            <a:pPr indent="0" marL="0">
              <a:buNone/>
            </a:pPr>
            <a:r>
              <a:rPr lang="en-US" sz="2400" dirty="0">
                <a:solidFill>
                  <a:schemeClr val="accent3"/>
                </a:solidFill>
                <a:latin typeface="Cambria" pitchFamily="34" charset="0"/>
                <a:ea typeface="Cambria" pitchFamily="34" charset="-122"/>
                <a:cs typeface="Cambria" pitchFamily="34" charset="-120"/>
              </a:rPr>
              <a:t>1991</a:t>
            </a:r>
            <a:endParaRPr lang="en-US" sz="2400" dirty="0"/>
          </a:p>
        </p:txBody>
      </p:sp>
      <p:sp>
        <p:nvSpPr>
          <p:cNvPr id="10" name="Text 7"/>
          <p:cNvSpPr txBox="1"/>
          <p:nvPr/>
        </p:nvSpPr>
        <p:spPr>
          <a:xfrm>
            <a:off x="1920240" y="2660904"/>
            <a:ext cx="53949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Vanishing gradient</a:t>
            </a:r>
            <a:endParaRPr lang="en-US" sz="1500" dirty="0"/>
          </a:p>
        </p:txBody>
      </p:sp>
      <p:sp>
        <p:nvSpPr>
          <p:cNvPr id="11" name="Text 8"/>
          <p:cNvSpPr txBox="1"/>
          <p:nvPr/>
        </p:nvSpPr>
        <p:spPr>
          <a:xfrm>
            <a:off x="1920240" y="2999232"/>
            <a:ext cx="5394960" cy="566928"/>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Hochreiter shows error signals shrink exponentially as they pass back through many layers.</a:t>
            </a:r>
            <a:endParaRPr lang="en-US" sz="1250" dirty="0"/>
          </a:p>
        </p:txBody>
      </p:sp>
      <p:sp>
        <p:nvSpPr>
          <p:cNvPr id="12" name="Shape 9"/>
          <p:cNvSpPr/>
          <p:nvPr/>
        </p:nvSpPr>
        <p:spPr>
          <a:xfrm>
            <a:off x="548640" y="3758184"/>
            <a:ext cx="6949440" cy="1078992"/>
          </a:xfrm>
          <a:prstGeom prst="rect">
            <a:avLst/>
          </a:prstGeom>
          <a:solidFill>
            <a:schemeClr val="bg2"/>
          </a:solidFill>
          <a:ln/>
        </p:spPr>
      </p:sp>
      <p:sp>
        <p:nvSpPr>
          <p:cNvPr id="13" name="Text 10"/>
          <p:cNvSpPr txBox="1"/>
          <p:nvPr/>
        </p:nvSpPr>
        <p:spPr>
          <a:xfrm>
            <a:off x="777240" y="3895344"/>
            <a:ext cx="1005840" cy="777240"/>
          </a:xfrm>
          <a:prstGeom prst="rect">
            <a:avLst/>
          </a:prstGeom>
          <a:noFill/>
          <a:ln/>
        </p:spPr>
        <p:txBody>
          <a:bodyPr wrap="square" lIns="0" tIns="0" rIns="0" bIns="0" rtlCol="0" anchor="ctr"/>
          <a:lstStyle/>
          <a:p>
            <a:pPr indent="0" marL="0">
              <a:buNone/>
            </a:pPr>
            <a:r>
              <a:rPr lang="en-US" sz="2400" dirty="0">
                <a:solidFill>
                  <a:schemeClr val="accent3"/>
                </a:solidFill>
                <a:latin typeface="Cambria" pitchFamily="34" charset="0"/>
                <a:ea typeface="Cambria" pitchFamily="34" charset="-122"/>
                <a:cs typeface="Cambria" pitchFamily="34" charset="-120"/>
              </a:rPr>
              <a:t>1995</a:t>
            </a:r>
            <a:endParaRPr lang="en-US" sz="2400" dirty="0"/>
          </a:p>
        </p:txBody>
      </p:sp>
      <p:sp>
        <p:nvSpPr>
          <p:cNvPr id="14" name="Text 11"/>
          <p:cNvSpPr txBox="1"/>
          <p:nvPr/>
        </p:nvSpPr>
        <p:spPr>
          <a:xfrm>
            <a:off x="1920240" y="3877056"/>
            <a:ext cx="53949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SVMs take the lead</a:t>
            </a:r>
            <a:endParaRPr lang="en-US" sz="1500" dirty="0"/>
          </a:p>
        </p:txBody>
      </p:sp>
      <p:sp>
        <p:nvSpPr>
          <p:cNvPr id="15" name="Text 12"/>
          <p:cNvSpPr txBox="1"/>
          <p:nvPr/>
        </p:nvSpPr>
        <p:spPr>
          <a:xfrm>
            <a:off x="1920240" y="4215384"/>
            <a:ext cx="5394960" cy="566928"/>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Cortes &amp; Vapnik's support vector machines: convex, well understood, strong on small data.</a:t>
            </a:r>
            <a:endParaRPr lang="en-US" sz="1250" dirty="0"/>
          </a:p>
        </p:txBody>
      </p:sp>
      <p:sp>
        <p:nvSpPr>
          <p:cNvPr id="16" name="Shape 13"/>
          <p:cNvSpPr/>
          <p:nvPr/>
        </p:nvSpPr>
        <p:spPr>
          <a:xfrm>
            <a:off x="548640" y="4974336"/>
            <a:ext cx="6949440" cy="1078992"/>
          </a:xfrm>
          <a:prstGeom prst="rect">
            <a:avLst/>
          </a:prstGeom>
          <a:solidFill>
            <a:schemeClr val="bg2"/>
          </a:solidFill>
          <a:ln/>
        </p:spPr>
      </p:sp>
      <p:sp>
        <p:nvSpPr>
          <p:cNvPr id="17" name="Text 14"/>
          <p:cNvSpPr txBox="1"/>
          <p:nvPr/>
        </p:nvSpPr>
        <p:spPr>
          <a:xfrm>
            <a:off x="777240" y="5111496"/>
            <a:ext cx="1005840" cy="777240"/>
          </a:xfrm>
          <a:prstGeom prst="rect">
            <a:avLst/>
          </a:prstGeom>
          <a:noFill/>
          <a:ln/>
        </p:spPr>
        <p:txBody>
          <a:bodyPr wrap="square" lIns="0" tIns="0" rIns="0" bIns="0" rtlCol="0" anchor="ctr"/>
          <a:lstStyle/>
          <a:p>
            <a:pPr indent="0" marL="0">
              <a:buNone/>
            </a:pPr>
            <a:r>
              <a:rPr lang="en-US" sz="2400" dirty="0">
                <a:solidFill>
                  <a:schemeClr val="accent1"/>
                </a:solidFill>
                <a:latin typeface="Cambria" pitchFamily="34" charset="0"/>
                <a:ea typeface="Cambria" pitchFamily="34" charset="-122"/>
                <a:cs typeface="Cambria" pitchFamily="34" charset="-120"/>
              </a:rPr>
              <a:t>1997</a:t>
            </a:r>
            <a:endParaRPr lang="en-US" sz="2400" dirty="0"/>
          </a:p>
        </p:txBody>
      </p:sp>
      <p:sp>
        <p:nvSpPr>
          <p:cNvPr id="18" name="Text 15"/>
          <p:cNvSpPr txBox="1"/>
          <p:nvPr/>
        </p:nvSpPr>
        <p:spPr>
          <a:xfrm>
            <a:off x="1920240" y="5093208"/>
            <a:ext cx="53949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LSTM</a:t>
            </a:r>
            <a:endParaRPr lang="en-US" sz="1500" dirty="0"/>
          </a:p>
        </p:txBody>
      </p:sp>
      <p:sp>
        <p:nvSpPr>
          <p:cNvPr id="19" name="Text 16"/>
          <p:cNvSpPr txBox="1"/>
          <p:nvPr/>
        </p:nvSpPr>
        <p:spPr>
          <a:xfrm>
            <a:off x="1920240" y="5431536"/>
            <a:ext cx="5394960" cy="566928"/>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Hochreiter &amp; Schmidhuber add gated memory cells so gradients survive long sequences.</a:t>
            </a:r>
            <a:endParaRPr lang="en-US" sz="1250" dirty="0"/>
          </a:p>
        </p:txBody>
      </p:sp>
      <p:pic>
        <p:nvPicPr>
          <p:cNvPr id="20" name="Image 0" descr="Portrait of Sepp Hochreiter">    </p:cNvPr>
          <p:cNvPicPr>
            <a:picLocks noChangeAspect="1"/>
          </p:cNvPicPr>
          <p:nvPr/>
        </p:nvPicPr>
        <p:blipFill>
          <a:blip r:embed="rId1"/>
          <a:stretch>
            <a:fillRect/>
          </a:stretch>
        </p:blipFill>
        <p:spPr>
          <a:xfrm>
            <a:off x="7772400" y="1325880"/>
            <a:ext cx="1828800" cy="2240280"/>
          </a:xfrm>
          <a:prstGeom prst="rect">
            <a:avLst/>
          </a:prstGeom>
        </p:spPr>
      </p:pic>
      <p:pic>
        <p:nvPicPr>
          <p:cNvPr id="21" name="Image 1" descr="Portrait of Jürgen Schmidhuber">    </p:cNvPr>
          <p:cNvPicPr>
            <a:picLocks noChangeAspect="1"/>
          </p:cNvPicPr>
          <p:nvPr/>
        </p:nvPicPr>
        <p:blipFill>
          <a:blip r:embed="rId2"/>
          <a:stretch>
            <a:fillRect/>
          </a:stretch>
        </p:blipFill>
        <p:spPr>
          <a:xfrm>
            <a:off x="9811512" y="1325880"/>
            <a:ext cx="1828800" cy="2240280"/>
          </a:xfrm>
          <a:prstGeom prst="rect">
            <a:avLst/>
          </a:prstGeom>
        </p:spPr>
      </p:pic>
      <p:sp>
        <p:nvSpPr>
          <p:cNvPr id="22" name="Text 17"/>
          <p:cNvSpPr txBox="1"/>
          <p:nvPr/>
        </p:nvSpPr>
        <p:spPr>
          <a:xfrm>
            <a:off x="7772400" y="3611880"/>
            <a:ext cx="1965960" cy="5486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Sepp Hochreiter</a:t>
            </a:r>
            <a:endParaRPr lang="en-US" sz="1200" dirty="0"/>
          </a:p>
          <a:p>
            <a:pPr indent="0" marL="0">
              <a:buNone/>
            </a:pPr>
            <a:r>
              <a:rPr lang="en-US" sz="1000" i="1" dirty="0">
                <a:solidFill>
                  <a:schemeClr val="accent5"/>
                </a:solidFill>
                <a:latin typeface="Calibri" pitchFamily="34" charset="0"/>
                <a:ea typeface="Calibri" pitchFamily="34" charset="-122"/>
                <a:cs typeface="Calibri" pitchFamily="34" charset="-120"/>
              </a:rPr>
              <a:t>C.Stadler/Bwag, CC BY-SA 4.0</a:t>
            </a:r>
            <a:endParaRPr lang="en-US" sz="1200" dirty="0"/>
          </a:p>
        </p:txBody>
      </p:sp>
      <p:sp>
        <p:nvSpPr>
          <p:cNvPr id="23" name="Text 18"/>
          <p:cNvSpPr txBox="1"/>
          <p:nvPr/>
        </p:nvSpPr>
        <p:spPr>
          <a:xfrm>
            <a:off x="9811512" y="3611880"/>
            <a:ext cx="1828800" cy="5486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Jürgen Schmidhuber</a:t>
            </a:r>
            <a:endParaRPr lang="en-US" sz="1200" dirty="0"/>
          </a:p>
          <a:p>
            <a:pPr indent="0" marL="0">
              <a:buNone/>
            </a:pPr>
            <a:r>
              <a:rPr lang="en-US" sz="1000" i="1" dirty="0">
                <a:solidFill>
                  <a:schemeClr val="accent5"/>
                </a:solidFill>
                <a:latin typeface="Calibri" pitchFamily="34" charset="0"/>
                <a:ea typeface="Calibri" pitchFamily="34" charset="-122"/>
                <a:cs typeface="Calibri" pitchFamily="34" charset="-120"/>
              </a:rPr>
              <a:t>ITU/R.Farrell, CC BY 2.0</a:t>
            </a:r>
            <a:endParaRPr lang="en-US" sz="1200" dirty="0"/>
          </a:p>
        </p:txBody>
      </p:sp>
      <p:sp>
        <p:nvSpPr>
          <p:cNvPr id="24" name="Shape 19"/>
          <p:cNvSpPr/>
          <p:nvPr/>
        </p:nvSpPr>
        <p:spPr>
          <a:xfrm>
            <a:off x="7772400" y="4343400"/>
            <a:ext cx="3867912" cy="1691640"/>
          </a:xfrm>
          <a:prstGeom prst="rect">
            <a:avLst/>
          </a:prstGeom>
          <a:solidFill>
            <a:schemeClr val="tx1"/>
          </a:solidFill>
          <a:ln/>
        </p:spPr>
      </p:sp>
      <p:sp>
        <p:nvSpPr>
          <p:cNvPr id="25" name="Text 20"/>
          <p:cNvSpPr txBox="1"/>
          <p:nvPr/>
        </p:nvSpPr>
        <p:spPr>
          <a:xfrm>
            <a:off x="7955280" y="4434840"/>
            <a:ext cx="3520440" cy="150876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Why depth failed</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A sigmoid's slope is at most 0.25. Ten layers back, the gradient can be 0.25¹⁰ ≈ 10⁻⁶ of its size, so early layers stop learning.</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The people who kept the faith</a:t>
            </a:r>
            <a:endParaRPr lang="en-US" sz="3200" dirty="0"/>
          </a:p>
        </p:txBody>
      </p:sp>
      <p:sp>
        <p:nvSpPr>
          <p:cNvPr id="4" name="Shape 1"/>
          <p:cNvSpPr/>
          <p:nvPr/>
        </p:nvSpPr>
        <p:spPr>
          <a:xfrm>
            <a:off x="548640" y="1325880"/>
            <a:ext cx="2670048" cy="2359152"/>
          </a:xfrm>
          <a:prstGeom prst="rect">
            <a:avLst/>
          </a:prstGeom>
          <a:solidFill>
            <a:schemeClr val="bg2"/>
          </a:solidFill>
          <a:ln/>
        </p:spPr>
      </p:sp>
      <p:pic>
        <p:nvPicPr>
          <p:cNvPr id="5" name="Image 0" descr="Portrait of Geoffrey Hinton">    </p:cNvPr>
          <p:cNvPicPr>
            <a:picLocks noChangeAspect="1"/>
          </p:cNvPicPr>
          <p:nvPr/>
        </p:nvPicPr>
        <p:blipFill>
          <a:blip r:embed="rId1"/>
          <a:stretch>
            <a:fillRect/>
          </a:stretch>
        </p:blipFill>
        <p:spPr>
          <a:xfrm>
            <a:off x="685800" y="1463040"/>
            <a:ext cx="1005840" cy="1280160"/>
          </a:xfrm>
          <a:prstGeom prst="rect">
            <a:avLst/>
          </a:prstGeom>
        </p:spPr>
      </p:pic>
      <p:sp>
        <p:nvSpPr>
          <p:cNvPr id="6" name="Text 2"/>
          <p:cNvSpPr txBox="1"/>
          <p:nvPr/>
        </p:nvSpPr>
        <p:spPr>
          <a:xfrm>
            <a:off x="1810512" y="146304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Geoffrey Hinton</a:t>
            </a:r>
            <a:endParaRPr lang="en-US" sz="1400" dirty="0"/>
          </a:p>
        </p:txBody>
      </p:sp>
      <p:sp>
        <p:nvSpPr>
          <p:cNvPr id="7" name="Text 3"/>
          <p:cNvSpPr txBox="1"/>
          <p:nvPr/>
        </p:nvSpPr>
        <p:spPr>
          <a:xfrm>
            <a:off x="1810512" y="210312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Cmichel67, CC BY-SA 4.0</a:t>
            </a:r>
            <a:endParaRPr lang="en-US" sz="1000" dirty="0"/>
          </a:p>
        </p:txBody>
      </p:sp>
      <p:sp>
        <p:nvSpPr>
          <p:cNvPr id="8" name="Text 4"/>
          <p:cNvSpPr txBox="1"/>
          <p:nvPr/>
        </p:nvSpPr>
        <p:spPr>
          <a:xfrm>
            <a:off x="685800" y="283464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Backprop (1986), Boltzmann machines, deep belief nets, AlexNet. Turing Award 2018, Nobel 2024.</a:t>
            </a:r>
            <a:endParaRPr lang="en-US" sz="1150" dirty="0"/>
          </a:p>
        </p:txBody>
      </p:sp>
      <p:sp>
        <p:nvSpPr>
          <p:cNvPr id="9" name="Shape 5"/>
          <p:cNvSpPr/>
          <p:nvPr/>
        </p:nvSpPr>
        <p:spPr>
          <a:xfrm>
            <a:off x="3355848" y="1325880"/>
            <a:ext cx="2670048" cy="2359152"/>
          </a:xfrm>
          <a:prstGeom prst="rect">
            <a:avLst/>
          </a:prstGeom>
          <a:solidFill>
            <a:schemeClr val="bg2"/>
          </a:solidFill>
          <a:ln/>
        </p:spPr>
      </p:sp>
      <p:pic>
        <p:nvPicPr>
          <p:cNvPr id="10" name="Image 1" descr="Portrait of Yann LeCun">    </p:cNvPr>
          <p:cNvPicPr>
            <a:picLocks noChangeAspect="1"/>
          </p:cNvPicPr>
          <p:nvPr/>
        </p:nvPicPr>
        <p:blipFill>
          <a:blip r:embed="rId2"/>
          <a:stretch>
            <a:fillRect/>
          </a:stretch>
        </p:blipFill>
        <p:spPr>
          <a:xfrm>
            <a:off x="3493008" y="1463040"/>
            <a:ext cx="1005840" cy="1280160"/>
          </a:xfrm>
          <a:prstGeom prst="rect">
            <a:avLst/>
          </a:prstGeom>
        </p:spPr>
      </p:pic>
      <p:sp>
        <p:nvSpPr>
          <p:cNvPr id="11" name="Text 6"/>
          <p:cNvSpPr txBox="1"/>
          <p:nvPr/>
        </p:nvSpPr>
        <p:spPr>
          <a:xfrm>
            <a:off x="4617720" y="146304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Yann LeCun</a:t>
            </a:r>
            <a:endParaRPr lang="en-US" sz="1400" dirty="0"/>
          </a:p>
        </p:txBody>
      </p:sp>
      <p:sp>
        <p:nvSpPr>
          <p:cNvPr id="12" name="Text 7"/>
          <p:cNvSpPr txBox="1"/>
          <p:nvPr/>
        </p:nvSpPr>
        <p:spPr>
          <a:xfrm>
            <a:off x="4617720" y="210312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Jérémy Barande, CC BY-SA 2.0</a:t>
            </a:r>
            <a:endParaRPr lang="en-US" sz="1000" dirty="0"/>
          </a:p>
        </p:txBody>
      </p:sp>
      <p:sp>
        <p:nvSpPr>
          <p:cNvPr id="13" name="Text 8"/>
          <p:cNvSpPr txBox="1"/>
          <p:nvPr/>
        </p:nvSpPr>
        <p:spPr>
          <a:xfrm>
            <a:off x="3493008" y="283464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Convolutional networks and LeNet. Turing Award 2018.</a:t>
            </a:r>
            <a:endParaRPr lang="en-US" sz="1150" dirty="0"/>
          </a:p>
        </p:txBody>
      </p:sp>
      <p:sp>
        <p:nvSpPr>
          <p:cNvPr id="14" name="Shape 9"/>
          <p:cNvSpPr/>
          <p:nvPr/>
        </p:nvSpPr>
        <p:spPr>
          <a:xfrm>
            <a:off x="6163056" y="1325880"/>
            <a:ext cx="2670048" cy="2359152"/>
          </a:xfrm>
          <a:prstGeom prst="rect">
            <a:avLst/>
          </a:prstGeom>
          <a:solidFill>
            <a:schemeClr val="bg2"/>
          </a:solidFill>
          <a:ln/>
        </p:spPr>
      </p:sp>
      <p:pic>
        <p:nvPicPr>
          <p:cNvPr id="15" name="Image 2" descr="Portrait of Yoshua Bengio">    </p:cNvPr>
          <p:cNvPicPr>
            <a:picLocks noChangeAspect="1"/>
          </p:cNvPicPr>
          <p:nvPr/>
        </p:nvPicPr>
        <p:blipFill>
          <a:blip r:embed="rId3"/>
          <a:stretch>
            <a:fillRect/>
          </a:stretch>
        </p:blipFill>
        <p:spPr>
          <a:xfrm>
            <a:off x="6300216" y="1463040"/>
            <a:ext cx="1005840" cy="1280160"/>
          </a:xfrm>
          <a:prstGeom prst="rect">
            <a:avLst/>
          </a:prstGeom>
        </p:spPr>
      </p:pic>
      <p:sp>
        <p:nvSpPr>
          <p:cNvPr id="16" name="Text 10"/>
          <p:cNvSpPr txBox="1"/>
          <p:nvPr/>
        </p:nvSpPr>
        <p:spPr>
          <a:xfrm>
            <a:off x="7424928" y="146304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Yoshua Bengio</a:t>
            </a:r>
            <a:endParaRPr lang="en-US" sz="1400" dirty="0"/>
          </a:p>
        </p:txBody>
      </p:sp>
      <p:sp>
        <p:nvSpPr>
          <p:cNvPr id="17" name="Text 11"/>
          <p:cNvSpPr txBox="1"/>
          <p:nvPr/>
        </p:nvSpPr>
        <p:spPr>
          <a:xfrm>
            <a:off x="7424928" y="210312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Xuthoria, CC BY-SA 4.0</a:t>
            </a:r>
            <a:endParaRPr lang="en-US" sz="1000" dirty="0"/>
          </a:p>
        </p:txBody>
      </p:sp>
      <p:sp>
        <p:nvSpPr>
          <p:cNvPr id="18" name="Text 12"/>
          <p:cNvSpPr txBox="1"/>
          <p:nvPr/>
        </p:nvSpPr>
        <p:spPr>
          <a:xfrm>
            <a:off x="6300216" y="283464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Vanishing gradients, neural language models, attention. Turing Award 2018.</a:t>
            </a:r>
            <a:endParaRPr lang="en-US" sz="1150" dirty="0"/>
          </a:p>
        </p:txBody>
      </p:sp>
      <p:sp>
        <p:nvSpPr>
          <p:cNvPr id="19" name="Shape 13"/>
          <p:cNvSpPr/>
          <p:nvPr/>
        </p:nvSpPr>
        <p:spPr>
          <a:xfrm>
            <a:off x="8970264" y="1325880"/>
            <a:ext cx="2670048" cy="2359152"/>
          </a:xfrm>
          <a:prstGeom prst="rect">
            <a:avLst/>
          </a:prstGeom>
          <a:solidFill>
            <a:schemeClr val="bg2"/>
          </a:solidFill>
          <a:ln/>
        </p:spPr>
      </p:sp>
      <p:pic>
        <p:nvPicPr>
          <p:cNvPr id="20" name="Image 3" descr="Portrait of Jürgen Schmidhuber">    </p:cNvPr>
          <p:cNvPicPr>
            <a:picLocks noChangeAspect="1"/>
          </p:cNvPicPr>
          <p:nvPr/>
        </p:nvPicPr>
        <p:blipFill>
          <a:blip r:embed="rId4"/>
          <a:stretch>
            <a:fillRect/>
          </a:stretch>
        </p:blipFill>
        <p:spPr>
          <a:xfrm>
            <a:off x="9107424" y="1463040"/>
            <a:ext cx="1005840" cy="1280160"/>
          </a:xfrm>
          <a:prstGeom prst="rect">
            <a:avLst/>
          </a:prstGeom>
        </p:spPr>
      </p:pic>
      <p:sp>
        <p:nvSpPr>
          <p:cNvPr id="21" name="Text 14"/>
          <p:cNvSpPr txBox="1"/>
          <p:nvPr/>
        </p:nvSpPr>
        <p:spPr>
          <a:xfrm>
            <a:off x="10232136" y="146304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Jürgen Schmidhuber</a:t>
            </a:r>
            <a:endParaRPr lang="en-US" sz="1400" dirty="0"/>
          </a:p>
        </p:txBody>
      </p:sp>
      <p:sp>
        <p:nvSpPr>
          <p:cNvPr id="22" name="Text 15"/>
          <p:cNvSpPr txBox="1"/>
          <p:nvPr/>
        </p:nvSpPr>
        <p:spPr>
          <a:xfrm>
            <a:off x="10232136" y="210312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ITU/R.Farrell, CC BY 2.0</a:t>
            </a:r>
            <a:endParaRPr lang="en-US" sz="1000" dirty="0"/>
          </a:p>
        </p:txBody>
      </p:sp>
      <p:sp>
        <p:nvSpPr>
          <p:cNvPr id="23" name="Text 16"/>
          <p:cNvSpPr txBox="1"/>
          <p:nvPr/>
        </p:nvSpPr>
        <p:spPr>
          <a:xfrm>
            <a:off x="9107424" y="283464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LSTM with Hochreiter (1997); early deep learning research.</a:t>
            </a:r>
            <a:endParaRPr lang="en-US" sz="1150" dirty="0"/>
          </a:p>
        </p:txBody>
      </p:sp>
      <p:sp>
        <p:nvSpPr>
          <p:cNvPr id="24" name="Shape 17"/>
          <p:cNvSpPr/>
          <p:nvPr/>
        </p:nvSpPr>
        <p:spPr>
          <a:xfrm>
            <a:off x="548640" y="3794760"/>
            <a:ext cx="2670048" cy="2359152"/>
          </a:xfrm>
          <a:prstGeom prst="rect">
            <a:avLst/>
          </a:prstGeom>
          <a:solidFill>
            <a:schemeClr val="bg2"/>
          </a:solidFill>
          <a:ln/>
        </p:spPr>
      </p:sp>
      <p:pic>
        <p:nvPicPr>
          <p:cNvPr id="25" name="Image 4" descr="Portrait of Fei-Fei Li">    </p:cNvPr>
          <p:cNvPicPr>
            <a:picLocks noChangeAspect="1"/>
          </p:cNvPicPr>
          <p:nvPr/>
        </p:nvPicPr>
        <p:blipFill>
          <a:blip r:embed="rId5"/>
          <a:stretch>
            <a:fillRect/>
          </a:stretch>
        </p:blipFill>
        <p:spPr>
          <a:xfrm>
            <a:off x="685800" y="3931920"/>
            <a:ext cx="1005840" cy="1280160"/>
          </a:xfrm>
          <a:prstGeom prst="rect">
            <a:avLst/>
          </a:prstGeom>
        </p:spPr>
      </p:pic>
      <p:sp>
        <p:nvSpPr>
          <p:cNvPr id="26" name="Text 18"/>
          <p:cNvSpPr txBox="1"/>
          <p:nvPr/>
        </p:nvSpPr>
        <p:spPr>
          <a:xfrm>
            <a:off x="1810512" y="393192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Fei-Fei Li</a:t>
            </a:r>
            <a:endParaRPr lang="en-US" sz="1400" dirty="0"/>
          </a:p>
        </p:txBody>
      </p:sp>
      <p:sp>
        <p:nvSpPr>
          <p:cNvPr id="27" name="Text 19"/>
          <p:cNvSpPr txBox="1"/>
          <p:nvPr/>
        </p:nvSpPr>
        <p:spPr>
          <a:xfrm>
            <a:off x="1810512" y="457200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ITU Pictures, CC BY 2.0</a:t>
            </a:r>
            <a:endParaRPr lang="en-US" sz="1000" dirty="0"/>
          </a:p>
        </p:txBody>
      </p:sp>
      <p:sp>
        <p:nvSpPr>
          <p:cNvPr id="28" name="Text 20"/>
          <p:cNvSpPr txBox="1"/>
          <p:nvPr/>
        </p:nvSpPr>
        <p:spPr>
          <a:xfrm>
            <a:off x="685800" y="530352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Created ImageNet (2009) and its annual challenge.</a:t>
            </a:r>
            <a:endParaRPr lang="en-US" sz="1150" dirty="0"/>
          </a:p>
        </p:txBody>
      </p:sp>
      <p:sp>
        <p:nvSpPr>
          <p:cNvPr id="29" name="Shape 21"/>
          <p:cNvSpPr/>
          <p:nvPr/>
        </p:nvSpPr>
        <p:spPr>
          <a:xfrm>
            <a:off x="3355848" y="3794760"/>
            <a:ext cx="2670048" cy="2359152"/>
          </a:xfrm>
          <a:prstGeom prst="rect">
            <a:avLst/>
          </a:prstGeom>
          <a:solidFill>
            <a:schemeClr val="bg2"/>
          </a:solidFill>
          <a:ln/>
        </p:spPr>
      </p:sp>
      <p:pic>
        <p:nvPicPr>
          <p:cNvPr id="30" name="Image 5" descr="Portrait of Andrew Ng">    </p:cNvPr>
          <p:cNvPicPr>
            <a:picLocks noChangeAspect="1"/>
          </p:cNvPicPr>
          <p:nvPr/>
        </p:nvPicPr>
        <p:blipFill>
          <a:blip r:embed="rId6"/>
          <a:stretch>
            <a:fillRect/>
          </a:stretch>
        </p:blipFill>
        <p:spPr>
          <a:xfrm>
            <a:off x="3493008" y="3931920"/>
            <a:ext cx="1005840" cy="1280160"/>
          </a:xfrm>
          <a:prstGeom prst="rect">
            <a:avLst/>
          </a:prstGeom>
        </p:spPr>
      </p:pic>
      <p:sp>
        <p:nvSpPr>
          <p:cNvPr id="31" name="Text 22"/>
          <p:cNvSpPr txBox="1"/>
          <p:nvPr/>
        </p:nvSpPr>
        <p:spPr>
          <a:xfrm>
            <a:off x="4617720" y="393192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Andrew Ng</a:t>
            </a:r>
            <a:endParaRPr lang="en-US" sz="1400" dirty="0"/>
          </a:p>
        </p:txBody>
      </p:sp>
      <p:sp>
        <p:nvSpPr>
          <p:cNvPr id="32" name="Text 23"/>
          <p:cNvSpPr txBox="1"/>
          <p:nvPr/>
        </p:nvSpPr>
        <p:spPr>
          <a:xfrm>
            <a:off x="4617720" y="457200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TechCrunch, CC BY 2.0</a:t>
            </a:r>
            <a:endParaRPr lang="en-US" sz="1000" dirty="0"/>
          </a:p>
        </p:txBody>
      </p:sp>
      <p:sp>
        <p:nvSpPr>
          <p:cNvPr id="33" name="Text 24"/>
          <p:cNvSpPr txBox="1"/>
          <p:nvPr/>
        </p:nvSpPr>
        <p:spPr>
          <a:xfrm>
            <a:off x="3493008" y="530352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GPU training (2009), Google Brain, and mass online teaching.</a:t>
            </a:r>
            <a:endParaRPr lang="en-US" sz="1150" dirty="0"/>
          </a:p>
        </p:txBody>
      </p:sp>
      <p:sp>
        <p:nvSpPr>
          <p:cNvPr id="34" name="Shape 25"/>
          <p:cNvSpPr/>
          <p:nvPr/>
        </p:nvSpPr>
        <p:spPr>
          <a:xfrm>
            <a:off x="6163056" y="3794760"/>
            <a:ext cx="2670048" cy="2359152"/>
          </a:xfrm>
          <a:prstGeom prst="rect">
            <a:avLst/>
          </a:prstGeom>
          <a:solidFill>
            <a:schemeClr val="bg2"/>
          </a:solidFill>
          <a:ln/>
        </p:spPr>
      </p:sp>
      <p:pic>
        <p:nvPicPr>
          <p:cNvPr id="35" name="Image 6" descr="Portrait of John Hopfield">    </p:cNvPr>
          <p:cNvPicPr>
            <a:picLocks noChangeAspect="1"/>
          </p:cNvPicPr>
          <p:nvPr/>
        </p:nvPicPr>
        <p:blipFill>
          <a:blip r:embed="rId7"/>
          <a:stretch>
            <a:fillRect/>
          </a:stretch>
        </p:blipFill>
        <p:spPr>
          <a:xfrm>
            <a:off x="6300216" y="3931920"/>
            <a:ext cx="1005840" cy="1280160"/>
          </a:xfrm>
          <a:prstGeom prst="rect">
            <a:avLst/>
          </a:prstGeom>
        </p:spPr>
      </p:pic>
      <p:sp>
        <p:nvSpPr>
          <p:cNvPr id="36" name="Text 26"/>
          <p:cNvSpPr txBox="1"/>
          <p:nvPr/>
        </p:nvSpPr>
        <p:spPr>
          <a:xfrm>
            <a:off x="7424928" y="393192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John Hopfield</a:t>
            </a:r>
            <a:endParaRPr lang="en-US" sz="1400" dirty="0"/>
          </a:p>
        </p:txBody>
      </p:sp>
      <p:sp>
        <p:nvSpPr>
          <p:cNvPr id="37" name="Text 27"/>
          <p:cNvSpPr txBox="1"/>
          <p:nvPr/>
        </p:nvSpPr>
        <p:spPr>
          <a:xfrm>
            <a:off x="7424928" y="457200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Jay Dixit, CC BY-SA 4.0</a:t>
            </a:r>
            <a:endParaRPr lang="en-US" sz="1000" dirty="0"/>
          </a:p>
        </p:txBody>
      </p:sp>
      <p:sp>
        <p:nvSpPr>
          <p:cNvPr id="38" name="Text 28"/>
          <p:cNvSpPr txBox="1"/>
          <p:nvPr/>
        </p:nvSpPr>
        <p:spPr>
          <a:xfrm>
            <a:off x="6300216" y="530352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Hopfield networks (1982). Nobel Prize in Physics 2024.</a:t>
            </a:r>
            <a:endParaRPr lang="en-US" sz="1150" dirty="0"/>
          </a:p>
        </p:txBody>
      </p:sp>
      <p:sp>
        <p:nvSpPr>
          <p:cNvPr id="39" name="Shape 29"/>
          <p:cNvSpPr/>
          <p:nvPr/>
        </p:nvSpPr>
        <p:spPr>
          <a:xfrm>
            <a:off x="8970264" y="3794760"/>
            <a:ext cx="2670048" cy="2359152"/>
          </a:xfrm>
          <a:prstGeom prst="rect">
            <a:avLst/>
          </a:prstGeom>
          <a:solidFill>
            <a:schemeClr val="bg2"/>
          </a:solidFill>
          <a:ln/>
        </p:spPr>
      </p:sp>
      <p:pic>
        <p:nvPicPr>
          <p:cNvPr id="40" name="Image 7" descr="Portrait of Demis Hassabis">    </p:cNvPr>
          <p:cNvPicPr>
            <a:picLocks noChangeAspect="1"/>
          </p:cNvPicPr>
          <p:nvPr/>
        </p:nvPicPr>
        <p:blipFill>
          <a:blip r:embed="rId8"/>
          <a:stretch>
            <a:fillRect/>
          </a:stretch>
        </p:blipFill>
        <p:spPr>
          <a:xfrm>
            <a:off x="9107424" y="3931920"/>
            <a:ext cx="1005840" cy="1280160"/>
          </a:xfrm>
          <a:prstGeom prst="rect">
            <a:avLst/>
          </a:prstGeom>
        </p:spPr>
      </p:pic>
      <p:sp>
        <p:nvSpPr>
          <p:cNvPr id="41" name="Text 30"/>
          <p:cNvSpPr txBox="1"/>
          <p:nvPr/>
        </p:nvSpPr>
        <p:spPr>
          <a:xfrm>
            <a:off x="10232136" y="3931920"/>
            <a:ext cx="1298448" cy="5486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Demis Hassabis</a:t>
            </a:r>
            <a:endParaRPr lang="en-US" sz="1400" dirty="0"/>
          </a:p>
        </p:txBody>
      </p:sp>
      <p:sp>
        <p:nvSpPr>
          <p:cNvPr id="42" name="Text 31"/>
          <p:cNvSpPr txBox="1"/>
          <p:nvPr/>
        </p:nvSpPr>
        <p:spPr>
          <a:xfrm>
            <a:off x="10232136" y="4572000"/>
            <a:ext cx="1298448" cy="594360"/>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John Sears, CC BY-SA 4.0</a:t>
            </a:r>
            <a:endParaRPr lang="en-US" sz="1000" dirty="0"/>
          </a:p>
        </p:txBody>
      </p:sp>
      <p:sp>
        <p:nvSpPr>
          <p:cNvPr id="43" name="Text 32"/>
          <p:cNvSpPr txBox="1"/>
          <p:nvPr/>
        </p:nvSpPr>
        <p:spPr>
          <a:xfrm>
            <a:off x="9107424" y="5303520"/>
            <a:ext cx="2395728" cy="77724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DeepMind: AlphaGo, AlphaFold. Nobel Prize in Chemistry 2024.</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1828800"/>
            <a:ext cx="10698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PART 4 · THE RISE</a:t>
            </a:r>
            <a:endParaRPr lang="en-US" sz="1400" dirty="0"/>
          </a:p>
        </p:txBody>
      </p:sp>
      <p:sp>
        <p:nvSpPr>
          <p:cNvPr id="3"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000" dirty="0">
                <a:solidFill>
                  <a:schemeClr val="bg1"/>
                </a:solidFill>
                <a:latin typeface="Cambria" pitchFamily="34" charset="0"/>
                <a:ea typeface="Cambria" pitchFamily="34" charset="-122"/>
                <a:cs typeface="Cambria" pitchFamily="34" charset="-120"/>
              </a:rPr>
              <a:t>2006 to today: deep learning takes over</a:t>
            </a:r>
            <a:endParaRPr lang="en-US" sz="4000" dirty="0"/>
          </a:p>
        </p:txBody>
      </p:sp>
      <p:sp>
        <p:nvSpPr>
          <p:cNvPr id="4"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Better algorithms, much more data and GPUs meet at ImageNet 2012</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2006 to 2010: three ingredients come together</a:t>
            </a:r>
            <a:endParaRPr lang="en-US" sz="3200" dirty="0"/>
          </a:p>
        </p:txBody>
      </p:sp>
      <p:sp>
        <p:nvSpPr>
          <p:cNvPr id="4" name="Shape 1"/>
          <p:cNvSpPr/>
          <p:nvPr/>
        </p:nvSpPr>
        <p:spPr>
          <a:xfrm>
            <a:off x="548640" y="1325880"/>
            <a:ext cx="3575304" cy="3931920"/>
          </a:xfrm>
          <a:prstGeom prst="rect">
            <a:avLst/>
          </a:prstGeom>
          <a:solidFill>
            <a:schemeClr val="bg2"/>
          </a:solidFill>
          <a:ln/>
        </p:spPr>
      </p:sp>
      <p:sp>
        <p:nvSpPr>
          <p:cNvPr id="5" name="Shape 2"/>
          <p:cNvSpPr/>
          <p:nvPr/>
        </p:nvSpPr>
        <p:spPr>
          <a:xfrm>
            <a:off x="822960" y="1554480"/>
            <a:ext cx="640080" cy="640080"/>
          </a:xfrm>
          <a:prstGeom prst="ellipse">
            <a:avLst/>
          </a:prstGeom>
          <a:solidFill>
            <a:schemeClr val="accent2"/>
          </a:solidFill>
          <a:ln/>
        </p:spPr>
      </p:sp>
      <p:pic>
        <p:nvPicPr>
          <p:cNvPr id="6" name="Image 0" descr="Lightbulb icon">    </p:cNvPr>
          <p:cNvPicPr>
            <a:picLocks noChangeAspect="1"/>
          </p:cNvPicPr>
          <p:nvPr/>
        </p:nvPicPr>
        <p:blipFill>
          <a:blip r:embed="rId1"/>
          <a:stretch>
            <a:fillRect/>
          </a:stretch>
        </p:blipFill>
        <p:spPr>
          <a:xfrm>
            <a:off x="982980" y="1714500"/>
            <a:ext cx="320040" cy="320040"/>
          </a:xfrm>
          <a:prstGeom prst="rect">
            <a:avLst/>
          </a:prstGeom>
        </p:spPr>
      </p:pic>
      <p:sp>
        <p:nvSpPr>
          <p:cNvPr id="7" name="Text 3"/>
          <p:cNvSpPr txBox="1"/>
          <p:nvPr/>
        </p:nvSpPr>
        <p:spPr>
          <a:xfrm>
            <a:off x="1645920" y="1600200"/>
            <a:ext cx="2295144" cy="54864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Algorithms</a:t>
            </a:r>
            <a:endParaRPr lang="en-US" sz="2000" dirty="0"/>
          </a:p>
        </p:txBody>
      </p:sp>
      <p:sp>
        <p:nvSpPr>
          <p:cNvPr id="8" name="Text 4"/>
          <p:cNvSpPr txBox="1"/>
          <p:nvPr/>
        </p:nvSpPr>
        <p:spPr>
          <a:xfrm>
            <a:off x="822960" y="2423160"/>
            <a:ext cx="3072384" cy="2743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2006: deep belief nets, trained one layer at a time (Hinton, Osindero &amp; Teh)</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2010: Xavier initialization (Glorot &amp; Bengio)</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2010–11: ReLU activations train deep nets faster</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2012: dropout regularization</a:t>
            </a:r>
            <a:endParaRPr lang="en-US" sz="1300" dirty="0"/>
          </a:p>
        </p:txBody>
      </p:sp>
      <p:sp>
        <p:nvSpPr>
          <p:cNvPr id="9" name="Shape 5"/>
          <p:cNvSpPr/>
          <p:nvPr/>
        </p:nvSpPr>
        <p:spPr>
          <a:xfrm>
            <a:off x="4306824" y="1325880"/>
            <a:ext cx="3575304" cy="3931920"/>
          </a:xfrm>
          <a:prstGeom prst="rect">
            <a:avLst/>
          </a:prstGeom>
          <a:solidFill>
            <a:schemeClr val="bg2"/>
          </a:solidFill>
          <a:ln/>
        </p:spPr>
      </p:sp>
      <p:sp>
        <p:nvSpPr>
          <p:cNvPr id="10" name="Shape 6"/>
          <p:cNvSpPr/>
          <p:nvPr/>
        </p:nvSpPr>
        <p:spPr>
          <a:xfrm>
            <a:off x="4581144" y="1554480"/>
            <a:ext cx="640080" cy="640080"/>
          </a:xfrm>
          <a:prstGeom prst="ellipse">
            <a:avLst/>
          </a:prstGeom>
          <a:solidFill>
            <a:schemeClr val="accent1"/>
          </a:solidFill>
          <a:ln/>
        </p:spPr>
      </p:sp>
      <p:pic>
        <p:nvPicPr>
          <p:cNvPr id="11" name="Image 1" descr="Database icon">    </p:cNvPr>
          <p:cNvPicPr>
            <a:picLocks noChangeAspect="1"/>
          </p:cNvPicPr>
          <p:nvPr/>
        </p:nvPicPr>
        <p:blipFill>
          <a:blip r:embed="rId2"/>
          <a:stretch>
            <a:fillRect/>
          </a:stretch>
        </p:blipFill>
        <p:spPr>
          <a:xfrm>
            <a:off x="4741164" y="1714500"/>
            <a:ext cx="320040" cy="320040"/>
          </a:xfrm>
          <a:prstGeom prst="rect">
            <a:avLst/>
          </a:prstGeom>
        </p:spPr>
      </p:pic>
      <p:sp>
        <p:nvSpPr>
          <p:cNvPr id="12" name="Text 7"/>
          <p:cNvSpPr txBox="1"/>
          <p:nvPr/>
        </p:nvSpPr>
        <p:spPr>
          <a:xfrm>
            <a:off x="5404104" y="1600200"/>
            <a:ext cx="2295144" cy="54864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Data</a:t>
            </a:r>
            <a:endParaRPr lang="en-US" sz="2000" dirty="0"/>
          </a:p>
        </p:txBody>
      </p:sp>
      <p:sp>
        <p:nvSpPr>
          <p:cNvPr id="13" name="Text 8"/>
          <p:cNvSpPr txBox="1"/>
          <p:nvPr/>
        </p:nvSpPr>
        <p:spPr>
          <a:xfrm>
            <a:off x="4581144" y="2423160"/>
            <a:ext cx="3072384" cy="2743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2009: ImageNet, 14 million labelled images</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The web, smartphones and cheap sensors produce data at scale</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Crowdsourced labelling makes large labelled sets affordable</a:t>
            </a:r>
            <a:endParaRPr lang="en-US" sz="1300" dirty="0"/>
          </a:p>
        </p:txBody>
      </p:sp>
      <p:sp>
        <p:nvSpPr>
          <p:cNvPr id="14" name="Shape 9"/>
          <p:cNvSpPr/>
          <p:nvPr/>
        </p:nvSpPr>
        <p:spPr>
          <a:xfrm>
            <a:off x="8065008" y="1325880"/>
            <a:ext cx="3575304" cy="3931920"/>
          </a:xfrm>
          <a:prstGeom prst="rect">
            <a:avLst/>
          </a:prstGeom>
          <a:solidFill>
            <a:schemeClr val="bg2"/>
          </a:solidFill>
          <a:ln/>
        </p:spPr>
      </p:sp>
      <p:sp>
        <p:nvSpPr>
          <p:cNvPr id="15" name="Shape 10"/>
          <p:cNvSpPr/>
          <p:nvPr/>
        </p:nvSpPr>
        <p:spPr>
          <a:xfrm>
            <a:off x="8339328" y="1554480"/>
            <a:ext cx="640080" cy="640080"/>
          </a:xfrm>
          <a:prstGeom prst="ellipse">
            <a:avLst/>
          </a:prstGeom>
          <a:solidFill>
            <a:schemeClr val="accent3"/>
          </a:solidFill>
          <a:ln/>
        </p:spPr>
      </p:sp>
      <p:pic>
        <p:nvPicPr>
          <p:cNvPr id="16" name="Image 2" descr="Microchip icon">    </p:cNvPr>
          <p:cNvPicPr>
            <a:picLocks noChangeAspect="1"/>
          </p:cNvPicPr>
          <p:nvPr/>
        </p:nvPicPr>
        <p:blipFill>
          <a:blip r:embed="rId3"/>
          <a:stretch>
            <a:fillRect/>
          </a:stretch>
        </p:blipFill>
        <p:spPr>
          <a:xfrm>
            <a:off x="8499348" y="1714500"/>
            <a:ext cx="320040" cy="320040"/>
          </a:xfrm>
          <a:prstGeom prst="rect">
            <a:avLst/>
          </a:prstGeom>
        </p:spPr>
      </p:pic>
      <p:sp>
        <p:nvSpPr>
          <p:cNvPr id="17" name="Text 11"/>
          <p:cNvSpPr txBox="1"/>
          <p:nvPr/>
        </p:nvSpPr>
        <p:spPr>
          <a:xfrm>
            <a:off x="9162288" y="1600200"/>
            <a:ext cx="2295144" cy="54864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Compute</a:t>
            </a:r>
            <a:endParaRPr lang="en-US" sz="2000" dirty="0"/>
          </a:p>
        </p:txBody>
      </p:sp>
      <p:sp>
        <p:nvSpPr>
          <p:cNvPr id="18" name="Text 12"/>
          <p:cNvSpPr txBox="1"/>
          <p:nvPr/>
        </p:nvSpPr>
        <p:spPr>
          <a:xfrm>
            <a:off x="8339328" y="2423160"/>
            <a:ext cx="3072384" cy="2743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2007: NVIDIA CUDA makes GPUs programmable</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2009: GPUs up to 70× faster for training (Raina, Madhavan &amp; Ng)</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Thousands of cores built for graphics suit matrix maths</a:t>
            </a:r>
            <a:endParaRPr lang="en-US" sz="1300" dirty="0"/>
          </a:p>
        </p:txBody>
      </p:sp>
      <p:sp>
        <p:nvSpPr>
          <p:cNvPr id="19" name="Shape 13"/>
          <p:cNvSpPr/>
          <p:nvPr/>
        </p:nvSpPr>
        <p:spPr>
          <a:xfrm>
            <a:off x="548640" y="5486400"/>
            <a:ext cx="11091672" cy="685800"/>
          </a:xfrm>
          <a:prstGeom prst="rect">
            <a:avLst/>
          </a:prstGeom>
          <a:solidFill>
            <a:schemeClr val="tx1"/>
          </a:solidFill>
          <a:ln/>
        </p:spPr>
      </p:sp>
      <p:sp>
        <p:nvSpPr>
          <p:cNvPr id="20" name="Text 14"/>
          <p:cNvSpPr txBox="1"/>
          <p:nvPr/>
        </p:nvSpPr>
        <p:spPr>
          <a:xfrm>
            <a:off x="777240" y="5486400"/>
            <a:ext cx="10634472" cy="6858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None was enough alone.  </a:t>
            </a:r>
            <a:pPr indent="0" marL="0">
              <a:buNone/>
            </a:pPr>
            <a:r>
              <a:rPr lang="en-US" sz="1400" dirty="0">
                <a:solidFill>
                  <a:schemeClr val="bg1"/>
                </a:solidFill>
                <a:latin typeface="Calibri" pitchFamily="34" charset="0"/>
                <a:ea typeface="Calibri" pitchFamily="34" charset="-122"/>
                <a:cs typeface="Calibri" pitchFamily="34" charset="-120"/>
              </a:rPr>
              <a:t>Backprop existed since 1986. What changed was far more data and compute, plus a few tricks that let gradients reach deep layers.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ImageNet: the dataset that changed the benchmark</a:t>
            </a:r>
            <a:endParaRPr lang="en-US" sz="3200" dirty="0"/>
          </a:p>
        </p:txBody>
      </p:sp>
      <p:pic>
        <p:nvPicPr>
          <p:cNvPr id="4" name="Image 0" descr="Fei-Fei Li speaking at a podium">    </p:cNvPr>
          <p:cNvPicPr>
            <a:picLocks noChangeAspect="1"/>
          </p:cNvPicPr>
          <p:nvPr/>
        </p:nvPicPr>
        <p:blipFill>
          <a:blip r:embed="rId1"/>
          <a:stretch>
            <a:fillRect/>
          </a:stretch>
        </p:blipFill>
        <p:spPr>
          <a:xfrm>
            <a:off x="548640" y="1325880"/>
            <a:ext cx="2560320" cy="3383280"/>
          </a:xfrm>
          <a:prstGeom prst="rect">
            <a:avLst/>
          </a:prstGeom>
        </p:spPr>
      </p:pic>
      <p:sp>
        <p:nvSpPr>
          <p:cNvPr id="5" name="Text 1"/>
          <p:cNvSpPr txBox="1"/>
          <p:nvPr/>
        </p:nvSpPr>
        <p:spPr>
          <a:xfrm>
            <a:off x="548640" y="4754880"/>
            <a:ext cx="256032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Fei-Fei Li, 2017. ITU Pictures, CC BY 2.0</a:t>
            </a:r>
            <a:endParaRPr lang="en-US" sz="1000" dirty="0"/>
          </a:p>
        </p:txBody>
      </p:sp>
      <p:sp>
        <p:nvSpPr>
          <p:cNvPr id="6" name="Shape 2"/>
          <p:cNvSpPr/>
          <p:nvPr/>
        </p:nvSpPr>
        <p:spPr>
          <a:xfrm>
            <a:off x="3383280" y="1325880"/>
            <a:ext cx="2633472" cy="2011680"/>
          </a:xfrm>
          <a:prstGeom prst="rect">
            <a:avLst/>
          </a:prstGeom>
          <a:solidFill>
            <a:schemeClr val="bg2"/>
          </a:solidFill>
          <a:ln/>
        </p:spPr>
      </p:sp>
      <p:sp>
        <p:nvSpPr>
          <p:cNvPr id="7" name="Text 3"/>
          <p:cNvSpPr txBox="1"/>
          <p:nvPr/>
        </p:nvSpPr>
        <p:spPr>
          <a:xfrm>
            <a:off x="3611880" y="1463040"/>
            <a:ext cx="2267712" cy="777240"/>
          </a:xfrm>
          <a:prstGeom prst="rect">
            <a:avLst/>
          </a:prstGeom>
          <a:noFill/>
          <a:ln/>
        </p:spPr>
        <p:txBody>
          <a:bodyPr wrap="square" lIns="0" tIns="0" rIns="0" bIns="0" rtlCol="0" anchor="t"/>
          <a:lstStyle/>
          <a:p>
            <a:pPr indent="0" marL="0">
              <a:buNone/>
            </a:pPr>
            <a:r>
              <a:rPr lang="en-US" sz="3600" dirty="0">
                <a:solidFill>
                  <a:schemeClr val="accent2"/>
                </a:solidFill>
                <a:latin typeface="Cambria" pitchFamily="34" charset="0"/>
                <a:ea typeface="Cambria" pitchFamily="34" charset="-122"/>
                <a:cs typeface="Cambria" pitchFamily="34" charset="-120"/>
              </a:rPr>
              <a:t>14M+</a:t>
            </a:r>
            <a:endParaRPr lang="en-US" sz="3600" dirty="0"/>
          </a:p>
        </p:txBody>
      </p:sp>
      <p:sp>
        <p:nvSpPr>
          <p:cNvPr id="8" name="Text 4"/>
          <p:cNvSpPr txBox="1"/>
          <p:nvPr/>
        </p:nvSpPr>
        <p:spPr>
          <a:xfrm>
            <a:off x="3611880" y="2286000"/>
            <a:ext cx="2221992"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labelled images in the full dataset</a:t>
            </a:r>
            <a:endParaRPr lang="en-US" sz="1300" dirty="0"/>
          </a:p>
        </p:txBody>
      </p:sp>
      <p:sp>
        <p:nvSpPr>
          <p:cNvPr id="9" name="Shape 5"/>
          <p:cNvSpPr/>
          <p:nvPr/>
        </p:nvSpPr>
        <p:spPr>
          <a:xfrm>
            <a:off x="6163056" y="1325880"/>
            <a:ext cx="2633472" cy="2011680"/>
          </a:xfrm>
          <a:prstGeom prst="rect">
            <a:avLst/>
          </a:prstGeom>
          <a:solidFill>
            <a:schemeClr val="bg2"/>
          </a:solidFill>
          <a:ln/>
        </p:spPr>
      </p:sp>
      <p:sp>
        <p:nvSpPr>
          <p:cNvPr id="10" name="Text 6"/>
          <p:cNvSpPr txBox="1"/>
          <p:nvPr/>
        </p:nvSpPr>
        <p:spPr>
          <a:xfrm>
            <a:off x="6391656" y="1463040"/>
            <a:ext cx="2267712" cy="777240"/>
          </a:xfrm>
          <a:prstGeom prst="rect">
            <a:avLst/>
          </a:prstGeom>
          <a:noFill/>
          <a:ln/>
        </p:spPr>
        <p:txBody>
          <a:bodyPr wrap="square" lIns="0" tIns="0" rIns="0" bIns="0" rtlCol="0" anchor="t"/>
          <a:lstStyle/>
          <a:p>
            <a:pPr indent="0" marL="0">
              <a:buNone/>
            </a:pPr>
            <a:r>
              <a:rPr lang="en-US" sz="3600" dirty="0">
                <a:solidFill>
                  <a:schemeClr val="accent2"/>
                </a:solidFill>
                <a:latin typeface="Cambria" pitchFamily="34" charset="0"/>
                <a:ea typeface="Cambria" pitchFamily="34" charset="-122"/>
                <a:cs typeface="Cambria" pitchFamily="34" charset="-120"/>
              </a:rPr>
              <a:t>≈ 22,000</a:t>
            </a:r>
            <a:endParaRPr lang="en-US" sz="3600" dirty="0"/>
          </a:p>
        </p:txBody>
      </p:sp>
      <p:sp>
        <p:nvSpPr>
          <p:cNvPr id="11" name="Text 7"/>
          <p:cNvSpPr txBox="1"/>
          <p:nvPr/>
        </p:nvSpPr>
        <p:spPr>
          <a:xfrm>
            <a:off x="6391656" y="2286000"/>
            <a:ext cx="2221992"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categories, organised by WordNet</a:t>
            </a:r>
            <a:endParaRPr lang="en-US" sz="1300" dirty="0"/>
          </a:p>
        </p:txBody>
      </p:sp>
      <p:sp>
        <p:nvSpPr>
          <p:cNvPr id="12" name="Shape 8"/>
          <p:cNvSpPr/>
          <p:nvPr/>
        </p:nvSpPr>
        <p:spPr>
          <a:xfrm>
            <a:off x="8942832" y="1325880"/>
            <a:ext cx="2633472" cy="2011680"/>
          </a:xfrm>
          <a:prstGeom prst="rect">
            <a:avLst/>
          </a:prstGeom>
          <a:solidFill>
            <a:schemeClr val="bg2"/>
          </a:solidFill>
          <a:ln/>
        </p:spPr>
      </p:sp>
      <p:sp>
        <p:nvSpPr>
          <p:cNvPr id="13" name="Text 9"/>
          <p:cNvSpPr txBox="1"/>
          <p:nvPr/>
        </p:nvSpPr>
        <p:spPr>
          <a:xfrm>
            <a:off x="9171432" y="1463040"/>
            <a:ext cx="2267712" cy="777240"/>
          </a:xfrm>
          <a:prstGeom prst="rect">
            <a:avLst/>
          </a:prstGeom>
          <a:noFill/>
          <a:ln/>
        </p:spPr>
        <p:txBody>
          <a:bodyPr wrap="square" lIns="0" tIns="0" rIns="0" bIns="0" rtlCol="0" anchor="t"/>
          <a:lstStyle/>
          <a:p>
            <a:pPr indent="0" marL="0">
              <a:buNone/>
            </a:pPr>
            <a:r>
              <a:rPr lang="en-US" sz="3600" dirty="0">
                <a:solidFill>
                  <a:schemeClr val="accent2"/>
                </a:solidFill>
                <a:latin typeface="Cambria" pitchFamily="34" charset="0"/>
                <a:ea typeface="Cambria" pitchFamily="34" charset="-122"/>
                <a:cs typeface="Cambria" pitchFamily="34" charset="-120"/>
              </a:rPr>
              <a:t>1.2M</a:t>
            </a:r>
            <a:endParaRPr lang="en-US" sz="3600" dirty="0"/>
          </a:p>
        </p:txBody>
      </p:sp>
      <p:sp>
        <p:nvSpPr>
          <p:cNvPr id="14" name="Text 10"/>
          <p:cNvSpPr txBox="1"/>
          <p:nvPr/>
        </p:nvSpPr>
        <p:spPr>
          <a:xfrm>
            <a:off x="9171432" y="2286000"/>
            <a:ext cx="2221992" cy="9144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training images in the 1,000-class challenge (ILSVRC)</a:t>
            </a:r>
            <a:endParaRPr lang="en-US" sz="1300" dirty="0"/>
          </a:p>
        </p:txBody>
      </p:sp>
      <p:sp>
        <p:nvSpPr>
          <p:cNvPr id="15" name="Shape 11"/>
          <p:cNvSpPr/>
          <p:nvPr/>
        </p:nvSpPr>
        <p:spPr>
          <a:xfrm>
            <a:off x="3383280" y="3566160"/>
            <a:ext cx="8257032" cy="1463040"/>
          </a:xfrm>
          <a:prstGeom prst="rect">
            <a:avLst/>
          </a:prstGeom>
          <a:solidFill>
            <a:schemeClr val="bg2"/>
          </a:solidFill>
          <a:ln/>
        </p:spPr>
      </p:sp>
      <p:sp>
        <p:nvSpPr>
          <p:cNvPr id="16" name="Text 12"/>
          <p:cNvSpPr txBox="1"/>
          <p:nvPr/>
        </p:nvSpPr>
        <p:spPr>
          <a:xfrm>
            <a:off x="3611880" y="3657600"/>
            <a:ext cx="7863840" cy="128016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How it was built</a:t>
            </a:r>
            <a:endParaRPr lang="en-US" sz="1300" dirty="0"/>
          </a:p>
          <a:p>
            <a:pPr indent="0" marL="0">
              <a:buNone/>
            </a:pPr>
            <a:r>
              <a:rPr lang="en-US" sz="1300" dirty="0">
                <a:solidFill>
                  <a:schemeClr val="tx2"/>
                </a:solidFill>
                <a:latin typeface="Calibri" pitchFamily="34" charset="0"/>
                <a:ea typeface="Calibri" pitchFamily="34" charset="-122"/>
                <a:cs typeface="Calibri" pitchFamily="34" charset="-120"/>
              </a:rPr>
              <a:t>Images were collected from search engines for each WordNet noun, then verified by tens of thousands of crowd workers on Amazon Mechanical Turk. Deng, Dong, Socher, Li, Li &amp; Fei-Fei, CVPR 2009.</a:t>
            </a:r>
            <a:endParaRPr lang="en-US" sz="1300" dirty="0"/>
          </a:p>
        </p:txBody>
      </p:sp>
      <p:sp>
        <p:nvSpPr>
          <p:cNvPr id="17" name="Shape 13"/>
          <p:cNvSpPr/>
          <p:nvPr/>
        </p:nvSpPr>
        <p:spPr>
          <a:xfrm>
            <a:off x="548640" y="5349240"/>
            <a:ext cx="11091672" cy="777240"/>
          </a:xfrm>
          <a:prstGeom prst="rect">
            <a:avLst/>
          </a:prstGeom>
          <a:solidFill>
            <a:schemeClr val="tx1"/>
          </a:solidFill>
          <a:ln/>
        </p:spPr>
      </p:sp>
      <p:sp>
        <p:nvSpPr>
          <p:cNvPr id="18" name="Text 14"/>
          <p:cNvSpPr txBox="1"/>
          <p:nvPr/>
        </p:nvSpPr>
        <p:spPr>
          <a:xfrm>
            <a:off x="777240" y="5349240"/>
            <a:ext cx="10634472" cy="7772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Why it mattered:  </a:t>
            </a:r>
            <a:pPr indent="0" marL="0">
              <a:buNone/>
            </a:pPr>
            <a:r>
              <a:rPr lang="en-US" sz="1400" dirty="0">
                <a:solidFill>
                  <a:schemeClr val="bg1"/>
                </a:solidFill>
                <a:latin typeface="Calibri" pitchFamily="34" charset="0"/>
                <a:ea typeface="Calibri" pitchFamily="34" charset="-122"/>
                <a:cs typeface="Calibri" pitchFamily="34" charset="-120"/>
              </a:rPr>
              <a:t>every lab could now compare methods on the same large, hard, public test. The yearly ILSVRC results (2010–2017) became the scoreboard for computer vision.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2012: AlexNet nearly halves the error</a:t>
            </a:r>
            <a:endParaRPr lang="en-US" sz="3200" dirty="0"/>
          </a:p>
        </p:txBody>
      </p:sp>
      <p:sp>
        <p:nvSpPr>
          <p:cNvPr id="4" name="Shape 1"/>
          <p:cNvSpPr/>
          <p:nvPr/>
        </p:nvSpPr>
        <p:spPr>
          <a:xfrm>
            <a:off x="548640" y="1325880"/>
            <a:ext cx="3108960" cy="4572000"/>
          </a:xfrm>
          <a:prstGeom prst="rect">
            <a:avLst/>
          </a:prstGeom>
          <a:solidFill>
            <a:schemeClr val="bg1"/>
          </a:solidFill>
          <a:ln/>
        </p:spPr>
      </p:sp>
      <p:pic>
        <p:nvPicPr>
          <p:cNvPr id="5" name="Image 0" descr="AlexNet layer stack: 11x11 convolution, pooling, 5x5 and 3x3 convolutions, then three fully connected layers">    </p:cNvPr>
          <p:cNvPicPr>
            <a:picLocks noChangeAspect="1"/>
          </p:cNvPicPr>
          <p:nvPr/>
        </p:nvPicPr>
        <p:blipFill>
          <a:blip r:embed="rId1"/>
          <a:stretch>
            <a:fillRect/>
          </a:stretch>
        </p:blipFill>
        <p:spPr>
          <a:xfrm>
            <a:off x="571675" y="1325880"/>
            <a:ext cx="3062889" cy="4572000"/>
          </a:xfrm>
          <a:prstGeom prst="rect">
            <a:avLst/>
          </a:prstGeom>
        </p:spPr>
      </p:pic>
      <p:sp>
        <p:nvSpPr>
          <p:cNvPr id="6" name="Text 2"/>
          <p:cNvSpPr txBox="1"/>
          <p:nvPr/>
        </p:nvSpPr>
        <p:spPr>
          <a:xfrm>
            <a:off x="548640" y="5943600"/>
            <a:ext cx="31089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Zhang et al., Dive into Deep Learning, CC BY-SA 4.0</a:t>
            </a:r>
            <a:endParaRPr lang="en-US" sz="1000" dirty="0"/>
          </a:p>
        </p:txBody>
      </p:sp>
      <p:sp>
        <p:nvSpPr>
          <p:cNvPr id="7" name="Shape 3"/>
          <p:cNvSpPr/>
          <p:nvPr/>
        </p:nvSpPr>
        <p:spPr>
          <a:xfrm>
            <a:off x="3886200" y="1325880"/>
            <a:ext cx="3749040" cy="2194560"/>
          </a:xfrm>
          <a:prstGeom prst="rect">
            <a:avLst/>
          </a:prstGeom>
          <a:solidFill>
            <a:schemeClr val="tx1"/>
          </a:solidFill>
          <a:ln/>
        </p:spPr>
      </p:sp>
      <p:sp>
        <p:nvSpPr>
          <p:cNvPr id="8" name="Text 4"/>
          <p:cNvSpPr txBox="1"/>
          <p:nvPr/>
        </p:nvSpPr>
        <p:spPr>
          <a:xfrm>
            <a:off x="4114800" y="1417320"/>
            <a:ext cx="3291840" cy="914400"/>
          </a:xfrm>
          <a:prstGeom prst="rect">
            <a:avLst/>
          </a:prstGeom>
          <a:noFill/>
          <a:ln/>
        </p:spPr>
        <p:txBody>
          <a:bodyPr wrap="square" lIns="0" tIns="0" rIns="0" bIns="0" rtlCol="0" anchor="t"/>
          <a:lstStyle/>
          <a:p>
            <a:pPr indent="0" marL="0">
              <a:buNone/>
            </a:pPr>
            <a:r>
              <a:rPr lang="en-US" sz="4800" dirty="0">
                <a:solidFill>
                  <a:schemeClr val="accent1"/>
                </a:solidFill>
                <a:latin typeface="Cambria" pitchFamily="34" charset="0"/>
                <a:ea typeface="Cambria" pitchFamily="34" charset="-122"/>
                <a:cs typeface="Cambria" pitchFamily="34" charset="-120"/>
              </a:rPr>
              <a:t>15.3%</a:t>
            </a:r>
            <a:endParaRPr lang="en-US" sz="4800" dirty="0"/>
          </a:p>
        </p:txBody>
      </p:sp>
      <p:sp>
        <p:nvSpPr>
          <p:cNvPr id="9" name="Text 5"/>
          <p:cNvSpPr txBox="1"/>
          <p:nvPr/>
        </p:nvSpPr>
        <p:spPr>
          <a:xfrm>
            <a:off x="4114800" y="2331720"/>
            <a:ext cx="3291840" cy="3200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AlexNet top-5 error, ILSVRC 2012</a:t>
            </a:r>
            <a:endParaRPr lang="en-US" sz="1300" dirty="0"/>
          </a:p>
        </p:txBody>
      </p:sp>
      <p:sp>
        <p:nvSpPr>
          <p:cNvPr id="10" name="Text 6"/>
          <p:cNvSpPr txBox="1"/>
          <p:nvPr/>
        </p:nvSpPr>
        <p:spPr>
          <a:xfrm>
            <a:off x="4114800" y="2697480"/>
            <a:ext cx="3291840" cy="68580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vs 26.2% for the runner-up using hand-crafted features</a:t>
            </a:r>
            <a:endParaRPr lang="en-US" sz="1300" dirty="0"/>
          </a:p>
        </p:txBody>
      </p:sp>
      <p:sp>
        <p:nvSpPr>
          <p:cNvPr id="11" name="Shape 7"/>
          <p:cNvSpPr/>
          <p:nvPr/>
        </p:nvSpPr>
        <p:spPr>
          <a:xfrm>
            <a:off x="7863840" y="1325880"/>
            <a:ext cx="3776472" cy="2194560"/>
          </a:xfrm>
          <a:prstGeom prst="rect">
            <a:avLst/>
          </a:prstGeom>
          <a:solidFill>
            <a:schemeClr val="bg2"/>
          </a:solidFill>
          <a:ln/>
        </p:spPr>
      </p:sp>
      <p:sp>
        <p:nvSpPr>
          <p:cNvPr id="12" name="Text 8"/>
          <p:cNvSpPr txBox="1"/>
          <p:nvPr/>
        </p:nvSpPr>
        <p:spPr>
          <a:xfrm>
            <a:off x="8092440" y="1463040"/>
            <a:ext cx="33832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Krizhevsky, Sutskever &amp; Hinton</a:t>
            </a:r>
            <a:endParaRPr lang="en-US" sz="1400" dirty="0"/>
          </a:p>
        </p:txBody>
      </p:sp>
      <p:sp>
        <p:nvSpPr>
          <p:cNvPr id="13" name="Text 9"/>
          <p:cNvSpPr txBox="1"/>
          <p:nvPr/>
        </p:nvSpPr>
        <p:spPr>
          <a:xfrm>
            <a:off x="8092440" y="1828800"/>
            <a:ext cx="3383280" cy="914400"/>
          </a:xfrm>
          <a:prstGeom prst="rect">
            <a:avLst/>
          </a:prstGeom>
          <a:noFill/>
          <a:ln/>
        </p:spPr>
        <p:txBody>
          <a:bodyPr wrap="square" lIns="0" tIns="0" rIns="0" bIns="0" rtlCol="0" anchor="t"/>
          <a:lstStyle/>
          <a:p>
            <a:pPr indent="0" marL="0">
              <a:buNone/>
            </a:pPr>
            <a:r>
              <a:rPr lang="en-US" sz="1250" i="1" dirty="0">
                <a:solidFill>
                  <a:schemeClr val="tx2"/>
                </a:solidFill>
                <a:latin typeface="Calibri" pitchFamily="34" charset="0"/>
                <a:ea typeface="Calibri" pitchFamily="34" charset="-122"/>
                <a:cs typeface="Calibri" pitchFamily="34" charset="-120"/>
              </a:rPr>
              <a:t>"ImageNet Classification with Deep Convolutional Neural Networks", NeurIPS 2012, University of Toronto</a:t>
            </a:r>
            <a:endParaRPr lang="en-US" sz="1250" dirty="0"/>
          </a:p>
        </p:txBody>
      </p:sp>
      <p:sp>
        <p:nvSpPr>
          <p:cNvPr id="14" name="Text 10"/>
          <p:cNvSpPr txBox="1"/>
          <p:nvPr/>
        </p:nvSpPr>
        <p:spPr>
          <a:xfrm>
            <a:off x="8092440" y="2834640"/>
            <a:ext cx="3383280" cy="54864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60M parameters · 650k neurons · 8 learned layers</a:t>
            </a:r>
            <a:endParaRPr lang="en-US" sz="1250" dirty="0"/>
          </a:p>
        </p:txBody>
      </p:sp>
      <p:sp>
        <p:nvSpPr>
          <p:cNvPr id="15" name="Shape 11"/>
          <p:cNvSpPr/>
          <p:nvPr/>
        </p:nvSpPr>
        <p:spPr>
          <a:xfrm>
            <a:off x="3886200" y="3749040"/>
            <a:ext cx="3831336" cy="1097280"/>
          </a:xfrm>
          <a:prstGeom prst="rect">
            <a:avLst/>
          </a:prstGeom>
          <a:solidFill>
            <a:schemeClr val="bg2"/>
          </a:solidFill>
          <a:ln/>
        </p:spPr>
      </p:sp>
      <p:sp>
        <p:nvSpPr>
          <p:cNvPr id="16" name="Shape 12"/>
          <p:cNvSpPr/>
          <p:nvPr/>
        </p:nvSpPr>
        <p:spPr>
          <a:xfrm>
            <a:off x="4069080" y="4023360"/>
            <a:ext cx="548640" cy="548640"/>
          </a:xfrm>
          <a:prstGeom prst="ellipse">
            <a:avLst/>
          </a:prstGeom>
          <a:solidFill>
            <a:schemeClr val="accent1"/>
          </a:solidFill>
          <a:ln/>
        </p:spPr>
      </p:sp>
      <p:pic>
        <p:nvPicPr>
          <p:cNvPr id="17" name="Image 1" descr="Bolt icon">    </p:cNvPr>
          <p:cNvPicPr>
            <a:picLocks noChangeAspect="1"/>
          </p:cNvPicPr>
          <p:nvPr/>
        </p:nvPicPr>
        <p:blipFill>
          <a:blip r:embed="rId2"/>
          <a:stretch>
            <a:fillRect/>
          </a:stretch>
        </p:blipFill>
        <p:spPr>
          <a:xfrm>
            <a:off x="4206240" y="4160520"/>
            <a:ext cx="274320" cy="274320"/>
          </a:xfrm>
          <a:prstGeom prst="rect">
            <a:avLst/>
          </a:prstGeom>
        </p:spPr>
      </p:pic>
      <p:sp>
        <p:nvSpPr>
          <p:cNvPr id="18" name="Text 13"/>
          <p:cNvSpPr txBox="1"/>
          <p:nvPr/>
        </p:nvSpPr>
        <p:spPr>
          <a:xfrm>
            <a:off x="4800600" y="3886200"/>
            <a:ext cx="2779776"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ReLU</a:t>
            </a:r>
            <a:endParaRPr lang="en-US" sz="1500" dirty="0"/>
          </a:p>
        </p:txBody>
      </p:sp>
      <p:sp>
        <p:nvSpPr>
          <p:cNvPr id="19" name="Text 14"/>
          <p:cNvSpPr txBox="1"/>
          <p:nvPr/>
        </p:nvSpPr>
        <p:spPr>
          <a:xfrm>
            <a:off x="4800600" y="4251960"/>
            <a:ext cx="2779776"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Several times faster training than tanh in their tests</a:t>
            </a:r>
            <a:endParaRPr lang="en-US" sz="1250" dirty="0"/>
          </a:p>
        </p:txBody>
      </p:sp>
      <p:sp>
        <p:nvSpPr>
          <p:cNvPr id="20" name="Shape 15"/>
          <p:cNvSpPr/>
          <p:nvPr/>
        </p:nvSpPr>
        <p:spPr>
          <a:xfrm>
            <a:off x="7808976" y="3749040"/>
            <a:ext cx="3831336" cy="1097280"/>
          </a:xfrm>
          <a:prstGeom prst="rect">
            <a:avLst/>
          </a:prstGeom>
          <a:solidFill>
            <a:schemeClr val="bg2"/>
          </a:solidFill>
          <a:ln/>
        </p:spPr>
      </p:sp>
      <p:sp>
        <p:nvSpPr>
          <p:cNvPr id="21" name="Shape 16"/>
          <p:cNvSpPr/>
          <p:nvPr/>
        </p:nvSpPr>
        <p:spPr>
          <a:xfrm>
            <a:off x="7991856" y="4023360"/>
            <a:ext cx="548640" cy="548640"/>
          </a:xfrm>
          <a:prstGeom prst="ellipse">
            <a:avLst/>
          </a:prstGeom>
          <a:solidFill>
            <a:schemeClr val="accent1"/>
          </a:solidFill>
          <a:ln/>
        </p:spPr>
      </p:sp>
      <p:pic>
        <p:nvPicPr>
          <p:cNvPr id="22" name="Image 2" descr="Random icon">    </p:cNvPr>
          <p:cNvPicPr>
            <a:picLocks noChangeAspect="1"/>
          </p:cNvPicPr>
          <p:nvPr/>
        </p:nvPicPr>
        <p:blipFill>
          <a:blip r:embed="rId3"/>
          <a:stretch>
            <a:fillRect/>
          </a:stretch>
        </p:blipFill>
        <p:spPr>
          <a:xfrm>
            <a:off x="8129016" y="4160520"/>
            <a:ext cx="274320" cy="274320"/>
          </a:xfrm>
          <a:prstGeom prst="rect">
            <a:avLst/>
          </a:prstGeom>
        </p:spPr>
      </p:pic>
      <p:sp>
        <p:nvSpPr>
          <p:cNvPr id="23" name="Text 17"/>
          <p:cNvSpPr txBox="1"/>
          <p:nvPr/>
        </p:nvSpPr>
        <p:spPr>
          <a:xfrm>
            <a:off x="8723376" y="3886200"/>
            <a:ext cx="2779776"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Dropout</a:t>
            </a:r>
            <a:endParaRPr lang="en-US" sz="1500" dirty="0"/>
          </a:p>
        </p:txBody>
      </p:sp>
      <p:sp>
        <p:nvSpPr>
          <p:cNvPr id="24" name="Text 18"/>
          <p:cNvSpPr txBox="1"/>
          <p:nvPr/>
        </p:nvSpPr>
        <p:spPr>
          <a:xfrm>
            <a:off x="8723376" y="4251960"/>
            <a:ext cx="2779776"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p = 0.5 in the dense layers to curb overfitting</a:t>
            </a:r>
            <a:endParaRPr lang="en-US" sz="1250" dirty="0"/>
          </a:p>
        </p:txBody>
      </p:sp>
      <p:sp>
        <p:nvSpPr>
          <p:cNvPr id="25" name="Shape 19"/>
          <p:cNvSpPr/>
          <p:nvPr/>
        </p:nvSpPr>
        <p:spPr>
          <a:xfrm>
            <a:off x="3886200" y="4983480"/>
            <a:ext cx="3831336" cy="1097280"/>
          </a:xfrm>
          <a:prstGeom prst="rect">
            <a:avLst/>
          </a:prstGeom>
          <a:solidFill>
            <a:schemeClr val="bg2"/>
          </a:solidFill>
          <a:ln/>
        </p:spPr>
      </p:sp>
      <p:sp>
        <p:nvSpPr>
          <p:cNvPr id="26" name="Shape 20"/>
          <p:cNvSpPr/>
          <p:nvPr/>
        </p:nvSpPr>
        <p:spPr>
          <a:xfrm>
            <a:off x="4069080" y="5257800"/>
            <a:ext cx="548640" cy="548640"/>
          </a:xfrm>
          <a:prstGeom prst="ellipse">
            <a:avLst/>
          </a:prstGeom>
          <a:solidFill>
            <a:schemeClr val="accent1"/>
          </a:solidFill>
          <a:ln/>
        </p:spPr>
      </p:sp>
      <p:pic>
        <p:nvPicPr>
          <p:cNvPr id="27" name="Image 3" descr="Clone icon">    </p:cNvPr>
          <p:cNvPicPr>
            <a:picLocks noChangeAspect="1"/>
          </p:cNvPicPr>
          <p:nvPr/>
        </p:nvPicPr>
        <p:blipFill>
          <a:blip r:embed="rId4"/>
          <a:stretch>
            <a:fillRect/>
          </a:stretch>
        </p:blipFill>
        <p:spPr>
          <a:xfrm>
            <a:off x="4206240" y="5394960"/>
            <a:ext cx="274320" cy="274320"/>
          </a:xfrm>
          <a:prstGeom prst="rect">
            <a:avLst/>
          </a:prstGeom>
        </p:spPr>
      </p:pic>
      <p:sp>
        <p:nvSpPr>
          <p:cNvPr id="28" name="Text 21"/>
          <p:cNvSpPr txBox="1"/>
          <p:nvPr/>
        </p:nvSpPr>
        <p:spPr>
          <a:xfrm>
            <a:off x="4800600" y="5120640"/>
            <a:ext cx="2779776"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Augmentation</a:t>
            </a:r>
            <a:endParaRPr lang="en-US" sz="1500" dirty="0"/>
          </a:p>
        </p:txBody>
      </p:sp>
      <p:sp>
        <p:nvSpPr>
          <p:cNvPr id="29" name="Text 22"/>
          <p:cNvSpPr txBox="1"/>
          <p:nvPr/>
        </p:nvSpPr>
        <p:spPr>
          <a:xfrm>
            <a:off x="4800600" y="5486400"/>
            <a:ext cx="2779776"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Random crops, flips and colour shifts (Week 1!)</a:t>
            </a:r>
            <a:endParaRPr lang="en-US" sz="1250" dirty="0"/>
          </a:p>
        </p:txBody>
      </p:sp>
      <p:sp>
        <p:nvSpPr>
          <p:cNvPr id="30" name="Shape 23"/>
          <p:cNvSpPr/>
          <p:nvPr/>
        </p:nvSpPr>
        <p:spPr>
          <a:xfrm>
            <a:off x="7808976" y="4983480"/>
            <a:ext cx="3831336" cy="1097280"/>
          </a:xfrm>
          <a:prstGeom prst="rect">
            <a:avLst/>
          </a:prstGeom>
          <a:solidFill>
            <a:schemeClr val="bg2"/>
          </a:solidFill>
          <a:ln/>
        </p:spPr>
      </p:sp>
      <p:sp>
        <p:nvSpPr>
          <p:cNvPr id="31" name="Shape 24"/>
          <p:cNvSpPr/>
          <p:nvPr/>
        </p:nvSpPr>
        <p:spPr>
          <a:xfrm>
            <a:off x="7991856" y="5257800"/>
            <a:ext cx="548640" cy="548640"/>
          </a:xfrm>
          <a:prstGeom prst="ellipse">
            <a:avLst/>
          </a:prstGeom>
          <a:solidFill>
            <a:schemeClr val="accent1"/>
          </a:solidFill>
          <a:ln/>
        </p:spPr>
      </p:sp>
      <p:pic>
        <p:nvPicPr>
          <p:cNvPr id="32" name="Image 4" descr="Microchip icon">    </p:cNvPr>
          <p:cNvPicPr>
            <a:picLocks noChangeAspect="1"/>
          </p:cNvPicPr>
          <p:nvPr/>
        </p:nvPicPr>
        <p:blipFill>
          <a:blip r:embed="rId5"/>
          <a:stretch>
            <a:fillRect/>
          </a:stretch>
        </p:blipFill>
        <p:spPr>
          <a:xfrm>
            <a:off x="8129016" y="5394960"/>
            <a:ext cx="274320" cy="274320"/>
          </a:xfrm>
          <a:prstGeom prst="rect">
            <a:avLst/>
          </a:prstGeom>
        </p:spPr>
      </p:pic>
      <p:sp>
        <p:nvSpPr>
          <p:cNvPr id="33" name="Text 25"/>
          <p:cNvSpPr txBox="1"/>
          <p:nvPr/>
        </p:nvSpPr>
        <p:spPr>
          <a:xfrm>
            <a:off x="8723376" y="5120640"/>
            <a:ext cx="2779776"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Two GPUs</a:t>
            </a:r>
            <a:endParaRPr lang="en-US" sz="1500" dirty="0"/>
          </a:p>
        </p:txBody>
      </p:sp>
      <p:sp>
        <p:nvSpPr>
          <p:cNvPr id="34" name="Text 26"/>
          <p:cNvSpPr txBox="1"/>
          <p:nvPr/>
        </p:nvSpPr>
        <p:spPr>
          <a:xfrm>
            <a:off x="8723376" y="5486400"/>
            <a:ext cx="2779776" cy="50292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GTX 580s with 3 GB each, 5–6 days of training</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After 2012, the error kept falling</a:t>
            </a:r>
            <a:endParaRPr lang="en-US" sz="3200" dirty="0"/>
          </a:p>
        </p:txBody>
      </p:sp>
      <p:sp>
        <p:nvSpPr>
          <p:cNvPr id="4" name="Shape 1"/>
          <p:cNvSpPr/>
          <p:nvPr/>
        </p:nvSpPr>
        <p:spPr>
          <a:xfrm>
            <a:off x="548640" y="1325880"/>
            <a:ext cx="7223760" cy="4754880"/>
          </a:xfrm>
          <a:prstGeom prst="rect">
            <a:avLst/>
          </a:prstGeom>
          <a:solidFill>
            <a:schemeClr val="bg1"/>
          </a:solidFill>
          <a:ln/>
        </p:spPr>
      </p:sp>
      <p:pic>
        <p:nvPicPr>
          <p:cNvPr id="5" name="Image 0" descr="Bar chart of ILSVRC winning top-5 error from 28.2% in 2010 to 2.25% in 2017, with AlexNet at 15.3% in 2012 and a human reference near 5.1%">    </p:cNvPr>
          <p:cNvPicPr>
            <a:picLocks noChangeAspect="1"/>
          </p:cNvPicPr>
          <p:nvPr/>
        </p:nvPicPr>
        <p:blipFill>
          <a:blip r:embed="rId1"/>
          <a:stretch>
            <a:fillRect/>
          </a:stretch>
        </p:blipFill>
        <p:spPr>
          <a:xfrm>
            <a:off x="662648" y="1325880"/>
            <a:ext cx="6995744" cy="4754880"/>
          </a:xfrm>
          <a:prstGeom prst="rect">
            <a:avLst/>
          </a:prstGeom>
        </p:spPr>
      </p:pic>
      <p:sp>
        <p:nvSpPr>
          <p:cNvPr id="6" name="Text 2"/>
          <p:cNvSpPr txBox="1"/>
          <p:nvPr/>
        </p:nvSpPr>
        <p:spPr>
          <a:xfrm>
            <a:off x="548640" y="6108192"/>
            <a:ext cx="72237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Grey: classical features. Amber: AlexNet. Teal: deep networks. 2015–2017 rounded.</a:t>
            </a:r>
            <a:endParaRPr lang="en-US" sz="1000" dirty="0"/>
          </a:p>
        </p:txBody>
      </p:sp>
      <p:sp>
        <p:nvSpPr>
          <p:cNvPr id="7" name="Shape 3"/>
          <p:cNvSpPr/>
          <p:nvPr/>
        </p:nvSpPr>
        <p:spPr>
          <a:xfrm>
            <a:off x="8046720" y="1325880"/>
            <a:ext cx="3593592" cy="1051560"/>
          </a:xfrm>
          <a:prstGeom prst="rect">
            <a:avLst/>
          </a:prstGeom>
          <a:solidFill>
            <a:schemeClr val="bg2"/>
          </a:solidFill>
          <a:ln/>
        </p:spPr>
      </p:sp>
      <p:sp>
        <p:nvSpPr>
          <p:cNvPr id="8" name="Text 4"/>
          <p:cNvSpPr txBox="1"/>
          <p:nvPr/>
        </p:nvSpPr>
        <p:spPr>
          <a:xfrm>
            <a:off x="8229600" y="1435608"/>
            <a:ext cx="822960" cy="822960"/>
          </a:xfrm>
          <a:prstGeom prst="rect">
            <a:avLst/>
          </a:prstGeom>
          <a:noFill/>
          <a:ln/>
        </p:spPr>
        <p:txBody>
          <a:bodyPr wrap="square" lIns="0" tIns="0" rIns="0" bIns="0" rtlCol="0" anchor="ctr"/>
          <a:lstStyle/>
          <a:p>
            <a:pPr indent="0" marL="0">
              <a:buNone/>
            </a:pPr>
            <a:r>
              <a:rPr lang="en-US" sz="2000" dirty="0">
                <a:solidFill>
                  <a:schemeClr val="accent1"/>
                </a:solidFill>
                <a:latin typeface="Cambria" pitchFamily="34" charset="0"/>
                <a:ea typeface="Cambria" pitchFamily="34" charset="-122"/>
                <a:cs typeface="Cambria" pitchFamily="34" charset="-120"/>
              </a:rPr>
              <a:t>2012</a:t>
            </a:r>
            <a:endParaRPr lang="en-US" sz="2000" dirty="0"/>
          </a:p>
        </p:txBody>
      </p:sp>
      <p:sp>
        <p:nvSpPr>
          <p:cNvPr id="9" name="Text 5"/>
          <p:cNvSpPr txBox="1"/>
          <p:nvPr/>
        </p:nvSpPr>
        <p:spPr>
          <a:xfrm>
            <a:off x="9052560" y="1399032"/>
            <a:ext cx="251460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AlexNet</a:t>
            </a:r>
            <a:endParaRPr lang="en-US" sz="1200" dirty="0"/>
          </a:p>
          <a:p>
            <a:pPr indent="0" marL="0">
              <a:buNone/>
            </a:pPr>
            <a:r>
              <a:rPr lang="en-US" sz="1200" dirty="0">
                <a:solidFill>
                  <a:schemeClr val="tx2"/>
                </a:solidFill>
                <a:latin typeface="Calibri" pitchFamily="34" charset="0"/>
                <a:ea typeface="Calibri" pitchFamily="34" charset="-122"/>
                <a:cs typeface="Calibri" pitchFamily="34" charset="-120"/>
              </a:rPr>
              <a:t>8 layers, ReLU, dropout, GPUs</a:t>
            </a:r>
            <a:endParaRPr lang="en-US" sz="1200" dirty="0"/>
          </a:p>
        </p:txBody>
      </p:sp>
      <p:sp>
        <p:nvSpPr>
          <p:cNvPr id="10" name="Shape 6"/>
          <p:cNvSpPr/>
          <p:nvPr/>
        </p:nvSpPr>
        <p:spPr>
          <a:xfrm>
            <a:off x="8046720" y="2514600"/>
            <a:ext cx="3593592" cy="1051560"/>
          </a:xfrm>
          <a:prstGeom prst="rect">
            <a:avLst/>
          </a:prstGeom>
          <a:solidFill>
            <a:schemeClr val="bg2"/>
          </a:solidFill>
          <a:ln/>
        </p:spPr>
      </p:sp>
      <p:sp>
        <p:nvSpPr>
          <p:cNvPr id="11" name="Text 7"/>
          <p:cNvSpPr txBox="1"/>
          <p:nvPr/>
        </p:nvSpPr>
        <p:spPr>
          <a:xfrm>
            <a:off x="8229600" y="2624328"/>
            <a:ext cx="822960" cy="822960"/>
          </a:xfrm>
          <a:prstGeom prst="rect">
            <a:avLst/>
          </a:prstGeom>
          <a:noFill/>
          <a:ln/>
        </p:spPr>
        <p:txBody>
          <a:bodyPr wrap="square" lIns="0" tIns="0" rIns="0" bIns="0" rtlCol="0" anchor="ctr"/>
          <a:lstStyle/>
          <a:p>
            <a:pPr indent="0" marL="0">
              <a:buNone/>
            </a:pPr>
            <a:r>
              <a:rPr lang="en-US" sz="2000" dirty="0">
                <a:solidFill>
                  <a:schemeClr val="accent2"/>
                </a:solidFill>
                <a:latin typeface="Cambria" pitchFamily="34" charset="0"/>
                <a:ea typeface="Cambria" pitchFamily="34" charset="-122"/>
                <a:cs typeface="Cambria" pitchFamily="34" charset="-120"/>
              </a:rPr>
              <a:t>2014</a:t>
            </a:r>
            <a:endParaRPr lang="en-US" sz="2000" dirty="0"/>
          </a:p>
        </p:txBody>
      </p:sp>
      <p:sp>
        <p:nvSpPr>
          <p:cNvPr id="12" name="Text 8"/>
          <p:cNvSpPr txBox="1"/>
          <p:nvPr/>
        </p:nvSpPr>
        <p:spPr>
          <a:xfrm>
            <a:off x="9052560" y="2587752"/>
            <a:ext cx="251460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GoogLeNet / VGG</a:t>
            </a:r>
            <a:endParaRPr lang="en-US" sz="1200" dirty="0"/>
          </a:p>
          <a:p>
            <a:pPr indent="0" marL="0">
              <a:buNone/>
            </a:pPr>
            <a:r>
              <a:rPr lang="en-US" sz="1200" dirty="0">
                <a:solidFill>
                  <a:schemeClr val="tx2"/>
                </a:solidFill>
                <a:latin typeface="Calibri" pitchFamily="34" charset="0"/>
                <a:ea typeface="Calibri" pitchFamily="34" charset="-122"/>
                <a:cs typeface="Calibri" pitchFamily="34" charset="-120"/>
              </a:rPr>
              <a:t>22 and 19 layers: deeper and narrower</a:t>
            </a:r>
            <a:endParaRPr lang="en-US" sz="1200" dirty="0"/>
          </a:p>
        </p:txBody>
      </p:sp>
      <p:sp>
        <p:nvSpPr>
          <p:cNvPr id="13" name="Shape 9"/>
          <p:cNvSpPr/>
          <p:nvPr/>
        </p:nvSpPr>
        <p:spPr>
          <a:xfrm>
            <a:off x="8046720" y="3703320"/>
            <a:ext cx="3593592" cy="1051560"/>
          </a:xfrm>
          <a:prstGeom prst="rect">
            <a:avLst/>
          </a:prstGeom>
          <a:solidFill>
            <a:schemeClr val="bg2"/>
          </a:solidFill>
          <a:ln/>
        </p:spPr>
      </p:sp>
      <p:sp>
        <p:nvSpPr>
          <p:cNvPr id="14" name="Text 10"/>
          <p:cNvSpPr txBox="1"/>
          <p:nvPr/>
        </p:nvSpPr>
        <p:spPr>
          <a:xfrm>
            <a:off x="8229600" y="3813048"/>
            <a:ext cx="822960" cy="822960"/>
          </a:xfrm>
          <a:prstGeom prst="rect">
            <a:avLst/>
          </a:prstGeom>
          <a:noFill/>
          <a:ln/>
        </p:spPr>
        <p:txBody>
          <a:bodyPr wrap="square" lIns="0" tIns="0" rIns="0" bIns="0" rtlCol="0" anchor="ctr"/>
          <a:lstStyle/>
          <a:p>
            <a:pPr indent="0" marL="0">
              <a:buNone/>
            </a:pPr>
            <a:r>
              <a:rPr lang="en-US" sz="2000" dirty="0">
                <a:solidFill>
                  <a:schemeClr val="accent2"/>
                </a:solidFill>
                <a:latin typeface="Cambria" pitchFamily="34" charset="0"/>
                <a:ea typeface="Cambria" pitchFamily="34" charset="-122"/>
                <a:cs typeface="Cambria" pitchFamily="34" charset="-120"/>
              </a:rPr>
              <a:t>2015</a:t>
            </a:r>
            <a:endParaRPr lang="en-US" sz="2000" dirty="0"/>
          </a:p>
        </p:txBody>
      </p:sp>
      <p:sp>
        <p:nvSpPr>
          <p:cNvPr id="15" name="Text 11"/>
          <p:cNvSpPr txBox="1"/>
          <p:nvPr/>
        </p:nvSpPr>
        <p:spPr>
          <a:xfrm>
            <a:off x="9052560" y="3776472"/>
            <a:ext cx="251460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ResNet</a:t>
            </a:r>
            <a:endParaRPr lang="en-US" sz="1200" dirty="0"/>
          </a:p>
          <a:p>
            <a:pPr indent="0" marL="0">
              <a:buNone/>
            </a:pPr>
            <a:r>
              <a:rPr lang="en-US" sz="1200" dirty="0">
                <a:solidFill>
                  <a:schemeClr val="tx2"/>
                </a:solidFill>
                <a:latin typeface="Calibri" pitchFamily="34" charset="0"/>
                <a:ea typeface="Calibri" pitchFamily="34" charset="-122"/>
                <a:cs typeface="Calibri" pitchFamily="34" charset="-120"/>
              </a:rPr>
              <a:t>152 layers with skip connections; below the ≈5.1% human estimate</a:t>
            </a:r>
            <a:endParaRPr lang="en-US" sz="1200" dirty="0"/>
          </a:p>
        </p:txBody>
      </p:sp>
      <p:sp>
        <p:nvSpPr>
          <p:cNvPr id="16" name="Shape 12"/>
          <p:cNvSpPr/>
          <p:nvPr/>
        </p:nvSpPr>
        <p:spPr>
          <a:xfrm>
            <a:off x="8046720" y="4892040"/>
            <a:ext cx="3593592" cy="1051560"/>
          </a:xfrm>
          <a:prstGeom prst="rect">
            <a:avLst/>
          </a:prstGeom>
          <a:solidFill>
            <a:schemeClr val="bg2"/>
          </a:solidFill>
          <a:ln/>
        </p:spPr>
      </p:sp>
      <p:sp>
        <p:nvSpPr>
          <p:cNvPr id="17" name="Text 13"/>
          <p:cNvSpPr txBox="1"/>
          <p:nvPr/>
        </p:nvSpPr>
        <p:spPr>
          <a:xfrm>
            <a:off x="8229600" y="5001768"/>
            <a:ext cx="822960" cy="822960"/>
          </a:xfrm>
          <a:prstGeom prst="rect">
            <a:avLst/>
          </a:prstGeom>
          <a:noFill/>
          <a:ln/>
        </p:spPr>
        <p:txBody>
          <a:bodyPr wrap="square" lIns="0" tIns="0" rIns="0" bIns="0" rtlCol="0" anchor="ctr"/>
          <a:lstStyle/>
          <a:p>
            <a:pPr indent="0" marL="0">
              <a:buNone/>
            </a:pPr>
            <a:r>
              <a:rPr lang="en-US" sz="2000" dirty="0">
                <a:solidFill>
                  <a:schemeClr val="accent2"/>
                </a:solidFill>
                <a:latin typeface="Cambria" pitchFamily="34" charset="0"/>
                <a:ea typeface="Cambria" pitchFamily="34" charset="-122"/>
                <a:cs typeface="Cambria" pitchFamily="34" charset="-120"/>
              </a:rPr>
              <a:t>2017</a:t>
            </a:r>
            <a:endParaRPr lang="en-US" sz="2000" dirty="0"/>
          </a:p>
        </p:txBody>
      </p:sp>
      <p:sp>
        <p:nvSpPr>
          <p:cNvPr id="18" name="Text 14"/>
          <p:cNvSpPr txBox="1"/>
          <p:nvPr/>
        </p:nvSpPr>
        <p:spPr>
          <a:xfrm>
            <a:off x="9052560" y="4965192"/>
            <a:ext cx="2514600" cy="9144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SENet</a:t>
            </a:r>
            <a:endParaRPr lang="en-US" sz="1200" dirty="0"/>
          </a:p>
          <a:p>
            <a:pPr indent="0" marL="0">
              <a:buNone/>
            </a:pPr>
            <a:r>
              <a:rPr lang="en-US" sz="1200" dirty="0">
                <a:solidFill>
                  <a:schemeClr val="tx2"/>
                </a:solidFill>
                <a:latin typeface="Calibri" pitchFamily="34" charset="0"/>
                <a:ea typeface="Calibri" pitchFamily="34" charset="-122"/>
                <a:cs typeface="Calibri" pitchFamily="34" charset="-120"/>
              </a:rPr>
              <a:t>2.25%: the challenge ends, the task considered solved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The deep learning decade and beyond</a:t>
            </a:r>
            <a:endParaRPr lang="en-US" sz="3200" dirty="0"/>
          </a:p>
        </p:txBody>
      </p:sp>
      <p:sp>
        <p:nvSpPr>
          <p:cNvPr id="4" name="Shape 1"/>
          <p:cNvSpPr/>
          <p:nvPr/>
        </p:nvSpPr>
        <p:spPr>
          <a:xfrm>
            <a:off x="548640" y="3703320"/>
            <a:ext cx="11091672" cy="914"/>
          </a:xfrm>
          <a:prstGeom prst="line">
            <a:avLst/>
          </a:prstGeom>
          <a:noFill/>
          <a:ln w="25400">
            <a:solidFill>
              <a:srgbClr val="D9DEE3"/>
            </a:solidFill>
            <a:prstDash val="solid"/>
          </a:ln>
        </p:spPr>
      </p:sp>
      <p:sp>
        <p:nvSpPr>
          <p:cNvPr id="5" name="Shape 2"/>
          <p:cNvSpPr/>
          <p:nvPr/>
        </p:nvSpPr>
        <p:spPr>
          <a:xfrm>
            <a:off x="1527048" y="3602736"/>
            <a:ext cx="201168" cy="201168"/>
          </a:xfrm>
          <a:prstGeom prst="ellipse">
            <a:avLst/>
          </a:prstGeom>
          <a:solidFill>
            <a:schemeClr val="accent2"/>
          </a:solidFill>
          <a:ln w="19050">
            <a:solidFill>
              <a:srgbClr val="FFFFFF"/>
            </a:solidFill>
            <a:prstDash val="solid"/>
          </a:ln>
        </p:spPr>
      </p:sp>
      <p:sp>
        <p:nvSpPr>
          <p:cNvPr id="6" name="Shape 3"/>
          <p:cNvSpPr/>
          <p:nvPr/>
        </p:nvSpPr>
        <p:spPr>
          <a:xfrm>
            <a:off x="1627632" y="3383280"/>
            <a:ext cx="914" cy="219456"/>
          </a:xfrm>
          <a:prstGeom prst="line">
            <a:avLst/>
          </a:prstGeom>
          <a:noFill/>
          <a:ln w="12700">
            <a:solidFill>
              <a:srgbClr val="D9DEE3"/>
            </a:solidFill>
            <a:prstDash val="solid"/>
          </a:ln>
        </p:spPr>
      </p:sp>
      <p:sp>
        <p:nvSpPr>
          <p:cNvPr id="7" name="Shape 4"/>
          <p:cNvSpPr/>
          <p:nvPr/>
        </p:nvSpPr>
        <p:spPr>
          <a:xfrm>
            <a:off x="548640" y="1920240"/>
            <a:ext cx="2157984" cy="1463040"/>
          </a:xfrm>
          <a:prstGeom prst="rect">
            <a:avLst/>
          </a:prstGeom>
          <a:solidFill>
            <a:schemeClr val="bg2"/>
          </a:solidFill>
          <a:ln/>
        </p:spPr>
      </p:sp>
      <p:sp>
        <p:nvSpPr>
          <p:cNvPr id="8" name="Text 5"/>
          <p:cNvSpPr txBox="1"/>
          <p:nvPr/>
        </p:nvSpPr>
        <p:spPr>
          <a:xfrm>
            <a:off x="731520" y="205740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2013</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word2vec</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Words as learned vectors</a:t>
            </a:r>
            <a:endParaRPr lang="en-US" sz="1300" dirty="0"/>
          </a:p>
        </p:txBody>
      </p:sp>
      <p:sp>
        <p:nvSpPr>
          <p:cNvPr id="9" name="Shape 6"/>
          <p:cNvSpPr/>
          <p:nvPr/>
        </p:nvSpPr>
        <p:spPr>
          <a:xfrm>
            <a:off x="2643759" y="3602736"/>
            <a:ext cx="201168" cy="201168"/>
          </a:xfrm>
          <a:prstGeom prst="ellipse">
            <a:avLst/>
          </a:prstGeom>
          <a:solidFill>
            <a:schemeClr val="accent2"/>
          </a:solidFill>
          <a:ln w="19050">
            <a:solidFill>
              <a:srgbClr val="FFFFFF"/>
            </a:solidFill>
            <a:prstDash val="solid"/>
          </a:ln>
        </p:spPr>
      </p:sp>
      <p:sp>
        <p:nvSpPr>
          <p:cNvPr id="10" name="Shape 7"/>
          <p:cNvSpPr/>
          <p:nvPr/>
        </p:nvSpPr>
        <p:spPr>
          <a:xfrm>
            <a:off x="2744343" y="3803904"/>
            <a:ext cx="914" cy="219456"/>
          </a:xfrm>
          <a:prstGeom prst="line">
            <a:avLst/>
          </a:prstGeom>
          <a:noFill/>
          <a:ln w="12700">
            <a:solidFill>
              <a:srgbClr val="D9DEE3"/>
            </a:solidFill>
            <a:prstDash val="solid"/>
          </a:ln>
        </p:spPr>
      </p:sp>
      <p:sp>
        <p:nvSpPr>
          <p:cNvPr id="11" name="Shape 8"/>
          <p:cNvSpPr/>
          <p:nvPr/>
        </p:nvSpPr>
        <p:spPr>
          <a:xfrm>
            <a:off x="1665351" y="4023360"/>
            <a:ext cx="2157984" cy="1463040"/>
          </a:xfrm>
          <a:prstGeom prst="rect">
            <a:avLst/>
          </a:prstGeom>
          <a:solidFill>
            <a:schemeClr val="bg2"/>
          </a:solidFill>
          <a:ln/>
        </p:spPr>
      </p:sp>
      <p:sp>
        <p:nvSpPr>
          <p:cNvPr id="12" name="Text 9"/>
          <p:cNvSpPr txBox="1"/>
          <p:nvPr/>
        </p:nvSpPr>
        <p:spPr>
          <a:xfrm>
            <a:off x="1848231" y="416052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2014</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GANs · Adam</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Generative models; the default optimizer</a:t>
            </a:r>
            <a:endParaRPr lang="en-US" sz="1300" dirty="0"/>
          </a:p>
        </p:txBody>
      </p:sp>
      <p:sp>
        <p:nvSpPr>
          <p:cNvPr id="13" name="Shape 10"/>
          <p:cNvSpPr/>
          <p:nvPr/>
        </p:nvSpPr>
        <p:spPr>
          <a:xfrm>
            <a:off x="3760470" y="3602736"/>
            <a:ext cx="201168" cy="201168"/>
          </a:xfrm>
          <a:prstGeom prst="ellipse">
            <a:avLst/>
          </a:prstGeom>
          <a:solidFill>
            <a:schemeClr val="accent2"/>
          </a:solidFill>
          <a:ln w="19050">
            <a:solidFill>
              <a:srgbClr val="FFFFFF"/>
            </a:solidFill>
            <a:prstDash val="solid"/>
          </a:ln>
        </p:spPr>
      </p:sp>
      <p:sp>
        <p:nvSpPr>
          <p:cNvPr id="14" name="Shape 11"/>
          <p:cNvSpPr/>
          <p:nvPr/>
        </p:nvSpPr>
        <p:spPr>
          <a:xfrm>
            <a:off x="3861054" y="3383280"/>
            <a:ext cx="914" cy="219456"/>
          </a:xfrm>
          <a:prstGeom prst="line">
            <a:avLst/>
          </a:prstGeom>
          <a:noFill/>
          <a:ln w="12700">
            <a:solidFill>
              <a:srgbClr val="D9DEE3"/>
            </a:solidFill>
            <a:prstDash val="solid"/>
          </a:ln>
        </p:spPr>
      </p:sp>
      <p:sp>
        <p:nvSpPr>
          <p:cNvPr id="15" name="Shape 12"/>
          <p:cNvSpPr/>
          <p:nvPr/>
        </p:nvSpPr>
        <p:spPr>
          <a:xfrm>
            <a:off x="2782062" y="1920240"/>
            <a:ext cx="2157984" cy="1463040"/>
          </a:xfrm>
          <a:prstGeom prst="rect">
            <a:avLst/>
          </a:prstGeom>
          <a:solidFill>
            <a:schemeClr val="bg2"/>
          </a:solidFill>
          <a:ln/>
        </p:spPr>
      </p:sp>
      <p:sp>
        <p:nvSpPr>
          <p:cNvPr id="16" name="Text 13"/>
          <p:cNvSpPr txBox="1"/>
          <p:nvPr/>
        </p:nvSpPr>
        <p:spPr>
          <a:xfrm>
            <a:off x="2964942" y="205740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2015</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ResNet · BatchNorm</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152 layers become trainable</a:t>
            </a:r>
            <a:endParaRPr lang="en-US" sz="1300" dirty="0"/>
          </a:p>
        </p:txBody>
      </p:sp>
      <p:sp>
        <p:nvSpPr>
          <p:cNvPr id="17" name="Shape 14"/>
          <p:cNvSpPr/>
          <p:nvPr/>
        </p:nvSpPr>
        <p:spPr>
          <a:xfrm>
            <a:off x="4877181" y="3602736"/>
            <a:ext cx="201168" cy="201168"/>
          </a:xfrm>
          <a:prstGeom prst="ellipse">
            <a:avLst/>
          </a:prstGeom>
          <a:solidFill>
            <a:schemeClr val="accent2"/>
          </a:solidFill>
          <a:ln w="19050">
            <a:solidFill>
              <a:srgbClr val="FFFFFF"/>
            </a:solidFill>
            <a:prstDash val="solid"/>
          </a:ln>
        </p:spPr>
      </p:sp>
      <p:sp>
        <p:nvSpPr>
          <p:cNvPr id="18" name="Shape 15"/>
          <p:cNvSpPr/>
          <p:nvPr/>
        </p:nvSpPr>
        <p:spPr>
          <a:xfrm>
            <a:off x="4977765" y="3803904"/>
            <a:ext cx="914" cy="219456"/>
          </a:xfrm>
          <a:prstGeom prst="line">
            <a:avLst/>
          </a:prstGeom>
          <a:noFill/>
          <a:ln w="12700">
            <a:solidFill>
              <a:srgbClr val="D9DEE3"/>
            </a:solidFill>
            <a:prstDash val="solid"/>
          </a:ln>
        </p:spPr>
      </p:sp>
      <p:sp>
        <p:nvSpPr>
          <p:cNvPr id="19" name="Shape 16"/>
          <p:cNvSpPr/>
          <p:nvPr/>
        </p:nvSpPr>
        <p:spPr>
          <a:xfrm>
            <a:off x="3898773" y="4023360"/>
            <a:ext cx="2157984" cy="1463040"/>
          </a:xfrm>
          <a:prstGeom prst="rect">
            <a:avLst/>
          </a:prstGeom>
          <a:solidFill>
            <a:schemeClr val="bg2"/>
          </a:solidFill>
          <a:ln/>
        </p:spPr>
      </p:sp>
      <p:sp>
        <p:nvSpPr>
          <p:cNvPr id="20" name="Text 17"/>
          <p:cNvSpPr txBox="1"/>
          <p:nvPr/>
        </p:nvSpPr>
        <p:spPr>
          <a:xfrm>
            <a:off x="4081653" y="416052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2016</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AlphaGo</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Beats Lee Sedol 4–1 at Go</a:t>
            </a:r>
            <a:endParaRPr lang="en-US" sz="1300" dirty="0"/>
          </a:p>
        </p:txBody>
      </p:sp>
      <p:sp>
        <p:nvSpPr>
          <p:cNvPr id="21" name="Shape 18"/>
          <p:cNvSpPr/>
          <p:nvPr/>
        </p:nvSpPr>
        <p:spPr>
          <a:xfrm>
            <a:off x="5993892" y="3602736"/>
            <a:ext cx="201168" cy="201168"/>
          </a:xfrm>
          <a:prstGeom prst="ellipse">
            <a:avLst/>
          </a:prstGeom>
          <a:solidFill>
            <a:schemeClr val="accent1"/>
          </a:solidFill>
          <a:ln w="19050">
            <a:solidFill>
              <a:srgbClr val="FFFFFF"/>
            </a:solidFill>
            <a:prstDash val="solid"/>
          </a:ln>
        </p:spPr>
      </p:sp>
      <p:sp>
        <p:nvSpPr>
          <p:cNvPr id="22" name="Shape 19"/>
          <p:cNvSpPr/>
          <p:nvPr/>
        </p:nvSpPr>
        <p:spPr>
          <a:xfrm>
            <a:off x="6094476" y="3383280"/>
            <a:ext cx="914" cy="219456"/>
          </a:xfrm>
          <a:prstGeom prst="line">
            <a:avLst/>
          </a:prstGeom>
          <a:noFill/>
          <a:ln w="12700">
            <a:solidFill>
              <a:srgbClr val="D9DEE3"/>
            </a:solidFill>
            <a:prstDash val="solid"/>
          </a:ln>
        </p:spPr>
      </p:sp>
      <p:sp>
        <p:nvSpPr>
          <p:cNvPr id="23" name="Shape 20"/>
          <p:cNvSpPr/>
          <p:nvPr/>
        </p:nvSpPr>
        <p:spPr>
          <a:xfrm>
            <a:off x="5015484" y="1920240"/>
            <a:ext cx="2157984" cy="1463040"/>
          </a:xfrm>
          <a:prstGeom prst="rect">
            <a:avLst/>
          </a:prstGeom>
          <a:solidFill>
            <a:schemeClr val="bg2"/>
          </a:solidFill>
          <a:ln/>
        </p:spPr>
      </p:sp>
      <p:sp>
        <p:nvSpPr>
          <p:cNvPr id="24" name="Text 21"/>
          <p:cNvSpPr txBox="1"/>
          <p:nvPr/>
        </p:nvSpPr>
        <p:spPr>
          <a:xfrm>
            <a:off x="5198364" y="2057400"/>
            <a:ext cx="1792224" cy="123444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2017</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Transformer</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"Attention Is All You Need"</a:t>
            </a:r>
            <a:endParaRPr lang="en-US" sz="1300" dirty="0"/>
          </a:p>
        </p:txBody>
      </p:sp>
      <p:sp>
        <p:nvSpPr>
          <p:cNvPr id="25" name="Shape 22"/>
          <p:cNvSpPr/>
          <p:nvPr/>
        </p:nvSpPr>
        <p:spPr>
          <a:xfrm>
            <a:off x="7110603" y="3602736"/>
            <a:ext cx="201168" cy="201168"/>
          </a:xfrm>
          <a:prstGeom prst="ellipse">
            <a:avLst/>
          </a:prstGeom>
          <a:solidFill>
            <a:schemeClr val="accent2"/>
          </a:solidFill>
          <a:ln w="19050">
            <a:solidFill>
              <a:srgbClr val="FFFFFF"/>
            </a:solidFill>
            <a:prstDash val="solid"/>
          </a:ln>
        </p:spPr>
      </p:sp>
      <p:sp>
        <p:nvSpPr>
          <p:cNvPr id="26" name="Shape 23"/>
          <p:cNvSpPr/>
          <p:nvPr/>
        </p:nvSpPr>
        <p:spPr>
          <a:xfrm>
            <a:off x="7211187" y="3803904"/>
            <a:ext cx="914" cy="219456"/>
          </a:xfrm>
          <a:prstGeom prst="line">
            <a:avLst/>
          </a:prstGeom>
          <a:noFill/>
          <a:ln w="12700">
            <a:solidFill>
              <a:srgbClr val="D9DEE3"/>
            </a:solidFill>
            <a:prstDash val="solid"/>
          </a:ln>
        </p:spPr>
      </p:sp>
      <p:sp>
        <p:nvSpPr>
          <p:cNvPr id="27" name="Shape 24"/>
          <p:cNvSpPr/>
          <p:nvPr/>
        </p:nvSpPr>
        <p:spPr>
          <a:xfrm>
            <a:off x="6132195" y="4023360"/>
            <a:ext cx="2157984" cy="1463040"/>
          </a:xfrm>
          <a:prstGeom prst="rect">
            <a:avLst/>
          </a:prstGeom>
          <a:solidFill>
            <a:schemeClr val="bg2"/>
          </a:solidFill>
          <a:ln/>
        </p:spPr>
      </p:sp>
      <p:sp>
        <p:nvSpPr>
          <p:cNvPr id="28" name="Text 25"/>
          <p:cNvSpPr txBox="1"/>
          <p:nvPr/>
        </p:nvSpPr>
        <p:spPr>
          <a:xfrm>
            <a:off x="6315075" y="416052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2018</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BERT · Turing Award</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Hinton, LeCun, Bengio honoured</a:t>
            </a:r>
            <a:endParaRPr lang="en-US" sz="1300" dirty="0"/>
          </a:p>
        </p:txBody>
      </p:sp>
      <p:sp>
        <p:nvSpPr>
          <p:cNvPr id="29" name="Shape 26"/>
          <p:cNvSpPr/>
          <p:nvPr/>
        </p:nvSpPr>
        <p:spPr>
          <a:xfrm>
            <a:off x="8227314" y="3602736"/>
            <a:ext cx="201168" cy="201168"/>
          </a:xfrm>
          <a:prstGeom prst="ellipse">
            <a:avLst/>
          </a:prstGeom>
          <a:solidFill>
            <a:schemeClr val="accent2"/>
          </a:solidFill>
          <a:ln w="19050">
            <a:solidFill>
              <a:srgbClr val="FFFFFF"/>
            </a:solidFill>
            <a:prstDash val="solid"/>
          </a:ln>
        </p:spPr>
      </p:sp>
      <p:sp>
        <p:nvSpPr>
          <p:cNvPr id="30" name="Shape 27"/>
          <p:cNvSpPr/>
          <p:nvPr/>
        </p:nvSpPr>
        <p:spPr>
          <a:xfrm>
            <a:off x="8327898" y="3383280"/>
            <a:ext cx="914" cy="219456"/>
          </a:xfrm>
          <a:prstGeom prst="line">
            <a:avLst/>
          </a:prstGeom>
          <a:noFill/>
          <a:ln w="12700">
            <a:solidFill>
              <a:srgbClr val="D9DEE3"/>
            </a:solidFill>
            <a:prstDash val="solid"/>
          </a:ln>
        </p:spPr>
      </p:sp>
      <p:sp>
        <p:nvSpPr>
          <p:cNvPr id="31" name="Shape 28"/>
          <p:cNvSpPr/>
          <p:nvPr/>
        </p:nvSpPr>
        <p:spPr>
          <a:xfrm>
            <a:off x="7248906" y="1920240"/>
            <a:ext cx="2157984" cy="1463040"/>
          </a:xfrm>
          <a:prstGeom prst="rect">
            <a:avLst/>
          </a:prstGeom>
          <a:solidFill>
            <a:schemeClr val="bg2"/>
          </a:solidFill>
          <a:ln/>
        </p:spPr>
      </p:sp>
      <p:sp>
        <p:nvSpPr>
          <p:cNvPr id="32" name="Text 29"/>
          <p:cNvSpPr txBox="1"/>
          <p:nvPr/>
        </p:nvSpPr>
        <p:spPr>
          <a:xfrm>
            <a:off x="7431786" y="205740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2020</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AlphaFold 2 · GPT-3</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Protein structure; 175B parameters</a:t>
            </a:r>
            <a:endParaRPr lang="en-US" sz="1300" dirty="0"/>
          </a:p>
        </p:txBody>
      </p:sp>
      <p:sp>
        <p:nvSpPr>
          <p:cNvPr id="33" name="Shape 30"/>
          <p:cNvSpPr/>
          <p:nvPr/>
        </p:nvSpPr>
        <p:spPr>
          <a:xfrm>
            <a:off x="9344025" y="3602736"/>
            <a:ext cx="201168" cy="201168"/>
          </a:xfrm>
          <a:prstGeom prst="ellipse">
            <a:avLst/>
          </a:prstGeom>
          <a:solidFill>
            <a:schemeClr val="accent2"/>
          </a:solidFill>
          <a:ln w="19050">
            <a:solidFill>
              <a:srgbClr val="FFFFFF"/>
            </a:solidFill>
            <a:prstDash val="solid"/>
          </a:ln>
        </p:spPr>
      </p:sp>
      <p:sp>
        <p:nvSpPr>
          <p:cNvPr id="34" name="Shape 31"/>
          <p:cNvSpPr/>
          <p:nvPr/>
        </p:nvSpPr>
        <p:spPr>
          <a:xfrm>
            <a:off x="9444609" y="3803904"/>
            <a:ext cx="914" cy="219456"/>
          </a:xfrm>
          <a:prstGeom prst="line">
            <a:avLst/>
          </a:prstGeom>
          <a:noFill/>
          <a:ln w="12700">
            <a:solidFill>
              <a:srgbClr val="D9DEE3"/>
            </a:solidFill>
            <a:prstDash val="solid"/>
          </a:ln>
        </p:spPr>
      </p:sp>
      <p:sp>
        <p:nvSpPr>
          <p:cNvPr id="35" name="Shape 32"/>
          <p:cNvSpPr/>
          <p:nvPr/>
        </p:nvSpPr>
        <p:spPr>
          <a:xfrm>
            <a:off x="8365617" y="4023360"/>
            <a:ext cx="2157984" cy="1463040"/>
          </a:xfrm>
          <a:prstGeom prst="rect">
            <a:avLst/>
          </a:prstGeom>
          <a:solidFill>
            <a:schemeClr val="bg2"/>
          </a:solidFill>
          <a:ln/>
        </p:spPr>
      </p:sp>
      <p:sp>
        <p:nvSpPr>
          <p:cNvPr id="36" name="Text 33"/>
          <p:cNvSpPr txBox="1"/>
          <p:nvPr/>
        </p:nvSpPr>
        <p:spPr>
          <a:xfrm>
            <a:off x="8548497" y="4160520"/>
            <a:ext cx="1792224" cy="1234440"/>
          </a:xfrm>
          <a:prstGeom prst="rect">
            <a:avLst/>
          </a:prstGeom>
          <a:noFill/>
          <a:ln/>
        </p:spPr>
        <p:txBody>
          <a:bodyPr wrap="square" lIns="0" tIns="0" rIns="0" bIns="0" rtlCol="0" anchor="t"/>
          <a:lstStyle/>
          <a:p>
            <a:pPr indent="0" marL="0">
              <a:buNone/>
            </a:pPr>
            <a:r>
              <a:rPr lang="en-US" sz="2200" dirty="0">
                <a:solidFill>
                  <a:schemeClr val="accent2"/>
                </a:solidFill>
                <a:latin typeface="Cambria" pitchFamily="34" charset="0"/>
                <a:ea typeface="Cambria" pitchFamily="34" charset="-122"/>
                <a:cs typeface="Cambria" pitchFamily="34" charset="-120"/>
              </a:rPr>
              <a:t>2022</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ChatGPT</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Deep learning reaches the public</a:t>
            </a:r>
            <a:endParaRPr lang="en-US" sz="1300" dirty="0"/>
          </a:p>
        </p:txBody>
      </p:sp>
      <p:sp>
        <p:nvSpPr>
          <p:cNvPr id="37" name="Shape 34"/>
          <p:cNvSpPr/>
          <p:nvPr/>
        </p:nvSpPr>
        <p:spPr>
          <a:xfrm>
            <a:off x="10460736" y="3602736"/>
            <a:ext cx="201168" cy="201168"/>
          </a:xfrm>
          <a:prstGeom prst="ellipse">
            <a:avLst/>
          </a:prstGeom>
          <a:solidFill>
            <a:schemeClr val="accent1"/>
          </a:solidFill>
          <a:ln w="19050">
            <a:solidFill>
              <a:srgbClr val="FFFFFF"/>
            </a:solidFill>
            <a:prstDash val="solid"/>
          </a:ln>
        </p:spPr>
      </p:sp>
      <p:sp>
        <p:nvSpPr>
          <p:cNvPr id="38" name="Shape 35"/>
          <p:cNvSpPr/>
          <p:nvPr/>
        </p:nvSpPr>
        <p:spPr>
          <a:xfrm>
            <a:off x="10561320" y="3383280"/>
            <a:ext cx="914" cy="219456"/>
          </a:xfrm>
          <a:prstGeom prst="line">
            <a:avLst/>
          </a:prstGeom>
          <a:noFill/>
          <a:ln w="12700">
            <a:solidFill>
              <a:srgbClr val="D9DEE3"/>
            </a:solidFill>
            <a:prstDash val="solid"/>
          </a:ln>
        </p:spPr>
      </p:sp>
      <p:sp>
        <p:nvSpPr>
          <p:cNvPr id="39" name="Shape 36"/>
          <p:cNvSpPr/>
          <p:nvPr/>
        </p:nvSpPr>
        <p:spPr>
          <a:xfrm>
            <a:off x="9482328" y="1920240"/>
            <a:ext cx="2157984" cy="1463040"/>
          </a:xfrm>
          <a:prstGeom prst="rect">
            <a:avLst/>
          </a:prstGeom>
          <a:solidFill>
            <a:schemeClr val="bg2"/>
          </a:solidFill>
          <a:ln/>
        </p:spPr>
      </p:sp>
      <p:sp>
        <p:nvSpPr>
          <p:cNvPr id="40" name="Text 37"/>
          <p:cNvSpPr txBox="1"/>
          <p:nvPr/>
        </p:nvSpPr>
        <p:spPr>
          <a:xfrm>
            <a:off x="9665208" y="2057400"/>
            <a:ext cx="1792224" cy="123444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2024</a:t>
            </a:r>
            <a:endParaRPr lang="en-US" sz="1300" dirty="0"/>
          </a:p>
          <a:p>
            <a:pPr indent="0" marL="0">
              <a:buNone/>
            </a:pPr>
            <a:r>
              <a:rPr lang="en-US" sz="1400" b="1" dirty="0">
                <a:solidFill>
                  <a:schemeClr val="tx1"/>
                </a:solidFill>
                <a:latin typeface="Calibri" pitchFamily="34" charset="0"/>
                <a:ea typeface="Calibri" pitchFamily="34" charset="-122"/>
                <a:cs typeface="Calibri" pitchFamily="34" charset="-120"/>
              </a:rPr>
              <a:t>Nobel Prizes</a:t>
            </a:r>
            <a:endParaRPr lang="en-US" sz="1300" dirty="0"/>
          </a:p>
          <a:p>
            <a:pPr indent="0" marL="0">
              <a:buNone/>
            </a:pPr>
            <a:r>
              <a:rPr lang="en-US" sz="1250" dirty="0">
                <a:solidFill>
                  <a:schemeClr val="tx2"/>
                </a:solidFill>
                <a:latin typeface="Calibri" pitchFamily="34" charset="0"/>
                <a:ea typeface="Calibri" pitchFamily="34" charset="-122"/>
                <a:cs typeface="Calibri" pitchFamily="34" charset="-120"/>
              </a:rPr>
              <a:t>Physics and Chemistry for AI work</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1828800"/>
            <a:ext cx="10698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PART 5 · HOW A NETWORK LEARNS</a:t>
            </a:r>
            <a:endParaRPr lang="en-US" sz="1400" dirty="0"/>
          </a:p>
        </p:txBody>
      </p:sp>
      <p:sp>
        <p:nvSpPr>
          <p:cNvPr id="3"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000" dirty="0">
                <a:solidFill>
                  <a:schemeClr val="bg1"/>
                </a:solidFill>
                <a:latin typeface="Cambria" pitchFamily="34" charset="0"/>
                <a:ea typeface="Cambria" pitchFamily="34" charset="-122"/>
                <a:cs typeface="Cambria" pitchFamily="34" charset="-120"/>
              </a:rPr>
              <a:t>Loss, gradients and backpropagation</a:t>
            </a:r>
            <a:endParaRPr lang="en-US" sz="4000" dirty="0"/>
          </a:p>
        </p:txBody>
      </p:sp>
      <p:sp>
        <p:nvSpPr>
          <p:cNvPr id="4"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Plus gradient descent, SGD, mini-batches and modern optimizers</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Training is a four-step loop, repeated many thousands of times</a:t>
            </a:r>
            <a:endParaRPr lang="en-US" sz="3200" dirty="0"/>
          </a:p>
        </p:txBody>
      </p:sp>
      <p:sp>
        <p:nvSpPr>
          <p:cNvPr id="4" name="Shape 1"/>
          <p:cNvSpPr/>
          <p:nvPr/>
        </p:nvSpPr>
        <p:spPr>
          <a:xfrm>
            <a:off x="548640" y="1325880"/>
            <a:ext cx="2560320" cy="2148840"/>
          </a:xfrm>
          <a:prstGeom prst="rect">
            <a:avLst/>
          </a:prstGeom>
          <a:solidFill>
            <a:schemeClr val="bg2"/>
          </a:solidFill>
          <a:ln/>
        </p:spPr>
      </p:sp>
      <p:sp>
        <p:nvSpPr>
          <p:cNvPr id="5" name="Text 2"/>
          <p:cNvSpPr txBox="1"/>
          <p:nvPr/>
        </p:nvSpPr>
        <p:spPr>
          <a:xfrm>
            <a:off x="731520" y="1417320"/>
            <a:ext cx="548640" cy="548640"/>
          </a:xfrm>
          <a:prstGeom prst="rect">
            <a:avLst/>
          </a:prstGeom>
          <a:noFill/>
          <a:ln/>
        </p:spPr>
        <p:txBody>
          <a:bodyPr wrap="square" lIns="0" tIns="0" rIns="0" bIns="0" rtlCol="0" anchor="t"/>
          <a:lstStyle/>
          <a:p>
            <a:pPr indent="0" marL="0">
              <a:buNone/>
            </a:pPr>
            <a:r>
              <a:rPr lang="en-US" sz="2800" dirty="0">
                <a:solidFill>
                  <a:schemeClr val="accent1"/>
                </a:solidFill>
                <a:latin typeface="Cambria" pitchFamily="34" charset="0"/>
                <a:ea typeface="Cambria" pitchFamily="34" charset="-122"/>
                <a:cs typeface="Cambria" pitchFamily="34" charset="-120"/>
              </a:rPr>
              <a:t>1</a:t>
            </a:r>
            <a:endParaRPr lang="en-US" sz="2800" dirty="0"/>
          </a:p>
        </p:txBody>
      </p:sp>
      <p:sp>
        <p:nvSpPr>
          <p:cNvPr id="6" name="Text 3"/>
          <p:cNvSpPr txBox="1"/>
          <p:nvPr/>
        </p:nvSpPr>
        <p:spPr>
          <a:xfrm>
            <a:off x="1234440" y="1481328"/>
            <a:ext cx="17373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Forward pass</a:t>
            </a:r>
            <a:endParaRPr lang="en-US" sz="1600" dirty="0"/>
          </a:p>
        </p:txBody>
      </p:sp>
      <p:sp>
        <p:nvSpPr>
          <p:cNvPr id="7" name="Text 4"/>
          <p:cNvSpPr txBox="1"/>
          <p:nvPr/>
        </p:nvSpPr>
        <p:spPr>
          <a:xfrm>
            <a:off x="731520" y="2011680"/>
            <a:ext cx="2194560"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Inputs flow layer by layer: z = Wx + b, a = f(z)</a:t>
            </a:r>
            <a:endParaRPr lang="en-US" sz="1250" dirty="0"/>
          </a:p>
        </p:txBody>
      </p:sp>
      <p:sp>
        <p:nvSpPr>
          <p:cNvPr id="8" name="Shape 5"/>
          <p:cNvSpPr/>
          <p:nvPr/>
        </p:nvSpPr>
        <p:spPr>
          <a:xfrm>
            <a:off x="731520" y="2834640"/>
            <a:ext cx="2194560" cy="457200"/>
          </a:xfrm>
          <a:prstGeom prst="rect">
            <a:avLst/>
          </a:prstGeom>
          <a:solidFill>
            <a:schemeClr val="tx1"/>
          </a:solidFill>
          <a:ln/>
        </p:spPr>
      </p:sp>
      <p:sp>
        <p:nvSpPr>
          <p:cNvPr id="9" name="Text 6"/>
          <p:cNvSpPr txBox="1"/>
          <p:nvPr/>
        </p:nvSpPr>
        <p:spPr>
          <a:xfrm>
            <a:off x="822960" y="2834640"/>
            <a:ext cx="2103120" cy="457200"/>
          </a:xfrm>
          <a:prstGeom prst="rect">
            <a:avLst/>
          </a:prstGeom>
          <a:noFill/>
          <a:ln/>
        </p:spPr>
        <p:txBody>
          <a:bodyPr wrap="square" lIns="0" tIns="0" rIns="0" bIns="0" rtlCol="0" anchor="ctr"/>
          <a:lstStyle/>
          <a:p>
            <a:pPr indent="0" marL="0">
              <a:buNone/>
            </a:pPr>
            <a:r>
              <a:rPr lang="en-US" sz="1000" dirty="0">
                <a:solidFill>
                  <a:schemeClr val="accent1"/>
                </a:solidFill>
                <a:latin typeface="Courier New" pitchFamily="34" charset="0"/>
                <a:ea typeface="Courier New" pitchFamily="34" charset="-122"/>
                <a:cs typeface="Courier New" pitchFamily="34" charset="-120"/>
              </a:rPr>
              <a:t>out = model(x)</a:t>
            </a:r>
            <a:endParaRPr lang="en-US" sz="1000" dirty="0"/>
          </a:p>
        </p:txBody>
      </p:sp>
      <p:sp>
        <p:nvSpPr>
          <p:cNvPr id="10" name="Shape 7"/>
          <p:cNvSpPr/>
          <p:nvPr/>
        </p:nvSpPr>
        <p:spPr>
          <a:xfrm>
            <a:off x="3127248" y="2395728"/>
            <a:ext cx="246888" cy="914"/>
          </a:xfrm>
          <a:prstGeom prst="line">
            <a:avLst/>
          </a:prstGeom>
          <a:noFill/>
          <a:ln w="25400">
            <a:solidFill>
              <a:srgbClr val="3A4651"/>
            </a:solidFill>
            <a:prstDash val="solid"/>
            <a:tailEnd type="triangle"/>
          </a:ln>
        </p:spPr>
      </p:sp>
      <p:sp>
        <p:nvSpPr>
          <p:cNvPr id="11" name="Shape 8"/>
          <p:cNvSpPr/>
          <p:nvPr/>
        </p:nvSpPr>
        <p:spPr>
          <a:xfrm>
            <a:off x="3392424" y="1325880"/>
            <a:ext cx="2560320" cy="2148840"/>
          </a:xfrm>
          <a:prstGeom prst="rect">
            <a:avLst/>
          </a:prstGeom>
          <a:solidFill>
            <a:schemeClr val="bg2"/>
          </a:solidFill>
          <a:ln/>
        </p:spPr>
      </p:sp>
      <p:sp>
        <p:nvSpPr>
          <p:cNvPr id="12" name="Text 9"/>
          <p:cNvSpPr txBox="1"/>
          <p:nvPr/>
        </p:nvSpPr>
        <p:spPr>
          <a:xfrm>
            <a:off x="3575304" y="1417320"/>
            <a:ext cx="548640" cy="548640"/>
          </a:xfrm>
          <a:prstGeom prst="rect">
            <a:avLst/>
          </a:prstGeom>
          <a:noFill/>
          <a:ln/>
        </p:spPr>
        <p:txBody>
          <a:bodyPr wrap="square" lIns="0" tIns="0" rIns="0" bIns="0" rtlCol="0" anchor="t"/>
          <a:lstStyle/>
          <a:p>
            <a:pPr indent="0" marL="0">
              <a:buNone/>
            </a:pPr>
            <a:r>
              <a:rPr lang="en-US" sz="2800" dirty="0">
                <a:solidFill>
                  <a:schemeClr val="accent1"/>
                </a:solidFill>
                <a:latin typeface="Cambria" pitchFamily="34" charset="0"/>
                <a:ea typeface="Cambria" pitchFamily="34" charset="-122"/>
                <a:cs typeface="Cambria" pitchFamily="34" charset="-120"/>
              </a:rPr>
              <a:t>2</a:t>
            </a:r>
            <a:endParaRPr lang="en-US" sz="2800" dirty="0"/>
          </a:p>
        </p:txBody>
      </p:sp>
      <p:sp>
        <p:nvSpPr>
          <p:cNvPr id="13" name="Text 10"/>
          <p:cNvSpPr txBox="1"/>
          <p:nvPr/>
        </p:nvSpPr>
        <p:spPr>
          <a:xfrm>
            <a:off x="4078224" y="1481328"/>
            <a:ext cx="17373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Loss</a:t>
            </a:r>
            <a:endParaRPr lang="en-US" sz="1600" dirty="0"/>
          </a:p>
        </p:txBody>
      </p:sp>
      <p:sp>
        <p:nvSpPr>
          <p:cNvPr id="14" name="Text 11"/>
          <p:cNvSpPr txBox="1"/>
          <p:nvPr/>
        </p:nvSpPr>
        <p:spPr>
          <a:xfrm>
            <a:off x="3575304" y="2011680"/>
            <a:ext cx="2194560"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One number for how wrong the predictions are</a:t>
            </a:r>
            <a:endParaRPr lang="en-US" sz="1250" dirty="0"/>
          </a:p>
        </p:txBody>
      </p:sp>
      <p:sp>
        <p:nvSpPr>
          <p:cNvPr id="15" name="Shape 12"/>
          <p:cNvSpPr/>
          <p:nvPr/>
        </p:nvSpPr>
        <p:spPr>
          <a:xfrm>
            <a:off x="3575304" y="2834640"/>
            <a:ext cx="2194560" cy="457200"/>
          </a:xfrm>
          <a:prstGeom prst="rect">
            <a:avLst/>
          </a:prstGeom>
          <a:solidFill>
            <a:schemeClr val="tx1"/>
          </a:solidFill>
          <a:ln/>
        </p:spPr>
      </p:sp>
      <p:sp>
        <p:nvSpPr>
          <p:cNvPr id="16" name="Text 13"/>
          <p:cNvSpPr txBox="1"/>
          <p:nvPr/>
        </p:nvSpPr>
        <p:spPr>
          <a:xfrm>
            <a:off x="3666744" y="2834640"/>
            <a:ext cx="2103120" cy="457200"/>
          </a:xfrm>
          <a:prstGeom prst="rect">
            <a:avLst/>
          </a:prstGeom>
          <a:noFill/>
          <a:ln/>
        </p:spPr>
        <p:txBody>
          <a:bodyPr wrap="square" lIns="0" tIns="0" rIns="0" bIns="0" rtlCol="0" anchor="ctr"/>
          <a:lstStyle/>
          <a:p>
            <a:pPr indent="0" marL="0">
              <a:buNone/>
            </a:pPr>
            <a:r>
              <a:rPr lang="en-US" sz="1000" dirty="0">
                <a:solidFill>
                  <a:schemeClr val="accent1"/>
                </a:solidFill>
                <a:latin typeface="Courier New" pitchFamily="34" charset="0"/>
                <a:ea typeface="Courier New" pitchFamily="34" charset="-122"/>
                <a:cs typeface="Courier New" pitchFamily="34" charset="-120"/>
              </a:rPr>
              <a:t>loss = criterion(out, y)</a:t>
            </a:r>
            <a:endParaRPr lang="en-US" sz="1000" dirty="0"/>
          </a:p>
        </p:txBody>
      </p:sp>
      <p:sp>
        <p:nvSpPr>
          <p:cNvPr id="17" name="Shape 14"/>
          <p:cNvSpPr/>
          <p:nvPr/>
        </p:nvSpPr>
        <p:spPr>
          <a:xfrm>
            <a:off x="5971032" y="2395728"/>
            <a:ext cx="246888" cy="914"/>
          </a:xfrm>
          <a:prstGeom prst="line">
            <a:avLst/>
          </a:prstGeom>
          <a:noFill/>
          <a:ln w="25400">
            <a:solidFill>
              <a:srgbClr val="3A4651"/>
            </a:solidFill>
            <a:prstDash val="solid"/>
            <a:tailEnd type="triangle"/>
          </a:ln>
        </p:spPr>
      </p:sp>
      <p:sp>
        <p:nvSpPr>
          <p:cNvPr id="18" name="Shape 15"/>
          <p:cNvSpPr/>
          <p:nvPr/>
        </p:nvSpPr>
        <p:spPr>
          <a:xfrm>
            <a:off x="6236208" y="1325880"/>
            <a:ext cx="2560320" cy="2148840"/>
          </a:xfrm>
          <a:prstGeom prst="rect">
            <a:avLst/>
          </a:prstGeom>
          <a:solidFill>
            <a:schemeClr val="accent1"/>
          </a:solidFill>
          <a:ln/>
        </p:spPr>
      </p:sp>
      <p:sp>
        <p:nvSpPr>
          <p:cNvPr id="19" name="Text 16"/>
          <p:cNvSpPr txBox="1"/>
          <p:nvPr/>
        </p:nvSpPr>
        <p:spPr>
          <a:xfrm>
            <a:off x="6419088" y="1417320"/>
            <a:ext cx="548640" cy="548640"/>
          </a:xfrm>
          <a:prstGeom prst="rect">
            <a:avLst/>
          </a:prstGeom>
          <a:noFill/>
          <a:ln/>
        </p:spPr>
        <p:txBody>
          <a:bodyPr wrap="square" lIns="0" tIns="0" rIns="0" bIns="0" rtlCol="0" anchor="t"/>
          <a:lstStyle/>
          <a:p>
            <a:pPr indent="0" marL="0">
              <a:buNone/>
            </a:pPr>
            <a:r>
              <a:rPr lang="en-US" sz="2800" dirty="0">
                <a:solidFill>
                  <a:schemeClr val="tx1"/>
                </a:solidFill>
                <a:latin typeface="Cambria" pitchFamily="34" charset="0"/>
                <a:ea typeface="Cambria" pitchFamily="34" charset="-122"/>
                <a:cs typeface="Cambria" pitchFamily="34" charset="-120"/>
              </a:rPr>
              <a:t>3</a:t>
            </a:r>
            <a:endParaRPr lang="en-US" sz="2800" dirty="0"/>
          </a:p>
        </p:txBody>
      </p:sp>
      <p:sp>
        <p:nvSpPr>
          <p:cNvPr id="20" name="Text 17"/>
          <p:cNvSpPr txBox="1"/>
          <p:nvPr/>
        </p:nvSpPr>
        <p:spPr>
          <a:xfrm>
            <a:off x="6922008" y="1481328"/>
            <a:ext cx="17373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Backward pass</a:t>
            </a:r>
            <a:endParaRPr lang="en-US" sz="1600" dirty="0"/>
          </a:p>
        </p:txBody>
      </p:sp>
      <p:sp>
        <p:nvSpPr>
          <p:cNvPr id="21" name="Text 18"/>
          <p:cNvSpPr txBox="1"/>
          <p:nvPr/>
        </p:nvSpPr>
        <p:spPr>
          <a:xfrm>
            <a:off x="6419088" y="2011680"/>
            <a:ext cx="2194560"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Backprop computes ∂L/∂w for every weight</a:t>
            </a:r>
            <a:endParaRPr lang="en-US" sz="1250" dirty="0"/>
          </a:p>
        </p:txBody>
      </p:sp>
      <p:sp>
        <p:nvSpPr>
          <p:cNvPr id="22" name="Shape 19"/>
          <p:cNvSpPr/>
          <p:nvPr/>
        </p:nvSpPr>
        <p:spPr>
          <a:xfrm>
            <a:off x="6419088" y="2834640"/>
            <a:ext cx="2194560" cy="457200"/>
          </a:xfrm>
          <a:prstGeom prst="rect">
            <a:avLst/>
          </a:prstGeom>
          <a:solidFill>
            <a:schemeClr val="tx1"/>
          </a:solidFill>
          <a:ln/>
        </p:spPr>
      </p:sp>
      <p:sp>
        <p:nvSpPr>
          <p:cNvPr id="23" name="Text 20"/>
          <p:cNvSpPr txBox="1"/>
          <p:nvPr/>
        </p:nvSpPr>
        <p:spPr>
          <a:xfrm>
            <a:off x="6510528" y="2834640"/>
            <a:ext cx="2103120" cy="457200"/>
          </a:xfrm>
          <a:prstGeom prst="rect">
            <a:avLst/>
          </a:prstGeom>
          <a:noFill/>
          <a:ln/>
        </p:spPr>
        <p:txBody>
          <a:bodyPr wrap="square" lIns="0" tIns="0" rIns="0" bIns="0" rtlCol="0" anchor="ctr"/>
          <a:lstStyle/>
          <a:p>
            <a:pPr indent="0" marL="0">
              <a:buNone/>
            </a:pPr>
            <a:r>
              <a:rPr lang="en-US" sz="1000" dirty="0">
                <a:solidFill>
                  <a:schemeClr val="accent1"/>
                </a:solidFill>
                <a:latin typeface="Courier New" pitchFamily="34" charset="0"/>
                <a:ea typeface="Courier New" pitchFamily="34" charset="-122"/>
                <a:cs typeface="Courier New" pitchFamily="34" charset="-120"/>
              </a:rPr>
              <a:t>loss.backward()</a:t>
            </a:r>
            <a:endParaRPr lang="en-US" sz="1000" dirty="0"/>
          </a:p>
        </p:txBody>
      </p:sp>
      <p:sp>
        <p:nvSpPr>
          <p:cNvPr id="24" name="Shape 21"/>
          <p:cNvSpPr/>
          <p:nvPr/>
        </p:nvSpPr>
        <p:spPr>
          <a:xfrm>
            <a:off x="8814816" y="2395728"/>
            <a:ext cx="246888" cy="914"/>
          </a:xfrm>
          <a:prstGeom prst="line">
            <a:avLst/>
          </a:prstGeom>
          <a:noFill/>
          <a:ln w="25400">
            <a:solidFill>
              <a:srgbClr val="3A4651"/>
            </a:solidFill>
            <a:prstDash val="solid"/>
            <a:tailEnd type="triangle"/>
          </a:ln>
        </p:spPr>
      </p:sp>
      <p:sp>
        <p:nvSpPr>
          <p:cNvPr id="25" name="Shape 22"/>
          <p:cNvSpPr/>
          <p:nvPr/>
        </p:nvSpPr>
        <p:spPr>
          <a:xfrm>
            <a:off x="9079992" y="1325880"/>
            <a:ext cx="2560320" cy="2148840"/>
          </a:xfrm>
          <a:prstGeom prst="rect">
            <a:avLst/>
          </a:prstGeom>
          <a:solidFill>
            <a:schemeClr val="bg2"/>
          </a:solidFill>
          <a:ln/>
        </p:spPr>
      </p:sp>
      <p:sp>
        <p:nvSpPr>
          <p:cNvPr id="26" name="Text 23"/>
          <p:cNvSpPr txBox="1"/>
          <p:nvPr/>
        </p:nvSpPr>
        <p:spPr>
          <a:xfrm>
            <a:off x="9262872" y="1417320"/>
            <a:ext cx="548640" cy="548640"/>
          </a:xfrm>
          <a:prstGeom prst="rect">
            <a:avLst/>
          </a:prstGeom>
          <a:noFill/>
          <a:ln/>
        </p:spPr>
        <p:txBody>
          <a:bodyPr wrap="square" lIns="0" tIns="0" rIns="0" bIns="0" rtlCol="0" anchor="t"/>
          <a:lstStyle/>
          <a:p>
            <a:pPr indent="0" marL="0">
              <a:buNone/>
            </a:pPr>
            <a:r>
              <a:rPr lang="en-US" sz="2800" dirty="0">
                <a:solidFill>
                  <a:schemeClr val="accent1"/>
                </a:solidFill>
                <a:latin typeface="Cambria" pitchFamily="34" charset="0"/>
                <a:ea typeface="Cambria" pitchFamily="34" charset="-122"/>
                <a:cs typeface="Cambria" pitchFamily="34" charset="-120"/>
              </a:rPr>
              <a:t>4</a:t>
            </a:r>
            <a:endParaRPr lang="en-US" sz="2800" dirty="0"/>
          </a:p>
        </p:txBody>
      </p:sp>
      <p:sp>
        <p:nvSpPr>
          <p:cNvPr id="27" name="Text 24"/>
          <p:cNvSpPr txBox="1"/>
          <p:nvPr/>
        </p:nvSpPr>
        <p:spPr>
          <a:xfrm>
            <a:off x="9765792" y="1481328"/>
            <a:ext cx="17373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Update</a:t>
            </a:r>
            <a:endParaRPr lang="en-US" sz="1600" dirty="0"/>
          </a:p>
        </p:txBody>
      </p:sp>
      <p:sp>
        <p:nvSpPr>
          <p:cNvPr id="28" name="Text 25"/>
          <p:cNvSpPr txBox="1"/>
          <p:nvPr/>
        </p:nvSpPr>
        <p:spPr>
          <a:xfrm>
            <a:off x="9262872" y="2011680"/>
            <a:ext cx="2194560"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The optimizer nudges each weight against its gradient</a:t>
            </a:r>
            <a:endParaRPr lang="en-US" sz="1250" dirty="0"/>
          </a:p>
        </p:txBody>
      </p:sp>
      <p:sp>
        <p:nvSpPr>
          <p:cNvPr id="29" name="Shape 26"/>
          <p:cNvSpPr/>
          <p:nvPr/>
        </p:nvSpPr>
        <p:spPr>
          <a:xfrm>
            <a:off x="9262872" y="2834640"/>
            <a:ext cx="2194560" cy="457200"/>
          </a:xfrm>
          <a:prstGeom prst="rect">
            <a:avLst/>
          </a:prstGeom>
          <a:solidFill>
            <a:schemeClr val="tx1"/>
          </a:solidFill>
          <a:ln/>
        </p:spPr>
      </p:sp>
      <p:sp>
        <p:nvSpPr>
          <p:cNvPr id="30" name="Text 27"/>
          <p:cNvSpPr txBox="1"/>
          <p:nvPr/>
        </p:nvSpPr>
        <p:spPr>
          <a:xfrm>
            <a:off x="9354312" y="2834640"/>
            <a:ext cx="2103120" cy="457200"/>
          </a:xfrm>
          <a:prstGeom prst="rect">
            <a:avLst/>
          </a:prstGeom>
          <a:noFill/>
          <a:ln/>
        </p:spPr>
        <p:txBody>
          <a:bodyPr wrap="square" lIns="0" tIns="0" rIns="0" bIns="0" rtlCol="0" anchor="ctr"/>
          <a:lstStyle/>
          <a:p>
            <a:pPr indent="0" marL="0">
              <a:buNone/>
            </a:pPr>
            <a:r>
              <a:rPr lang="en-US" sz="1000" dirty="0">
                <a:solidFill>
                  <a:schemeClr val="accent1"/>
                </a:solidFill>
                <a:latin typeface="Courier New" pitchFamily="34" charset="0"/>
                <a:ea typeface="Courier New" pitchFamily="34" charset="-122"/>
                <a:cs typeface="Courier New" pitchFamily="34" charset="-120"/>
              </a:rPr>
              <a:t>optimizer.step()</a:t>
            </a:r>
            <a:endParaRPr lang="en-US" sz="1000" dirty="0"/>
          </a:p>
        </p:txBody>
      </p:sp>
      <p:sp>
        <p:nvSpPr>
          <p:cNvPr id="31" name="Text 28"/>
          <p:cNvSpPr txBox="1"/>
          <p:nvPr/>
        </p:nvSpPr>
        <p:spPr>
          <a:xfrm>
            <a:off x="548640" y="3584448"/>
            <a:ext cx="11091672" cy="320040"/>
          </a:xfrm>
          <a:prstGeom prst="rect">
            <a:avLst/>
          </a:prstGeom>
          <a:noFill/>
          <a:ln/>
        </p:spPr>
        <p:txBody>
          <a:bodyPr wrap="square" lIns="0" tIns="0" rIns="0" bIns="0" rtlCol="0" anchor="t"/>
          <a:lstStyle/>
          <a:p>
            <a:pPr algn="ctr" indent="0" marL="0">
              <a:buNone/>
            </a:pPr>
            <a:r>
              <a:rPr lang="en-US" sz="1300" i="1" dirty="0">
                <a:solidFill>
                  <a:schemeClr val="accent2"/>
                </a:solidFill>
                <a:latin typeface="Calibri" pitchFamily="34" charset="0"/>
                <a:ea typeface="Calibri" pitchFamily="34" charset="-122"/>
                <a:cs typeface="Calibri" pitchFamily="34" charset="-120"/>
              </a:rPr>
              <a:t>↻  repeat for every mini-batch; one pass over the data = one epoch</a:t>
            </a:r>
            <a:endParaRPr lang="en-US" sz="1300" dirty="0"/>
          </a:p>
        </p:txBody>
      </p:sp>
      <p:sp>
        <p:nvSpPr>
          <p:cNvPr id="32" name="Shape 29"/>
          <p:cNvSpPr/>
          <p:nvPr/>
        </p:nvSpPr>
        <p:spPr>
          <a:xfrm>
            <a:off x="548640" y="4023360"/>
            <a:ext cx="4206240" cy="2103120"/>
          </a:xfrm>
          <a:prstGeom prst="rect">
            <a:avLst/>
          </a:prstGeom>
          <a:solidFill>
            <a:schemeClr val="bg1"/>
          </a:solidFill>
          <a:ln/>
        </p:spPr>
      </p:sp>
      <p:pic>
        <p:nvPicPr>
          <p:cNvPr id="33" name="Image 0" descr="Deep neural network with notation for weights, biases and layers">    </p:cNvPr>
          <p:cNvPicPr>
            <a:picLocks noChangeAspect="1"/>
          </p:cNvPicPr>
          <p:nvPr/>
        </p:nvPicPr>
        <p:blipFill>
          <a:blip r:embed="rId1"/>
          <a:stretch>
            <a:fillRect/>
          </a:stretch>
        </p:blipFill>
        <p:spPr>
          <a:xfrm>
            <a:off x="1415558" y="4023360"/>
            <a:ext cx="2472404" cy="2103120"/>
          </a:xfrm>
          <a:prstGeom prst="rect">
            <a:avLst/>
          </a:prstGeom>
        </p:spPr>
      </p:pic>
      <p:sp>
        <p:nvSpPr>
          <p:cNvPr id="34" name="Shape 30"/>
          <p:cNvSpPr/>
          <p:nvPr/>
        </p:nvSpPr>
        <p:spPr>
          <a:xfrm>
            <a:off x="4983480" y="4023360"/>
            <a:ext cx="6656832" cy="2148840"/>
          </a:xfrm>
          <a:prstGeom prst="rect">
            <a:avLst/>
          </a:prstGeom>
          <a:solidFill>
            <a:schemeClr val="bg2"/>
          </a:solidFill>
          <a:ln/>
        </p:spPr>
      </p:sp>
      <p:sp>
        <p:nvSpPr>
          <p:cNvPr id="35" name="Text 31"/>
          <p:cNvSpPr txBox="1"/>
          <p:nvPr/>
        </p:nvSpPr>
        <p:spPr>
          <a:xfrm>
            <a:off x="5212080" y="4114800"/>
            <a:ext cx="62179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Notation used today</a:t>
            </a:r>
            <a:endParaRPr lang="en-US" sz="1500" dirty="0"/>
          </a:p>
        </p:txBody>
      </p:sp>
      <p:sp>
        <p:nvSpPr>
          <p:cNvPr id="36" name="Text 32"/>
          <p:cNvSpPr txBox="1"/>
          <p:nvPr/>
        </p:nvSpPr>
        <p:spPr>
          <a:xfrm>
            <a:off x="5212080" y="4480560"/>
            <a:ext cx="6217920" cy="1600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wᵢⱼᵏ: weight from unit i to unit j in layer k</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z = Σ wᵢxᵢ + b, the weighted sum (pre-activation)</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a = f(z), the activation; ŷ is the final output</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L(ŷ, y): the loss; η: the learning rate</a:t>
            </a:r>
            <a:endParaRPr lang="en-US" sz="1300" dirty="0"/>
          </a:p>
        </p:txBody>
      </p:sp>
      <p:sp>
        <p:nvSpPr>
          <p:cNvPr id="37" name="Text 33"/>
          <p:cNvSpPr txBox="1"/>
          <p:nvPr/>
        </p:nvSpPr>
        <p:spPr>
          <a:xfrm>
            <a:off x="548640" y="6144768"/>
            <a:ext cx="420624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 C. P. Bathula, Deep Learning series, Part 5</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The loss turns "how wrong" into one number</a:t>
            </a:r>
            <a:endParaRPr lang="en-US" sz="3200" dirty="0"/>
          </a:p>
        </p:txBody>
      </p:sp>
      <p:sp>
        <p:nvSpPr>
          <p:cNvPr id="4" name="Shape 1"/>
          <p:cNvSpPr/>
          <p:nvPr/>
        </p:nvSpPr>
        <p:spPr>
          <a:xfrm>
            <a:off x="548640" y="1325880"/>
            <a:ext cx="5120640" cy="3017520"/>
          </a:xfrm>
          <a:prstGeom prst="rect">
            <a:avLst/>
          </a:prstGeom>
          <a:solidFill>
            <a:schemeClr val="bg1"/>
          </a:solidFill>
          <a:ln/>
        </p:spPr>
      </p:sp>
      <p:pic>
        <p:nvPicPr>
          <p:cNvPr id="5" name="Image 0" descr="Cross-entropy loss for classification and mean squared error for regression">    </p:cNvPr>
          <p:cNvPicPr>
            <a:picLocks noChangeAspect="1"/>
          </p:cNvPicPr>
          <p:nvPr/>
        </p:nvPicPr>
        <p:blipFill>
          <a:blip r:embed="rId1"/>
          <a:stretch>
            <a:fillRect/>
          </a:stretch>
        </p:blipFill>
        <p:spPr>
          <a:xfrm>
            <a:off x="640080" y="1613194"/>
            <a:ext cx="4937760" cy="2442892"/>
          </a:xfrm>
          <a:prstGeom prst="rect">
            <a:avLst/>
          </a:prstGeom>
        </p:spPr>
      </p:pic>
      <p:sp>
        <p:nvSpPr>
          <p:cNvPr id="6" name="Text 2"/>
          <p:cNvSpPr txBox="1"/>
          <p:nvPr/>
        </p:nvSpPr>
        <p:spPr>
          <a:xfrm>
            <a:off x="548640" y="4370832"/>
            <a:ext cx="512064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 C. P. Bathula, Deep Learning series, Part 5</a:t>
            </a:r>
            <a:endParaRPr lang="en-US" sz="1000" dirty="0"/>
          </a:p>
        </p:txBody>
      </p:sp>
      <p:sp>
        <p:nvSpPr>
          <p:cNvPr id="7" name="Shape 3"/>
          <p:cNvSpPr/>
          <p:nvPr/>
        </p:nvSpPr>
        <p:spPr>
          <a:xfrm>
            <a:off x="548640" y="4709160"/>
            <a:ext cx="5120640" cy="1463040"/>
          </a:xfrm>
          <a:prstGeom prst="rect">
            <a:avLst/>
          </a:prstGeom>
          <a:solidFill>
            <a:schemeClr val="bg2"/>
          </a:solidFill>
          <a:ln/>
        </p:spPr>
      </p:sp>
      <p:sp>
        <p:nvSpPr>
          <p:cNvPr id="8" name="Text 4"/>
          <p:cNvSpPr txBox="1"/>
          <p:nvPr/>
        </p:nvSpPr>
        <p:spPr>
          <a:xfrm>
            <a:off x="777240" y="4818888"/>
            <a:ext cx="2834640" cy="5486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Softmax turns K scores into probabilities</a:t>
            </a:r>
            <a:endParaRPr lang="en-US" sz="1300" dirty="0"/>
          </a:p>
        </p:txBody>
      </p:sp>
      <p:pic>
        <p:nvPicPr>
          <p:cNvPr id="9" name="Image 1" descr="Softmax formula: y-hat i equals e to the z i over the sum of e to the z k">    </p:cNvPr>
          <p:cNvPicPr>
            <a:picLocks noChangeAspect="1"/>
          </p:cNvPicPr>
          <p:nvPr/>
        </p:nvPicPr>
        <p:blipFill>
          <a:blip r:embed="rId2"/>
          <a:stretch>
            <a:fillRect/>
          </a:stretch>
        </p:blipFill>
        <p:spPr>
          <a:xfrm>
            <a:off x="3657600" y="4929236"/>
            <a:ext cx="1828800" cy="1022888"/>
          </a:xfrm>
          <a:prstGeom prst="rect">
            <a:avLst/>
          </a:prstGeom>
        </p:spPr>
      </p:pic>
      <p:sp>
        <p:nvSpPr>
          <p:cNvPr id="10" name="Text 5"/>
          <p:cNvSpPr txBox="1"/>
          <p:nvPr/>
        </p:nvSpPr>
        <p:spPr>
          <a:xfrm>
            <a:off x="777240" y="5440680"/>
            <a:ext cx="2834640" cy="5486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Outputs are positive and sum to 1.</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897880" y="1325880"/>
          <a:ext cx="5742432" cy="914400"/>
        </p:xfrm>
        <a:graphic>
          <a:graphicData uri="http://schemas.openxmlformats.org/drawingml/2006/table">
            <a:tbl>
              <a:tblPr/>
              <a:tblGrid>
                <a:gridCol w="2194560"/>
                <a:gridCol w="1901952"/>
                <a:gridCol w="1645920"/>
              </a:tblGrid>
              <a:tr h="50292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Task (this week's notebook)</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Output layer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Loss in PyTorch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502920">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Regression (California housing)</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Linear(32, 1), no activation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nn.MSELoss()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Binary (heart disease)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Linear(32, 1) + Sigmoid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nn.BCELoss()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Multi-class (MNIST)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Linear(128, 10) logits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nn.CrossEntropyLoss()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12" name="Shape 6"/>
          <p:cNvSpPr/>
          <p:nvPr/>
        </p:nvSpPr>
        <p:spPr>
          <a:xfrm>
            <a:off x="5897880" y="3566160"/>
            <a:ext cx="5742432" cy="2606040"/>
          </a:xfrm>
          <a:prstGeom prst="rect">
            <a:avLst/>
          </a:prstGeom>
          <a:solidFill>
            <a:schemeClr val="bg2"/>
          </a:solidFill>
          <a:ln/>
        </p:spPr>
      </p:sp>
      <p:sp>
        <p:nvSpPr>
          <p:cNvPr id="13" name="Text 7"/>
          <p:cNvSpPr txBox="1"/>
          <p:nvPr/>
        </p:nvSpPr>
        <p:spPr>
          <a:xfrm>
            <a:off x="6126480" y="3703320"/>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Why cross-entropy for classification?</a:t>
            </a:r>
            <a:endParaRPr lang="en-US" sz="1500" dirty="0"/>
          </a:p>
        </p:txBody>
      </p:sp>
      <p:sp>
        <p:nvSpPr>
          <p:cNvPr id="14" name="Text 8"/>
          <p:cNvSpPr txBox="1"/>
          <p:nvPr/>
        </p:nvSpPr>
        <p:spPr>
          <a:xfrm>
            <a:off x="6126480" y="4114800"/>
            <a:ext cx="5349240"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It is the negative log-probability of the correct class: −log ŷ_true</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Predict 0.9 for the right class: loss 0.11. Predict 0.01: loss 4.6</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Confident mistakes give large gradients, so learning starts fast</a:t>
            </a:r>
            <a:endParaRPr lang="en-US" sz="1300" dirty="0"/>
          </a:p>
          <a:p>
            <a:pPr marL="177800" indent="-177800">
              <a:spcAft>
                <a:spcPts val="600"/>
              </a:spcAft>
              <a:buSzPct val="100000"/>
              <a:buChar char="•"/>
            </a:pPr>
            <a:r>
              <a:rPr lang="en-US" sz="1300" dirty="0">
                <a:solidFill>
                  <a:schemeClr val="tx2"/>
                </a:solidFill>
                <a:latin typeface="Calibri" pitchFamily="34" charset="0"/>
                <a:ea typeface="Calibri" pitchFamily="34" charset="-122"/>
                <a:cs typeface="Calibri" pitchFamily="34" charset="-120"/>
              </a:rPr>
              <a:t>With softmax, the gradient is simply ŷ − 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Gradient descent: take small steps downhill</a:t>
            </a:r>
            <a:endParaRPr lang="en-US" sz="3200" dirty="0"/>
          </a:p>
        </p:txBody>
      </p:sp>
      <p:sp>
        <p:nvSpPr>
          <p:cNvPr id="4" name="Shape 1"/>
          <p:cNvSpPr/>
          <p:nvPr/>
        </p:nvSpPr>
        <p:spPr>
          <a:xfrm>
            <a:off x="548640" y="1325880"/>
            <a:ext cx="3749040" cy="1371600"/>
          </a:xfrm>
          <a:prstGeom prst="rect">
            <a:avLst/>
          </a:prstGeom>
          <a:solidFill>
            <a:schemeClr val="tx1"/>
          </a:solidFill>
          <a:ln/>
        </p:spPr>
      </p:sp>
      <p:sp>
        <p:nvSpPr>
          <p:cNvPr id="5" name="Text 2"/>
          <p:cNvSpPr txBox="1"/>
          <p:nvPr/>
        </p:nvSpPr>
        <p:spPr>
          <a:xfrm>
            <a:off x="777240" y="1371600"/>
            <a:ext cx="3383280" cy="777240"/>
          </a:xfrm>
          <a:prstGeom prst="rect">
            <a:avLst/>
          </a:prstGeom>
          <a:noFill/>
          <a:ln/>
        </p:spPr>
        <p:txBody>
          <a:bodyPr wrap="square" lIns="0" tIns="0" rIns="0" bIns="0" rtlCol="0" anchor="ctr"/>
          <a:lstStyle/>
          <a:p>
            <a:pPr indent="0" marL="0">
              <a:buNone/>
            </a:pPr>
            <a:r>
              <a:rPr lang="en-US" sz="2600" dirty="0">
                <a:solidFill>
                  <a:schemeClr val="bg1"/>
                </a:solidFill>
                <a:latin typeface="Cambria" pitchFamily="34" charset="0"/>
                <a:ea typeface="Cambria" pitchFamily="34" charset="-122"/>
                <a:cs typeface="Cambria" pitchFamily="34" charset="-120"/>
              </a:rPr>
              <a:t>w ← w − η · ∂L/∂w</a:t>
            </a:r>
            <a:endParaRPr lang="en-US" sz="2600" dirty="0"/>
          </a:p>
        </p:txBody>
      </p:sp>
      <p:sp>
        <p:nvSpPr>
          <p:cNvPr id="6" name="Text 3"/>
          <p:cNvSpPr txBox="1"/>
          <p:nvPr/>
        </p:nvSpPr>
        <p:spPr>
          <a:xfrm>
            <a:off x="777240" y="2176272"/>
            <a:ext cx="3383280" cy="365760"/>
          </a:xfrm>
          <a:prstGeom prst="rect">
            <a:avLst/>
          </a:prstGeom>
          <a:noFill/>
          <a:ln/>
        </p:spPr>
        <p:txBody>
          <a:bodyPr wrap="square" lIns="0" tIns="0" rIns="0" bIns="0" rtlCol="0" anchor="t"/>
          <a:lstStyle/>
          <a:p>
            <a:pPr indent="0" marL="0">
              <a:buNone/>
            </a:pPr>
            <a:r>
              <a:rPr lang="en-US" sz="1300" dirty="0">
                <a:solidFill>
                  <a:schemeClr val="accent1"/>
                </a:solidFill>
                <a:latin typeface="Calibri" pitchFamily="34" charset="0"/>
                <a:ea typeface="Calibri" pitchFamily="34" charset="-122"/>
                <a:cs typeface="Calibri" pitchFamily="34" charset="-120"/>
              </a:rPr>
              <a:t>η = learning rate (step size)</a:t>
            </a:r>
            <a:endParaRPr lang="en-US" sz="1300" dirty="0"/>
          </a:p>
        </p:txBody>
      </p:sp>
      <p:sp>
        <p:nvSpPr>
          <p:cNvPr id="7" name="Shape 4"/>
          <p:cNvSpPr/>
          <p:nvPr/>
        </p:nvSpPr>
        <p:spPr>
          <a:xfrm>
            <a:off x="4526280" y="1325880"/>
            <a:ext cx="2304288" cy="1371600"/>
          </a:xfrm>
          <a:prstGeom prst="rect">
            <a:avLst/>
          </a:prstGeom>
          <a:solidFill>
            <a:schemeClr val="bg2"/>
          </a:solidFill>
          <a:ln/>
        </p:spPr>
      </p:sp>
      <p:sp>
        <p:nvSpPr>
          <p:cNvPr id="8" name="Text 5"/>
          <p:cNvSpPr txBox="1"/>
          <p:nvPr/>
        </p:nvSpPr>
        <p:spPr>
          <a:xfrm>
            <a:off x="4709160" y="1417320"/>
            <a:ext cx="1984248" cy="32004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Gradient = slope</a:t>
            </a:r>
            <a:endParaRPr lang="en-US" sz="1350" dirty="0"/>
          </a:p>
        </p:txBody>
      </p:sp>
      <p:sp>
        <p:nvSpPr>
          <p:cNvPr id="9" name="Text 6"/>
          <p:cNvSpPr txBox="1"/>
          <p:nvPr/>
        </p:nvSpPr>
        <p:spPr>
          <a:xfrm>
            <a:off x="4709160" y="1764792"/>
            <a:ext cx="1984248" cy="8686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∂L/∂w &gt; 0 means increasing w raises the loss, so decrease w.</a:t>
            </a:r>
            <a:endParaRPr lang="en-US" sz="1200" dirty="0"/>
          </a:p>
        </p:txBody>
      </p:sp>
      <p:sp>
        <p:nvSpPr>
          <p:cNvPr id="10" name="Shape 7"/>
          <p:cNvSpPr/>
          <p:nvPr/>
        </p:nvSpPr>
        <p:spPr>
          <a:xfrm>
            <a:off x="6922008" y="1325880"/>
            <a:ext cx="2304288" cy="1371600"/>
          </a:xfrm>
          <a:prstGeom prst="rect">
            <a:avLst/>
          </a:prstGeom>
          <a:solidFill>
            <a:schemeClr val="bg2"/>
          </a:solidFill>
          <a:ln/>
        </p:spPr>
      </p:sp>
      <p:sp>
        <p:nvSpPr>
          <p:cNvPr id="11" name="Text 8"/>
          <p:cNvSpPr txBox="1"/>
          <p:nvPr/>
        </p:nvSpPr>
        <p:spPr>
          <a:xfrm>
            <a:off x="7104888" y="1417320"/>
            <a:ext cx="1984248" cy="32004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Step size matters</a:t>
            </a:r>
            <a:endParaRPr lang="en-US" sz="1350" dirty="0"/>
          </a:p>
        </p:txBody>
      </p:sp>
      <p:sp>
        <p:nvSpPr>
          <p:cNvPr id="12" name="Text 9"/>
          <p:cNvSpPr txBox="1"/>
          <p:nvPr/>
        </p:nvSpPr>
        <p:spPr>
          <a:xfrm>
            <a:off x="7104888" y="1764792"/>
            <a:ext cx="1984248" cy="8686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The gradient gives a direction; η gives the distance.</a:t>
            </a:r>
            <a:endParaRPr lang="en-US" sz="1200" dirty="0"/>
          </a:p>
        </p:txBody>
      </p:sp>
      <p:sp>
        <p:nvSpPr>
          <p:cNvPr id="13" name="Shape 10"/>
          <p:cNvSpPr/>
          <p:nvPr/>
        </p:nvSpPr>
        <p:spPr>
          <a:xfrm>
            <a:off x="9317736" y="1325880"/>
            <a:ext cx="2304288" cy="1371600"/>
          </a:xfrm>
          <a:prstGeom prst="rect">
            <a:avLst/>
          </a:prstGeom>
          <a:solidFill>
            <a:schemeClr val="bg2"/>
          </a:solidFill>
          <a:ln/>
        </p:spPr>
      </p:sp>
      <p:sp>
        <p:nvSpPr>
          <p:cNvPr id="14" name="Text 11"/>
          <p:cNvSpPr txBox="1"/>
          <p:nvPr/>
        </p:nvSpPr>
        <p:spPr>
          <a:xfrm>
            <a:off x="9500616" y="1417320"/>
            <a:ext cx="1984248" cy="32004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Local view only</a:t>
            </a:r>
            <a:endParaRPr lang="en-US" sz="1350" dirty="0"/>
          </a:p>
        </p:txBody>
      </p:sp>
      <p:sp>
        <p:nvSpPr>
          <p:cNvPr id="15" name="Text 12"/>
          <p:cNvSpPr txBox="1"/>
          <p:nvPr/>
        </p:nvSpPr>
        <p:spPr>
          <a:xfrm>
            <a:off x="9500616" y="1764792"/>
            <a:ext cx="1984248" cy="8686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Each step uses just the slope where you stand.</a:t>
            </a:r>
            <a:endParaRPr lang="en-US" sz="1200" dirty="0"/>
          </a:p>
        </p:txBody>
      </p:sp>
      <p:sp>
        <p:nvSpPr>
          <p:cNvPr id="16" name="Shape 13"/>
          <p:cNvSpPr/>
          <p:nvPr/>
        </p:nvSpPr>
        <p:spPr>
          <a:xfrm>
            <a:off x="548640" y="2880360"/>
            <a:ext cx="11091672" cy="3291840"/>
          </a:xfrm>
          <a:prstGeom prst="rect">
            <a:avLst/>
          </a:prstGeom>
          <a:solidFill>
            <a:schemeClr val="bg1"/>
          </a:solidFill>
          <a:ln/>
        </p:spPr>
      </p:sp>
      <p:pic>
        <p:nvPicPr>
          <p:cNvPr id="17" name="Image 0" descr="Gradient descent on a parabola with three learning rates: too small crawls, about right converges, too large diverges">    </p:cNvPr>
          <p:cNvPicPr>
            <a:picLocks noChangeAspect="1"/>
          </p:cNvPicPr>
          <p:nvPr/>
        </p:nvPicPr>
        <p:blipFill>
          <a:blip r:embed="rId1"/>
          <a:stretch>
            <a:fillRect/>
          </a:stretch>
        </p:blipFill>
        <p:spPr>
          <a:xfrm>
            <a:off x="1584311" y="2880360"/>
            <a:ext cx="9020329" cy="329184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Real loss landscapes are not a simple bowl</a:t>
            </a:r>
            <a:endParaRPr lang="en-US" sz="3200" dirty="0"/>
          </a:p>
        </p:txBody>
      </p:sp>
      <p:sp>
        <p:nvSpPr>
          <p:cNvPr id="4" name="Shape 1"/>
          <p:cNvSpPr/>
          <p:nvPr/>
        </p:nvSpPr>
        <p:spPr>
          <a:xfrm>
            <a:off x="548640" y="1325880"/>
            <a:ext cx="3977640" cy="3429000"/>
          </a:xfrm>
          <a:prstGeom prst="rect">
            <a:avLst/>
          </a:prstGeom>
          <a:solidFill>
            <a:schemeClr val="bg1"/>
          </a:solidFill>
          <a:ln/>
        </p:spPr>
      </p:sp>
      <p:pic>
        <p:nvPicPr>
          <p:cNvPr id="5" name="Image 0" descr="3-D loss surface with several valleys and a descent path">    </p:cNvPr>
          <p:cNvPicPr>
            <a:picLocks noChangeAspect="1"/>
          </p:cNvPicPr>
          <p:nvPr/>
        </p:nvPicPr>
        <p:blipFill>
          <a:blip r:embed="rId1"/>
          <a:stretch>
            <a:fillRect/>
          </a:stretch>
        </p:blipFill>
        <p:spPr>
          <a:xfrm>
            <a:off x="548640" y="1429436"/>
            <a:ext cx="3977640" cy="3221888"/>
          </a:xfrm>
          <a:prstGeom prst="rect">
            <a:avLst/>
          </a:prstGeom>
        </p:spPr>
      </p:pic>
      <p:sp>
        <p:nvSpPr>
          <p:cNvPr id="6" name="Shape 2"/>
          <p:cNvSpPr/>
          <p:nvPr/>
        </p:nvSpPr>
        <p:spPr>
          <a:xfrm>
            <a:off x="4709160" y="1325880"/>
            <a:ext cx="3977640" cy="3429000"/>
          </a:xfrm>
          <a:prstGeom prst="rect">
            <a:avLst/>
          </a:prstGeom>
          <a:solidFill>
            <a:schemeClr val="bg1"/>
          </a:solidFill>
          <a:ln/>
        </p:spPr>
      </p:sp>
      <p:pic>
        <p:nvPicPr>
          <p:cNvPr id="7" name="Image 1" descr="3-D loss surface with two peaks and a path into a valley">    </p:cNvPr>
          <p:cNvPicPr>
            <a:picLocks noChangeAspect="1"/>
          </p:cNvPicPr>
          <p:nvPr/>
        </p:nvPicPr>
        <p:blipFill>
          <a:blip r:embed="rId2"/>
          <a:stretch>
            <a:fillRect/>
          </a:stretch>
        </p:blipFill>
        <p:spPr>
          <a:xfrm>
            <a:off x="4709160" y="1581912"/>
            <a:ext cx="3977640" cy="2916936"/>
          </a:xfrm>
          <a:prstGeom prst="rect">
            <a:avLst/>
          </a:prstGeom>
        </p:spPr>
      </p:pic>
      <p:sp>
        <p:nvSpPr>
          <p:cNvPr id="8" name="Text 3"/>
          <p:cNvSpPr txBox="1"/>
          <p:nvPr/>
        </p:nvSpPr>
        <p:spPr>
          <a:xfrm>
            <a:off x="548640" y="4782312"/>
            <a:ext cx="81381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C. P. Bathula, Deep Learning series, Part 9</a:t>
            </a:r>
            <a:endParaRPr lang="en-US" sz="1000" dirty="0"/>
          </a:p>
        </p:txBody>
      </p:sp>
      <p:sp>
        <p:nvSpPr>
          <p:cNvPr id="9" name="Shape 4"/>
          <p:cNvSpPr/>
          <p:nvPr/>
        </p:nvSpPr>
        <p:spPr>
          <a:xfrm>
            <a:off x="8915400" y="1325880"/>
            <a:ext cx="2724912" cy="1078992"/>
          </a:xfrm>
          <a:prstGeom prst="rect">
            <a:avLst/>
          </a:prstGeom>
          <a:solidFill>
            <a:schemeClr val="bg2"/>
          </a:solidFill>
          <a:ln/>
        </p:spPr>
      </p:sp>
      <p:sp>
        <p:nvSpPr>
          <p:cNvPr id="10" name="Shape 5"/>
          <p:cNvSpPr/>
          <p:nvPr/>
        </p:nvSpPr>
        <p:spPr>
          <a:xfrm>
            <a:off x="9052560" y="1435608"/>
            <a:ext cx="411480" cy="411480"/>
          </a:xfrm>
          <a:prstGeom prst="ellipse">
            <a:avLst/>
          </a:prstGeom>
          <a:solidFill>
            <a:schemeClr val="accent2"/>
          </a:solidFill>
          <a:ln/>
        </p:spPr>
      </p:sp>
      <p:pic>
        <p:nvPicPr>
          <p:cNvPr id="11" name="Image 2" descr="Mountain icon">    </p:cNvPr>
          <p:cNvPicPr>
            <a:picLocks noChangeAspect="1"/>
          </p:cNvPicPr>
          <p:nvPr/>
        </p:nvPicPr>
        <p:blipFill>
          <a:blip r:embed="rId3"/>
          <a:stretch>
            <a:fillRect/>
          </a:stretch>
        </p:blipFill>
        <p:spPr>
          <a:xfrm>
            <a:off x="9155430" y="1538478"/>
            <a:ext cx="205740" cy="205740"/>
          </a:xfrm>
          <a:prstGeom prst="rect">
            <a:avLst/>
          </a:prstGeom>
        </p:spPr>
      </p:pic>
      <p:sp>
        <p:nvSpPr>
          <p:cNvPr id="12" name="Text 6"/>
          <p:cNvSpPr txBox="1"/>
          <p:nvPr/>
        </p:nvSpPr>
        <p:spPr>
          <a:xfrm>
            <a:off x="9555480" y="1435608"/>
            <a:ext cx="2011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Local minima</a:t>
            </a:r>
            <a:endParaRPr lang="en-US" sz="1400" dirty="0"/>
          </a:p>
        </p:txBody>
      </p:sp>
      <p:sp>
        <p:nvSpPr>
          <p:cNvPr id="13" name="Text 7"/>
          <p:cNvSpPr txBox="1"/>
          <p:nvPr/>
        </p:nvSpPr>
        <p:spPr>
          <a:xfrm>
            <a:off x="9052560" y="1874520"/>
            <a:ext cx="251460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Valleys that are not the lowest point. Usually fine in big networks.</a:t>
            </a:r>
            <a:endParaRPr lang="en-US" sz="1100" dirty="0"/>
          </a:p>
        </p:txBody>
      </p:sp>
      <p:sp>
        <p:nvSpPr>
          <p:cNvPr id="14" name="Shape 8"/>
          <p:cNvSpPr/>
          <p:nvPr/>
        </p:nvSpPr>
        <p:spPr>
          <a:xfrm>
            <a:off x="8915400" y="2514600"/>
            <a:ext cx="2724912" cy="1078992"/>
          </a:xfrm>
          <a:prstGeom prst="rect">
            <a:avLst/>
          </a:prstGeom>
          <a:solidFill>
            <a:schemeClr val="bg2"/>
          </a:solidFill>
          <a:ln/>
        </p:spPr>
      </p:sp>
      <p:sp>
        <p:nvSpPr>
          <p:cNvPr id="15" name="Shape 9"/>
          <p:cNvSpPr/>
          <p:nvPr/>
        </p:nvSpPr>
        <p:spPr>
          <a:xfrm>
            <a:off x="9052560" y="2624328"/>
            <a:ext cx="411480" cy="411480"/>
          </a:xfrm>
          <a:prstGeom prst="ellipse">
            <a:avLst/>
          </a:prstGeom>
          <a:solidFill>
            <a:schemeClr val="accent2"/>
          </a:solidFill>
          <a:ln/>
        </p:spPr>
      </p:sp>
      <p:pic>
        <p:nvPicPr>
          <p:cNvPr id="16" name="Image 3" descr="ArrowsAltH icon">    </p:cNvPr>
          <p:cNvPicPr>
            <a:picLocks noChangeAspect="1"/>
          </p:cNvPicPr>
          <p:nvPr/>
        </p:nvPicPr>
        <p:blipFill>
          <a:blip r:embed="rId4"/>
          <a:stretch>
            <a:fillRect/>
          </a:stretch>
        </p:blipFill>
        <p:spPr>
          <a:xfrm>
            <a:off x="9155430" y="2727198"/>
            <a:ext cx="205740" cy="205740"/>
          </a:xfrm>
          <a:prstGeom prst="rect">
            <a:avLst/>
          </a:prstGeom>
        </p:spPr>
      </p:pic>
      <p:sp>
        <p:nvSpPr>
          <p:cNvPr id="17" name="Text 10"/>
          <p:cNvSpPr txBox="1"/>
          <p:nvPr/>
        </p:nvSpPr>
        <p:spPr>
          <a:xfrm>
            <a:off x="9555480" y="2624328"/>
            <a:ext cx="2011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Saddle points</a:t>
            </a:r>
            <a:endParaRPr lang="en-US" sz="1400" dirty="0"/>
          </a:p>
        </p:txBody>
      </p:sp>
      <p:sp>
        <p:nvSpPr>
          <p:cNvPr id="18" name="Text 11"/>
          <p:cNvSpPr txBox="1"/>
          <p:nvPr/>
        </p:nvSpPr>
        <p:spPr>
          <a:xfrm>
            <a:off x="9052560" y="3063240"/>
            <a:ext cx="251460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Downhill one way, uphill another; gradients near zero.</a:t>
            </a:r>
            <a:endParaRPr lang="en-US" sz="1100" dirty="0"/>
          </a:p>
        </p:txBody>
      </p:sp>
      <p:sp>
        <p:nvSpPr>
          <p:cNvPr id="19" name="Shape 12"/>
          <p:cNvSpPr/>
          <p:nvPr/>
        </p:nvSpPr>
        <p:spPr>
          <a:xfrm>
            <a:off x="8915400" y="3703320"/>
            <a:ext cx="2724912" cy="1078992"/>
          </a:xfrm>
          <a:prstGeom prst="rect">
            <a:avLst/>
          </a:prstGeom>
          <a:solidFill>
            <a:schemeClr val="bg2"/>
          </a:solidFill>
          <a:ln/>
        </p:spPr>
      </p:sp>
      <p:sp>
        <p:nvSpPr>
          <p:cNvPr id="20" name="Shape 13"/>
          <p:cNvSpPr/>
          <p:nvPr/>
        </p:nvSpPr>
        <p:spPr>
          <a:xfrm>
            <a:off x="9052560" y="3813048"/>
            <a:ext cx="411480" cy="411480"/>
          </a:xfrm>
          <a:prstGeom prst="ellipse">
            <a:avLst/>
          </a:prstGeom>
          <a:solidFill>
            <a:schemeClr val="accent2"/>
          </a:solidFill>
          <a:ln/>
        </p:spPr>
      </p:sp>
      <p:pic>
        <p:nvPicPr>
          <p:cNvPr id="21" name="Image 4" descr="GripLines icon">    </p:cNvPr>
          <p:cNvPicPr>
            <a:picLocks noChangeAspect="1"/>
          </p:cNvPicPr>
          <p:nvPr/>
        </p:nvPicPr>
        <p:blipFill>
          <a:blip r:embed="rId5"/>
          <a:stretch>
            <a:fillRect/>
          </a:stretch>
        </p:blipFill>
        <p:spPr>
          <a:xfrm>
            <a:off x="9155430" y="3915918"/>
            <a:ext cx="205740" cy="205740"/>
          </a:xfrm>
          <a:prstGeom prst="rect">
            <a:avLst/>
          </a:prstGeom>
        </p:spPr>
      </p:pic>
      <p:sp>
        <p:nvSpPr>
          <p:cNvPr id="22" name="Text 14"/>
          <p:cNvSpPr txBox="1"/>
          <p:nvPr/>
        </p:nvSpPr>
        <p:spPr>
          <a:xfrm>
            <a:off x="9555480" y="3813048"/>
            <a:ext cx="201168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Plateaus</a:t>
            </a:r>
            <a:endParaRPr lang="en-US" sz="1400" dirty="0"/>
          </a:p>
        </p:txBody>
      </p:sp>
      <p:sp>
        <p:nvSpPr>
          <p:cNvPr id="23" name="Text 15"/>
          <p:cNvSpPr txBox="1"/>
          <p:nvPr/>
        </p:nvSpPr>
        <p:spPr>
          <a:xfrm>
            <a:off x="9052560" y="4251960"/>
            <a:ext cx="251460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Flat regions where progress slows to a crawl.</a:t>
            </a:r>
            <a:endParaRPr lang="en-US" sz="1100" dirty="0"/>
          </a:p>
        </p:txBody>
      </p:sp>
      <p:sp>
        <p:nvSpPr>
          <p:cNvPr id="24" name="Shape 16"/>
          <p:cNvSpPr/>
          <p:nvPr/>
        </p:nvSpPr>
        <p:spPr>
          <a:xfrm>
            <a:off x="548640" y="5257800"/>
            <a:ext cx="11091672" cy="731520"/>
          </a:xfrm>
          <a:prstGeom prst="rect">
            <a:avLst/>
          </a:prstGeom>
          <a:solidFill>
            <a:schemeClr val="tx1"/>
          </a:solidFill>
          <a:ln/>
        </p:spPr>
      </p:sp>
      <p:sp>
        <p:nvSpPr>
          <p:cNvPr id="25" name="Text 17"/>
          <p:cNvSpPr txBox="1"/>
          <p:nvPr/>
        </p:nvSpPr>
        <p:spPr>
          <a:xfrm>
            <a:off x="777240" y="5257800"/>
            <a:ext cx="10634472" cy="7315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Good news:  </a:t>
            </a:r>
            <a:pPr indent="0" marL="0">
              <a:buNone/>
            </a:pPr>
            <a:r>
              <a:rPr lang="en-US" sz="1400" dirty="0">
                <a:solidFill>
                  <a:schemeClr val="bg1"/>
                </a:solidFill>
                <a:latin typeface="Calibri" pitchFamily="34" charset="0"/>
                <a:ea typeface="Calibri" pitchFamily="34" charset="-122"/>
                <a:cs typeface="Calibri" pitchFamily="34" charset="-120"/>
              </a:rPr>
              <a:t>the noise in mini-batch gradients helps escape saddles and plateaus, and momentum carries the optimizer across flat regions.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Backpropagation is the chain rule, applied right to left</a:t>
            </a:r>
            <a:endParaRPr lang="en-US" sz="3200" dirty="0"/>
          </a:p>
        </p:txBody>
      </p:sp>
      <p:sp>
        <p:nvSpPr>
          <p:cNvPr id="4" name="Shape 1"/>
          <p:cNvSpPr/>
          <p:nvPr/>
        </p:nvSpPr>
        <p:spPr>
          <a:xfrm>
            <a:off x="548640" y="1783080"/>
            <a:ext cx="2450592" cy="960120"/>
          </a:xfrm>
          <a:prstGeom prst="rect">
            <a:avLst/>
          </a:prstGeom>
          <a:solidFill>
            <a:schemeClr val="bg2"/>
          </a:solidFill>
          <a:ln/>
        </p:spPr>
      </p:sp>
      <p:sp>
        <p:nvSpPr>
          <p:cNvPr id="5" name="Text 2"/>
          <p:cNvSpPr txBox="1"/>
          <p:nvPr/>
        </p:nvSpPr>
        <p:spPr>
          <a:xfrm>
            <a:off x="548640" y="1874520"/>
            <a:ext cx="2450592" cy="457200"/>
          </a:xfrm>
          <a:prstGeom prst="rect">
            <a:avLst/>
          </a:prstGeom>
          <a:noFill/>
          <a:ln/>
        </p:spPr>
        <p:txBody>
          <a:bodyPr wrap="square" lIns="0" tIns="0" rIns="0" bIns="0" rtlCol="0" anchor="ctr"/>
          <a:lstStyle/>
          <a:p>
            <a:pPr algn="ctr" indent="0" marL="0">
              <a:buNone/>
            </a:pPr>
            <a:r>
              <a:rPr lang="en-US" sz="1700" dirty="0">
                <a:solidFill>
                  <a:schemeClr val="tx1"/>
                </a:solidFill>
                <a:latin typeface="Cambria" pitchFamily="34" charset="0"/>
                <a:ea typeface="Cambria" pitchFamily="34" charset="-122"/>
                <a:cs typeface="Cambria" pitchFamily="34" charset="-120"/>
              </a:rPr>
              <a:t>x, w, b</a:t>
            </a:r>
            <a:endParaRPr lang="en-US" sz="1700" dirty="0"/>
          </a:p>
        </p:txBody>
      </p:sp>
      <p:sp>
        <p:nvSpPr>
          <p:cNvPr id="6" name="Text 3"/>
          <p:cNvSpPr txBox="1"/>
          <p:nvPr/>
        </p:nvSpPr>
        <p:spPr>
          <a:xfrm>
            <a:off x="548640" y="2331720"/>
            <a:ext cx="2450592" cy="320040"/>
          </a:xfrm>
          <a:prstGeom prst="rect">
            <a:avLst/>
          </a:prstGeom>
          <a:noFill/>
          <a:ln/>
        </p:spPr>
        <p:txBody>
          <a:bodyPr wrap="square" lIns="0" tIns="0" rIns="0" bIns="0" rtlCol="0" anchor="t"/>
          <a:lstStyle/>
          <a:p>
            <a:pPr algn="ctr" indent="0" marL="0">
              <a:buNone/>
            </a:pPr>
            <a:r>
              <a:rPr lang="en-US" sz="1100" dirty="0">
                <a:solidFill>
                  <a:schemeClr val="accent5"/>
                </a:solidFill>
                <a:latin typeface="Calibri" pitchFamily="34" charset="0"/>
                <a:ea typeface="Calibri" pitchFamily="34" charset="-122"/>
                <a:cs typeface="Calibri" pitchFamily="34" charset="-120"/>
              </a:rPr>
              <a:t>inputs</a:t>
            </a:r>
            <a:endParaRPr lang="en-US" sz="1100" dirty="0"/>
          </a:p>
        </p:txBody>
      </p:sp>
      <p:sp>
        <p:nvSpPr>
          <p:cNvPr id="7" name="Shape 4"/>
          <p:cNvSpPr/>
          <p:nvPr/>
        </p:nvSpPr>
        <p:spPr>
          <a:xfrm>
            <a:off x="3429000" y="1783080"/>
            <a:ext cx="2450592" cy="960120"/>
          </a:xfrm>
          <a:prstGeom prst="rect">
            <a:avLst/>
          </a:prstGeom>
          <a:solidFill>
            <a:schemeClr val="bg2"/>
          </a:solidFill>
          <a:ln/>
        </p:spPr>
      </p:sp>
      <p:sp>
        <p:nvSpPr>
          <p:cNvPr id="8" name="Text 5"/>
          <p:cNvSpPr txBox="1"/>
          <p:nvPr/>
        </p:nvSpPr>
        <p:spPr>
          <a:xfrm>
            <a:off x="3429000" y="1874520"/>
            <a:ext cx="2450592" cy="457200"/>
          </a:xfrm>
          <a:prstGeom prst="rect">
            <a:avLst/>
          </a:prstGeom>
          <a:noFill/>
          <a:ln/>
        </p:spPr>
        <p:txBody>
          <a:bodyPr wrap="square" lIns="0" tIns="0" rIns="0" bIns="0" rtlCol="0" anchor="ctr"/>
          <a:lstStyle/>
          <a:p>
            <a:pPr algn="ctr" indent="0" marL="0">
              <a:buNone/>
            </a:pPr>
            <a:r>
              <a:rPr lang="en-US" sz="1700" dirty="0">
                <a:solidFill>
                  <a:schemeClr val="tx1"/>
                </a:solidFill>
                <a:latin typeface="Cambria" pitchFamily="34" charset="0"/>
                <a:ea typeface="Cambria" pitchFamily="34" charset="-122"/>
                <a:cs typeface="Cambria" pitchFamily="34" charset="-120"/>
              </a:rPr>
              <a:t>z = w·x + b</a:t>
            </a:r>
            <a:endParaRPr lang="en-US" sz="1700" dirty="0"/>
          </a:p>
        </p:txBody>
      </p:sp>
      <p:sp>
        <p:nvSpPr>
          <p:cNvPr id="9" name="Text 6"/>
          <p:cNvSpPr txBox="1"/>
          <p:nvPr/>
        </p:nvSpPr>
        <p:spPr>
          <a:xfrm>
            <a:off x="3429000" y="2331720"/>
            <a:ext cx="2450592" cy="320040"/>
          </a:xfrm>
          <a:prstGeom prst="rect">
            <a:avLst/>
          </a:prstGeom>
          <a:noFill/>
          <a:ln/>
        </p:spPr>
        <p:txBody>
          <a:bodyPr wrap="square" lIns="0" tIns="0" rIns="0" bIns="0" rtlCol="0" anchor="t"/>
          <a:lstStyle/>
          <a:p>
            <a:pPr algn="ctr" indent="0" marL="0">
              <a:buNone/>
            </a:pPr>
            <a:r>
              <a:rPr lang="en-US" sz="1100" dirty="0">
                <a:solidFill>
                  <a:schemeClr val="accent5"/>
                </a:solidFill>
                <a:latin typeface="Calibri" pitchFamily="34" charset="0"/>
                <a:ea typeface="Calibri" pitchFamily="34" charset="-122"/>
                <a:cs typeface="Calibri" pitchFamily="34" charset="-120"/>
              </a:rPr>
              <a:t>weighted sum</a:t>
            </a:r>
            <a:endParaRPr lang="en-US" sz="1100" dirty="0"/>
          </a:p>
        </p:txBody>
      </p:sp>
      <p:sp>
        <p:nvSpPr>
          <p:cNvPr id="10" name="Shape 7"/>
          <p:cNvSpPr/>
          <p:nvPr/>
        </p:nvSpPr>
        <p:spPr>
          <a:xfrm>
            <a:off x="6309360" y="1783080"/>
            <a:ext cx="2450592" cy="960120"/>
          </a:xfrm>
          <a:prstGeom prst="rect">
            <a:avLst/>
          </a:prstGeom>
          <a:solidFill>
            <a:schemeClr val="bg2"/>
          </a:solidFill>
          <a:ln/>
        </p:spPr>
      </p:sp>
      <p:sp>
        <p:nvSpPr>
          <p:cNvPr id="11" name="Text 8"/>
          <p:cNvSpPr txBox="1"/>
          <p:nvPr/>
        </p:nvSpPr>
        <p:spPr>
          <a:xfrm>
            <a:off x="6309360" y="1874520"/>
            <a:ext cx="2450592" cy="457200"/>
          </a:xfrm>
          <a:prstGeom prst="rect">
            <a:avLst/>
          </a:prstGeom>
          <a:noFill/>
          <a:ln/>
        </p:spPr>
        <p:txBody>
          <a:bodyPr wrap="square" lIns="0" tIns="0" rIns="0" bIns="0" rtlCol="0" anchor="ctr"/>
          <a:lstStyle/>
          <a:p>
            <a:pPr algn="ctr" indent="0" marL="0">
              <a:buNone/>
            </a:pPr>
            <a:r>
              <a:rPr lang="en-US" sz="1700" dirty="0">
                <a:solidFill>
                  <a:schemeClr val="tx1"/>
                </a:solidFill>
                <a:latin typeface="Cambria" pitchFamily="34" charset="0"/>
                <a:ea typeface="Cambria" pitchFamily="34" charset="-122"/>
                <a:cs typeface="Cambria" pitchFamily="34" charset="-120"/>
              </a:rPr>
              <a:t>ŷ = ReLU(z)</a:t>
            </a:r>
            <a:endParaRPr lang="en-US" sz="1700" dirty="0"/>
          </a:p>
        </p:txBody>
      </p:sp>
      <p:sp>
        <p:nvSpPr>
          <p:cNvPr id="12" name="Text 9"/>
          <p:cNvSpPr txBox="1"/>
          <p:nvPr/>
        </p:nvSpPr>
        <p:spPr>
          <a:xfrm>
            <a:off x="6309360" y="2331720"/>
            <a:ext cx="2450592" cy="320040"/>
          </a:xfrm>
          <a:prstGeom prst="rect">
            <a:avLst/>
          </a:prstGeom>
          <a:noFill/>
          <a:ln/>
        </p:spPr>
        <p:txBody>
          <a:bodyPr wrap="square" lIns="0" tIns="0" rIns="0" bIns="0" rtlCol="0" anchor="t"/>
          <a:lstStyle/>
          <a:p>
            <a:pPr algn="ctr" indent="0" marL="0">
              <a:buNone/>
            </a:pPr>
            <a:r>
              <a:rPr lang="en-US" sz="1100" dirty="0">
                <a:solidFill>
                  <a:schemeClr val="accent5"/>
                </a:solidFill>
                <a:latin typeface="Calibri" pitchFamily="34" charset="0"/>
                <a:ea typeface="Calibri" pitchFamily="34" charset="-122"/>
                <a:cs typeface="Calibri" pitchFamily="34" charset="-120"/>
              </a:rPr>
              <a:t>activation</a:t>
            </a:r>
            <a:endParaRPr lang="en-US" sz="1100" dirty="0"/>
          </a:p>
        </p:txBody>
      </p:sp>
      <p:sp>
        <p:nvSpPr>
          <p:cNvPr id="13" name="Shape 10"/>
          <p:cNvSpPr/>
          <p:nvPr/>
        </p:nvSpPr>
        <p:spPr>
          <a:xfrm>
            <a:off x="9189720" y="1783080"/>
            <a:ext cx="2450592" cy="960120"/>
          </a:xfrm>
          <a:prstGeom prst="rect">
            <a:avLst/>
          </a:prstGeom>
          <a:solidFill>
            <a:schemeClr val="tx1"/>
          </a:solidFill>
          <a:ln/>
        </p:spPr>
      </p:sp>
      <p:sp>
        <p:nvSpPr>
          <p:cNvPr id="14" name="Text 11"/>
          <p:cNvSpPr txBox="1"/>
          <p:nvPr/>
        </p:nvSpPr>
        <p:spPr>
          <a:xfrm>
            <a:off x="9189720" y="1874520"/>
            <a:ext cx="2450592" cy="457200"/>
          </a:xfrm>
          <a:prstGeom prst="rect">
            <a:avLst/>
          </a:prstGeom>
          <a:noFill/>
          <a:ln/>
        </p:spPr>
        <p:txBody>
          <a:bodyPr wrap="square" lIns="0" tIns="0" rIns="0" bIns="0" rtlCol="0" anchor="ctr"/>
          <a:lstStyle/>
          <a:p>
            <a:pPr algn="ctr" indent="0" marL="0">
              <a:buNone/>
            </a:pPr>
            <a:r>
              <a:rPr lang="en-US" sz="1700" dirty="0">
                <a:solidFill>
                  <a:schemeClr val="bg1"/>
                </a:solidFill>
                <a:latin typeface="Cambria" pitchFamily="34" charset="0"/>
                <a:ea typeface="Cambria" pitchFamily="34" charset="-122"/>
                <a:cs typeface="Cambria" pitchFamily="34" charset="-120"/>
              </a:rPr>
              <a:t>L = ½(y − ŷ)²</a:t>
            </a:r>
            <a:endParaRPr lang="en-US" sz="1700" dirty="0"/>
          </a:p>
        </p:txBody>
      </p:sp>
      <p:sp>
        <p:nvSpPr>
          <p:cNvPr id="15" name="Text 12"/>
          <p:cNvSpPr txBox="1"/>
          <p:nvPr/>
        </p:nvSpPr>
        <p:spPr>
          <a:xfrm>
            <a:off x="9189720" y="2331720"/>
            <a:ext cx="2450592" cy="320040"/>
          </a:xfrm>
          <a:prstGeom prst="rect">
            <a:avLst/>
          </a:prstGeom>
          <a:noFill/>
          <a:ln/>
        </p:spPr>
        <p:txBody>
          <a:bodyPr wrap="square" lIns="0" tIns="0" rIns="0" bIns="0" rtlCol="0" anchor="t"/>
          <a:lstStyle/>
          <a:p>
            <a:pPr algn="ctr" indent="0" marL="0">
              <a:buNone/>
            </a:pPr>
            <a:r>
              <a:rPr lang="en-US" sz="1100" dirty="0">
                <a:solidFill>
                  <a:schemeClr val="accent1"/>
                </a:solidFill>
                <a:latin typeface="Calibri" pitchFamily="34" charset="0"/>
                <a:ea typeface="Calibri" pitchFamily="34" charset="-122"/>
                <a:cs typeface="Calibri" pitchFamily="34" charset="-120"/>
              </a:rPr>
              <a:t>loss</a:t>
            </a:r>
            <a:endParaRPr lang="en-US" sz="1100" dirty="0"/>
          </a:p>
        </p:txBody>
      </p:sp>
      <p:sp>
        <p:nvSpPr>
          <p:cNvPr id="16" name="Text 13"/>
          <p:cNvSpPr txBox="1"/>
          <p:nvPr/>
        </p:nvSpPr>
        <p:spPr>
          <a:xfrm>
            <a:off x="548640" y="1325880"/>
            <a:ext cx="5486400" cy="32004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Forward: compute and cache values →</a:t>
            </a:r>
            <a:endParaRPr lang="en-US" sz="1300" dirty="0"/>
          </a:p>
        </p:txBody>
      </p:sp>
      <p:sp>
        <p:nvSpPr>
          <p:cNvPr id="17" name="Shape 14"/>
          <p:cNvSpPr/>
          <p:nvPr/>
        </p:nvSpPr>
        <p:spPr>
          <a:xfrm>
            <a:off x="3026664" y="2057400"/>
            <a:ext cx="374904" cy="914"/>
          </a:xfrm>
          <a:prstGeom prst="line">
            <a:avLst/>
          </a:prstGeom>
          <a:noFill/>
          <a:ln w="31750">
            <a:solidFill>
              <a:srgbClr val="335C67"/>
            </a:solidFill>
            <a:prstDash val="solid"/>
            <a:tailEnd type="triangle"/>
          </a:ln>
        </p:spPr>
      </p:sp>
      <p:sp>
        <p:nvSpPr>
          <p:cNvPr id="18" name="Shape 15"/>
          <p:cNvSpPr/>
          <p:nvPr/>
        </p:nvSpPr>
        <p:spPr>
          <a:xfrm>
            <a:off x="5907024" y="2057400"/>
            <a:ext cx="374904" cy="914"/>
          </a:xfrm>
          <a:prstGeom prst="line">
            <a:avLst/>
          </a:prstGeom>
          <a:noFill/>
          <a:ln w="31750">
            <a:solidFill>
              <a:srgbClr val="335C67"/>
            </a:solidFill>
            <a:prstDash val="solid"/>
            <a:tailEnd type="triangle"/>
          </a:ln>
        </p:spPr>
      </p:sp>
      <p:sp>
        <p:nvSpPr>
          <p:cNvPr id="19" name="Shape 16"/>
          <p:cNvSpPr/>
          <p:nvPr/>
        </p:nvSpPr>
        <p:spPr>
          <a:xfrm>
            <a:off x="8787384" y="2057400"/>
            <a:ext cx="374904" cy="914"/>
          </a:xfrm>
          <a:prstGeom prst="line">
            <a:avLst/>
          </a:prstGeom>
          <a:noFill/>
          <a:ln w="31750">
            <a:solidFill>
              <a:srgbClr val="335C67"/>
            </a:solidFill>
            <a:prstDash val="solid"/>
            <a:tailEnd type="triangle"/>
          </a:ln>
        </p:spPr>
      </p:sp>
      <p:sp>
        <p:nvSpPr>
          <p:cNvPr id="20" name="Shape 17"/>
          <p:cNvSpPr/>
          <p:nvPr/>
        </p:nvSpPr>
        <p:spPr>
          <a:xfrm flipH="1">
            <a:off x="3026664" y="2496312"/>
            <a:ext cx="374904" cy="914"/>
          </a:xfrm>
          <a:prstGeom prst="line">
            <a:avLst/>
          </a:prstGeom>
          <a:noFill/>
          <a:ln w="31750">
            <a:solidFill>
              <a:srgbClr val="E09F3E"/>
            </a:solidFill>
            <a:prstDash val="solid"/>
            <a:tailEnd type="triangle"/>
          </a:ln>
        </p:spPr>
      </p:sp>
      <p:sp>
        <p:nvSpPr>
          <p:cNvPr id="21" name="Text 18"/>
          <p:cNvSpPr txBox="1"/>
          <p:nvPr/>
        </p:nvSpPr>
        <p:spPr>
          <a:xfrm>
            <a:off x="2313432" y="2834640"/>
            <a:ext cx="1783080" cy="320040"/>
          </a:xfrm>
          <a:prstGeom prst="rect">
            <a:avLst/>
          </a:prstGeom>
          <a:noFill/>
          <a:ln/>
        </p:spPr>
        <p:txBody>
          <a:bodyPr wrap="square" lIns="0" tIns="0" rIns="0" bIns="0" rtlCol="0" anchor="t"/>
          <a:lstStyle/>
          <a:p>
            <a:pPr algn="ctr" indent="0" marL="0">
              <a:buNone/>
            </a:pPr>
            <a:r>
              <a:rPr lang="en-US" sz="1250" b="1" dirty="0">
                <a:solidFill>
                  <a:schemeClr val="accent1"/>
                </a:solidFill>
                <a:latin typeface="Calibri" pitchFamily="34" charset="0"/>
                <a:ea typeface="Calibri" pitchFamily="34" charset="-122"/>
                <a:cs typeface="Calibri" pitchFamily="34" charset="-120"/>
              </a:rPr>
              <a:t>∂z/∂w = x</a:t>
            </a:r>
            <a:endParaRPr lang="en-US" sz="1250" dirty="0"/>
          </a:p>
        </p:txBody>
      </p:sp>
      <p:sp>
        <p:nvSpPr>
          <p:cNvPr id="22" name="Shape 19"/>
          <p:cNvSpPr/>
          <p:nvPr/>
        </p:nvSpPr>
        <p:spPr>
          <a:xfrm flipH="1">
            <a:off x="5907024" y="2496312"/>
            <a:ext cx="374904" cy="914"/>
          </a:xfrm>
          <a:prstGeom prst="line">
            <a:avLst/>
          </a:prstGeom>
          <a:noFill/>
          <a:ln w="31750">
            <a:solidFill>
              <a:srgbClr val="E09F3E"/>
            </a:solidFill>
            <a:prstDash val="solid"/>
            <a:tailEnd type="triangle"/>
          </a:ln>
        </p:spPr>
      </p:sp>
      <p:sp>
        <p:nvSpPr>
          <p:cNvPr id="23" name="Text 20"/>
          <p:cNvSpPr txBox="1"/>
          <p:nvPr/>
        </p:nvSpPr>
        <p:spPr>
          <a:xfrm>
            <a:off x="5193792" y="2834640"/>
            <a:ext cx="1783080" cy="320040"/>
          </a:xfrm>
          <a:prstGeom prst="rect">
            <a:avLst/>
          </a:prstGeom>
          <a:noFill/>
          <a:ln/>
        </p:spPr>
        <p:txBody>
          <a:bodyPr wrap="square" lIns="0" tIns="0" rIns="0" bIns="0" rtlCol="0" anchor="t"/>
          <a:lstStyle/>
          <a:p>
            <a:pPr algn="ctr" indent="0" marL="0">
              <a:buNone/>
            </a:pPr>
            <a:r>
              <a:rPr lang="en-US" sz="1250" b="1" dirty="0">
                <a:solidFill>
                  <a:schemeClr val="accent1"/>
                </a:solidFill>
                <a:latin typeface="Calibri" pitchFamily="34" charset="0"/>
                <a:ea typeface="Calibri" pitchFamily="34" charset="-122"/>
                <a:cs typeface="Calibri" pitchFamily="34" charset="-120"/>
              </a:rPr>
              <a:t>∂ŷ/∂z = 1 if z &gt; 0</a:t>
            </a:r>
            <a:endParaRPr lang="en-US" sz="1250" dirty="0"/>
          </a:p>
        </p:txBody>
      </p:sp>
      <p:sp>
        <p:nvSpPr>
          <p:cNvPr id="24" name="Shape 21"/>
          <p:cNvSpPr/>
          <p:nvPr/>
        </p:nvSpPr>
        <p:spPr>
          <a:xfrm flipH="1">
            <a:off x="8787384" y="2496312"/>
            <a:ext cx="374904" cy="914"/>
          </a:xfrm>
          <a:prstGeom prst="line">
            <a:avLst/>
          </a:prstGeom>
          <a:noFill/>
          <a:ln w="31750">
            <a:solidFill>
              <a:srgbClr val="E09F3E"/>
            </a:solidFill>
            <a:prstDash val="solid"/>
            <a:tailEnd type="triangle"/>
          </a:ln>
        </p:spPr>
      </p:sp>
      <p:sp>
        <p:nvSpPr>
          <p:cNvPr id="25" name="Text 22"/>
          <p:cNvSpPr txBox="1"/>
          <p:nvPr/>
        </p:nvSpPr>
        <p:spPr>
          <a:xfrm>
            <a:off x="8074152" y="2834640"/>
            <a:ext cx="1783080" cy="320040"/>
          </a:xfrm>
          <a:prstGeom prst="rect">
            <a:avLst/>
          </a:prstGeom>
          <a:noFill/>
          <a:ln/>
        </p:spPr>
        <p:txBody>
          <a:bodyPr wrap="square" lIns="0" tIns="0" rIns="0" bIns="0" rtlCol="0" anchor="t"/>
          <a:lstStyle/>
          <a:p>
            <a:pPr algn="ctr" indent="0" marL="0">
              <a:buNone/>
            </a:pPr>
            <a:r>
              <a:rPr lang="en-US" sz="1250" b="1" dirty="0">
                <a:solidFill>
                  <a:schemeClr val="accent1"/>
                </a:solidFill>
                <a:latin typeface="Calibri" pitchFamily="34" charset="0"/>
                <a:ea typeface="Calibri" pitchFamily="34" charset="-122"/>
                <a:cs typeface="Calibri" pitchFamily="34" charset="-120"/>
              </a:rPr>
              <a:t>∂L/∂ŷ = ŷ − y</a:t>
            </a:r>
            <a:endParaRPr lang="en-US" sz="1250" dirty="0"/>
          </a:p>
        </p:txBody>
      </p:sp>
      <p:sp>
        <p:nvSpPr>
          <p:cNvPr id="26" name="Text 23"/>
          <p:cNvSpPr txBox="1"/>
          <p:nvPr/>
        </p:nvSpPr>
        <p:spPr>
          <a:xfrm>
            <a:off x="6153912" y="3246120"/>
            <a:ext cx="5486400" cy="320040"/>
          </a:xfrm>
          <a:prstGeom prst="rect">
            <a:avLst/>
          </a:prstGeom>
          <a:noFill/>
          <a:ln/>
        </p:spPr>
        <p:txBody>
          <a:bodyPr wrap="square" lIns="0" tIns="0" rIns="0" bIns="0" rtlCol="0" anchor="t"/>
          <a:lstStyle/>
          <a:p>
            <a:pPr algn="r" indent="0" marL="0">
              <a:buNone/>
            </a:pPr>
            <a:r>
              <a:rPr lang="en-US" sz="1300" b="1" dirty="0">
                <a:solidFill>
                  <a:schemeClr val="accent1"/>
                </a:solidFill>
                <a:latin typeface="Calibri" pitchFamily="34" charset="0"/>
                <a:ea typeface="Calibri" pitchFamily="34" charset="-122"/>
                <a:cs typeface="Calibri" pitchFamily="34" charset="-120"/>
              </a:rPr>
              <a:t>← Backward: multiply local derivatives</a:t>
            </a:r>
            <a:endParaRPr lang="en-US" sz="1300" dirty="0"/>
          </a:p>
        </p:txBody>
      </p:sp>
      <p:sp>
        <p:nvSpPr>
          <p:cNvPr id="27" name="Shape 24"/>
          <p:cNvSpPr/>
          <p:nvPr/>
        </p:nvSpPr>
        <p:spPr>
          <a:xfrm>
            <a:off x="548640" y="3703320"/>
            <a:ext cx="11091672" cy="868680"/>
          </a:xfrm>
          <a:prstGeom prst="rect">
            <a:avLst/>
          </a:prstGeom>
          <a:solidFill>
            <a:schemeClr val="tx1"/>
          </a:solidFill>
          <a:ln/>
        </p:spPr>
      </p:sp>
      <p:sp>
        <p:nvSpPr>
          <p:cNvPr id="28" name="Text 25"/>
          <p:cNvSpPr txBox="1"/>
          <p:nvPr/>
        </p:nvSpPr>
        <p:spPr>
          <a:xfrm>
            <a:off x="777240" y="3703320"/>
            <a:ext cx="10607040" cy="868680"/>
          </a:xfrm>
          <a:prstGeom prst="rect">
            <a:avLst/>
          </a:prstGeom>
          <a:noFill/>
          <a:ln/>
        </p:spPr>
        <p:txBody>
          <a:bodyPr wrap="square" lIns="0" tIns="0" rIns="0" bIns="0" rtlCol="0" anchor="ctr"/>
          <a:lstStyle/>
          <a:p>
            <a:pPr algn="ctr" indent="0" marL="0">
              <a:buNone/>
            </a:pPr>
            <a:r>
              <a:rPr lang="en-US" sz="2200" dirty="0">
                <a:solidFill>
                  <a:schemeClr val="bg1"/>
                </a:solidFill>
                <a:latin typeface="Cambria" pitchFamily="34" charset="0"/>
                <a:ea typeface="Cambria" pitchFamily="34" charset="-122"/>
                <a:cs typeface="Cambria" pitchFamily="34" charset="-120"/>
              </a:rPr>
              <a:t>∂L/∂w  =  ∂L/∂ŷ  ·  ∂ŷ/∂z  ·  ∂z/∂w  =  (ŷ − y) · 1[z &gt; 0] · x</a:t>
            </a:r>
            <a:endParaRPr lang="en-US" sz="2200" dirty="0"/>
          </a:p>
        </p:txBody>
      </p:sp>
      <p:sp>
        <p:nvSpPr>
          <p:cNvPr id="29" name="Shape 26"/>
          <p:cNvSpPr/>
          <p:nvPr/>
        </p:nvSpPr>
        <p:spPr>
          <a:xfrm>
            <a:off x="548640" y="4846320"/>
            <a:ext cx="3575304" cy="1325880"/>
          </a:xfrm>
          <a:prstGeom prst="rect">
            <a:avLst/>
          </a:prstGeom>
          <a:solidFill>
            <a:schemeClr val="bg2"/>
          </a:solidFill>
          <a:ln/>
        </p:spPr>
      </p:sp>
      <p:sp>
        <p:nvSpPr>
          <p:cNvPr id="30" name="Text 27"/>
          <p:cNvSpPr txBox="1"/>
          <p:nvPr/>
        </p:nvSpPr>
        <p:spPr>
          <a:xfrm>
            <a:off x="777240" y="4956048"/>
            <a:ext cx="311810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Local</a:t>
            </a:r>
            <a:endParaRPr lang="en-US" sz="1400" dirty="0"/>
          </a:p>
        </p:txBody>
      </p:sp>
      <p:sp>
        <p:nvSpPr>
          <p:cNvPr id="31" name="Text 28"/>
          <p:cNvSpPr txBox="1"/>
          <p:nvPr/>
        </p:nvSpPr>
        <p:spPr>
          <a:xfrm>
            <a:off x="777240" y="5303520"/>
            <a:ext cx="3118104" cy="7772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Each node knows only its own derivative and the gradient arriving from the right.</a:t>
            </a:r>
            <a:endParaRPr lang="en-US" sz="1250" dirty="0"/>
          </a:p>
        </p:txBody>
      </p:sp>
      <p:sp>
        <p:nvSpPr>
          <p:cNvPr id="32" name="Shape 29"/>
          <p:cNvSpPr/>
          <p:nvPr/>
        </p:nvSpPr>
        <p:spPr>
          <a:xfrm>
            <a:off x="4306824" y="4846320"/>
            <a:ext cx="3575304" cy="1325880"/>
          </a:xfrm>
          <a:prstGeom prst="rect">
            <a:avLst/>
          </a:prstGeom>
          <a:solidFill>
            <a:schemeClr val="bg2"/>
          </a:solidFill>
          <a:ln/>
        </p:spPr>
      </p:sp>
      <p:sp>
        <p:nvSpPr>
          <p:cNvPr id="33" name="Text 30"/>
          <p:cNvSpPr txBox="1"/>
          <p:nvPr/>
        </p:nvSpPr>
        <p:spPr>
          <a:xfrm>
            <a:off x="4535424" y="4956048"/>
            <a:ext cx="311810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Reuse</a:t>
            </a:r>
            <a:endParaRPr lang="en-US" sz="1400" dirty="0"/>
          </a:p>
        </p:txBody>
      </p:sp>
      <p:sp>
        <p:nvSpPr>
          <p:cNvPr id="34" name="Text 31"/>
          <p:cNvSpPr txBox="1"/>
          <p:nvPr/>
        </p:nvSpPr>
        <p:spPr>
          <a:xfrm>
            <a:off x="4535424" y="5303520"/>
            <a:ext cx="3118104" cy="7772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Cached forward values make the backward pass cheap: about the cost of a forward pass.</a:t>
            </a:r>
            <a:endParaRPr lang="en-US" sz="1250" dirty="0"/>
          </a:p>
        </p:txBody>
      </p:sp>
      <p:sp>
        <p:nvSpPr>
          <p:cNvPr id="35" name="Shape 32"/>
          <p:cNvSpPr/>
          <p:nvPr/>
        </p:nvSpPr>
        <p:spPr>
          <a:xfrm>
            <a:off x="8065008" y="4846320"/>
            <a:ext cx="3575304" cy="1325880"/>
          </a:xfrm>
          <a:prstGeom prst="rect">
            <a:avLst/>
          </a:prstGeom>
          <a:solidFill>
            <a:schemeClr val="bg2"/>
          </a:solidFill>
          <a:ln/>
        </p:spPr>
      </p:sp>
      <p:sp>
        <p:nvSpPr>
          <p:cNvPr id="36" name="Text 33"/>
          <p:cNvSpPr txBox="1"/>
          <p:nvPr/>
        </p:nvSpPr>
        <p:spPr>
          <a:xfrm>
            <a:off x="8293608" y="4956048"/>
            <a:ext cx="3118104"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Automatic</a:t>
            </a:r>
            <a:endParaRPr lang="en-US" sz="1400" dirty="0"/>
          </a:p>
        </p:txBody>
      </p:sp>
      <p:sp>
        <p:nvSpPr>
          <p:cNvPr id="37" name="Text 34"/>
          <p:cNvSpPr txBox="1"/>
          <p:nvPr/>
        </p:nvSpPr>
        <p:spPr>
          <a:xfrm>
            <a:off x="8293608" y="5303520"/>
            <a:ext cx="3118104" cy="77724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loss.backward() in PyTorch builds and runs this graph for every weight.</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Backprop by hand: one neuron, one update</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143000"/>
                <a:gridCol w="4069080"/>
                <a:gridCol w="1554480"/>
              </a:tblGrid>
              <a:tr h="36576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Computation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365760">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Forward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z = w·x + b = 0.5 × 2 + 0.1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ŷ = ReLU(z)</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 = ½(y − ŷ)² = ½(2 − 1.1)²</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0.405</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Backward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∂L/∂ŷ = ŷ − 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−0.9</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∂ŷ/∂z = 1 (because z &gt; 0)</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∂L/∂w = −0.9 × 1 × x (= 2)</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∂L/∂b = −0.9 × 1 ×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−0.9</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Update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w ← 0.5 − 0.1 × (−1.8)</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0.68</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b ← 0.1 − 0.1 × (−0.9)</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0.19</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65760">
                <a:tc>
                  <a:txBody>
                    <a:bodyPr/>
                    <a:lstStyle/>
                    <a:p>
                      <a:pPr indent="0" marL="0">
                        <a:buNone/>
                      </a:pPr>
                      <a:r>
                        <a:rPr lang="en-US" sz="1300" b="1" dirty="0">
                          <a:solidFill>
                            <a:srgbClr val="3A4651"/>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new ŷ = 0.68 × 2 + 0.19;  new L = ½(2 − 1.55)²</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1.55;  0.101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5" name="Text 1"/>
          <p:cNvSpPr txBox="1"/>
          <p:nvPr/>
        </p:nvSpPr>
        <p:spPr>
          <a:xfrm>
            <a:off x="548640" y="5669280"/>
            <a:ext cx="6766560" cy="320040"/>
          </a:xfrm>
          <a:prstGeom prst="rect">
            <a:avLst/>
          </a:prstGeom>
          <a:noFill/>
          <a:ln/>
        </p:spPr>
        <p:txBody>
          <a:bodyPr wrap="square" lIns="0" tIns="0" rIns="0" bIns="0" rtlCol="0" anchor="t"/>
          <a:lstStyle/>
          <a:p>
            <a:pPr indent="0" marL="0">
              <a:buNone/>
            </a:pPr>
            <a:r>
              <a:rPr lang="en-US" sz="1300" i="1" dirty="0">
                <a:solidFill>
                  <a:schemeClr val="accent5"/>
                </a:solidFill>
                <a:latin typeface="Calibri" pitchFamily="34" charset="0"/>
                <a:ea typeface="Calibri" pitchFamily="34" charset="-122"/>
                <a:cs typeface="Calibri" pitchFamily="34" charset="-120"/>
              </a:rPr>
              <a:t>Start: x = 2, w = 0.5, b = 0.1, target y = 2, η = 0.1</a:t>
            </a:r>
            <a:endParaRPr lang="en-US" sz="1300" dirty="0"/>
          </a:p>
        </p:txBody>
      </p:sp>
      <p:sp>
        <p:nvSpPr>
          <p:cNvPr id="6" name="Shape 2"/>
          <p:cNvSpPr/>
          <p:nvPr/>
        </p:nvSpPr>
        <p:spPr>
          <a:xfrm>
            <a:off x="7543800" y="1325880"/>
            <a:ext cx="4096512" cy="3749040"/>
          </a:xfrm>
          <a:prstGeom prst="rect">
            <a:avLst/>
          </a:prstGeom>
          <a:solidFill>
            <a:schemeClr val="bg1"/>
          </a:solidFill>
          <a:ln/>
        </p:spPr>
      </p:sp>
      <p:pic>
        <p:nvPicPr>
          <p:cNvPr id="7" name="Image 0" descr="Backpropagation chain rule derivation: loss derivative, ReLU derivative, weighted sum derivative">    </p:cNvPr>
          <p:cNvPicPr>
            <a:picLocks noChangeAspect="1"/>
          </p:cNvPicPr>
          <p:nvPr/>
        </p:nvPicPr>
        <p:blipFill>
          <a:blip r:embed="rId1"/>
          <a:stretch>
            <a:fillRect/>
          </a:stretch>
        </p:blipFill>
        <p:spPr>
          <a:xfrm>
            <a:off x="7598664" y="1371600"/>
            <a:ext cx="3986784" cy="3657600"/>
          </a:xfrm>
          <a:prstGeom prst="rect">
            <a:avLst/>
          </a:prstGeom>
        </p:spPr>
      </p:pic>
      <p:sp>
        <p:nvSpPr>
          <p:cNvPr id="8" name="Text 3"/>
          <p:cNvSpPr txBox="1"/>
          <p:nvPr/>
        </p:nvSpPr>
        <p:spPr>
          <a:xfrm>
            <a:off x="7543800" y="5102352"/>
            <a:ext cx="4096512"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 C. P. Bathula, Deep Learning series, Part 5</a:t>
            </a:r>
            <a:endParaRPr lang="en-US" sz="1000" dirty="0"/>
          </a:p>
        </p:txBody>
      </p:sp>
      <p:sp>
        <p:nvSpPr>
          <p:cNvPr id="9" name="Shape 4"/>
          <p:cNvSpPr/>
          <p:nvPr/>
        </p:nvSpPr>
        <p:spPr>
          <a:xfrm>
            <a:off x="7543800" y="5440680"/>
            <a:ext cx="4096512" cy="731520"/>
          </a:xfrm>
          <a:prstGeom prst="rect">
            <a:avLst/>
          </a:prstGeom>
          <a:solidFill>
            <a:schemeClr val="tx1"/>
          </a:solidFill>
          <a:ln/>
        </p:spPr>
      </p:sp>
      <p:sp>
        <p:nvSpPr>
          <p:cNvPr id="10" name="Text 5"/>
          <p:cNvSpPr txBox="1"/>
          <p:nvPr/>
        </p:nvSpPr>
        <p:spPr>
          <a:xfrm>
            <a:off x="7726680" y="5440680"/>
            <a:ext cx="3749040" cy="73152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Loss 0.405 → 0.101  </a:t>
            </a:r>
            <a:pPr indent="0" marL="0">
              <a:buNone/>
            </a:pPr>
            <a:r>
              <a:rPr lang="en-US" sz="1600" dirty="0">
                <a:solidFill>
                  <a:schemeClr val="bg1"/>
                </a:solidFill>
                <a:latin typeface="Calibri" pitchFamily="34" charset="0"/>
                <a:ea typeface="Calibri" pitchFamily="34" charset="-122"/>
                <a:cs typeface="Calibri" pitchFamily="34" charset="-120"/>
              </a:rPr>
              <a:t>in one step</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Batch, stochastic and mini-batch gradient descent</a:t>
            </a:r>
            <a:endParaRPr lang="en-US" sz="3200" dirty="0"/>
          </a:p>
        </p:txBody>
      </p:sp>
      <p:sp>
        <p:nvSpPr>
          <p:cNvPr id="4" name="Shape 1"/>
          <p:cNvSpPr/>
          <p:nvPr/>
        </p:nvSpPr>
        <p:spPr>
          <a:xfrm>
            <a:off x="548640" y="1325880"/>
            <a:ext cx="11091672" cy="2514600"/>
          </a:xfrm>
          <a:prstGeom prst="rect">
            <a:avLst/>
          </a:prstGeom>
          <a:solidFill>
            <a:schemeClr val="bg1"/>
          </a:solidFill>
          <a:ln/>
        </p:spPr>
      </p:sp>
      <p:pic>
        <p:nvPicPr>
          <p:cNvPr id="5" name="Image 0" descr="Three optimization paths on elongated contours: batch smooth, SGD noisy, mini-batch moderately noisy">    </p:cNvPr>
          <p:cNvPicPr>
            <a:picLocks noChangeAspect="1"/>
          </p:cNvPicPr>
          <p:nvPr/>
        </p:nvPicPr>
        <p:blipFill>
          <a:blip r:embed="rId1"/>
          <a:stretch>
            <a:fillRect/>
          </a:stretch>
        </p:blipFill>
        <p:spPr>
          <a:xfrm>
            <a:off x="2033338" y="1325880"/>
            <a:ext cx="8122276" cy="2514600"/>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91672" cy="914400"/>
        </p:xfrm>
        <a:graphic>
          <a:graphicData uri="http://schemas.openxmlformats.org/drawingml/2006/table">
            <a:tbl>
              <a:tblPr/>
              <a:tblGrid>
                <a:gridCol w="3108960"/>
                <a:gridCol w="2560320"/>
                <a:gridCol w="2377440"/>
                <a:gridCol w="3044952"/>
              </a:tblGrid>
              <a:tr h="429768">
                <a:tc>
                  <a:txBody>
                    <a:bodyPr/>
                    <a:lstStyle/>
                    <a:p>
                      <a:pPr indent="0" marL="0">
                        <a:buNone/>
                      </a:pP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Batch GD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Stochastic GD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Mini-batch GD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429768">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Examples per update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All 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B (typically 32–512)</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29768">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Updates per epoch (MNIST, N = 60,000)</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60,000</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938 with B = 64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29768">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Gradient noise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Moderate: helps escape saddles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29768">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Hardware use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Memory-bound on large data</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Poor GPU utilisation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b="1" dirty="0">
                          <a:solidFill>
                            <a:schemeClr val="accent2"/>
                          </a:solidFill>
                          <a:latin typeface="Calibri" pitchFamily="34" charset="0"/>
                          <a:ea typeface="Calibri" pitchFamily="34" charset="-122"/>
                          <a:cs typeface="Calibri" pitchFamily="34" charset="-120"/>
                        </a:rPr>
                        <a:t>Fills the GPU: the default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Momentum: remember where you were going</a:t>
            </a:r>
            <a:endParaRPr lang="en-US" sz="3200" dirty="0"/>
          </a:p>
        </p:txBody>
      </p:sp>
      <p:sp>
        <p:nvSpPr>
          <p:cNvPr id="4" name="Shape 1"/>
          <p:cNvSpPr/>
          <p:nvPr/>
        </p:nvSpPr>
        <p:spPr>
          <a:xfrm>
            <a:off x="548640" y="1325880"/>
            <a:ext cx="5486400" cy="1828800"/>
          </a:xfrm>
          <a:prstGeom prst="rect">
            <a:avLst/>
          </a:prstGeom>
          <a:solidFill>
            <a:schemeClr val="bg1"/>
          </a:solidFill>
          <a:ln/>
        </p:spPr>
      </p:sp>
      <p:pic>
        <p:nvPicPr>
          <p:cNvPr id="5" name="Image 0" descr="SGD without momentum zig-zags; with momentum it moves more directly to the centre">    </p:cNvPr>
          <p:cNvPicPr>
            <a:picLocks noChangeAspect="1"/>
          </p:cNvPicPr>
          <p:nvPr/>
        </p:nvPicPr>
        <p:blipFill>
          <a:blip r:embed="rId1"/>
          <a:stretch>
            <a:fillRect/>
          </a:stretch>
        </p:blipFill>
        <p:spPr>
          <a:xfrm>
            <a:off x="640080" y="1542448"/>
            <a:ext cx="5303520" cy="1395663"/>
          </a:xfrm>
          <a:prstGeom prst="rect">
            <a:avLst/>
          </a:prstGeom>
        </p:spPr>
      </p:pic>
      <p:sp>
        <p:nvSpPr>
          <p:cNvPr id="6" name="Shape 2"/>
          <p:cNvSpPr/>
          <p:nvPr/>
        </p:nvSpPr>
        <p:spPr>
          <a:xfrm>
            <a:off x="548640" y="3291840"/>
            <a:ext cx="5486400" cy="1828800"/>
          </a:xfrm>
          <a:prstGeom prst="rect">
            <a:avLst/>
          </a:prstGeom>
          <a:solidFill>
            <a:schemeClr val="bg2"/>
          </a:solidFill>
          <a:ln/>
        </p:spPr>
      </p:sp>
      <p:sp>
        <p:nvSpPr>
          <p:cNvPr id="7" name="Text 3"/>
          <p:cNvSpPr txBox="1"/>
          <p:nvPr/>
        </p:nvSpPr>
        <p:spPr>
          <a:xfrm>
            <a:off x="777240" y="3383280"/>
            <a:ext cx="2743200" cy="9144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v ← β v + ∇L(w)</a:t>
            </a:r>
            <a:endParaRPr lang="en-US" sz="1800" dirty="0"/>
          </a:p>
          <a:p>
            <a:pPr indent="0" marL="0">
              <a:buNone/>
            </a:pPr>
            <a:r>
              <a:rPr lang="en-US" sz="1800" dirty="0">
                <a:solidFill>
                  <a:schemeClr val="tx1"/>
                </a:solidFill>
                <a:latin typeface="Cambria" pitchFamily="34" charset="0"/>
                <a:ea typeface="Cambria" pitchFamily="34" charset="-122"/>
                <a:cs typeface="Cambria" pitchFamily="34" charset="-120"/>
              </a:rPr>
              <a:t>w ← w − η v</a:t>
            </a:r>
            <a:endParaRPr lang="en-US" sz="1800" dirty="0"/>
          </a:p>
        </p:txBody>
      </p:sp>
      <p:sp>
        <p:nvSpPr>
          <p:cNvPr id="8" name="Text 4"/>
          <p:cNvSpPr txBox="1"/>
          <p:nvPr/>
        </p:nvSpPr>
        <p:spPr>
          <a:xfrm>
            <a:off x="3566160" y="3429000"/>
            <a:ext cx="2331720" cy="91440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β ≈ 0.9: velocity is a running average of about the last 10 gradients.</a:t>
            </a:r>
            <a:endParaRPr lang="en-US" sz="1250" dirty="0"/>
          </a:p>
        </p:txBody>
      </p:sp>
      <p:sp>
        <p:nvSpPr>
          <p:cNvPr id="9" name="Text 5"/>
          <p:cNvSpPr txBox="1"/>
          <p:nvPr/>
        </p:nvSpPr>
        <p:spPr>
          <a:xfrm>
            <a:off x="777240" y="4434840"/>
            <a:ext cx="5029200" cy="548640"/>
          </a:xfrm>
          <a:prstGeom prst="rect">
            <a:avLst/>
          </a:prstGeom>
          <a:noFill/>
          <a:ln/>
        </p:spPr>
        <p:txBody>
          <a:bodyPr wrap="square" lIns="0" tIns="0" rIns="0" bIns="0" rtlCol="0" anchor="t"/>
          <a:lstStyle/>
          <a:p>
            <a:pPr indent="0" marL="0">
              <a:buNone/>
            </a:pPr>
            <a:r>
              <a:rPr lang="en-US" sz="1250" i="1" dirty="0">
                <a:solidFill>
                  <a:schemeClr val="tx2"/>
                </a:solidFill>
                <a:latin typeface="Calibri" pitchFamily="34" charset="0"/>
                <a:ea typeface="Calibri" pitchFamily="34" charset="-122"/>
                <a:cs typeface="Calibri" pitchFamily="34" charset="-120"/>
              </a:rPr>
              <a:t>Consistent directions accelerate; oscillating directions cancel out.</a:t>
            </a:r>
            <a:endParaRPr lang="en-US" sz="1250" dirty="0"/>
          </a:p>
        </p:txBody>
      </p:sp>
      <p:sp>
        <p:nvSpPr>
          <p:cNvPr id="10" name="Shape 6"/>
          <p:cNvSpPr/>
          <p:nvPr/>
        </p:nvSpPr>
        <p:spPr>
          <a:xfrm>
            <a:off x="6263640" y="1325880"/>
            <a:ext cx="5376672" cy="1828800"/>
          </a:xfrm>
          <a:prstGeom prst="rect">
            <a:avLst/>
          </a:prstGeom>
          <a:solidFill>
            <a:schemeClr val="bg1"/>
          </a:solidFill>
          <a:ln/>
        </p:spPr>
      </p:sp>
      <p:pic>
        <p:nvPicPr>
          <p:cNvPr id="11" name="Image 1" descr="Momentum update versus Nesterov look-ahead update vectors">    </p:cNvPr>
          <p:cNvPicPr>
            <a:picLocks noChangeAspect="1"/>
          </p:cNvPicPr>
          <p:nvPr/>
        </p:nvPicPr>
        <p:blipFill>
          <a:blip r:embed="rId2"/>
          <a:stretch>
            <a:fillRect/>
          </a:stretch>
        </p:blipFill>
        <p:spPr>
          <a:xfrm>
            <a:off x="6355080" y="1415766"/>
            <a:ext cx="5193792" cy="1649029"/>
          </a:xfrm>
          <a:prstGeom prst="rect">
            <a:avLst/>
          </a:prstGeom>
        </p:spPr>
      </p:pic>
      <p:sp>
        <p:nvSpPr>
          <p:cNvPr id="12" name="Shape 7"/>
          <p:cNvSpPr/>
          <p:nvPr/>
        </p:nvSpPr>
        <p:spPr>
          <a:xfrm>
            <a:off x="6263640" y="3291840"/>
            <a:ext cx="2606040" cy="1828800"/>
          </a:xfrm>
          <a:prstGeom prst="rect">
            <a:avLst/>
          </a:prstGeom>
          <a:solidFill>
            <a:schemeClr val="bg1"/>
          </a:solidFill>
          <a:ln/>
        </p:spPr>
      </p:sp>
      <p:pic>
        <p:nvPicPr>
          <p:cNvPr id="13" name="Image 2" descr="Noisy data smoothed by an exponentially weighted moving average">    </p:cNvPr>
          <p:cNvPicPr>
            <a:picLocks noChangeAspect="1"/>
          </p:cNvPicPr>
          <p:nvPr/>
        </p:nvPicPr>
        <p:blipFill>
          <a:blip r:embed="rId3"/>
          <a:stretch>
            <a:fillRect/>
          </a:stretch>
        </p:blipFill>
        <p:spPr>
          <a:xfrm>
            <a:off x="6360045" y="3337560"/>
            <a:ext cx="2413230" cy="1737360"/>
          </a:xfrm>
          <a:prstGeom prst="rect">
            <a:avLst/>
          </a:prstGeom>
        </p:spPr>
      </p:pic>
      <p:sp>
        <p:nvSpPr>
          <p:cNvPr id="14" name="Shape 8"/>
          <p:cNvSpPr/>
          <p:nvPr/>
        </p:nvSpPr>
        <p:spPr>
          <a:xfrm>
            <a:off x="9034272" y="3291840"/>
            <a:ext cx="2606040" cy="1828800"/>
          </a:xfrm>
          <a:prstGeom prst="rect">
            <a:avLst/>
          </a:prstGeom>
          <a:solidFill>
            <a:schemeClr val="bg2"/>
          </a:solidFill>
          <a:ln/>
        </p:spPr>
      </p:sp>
      <p:sp>
        <p:nvSpPr>
          <p:cNvPr id="15" name="Text 9"/>
          <p:cNvSpPr txBox="1"/>
          <p:nvPr/>
        </p:nvSpPr>
        <p:spPr>
          <a:xfrm>
            <a:off x="9189720" y="3383280"/>
            <a:ext cx="2331720" cy="164592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Nesterov (1983)</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Look ahead first: take the gradient at w − ηβv, then correct. Less overshoot.</a:t>
            </a:r>
            <a:endParaRPr lang="en-US" sz="1250" dirty="0"/>
          </a:p>
        </p:txBody>
      </p:sp>
      <p:sp>
        <p:nvSpPr>
          <p:cNvPr id="16" name="Text 10"/>
          <p:cNvSpPr txBox="1"/>
          <p:nvPr/>
        </p:nvSpPr>
        <p:spPr>
          <a:xfrm>
            <a:off x="548640" y="5166360"/>
            <a:ext cx="731520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C. P. Bathula, Deep Learning series, Part 9</a:t>
            </a:r>
            <a:endParaRPr lang="en-US" sz="1000" dirty="0"/>
          </a:p>
        </p:txBody>
      </p:sp>
      <p:sp>
        <p:nvSpPr>
          <p:cNvPr id="17" name="Shape 11"/>
          <p:cNvSpPr/>
          <p:nvPr/>
        </p:nvSpPr>
        <p:spPr>
          <a:xfrm>
            <a:off x="548640" y="5486400"/>
            <a:ext cx="11091672" cy="685800"/>
          </a:xfrm>
          <a:prstGeom prst="rect">
            <a:avLst/>
          </a:prstGeom>
          <a:solidFill>
            <a:schemeClr val="tx1"/>
          </a:solidFill>
          <a:ln/>
        </p:spPr>
      </p:sp>
      <p:sp>
        <p:nvSpPr>
          <p:cNvPr id="18" name="Text 12"/>
          <p:cNvSpPr txBox="1"/>
          <p:nvPr/>
        </p:nvSpPr>
        <p:spPr>
          <a:xfrm>
            <a:off x="777240" y="5486400"/>
            <a:ext cx="10634472" cy="6858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PyTorch:  </a:t>
            </a:r>
            <a:pPr indent="0" marL="0">
              <a:buNone/>
            </a:pPr>
            <a:r>
              <a:rPr lang="en-US" sz="1400" dirty="0">
                <a:solidFill>
                  <a:schemeClr val="bg1"/>
                </a:solidFill>
                <a:latin typeface="Calibri" pitchFamily="34" charset="0"/>
                <a:ea typeface="Calibri" pitchFamily="34" charset="-122"/>
                <a:cs typeface="Calibri" pitchFamily="34" charset="-120"/>
              </a:rPr>
              <a:t>optim.SGD(model.parameters(), lr=0.01, momentum=0.9, nesterov=True). This is the swap suggested in the MNIST notebook.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Adaptive optimizers: a learning rate for every weight</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760720" cy="914400"/>
        </p:xfrm>
        <a:graphic>
          <a:graphicData uri="http://schemas.openxmlformats.org/drawingml/2006/table">
            <a:tbl>
              <a:tblPr/>
              <a:tblGrid>
                <a:gridCol w="731520"/>
                <a:gridCol w="1280160"/>
                <a:gridCol w="3749040"/>
              </a:tblGrid>
              <a:tr h="411480">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Year</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Optimizer</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Idea in one line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411480">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1951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SGD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Step against the gradient of a random sample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11480">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1964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Momentum</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Average past gradients to build velocity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11480">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1983</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Nesterov</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Take the gradient at the look-ahead point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11480">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2011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AdaGrad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Divide by accumulated squared gradients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11480">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2012</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RMSprop</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Use a moving average instead, so steps don't vanish</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11480">
                <a:tc>
                  <a:txBody>
                    <a:bodyPr/>
                    <a:lstStyle/>
                    <a:p>
                      <a:pPr indent="0" marL="0">
                        <a:buNone/>
                      </a:pPr>
                      <a:r>
                        <a:rPr lang="en-US" sz="1250" b="1" dirty="0">
                          <a:solidFill>
                            <a:schemeClr val="accent1"/>
                          </a:solidFill>
                          <a:latin typeface="Calibri" pitchFamily="34" charset="0"/>
                          <a:ea typeface="Calibri" pitchFamily="34" charset="-122"/>
                          <a:cs typeface="Calibri" pitchFamily="34" charset="-120"/>
                        </a:rPr>
                        <a:t>2014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b="1" dirty="0">
                          <a:solidFill>
                            <a:schemeClr val="accent1"/>
                          </a:solidFill>
                          <a:latin typeface="Calibri" pitchFamily="34" charset="0"/>
                          <a:ea typeface="Calibri" pitchFamily="34" charset="-122"/>
                          <a:cs typeface="Calibri" pitchFamily="34" charset="-120"/>
                        </a:rPr>
                        <a:t>Adam</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Momentum + RMSprop + bias correction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411480">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2017</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AdamW</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Adam with weight decay decoupled from the step</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5" name="Shape 1"/>
          <p:cNvSpPr/>
          <p:nvPr/>
        </p:nvSpPr>
        <p:spPr>
          <a:xfrm>
            <a:off x="6537960" y="1325880"/>
            <a:ext cx="5102352" cy="1143000"/>
          </a:xfrm>
          <a:prstGeom prst="rect">
            <a:avLst/>
          </a:prstGeom>
          <a:solidFill>
            <a:schemeClr val="bg1"/>
          </a:solidFill>
          <a:ln/>
        </p:spPr>
      </p:sp>
      <p:pic>
        <p:nvPicPr>
          <p:cNvPr id="6" name="Image 0" descr="RMSprop update: w minus eta over square root of v times gradient">    </p:cNvPr>
          <p:cNvPicPr>
            <a:picLocks noChangeAspect="1"/>
          </p:cNvPicPr>
          <p:nvPr/>
        </p:nvPicPr>
        <p:blipFill>
          <a:blip r:embed="rId1"/>
          <a:stretch>
            <a:fillRect/>
          </a:stretch>
        </p:blipFill>
        <p:spPr>
          <a:xfrm>
            <a:off x="7131617" y="1371600"/>
            <a:ext cx="3915039" cy="1051560"/>
          </a:xfrm>
          <a:prstGeom prst="rect">
            <a:avLst/>
          </a:prstGeom>
        </p:spPr>
      </p:pic>
      <p:sp>
        <p:nvSpPr>
          <p:cNvPr id="7" name="Shape 2"/>
          <p:cNvSpPr/>
          <p:nvPr/>
        </p:nvSpPr>
        <p:spPr>
          <a:xfrm>
            <a:off x="6537960" y="2606040"/>
            <a:ext cx="5102352" cy="2377440"/>
          </a:xfrm>
          <a:prstGeom prst="rect">
            <a:avLst/>
          </a:prstGeom>
          <a:solidFill>
            <a:schemeClr val="bg1"/>
          </a:solidFill>
          <a:ln/>
        </p:spPr>
      </p:sp>
      <p:pic>
        <p:nvPicPr>
          <p:cNvPr id="8" name="Image 1" descr="Adam update equations with first and second moment estimates and bias correction">    </p:cNvPr>
          <p:cNvPicPr>
            <a:picLocks noChangeAspect="1"/>
          </p:cNvPicPr>
          <p:nvPr/>
        </p:nvPicPr>
        <p:blipFill>
          <a:blip r:embed="rId2"/>
          <a:stretch>
            <a:fillRect/>
          </a:stretch>
        </p:blipFill>
        <p:spPr>
          <a:xfrm>
            <a:off x="6720815" y="2651760"/>
            <a:ext cx="4736643" cy="2286000"/>
          </a:xfrm>
          <a:prstGeom prst="rect">
            <a:avLst/>
          </a:prstGeom>
        </p:spPr>
      </p:pic>
      <p:sp>
        <p:nvSpPr>
          <p:cNvPr id="9" name="Text 3"/>
          <p:cNvSpPr txBox="1"/>
          <p:nvPr/>
        </p:nvSpPr>
        <p:spPr>
          <a:xfrm>
            <a:off x="6537960" y="5029200"/>
            <a:ext cx="5102352"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C. P. Bathula, Deep Learning series, Part 9</a:t>
            </a:r>
            <a:endParaRPr lang="en-US" sz="1000" dirty="0"/>
          </a:p>
        </p:txBody>
      </p:sp>
      <p:sp>
        <p:nvSpPr>
          <p:cNvPr id="10" name="Shape 4"/>
          <p:cNvSpPr/>
          <p:nvPr/>
        </p:nvSpPr>
        <p:spPr>
          <a:xfrm>
            <a:off x="548640" y="5440680"/>
            <a:ext cx="11091672" cy="731520"/>
          </a:xfrm>
          <a:prstGeom prst="rect">
            <a:avLst/>
          </a:prstGeom>
          <a:solidFill>
            <a:schemeClr val="tx1"/>
          </a:solidFill>
          <a:ln/>
        </p:spPr>
      </p:sp>
      <p:sp>
        <p:nvSpPr>
          <p:cNvPr id="11" name="Text 5"/>
          <p:cNvSpPr txBox="1"/>
          <p:nvPr/>
        </p:nvSpPr>
        <p:spPr>
          <a:xfrm>
            <a:off x="777240" y="5440680"/>
            <a:ext cx="10634472" cy="7315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Which to use:  </a:t>
            </a:r>
            <a:pPr indent="0" marL="0">
              <a:buNone/>
            </a:pPr>
            <a:r>
              <a:rPr lang="en-US" sz="1400" dirty="0">
                <a:solidFill>
                  <a:schemeClr val="bg1"/>
                </a:solidFill>
                <a:latin typeface="Calibri" pitchFamily="34" charset="0"/>
                <a:ea typeface="Calibri" pitchFamily="34" charset="-122"/>
                <a:cs typeface="Calibri" pitchFamily="34" charset="-120"/>
              </a:rPr>
              <a:t>start with Adam or AdamW (lr = 1e-3). For CNNs trained long, SGD + momentum with a schedule often generalizes slightly better.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731520" y="1828800"/>
            <a:ext cx="10698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PART 6 · MAKING DEEP NETWORKS TRAINABLE</a:t>
            </a:r>
            <a:endParaRPr lang="en-US" sz="1400" dirty="0"/>
          </a:p>
        </p:txBody>
      </p:sp>
      <p:sp>
        <p:nvSpPr>
          <p:cNvPr id="3"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000" dirty="0">
                <a:solidFill>
                  <a:schemeClr val="bg1"/>
                </a:solidFill>
                <a:latin typeface="Cambria" pitchFamily="34" charset="0"/>
                <a:ea typeface="Cambria" pitchFamily="34" charset="-122"/>
                <a:cs typeface="Cambria" pitchFamily="34" charset="-120"/>
              </a:rPr>
              <a:t>Activations, initialization, normalization, regularization</a:t>
            </a:r>
            <a:endParaRPr lang="en-US" sz="4000" dirty="0"/>
          </a:p>
        </p:txBody>
      </p:sp>
      <p:sp>
        <p:nvSpPr>
          <p:cNvPr id="4"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r>
              <a:rPr lang="en-US" sz="2000" dirty="0">
                <a:solidFill>
                  <a:schemeClr val="accent1"/>
                </a:solidFill>
                <a:latin typeface="Calibri" pitchFamily="34" charset="0"/>
                <a:ea typeface="Calibri" pitchFamily="34" charset="-122"/>
                <a:cs typeface="Calibri" pitchFamily="34" charset="-120"/>
              </a:rPr>
              <a:t>The tricks that turned 1986's backprop into 2012's 8-layer and 2015's 152-layer networks</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Activation functions: the non-linearity is the point</a:t>
            </a:r>
            <a:endParaRPr lang="en-US" sz="3200" dirty="0"/>
          </a:p>
        </p:txBody>
      </p:sp>
      <p:sp>
        <p:nvSpPr>
          <p:cNvPr id="4" name="Shape 1"/>
          <p:cNvSpPr/>
          <p:nvPr/>
        </p:nvSpPr>
        <p:spPr>
          <a:xfrm>
            <a:off x="548640" y="1325880"/>
            <a:ext cx="7863840" cy="4023360"/>
          </a:xfrm>
          <a:prstGeom prst="rect">
            <a:avLst/>
          </a:prstGeom>
          <a:solidFill>
            <a:schemeClr val="bg1"/>
          </a:solidFill>
          <a:ln/>
        </p:spPr>
      </p:sp>
      <p:pic>
        <p:nvPicPr>
          <p:cNvPr id="5" name="Image 0" descr="Six activation functions with their derivatives: sigmoid, tanh, ReLU, leaky ReLU, ELU, GELU">    </p:cNvPr>
          <p:cNvPicPr>
            <a:picLocks noChangeAspect="1"/>
          </p:cNvPicPr>
          <p:nvPr/>
        </p:nvPicPr>
        <p:blipFill>
          <a:blip r:embed="rId1"/>
          <a:stretch>
            <a:fillRect/>
          </a:stretch>
        </p:blipFill>
        <p:spPr>
          <a:xfrm>
            <a:off x="548640" y="1437592"/>
            <a:ext cx="7863840" cy="3799935"/>
          </a:xfrm>
          <a:prstGeom prst="rect">
            <a:avLst/>
          </a:prstGeom>
        </p:spPr>
      </p:pic>
      <p:sp>
        <p:nvSpPr>
          <p:cNvPr id="6" name="Shape 2"/>
          <p:cNvSpPr/>
          <p:nvPr/>
        </p:nvSpPr>
        <p:spPr>
          <a:xfrm>
            <a:off x="8641080" y="1325880"/>
            <a:ext cx="2999232" cy="4023360"/>
          </a:xfrm>
          <a:prstGeom prst="rect">
            <a:avLst/>
          </a:prstGeom>
          <a:solidFill>
            <a:schemeClr val="bg2"/>
          </a:solidFill>
          <a:ln/>
        </p:spPr>
      </p:sp>
      <p:sp>
        <p:nvSpPr>
          <p:cNvPr id="7" name="Text 3"/>
          <p:cNvSpPr txBox="1"/>
          <p:nvPr/>
        </p:nvSpPr>
        <p:spPr>
          <a:xfrm>
            <a:off x="8869680" y="1463040"/>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Read the dashed line</a:t>
            </a:r>
            <a:endParaRPr lang="en-US" sz="1500" dirty="0"/>
          </a:p>
        </p:txBody>
      </p:sp>
      <p:sp>
        <p:nvSpPr>
          <p:cNvPr id="8" name="Text 4"/>
          <p:cNvSpPr txBox="1"/>
          <p:nvPr/>
        </p:nvSpPr>
        <p:spPr>
          <a:xfrm>
            <a:off x="8869680" y="1874520"/>
            <a:ext cx="26517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Backprop multiplies these slopes layer after layer</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Sigmoid: slope ≤ 0.25, near 0 at the tails</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Tanh: zero-centred, but still saturates</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ReLU: slope 1 for z &gt; 0, cheap to compute</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GELU: a smooth ReLU used in Transformers</a:t>
            </a:r>
            <a:endParaRPr lang="en-US" sz="1250" dirty="0"/>
          </a:p>
        </p:txBody>
      </p:sp>
      <p:sp>
        <p:nvSpPr>
          <p:cNvPr id="9" name="Shape 5"/>
          <p:cNvSpPr/>
          <p:nvPr/>
        </p:nvSpPr>
        <p:spPr>
          <a:xfrm>
            <a:off x="548640" y="5532120"/>
            <a:ext cx="11091672" cy="640080"/>
          </a:xfrm>
          <a:prstGeom prst="rect">
            <a:avLst/>
          </a:prstGeom>
          <a:solidFill>
            <a:schemeClr val="tx1"/>
          </a:solidFill>
          <a:ln/>
        </p:spPr>
      </p:sp>
      <p:sp>
        <p:nvSpPr>
          <p:cNvPr id="10" name="Text 6"/>
          <p:cNvSpPr txBox="1"/>
          <p:nvPr/>
        </p:nvSpPr>
        <p:spPr>
          <a:xfrm>
            <a:off x="777240" y="553212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No activation, no depth:  </a:t>
            </a:r>
            <a:pPr indent="0" marL="0">
              <a:buNone/>
            </a:pPr>
            <a:r>
              <a:rPr lang="en-US" sz="1400" dirty="0">
                <a:solidFill>
                  <a:schemeClr val="bg1"/>
                </a:solidFill>
                <a:latin typeface="Calibri" pitchFamily="34" charset="0"/>
                <a:ea typeface="Calibri" pitchFamily="34" charset="-122"/>
                <a:cs typeface="Calibri" pitchFamily="34" charset="-120"/>
              </a:rPr>
              <a:t>W₂(W₁x) = (W₂W₁)x. Stacked linear layers collapse into one linear model.</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The vanishing gradient, in one chart</a:t>
            </a:r>
            <a:endParaRPr lang="en-US" sz="3200" dirty="0"/>
          </a:p>
        </p:txBody>
      </p:sp>
      <p:sp>
        <p:nvSpPr>
          <p:cNvPr id="4" name="Shape 1"/>
          <p:cNvSpPr/>
          <p:nvPr/>
        </p:nvSpPr>
        <p:spPr>
          <a:xfrm>
            <a:off x="548640" y="1325880"/>
            <a:ext cx="5029200" cy="3566160"/>
          </a:xfrm>
          <a:prstGeom prst="rect">
            <a:avLst/>
          </a:prstGeom>
          <a:solidFill>
            <a:schemeClr val="bg1"/>
          </a:solidFill>
          <a:ln/>
        </p:spPr>
      </p:sp>
      <p:pic>
        <p:nvPicPr>
          <p:cNvPr id="5" name="Image 0" descr="Derivatives of sigmoid (max 0.25), tanh (max 1) and ReLU (1 for positive inputs)">    </p:cNvPr>
          <p:cNvPicPr>
            <a:picLocks noChangeAspect="1"/>
          </p:cNvPicPr>
          <p:nvPr/>
        </p:nvPicPr>
        <p:blipFill>
          <a:blip r:embed="rId1"/>
          <a:stretch>
            <a:fillRect/>
          </a:stretch>
        </p:blipFill>
        <p:spPr>
          <a:xfrm>
            <a:off x="594360" y="1469377"/>
            <a:ext cx="4937760" cy="3279167"/>
          </a:xfrm>
          <a:prstGeom prst="rect">
            <a:avLst/>
          </a:prstGeom>
        </p:spPr>
      </p:pic>
      <p:sp>
        <p:nvSpPr>
          <p:cNvPr id="6" name="Shape 2"/>
          <p:cNvSpPr/>
          <p:nvPr/>
        </p:nvSpPr>
        <p:spPr>
          <a:xfrm>
            <a:off x="5806440" y="1325880"/>
            <a:ext cx="5833872" cy="3566160"/>
          </a:xfrm>
          <a:prstGeom prst="rect">
            <a:avLst/>
          </a:prstGeom>
          <a:solidFill>
            <a:schemeClr val="bg1"/>
          </a:solidFill>
          <a:ln/>
        </p:spPr>
      </p:sp>
      <p:pic>
        <p:nvPicPr>
          <p:cNvPr id="7" name="Image 1" descr="Log-scale chart: gradient after n sigmoid layers falls as 0.25 to the n, reaching about one millionth at 10 layers, while ReLU stays at 1">    </p:cNvPr>
          <p:cNvPicPr>
            <a:picLocks noChangeAspect="1"/>
          </p:cNvPicPr>
          <p:nvPr/>
        </p:nvPicPr>
        <p:blipFill>
          <a:blip r:embed="rId2"/>
          <a:stretch>
            <a:fillRect/>
          </a:stretch>
        </p:blipFill>
        <p:spPr>
          <a:xfrm>
            <a:off x="6064717" y="1325880"/>
            <a:ext cx="5317318" cy="3566160"/>
          </a:xfrm>
          <a:prstGeom prst="rect">
            <a:avLst/>
          </a:prstGeom>
        </p:spPr>
      </p:pic>
      <p:sp>
        <p:nvSpPr>
          <p:cNvPr id="8" name="Shape 3"/>
          <p:cNvSpPr/>
          <p:nvPr/>
        </p:nvSpPr>
        <p:spPr>
          <a:xfrm>
            <a:off x="548640" y="5120640"/>
            <a:ext cx="3575304" cy="1051560"/>
          </a:xfrm>
          <a:prstGeom prst="rect">
            <a:avLst/>
          </a:prstGeom>
          <a:solidFill>
            <a:schemeClr val="tx1"/>
          </a:solidFill>
          <a:ln/>
        </p:spPr>
      </p:sp>
      <p:sp>
        <p:nvSpPr>
          <p:cNvPr id="9" name="Text 4"/>
          <p:cNvSpPr txBox="1"/>
          <p:nvPr/>
        </p:nvSpPr>
        <p:spPr>
          <a:xfrm>
            <a:off x="777240" y="5166360"/>
            <a:ext cx="3118104" cy="548640"/>
          </a:xfrm>
          <a:prstGeom prst="rect">
            <a:avLst/>
          </a:prstGeom>
          <a:noFill/>
          <a:ln/>
        </p:spPr>
        <p:txBody>
          <a:bodyPr wrap="square" lIns="0" tIns="0" rIns="0" bIns="0" rtlCol="0" anchor="t"/>
          <a:lstStyle/>
          <a:p>
            <a:pPr indent="0" marL="0">
              <a:buNone/>
            </a:pPr>
            <a:r>
              <a:rPr lang="en-US" sz="2400" dirty="0">
                <a:solidFill>
                  <a:schemeClr val="accent1"/>
                </a:solidFill>
                <a:latin typeface="Cambria" pitchFamily="34" charset="0"/>
                <a:ea typeface="Cambria" pitchFamily="34" charset="-122"/>
                <a:cs typeface="Cambria" pitchFamily="34" charset="-120"/>
              </a:rPr>
              <a:t>0.25¹⁰ ≈ 10⁻⁶</a:t>
            </a:r>
            <a:endParaRPr lang="en-US" sz="2400" dirty="0"/>
          </a:p>
        </p:txBody>
      </p:sp>
      <p:sp>
        <p:nvSpPr>
          <p:cNvPr id="10" name="Text 5"/>
          <p:cNvSpPr txBox="1"/>
          <p:nvPr/>
        </p:nvSpPr>
        <p:spPr>
          <a:xfrm>
            <a:off x="777240" y="5715000"/>
            <a:ext cx="3118104" cy="36576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Sigmoid, 10 layers, best case</a:t>
            </a:r>
            <a:endParaRPr lang="en-US" sz="1250" dirty="0"/>
          </a:p>
        </p:txBody>
      </p:sp>
      <p:sp>
        <p:nvSpPr>
          <p:cNvPr id="11" name="Shape 6"/>
          <p:cNvSpPr/>
          <p:nvPr/>
        </p:nvSpPr>
        <p:spPr>
          <a:xfrm>
            <a:off x="4306824" y="5120640"/>
            <a:ext cx="3575304" cy="1051560"/>
          </a:xfrm>
          <a:prstGeom prst="rect">
            <a:avLst/>
          </a:prstGeom>
          <a:solidFill>
            <a:schemeClr val="tx1"/>
          </a:solidFill>
          <a:ln/>
        </p:spPr>
      </p:sp>
      <p:sp>
        <p:nvSpPr>
          <p:cNvPr id="12" name="Text 7"/>
          <p:cNvSpPr txBox="1"/>
          <p:nvPr/>
        </p:nvSpPr>
        <p:spPr>
          <a:xfrm>
            <a:off x="4535424" y="5166360"/>
            <a:ext cx="3118104" cy="548640"/>
          </a:xfrm>
          <a:prstGeom prst="rect">
            <a:avLst/>
          </a:prstGeom>
          <a:noFill/>
          <a:ln/>
        </p:spPr>
        <p:txBody>
          <a:bodyPr wrap="square" lIns="0" tIns="0" rIns="0" bIns="0" rtlCol="0" anchor="t"/>
          <a:lstStyle/>
          <a:p>
            <a:pPr indent="0" marL="0">
              <a:buNone/>
            </a:pPr>
            <a:r>
              <a:rPr lang="en-US" sz="2400" dirty="0">
                <a:solidFill>
                  <a:schemeClr val="bg1"/>
                </a:solidFill>
                <a:latin typeface="Cambria" pitchFamily="34" charset="0"/>
                <a:ea typeface="Cambria" pitchFamily="34" charset="-122"/>
                <a:cs typeface="Cambria" pitchFamily="34" charset="-120"/>
              </a:rPr>
              <a:t>1</a:t>
            </a:r>
            <a:endParaRPr lang="en-US" sz="2400" dirty="0"/>
          </a:p>
        </p:txBody>
      </p:sp>
      <p:sp>
        <p:nvSpPr>
          <p:cNvPr id="13" name="Text 8"/>
          <p:cNvSpPr txBox="1"/>
          <p:nvPr/>
        </p:nvSpPr>
        <p:spPr>
          <a:xfrm>
            <a:off x="4535424" y="5715000"/>
            <a:ext cx="3118104" cy="36576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ReLU, any depth, active units</a:t>
            </a:r>
            <a:endParaRPr lang="en-US" sz="1250" dirty="0"/>
          </a:p>
        </p:txBody>
      </p:sp>
      <p:sp>
        <p:nvSpPr>
          <p:cNvPr id="14" name="Shape 9"/>
          <p:cNvSpPr/>
          <p:nvPr/>
        </p:nvSpPr>
        <p:spPr>
          <a:xfrm>
            <a:off x="8065008" y="5120640"/>
            <a:ext cx="3575304" cy="1051560"/>
          </a:xfrm>
          <a:prstGeom prst="rect">
            <a:avLst/>
          </a:prstGeom>
          <a:solidFill>
            <a:schemeClr val="tx1"/>
          </a:solidFill>
          <a:ln/>
        </p:spPr>
      </p:sp>
      <p:sp>
        <p:nvSpPr>
          <p:cNvPr id="15" name="Text 10"/>
          <p:cNvSpPr txBox="1"/>
          <p:nvPr/>
        </p:nvSpPr>
        <p:spPr>
          <a:xfrm>
            <a:off x="8293608" y="5166360"/>
            <a:ext cx="3118104" cy="548640"/>
          </a:xfrm>
          <a:prstGeom prst="rect">
            <a:avLst/>
          </a:prstGeom>
          <a:noFill/>
          <a:ln/>
        </p:spPr>
        <p:txBody>
          <a:bodyPr wrap="square" lIns="0" tIns="0" rIns="0" bIns="0" rtlCol="0" anchor="t"/>
          <a:lstStyle/>
          <a:p>
            <a:pPr indent="0" marL="0">
              <a:buNone/>
            </a:pPr>
            <a:r>
              <a:rPr lang="en-US" sz="2400" dirty="0">
                <a:solidFill>
                  <a:schemeClr val="accent1"/>
                </a:solidFill>
                <a:latin typeface="Cambria" pitchFamily="34" charset="0"/>
                <a:ea typeface="Cambria" pitchFamily="34" charset="-122"/>
                <a:cs typeface="Cambria" pitchFamily="34" charset="-120"/>
              </a:rPr>
              <a:t>&gt; 1 per layer</a:t>
            </a:r>
            <a:endParaRPr lang="en-US" sz="2400" dirty="0"/>
          </a:p>
        </p:txBody>
      </p:sp>
      <p:sp>
        <p:nvSpPr>
          <p:cNvPr id="16" name="Text 11"/>
          <p:cNvSpPr txBox="1"/>
          <p:nvPr/>
        </p:nvSpPr>
        <p:spPr>
          <a:xfrm>
            <a:off x="8293608" y="5715000"/>
            <a:ext cx="3118104" cy="36576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Exploding gradients: clip them</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Choosing an activation function</a:t>
            </a:r>
            <a:endParaRPr lang="en-US" sz="3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234440"/>
                <a:gridCol w="2148840"/>
                <a:gridCol w="1325880"/>
                <a:gridCol w="1828800"/>
                <a:gridCol w="2560320"/>
                <a:gridCol w="1993392"/>
              </a:tblGrid>
              <a:tr h="50292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Activation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Formula</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Range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Strength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Watch out for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Typical use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rgbClr val="3A4651"/>
                          </a:solidFill>
                          <a:latin typeface="Calibri" pitchFamily="34" charset="0"/>
                          <a:ea typeface="Calibri" pitchFamily="34" charset="-122"/>
                          <a:cs typeface="Calibri" pitchFamily="34" charset="-120"/>
                        </a:rPr>
                        <a:t>Sigmoid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1 / (1 + e⁻ᶻ)</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(0, 1)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Reads as a probability</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Saturates; slope ≤ 0.25; not zero-centred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Binary output layer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b="1" dirty="0">
                          <a:solidFill>
                            <a:srgbClr val="3A4651"/>
                          </a:solidFill>
                          <a:latin typeface="Calibri" pitchFamily="34" charset="0"/>
                          <a:ea typeface="Calibri" pitchFamily="34" charset="-122"/>
                          <a:cs typeface="Calibri" pitchFamily="34" charset="-120"/>
                        </a:rPr>
                        <a:t>Tanh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(eᶻ − e⁻ᶻ)/(eᶻ + e⁻ᶻ)</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(−1, 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Zero-centred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Still saturates at the tails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RNN / LSTM gates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ReLU</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max(0, z)</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[0,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Fast; slope 1 when active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"Dying" units stuck at 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Default hidden layer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b="1" dirty="0">
                          <a:solidFill>
                            <a:srgbClr val="3A4651"/>
                          </a:solidFill>
                          <a:latin typeface="Calibri" pitchFamily="34" charset="0"/>
                          <a:ea typeface="Calibri" pitchFamily="34" charset="-122"/>
                          <a:cs typeface="Calibri" pitchFamily="34" charset="-120"/>
                        </a:rPr>
                        <a:t>Leaky ReLU</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max(αz, z), α ≈ 0.01–0.1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No dead units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Extra hyperparameter α</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Hidden layers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b="1" dirty="0">
                          <a:solidFill>
                            <a:srgbClr val="3A4651"/>
                          </a:solidFill>
                          <a:latin typeface="Calibri" pitchFamily="34" charset="0"/>
                          <a:ea typeface="Calibri" pitchFamily="34" charset="-122"/>
                          <a:cs typeface="Calibri" pitchFamily="34" charset="-120"/>
                        </a:rPr>
                        <a:t>ELU</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z, or α(eᶻ − 1) if z &lt; 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(−α,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Smooth, mean near 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Slower (uses exp)</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Hidden layers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b="1" dirty="0">
                          <a:solidFill>
                            <a:srgbClr val="3A4651"/>
                          </a:solidFill>
                          <a:latin typeface="Calibri" pitchFamily="34" charset="0"/>
                          <a:ea typeface="Calibri" pitchFamily="34" charset="-122"/>
                          <a:cs typeface="Calibri" pitchFamily="34" charset="-120"/>
                        </a:rPr>
                        <a:t>GELU</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z · Φ(z)</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 (−0.17,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Smooth ReLU</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Slightly more compute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Transformers (BERT, GPT)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02920">
                <a:tc>
                  <a:txBody>
                    <a:bodyPr/>
                    <a:lstStyle/>
                    <a:p>
                      <a:pPr indent="0" marL="0">
                        <a:buNone/>
                      </a:pPr>
                      <a:r>
                        <a:rPr lang="en-US" sz="1200" b="1" dirty="0">
                          <a:solidFill>
                            <a:srgbClr val="3A4651"/>
                          </a:solidFill>
                          <a:latin typeface="Calibri" pitchFamily="34" charset="0"/>
                          <a:ea typeface="Calibri" pitchFamily="34" charset="-122"/>
                          <a:cs typeface="Calibri" pitchFamily="34" charset="-120"/>
                        </a:rPr>
                        <a:t>Softmax</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eᶻⁱ / Σₖ eᶻᵏ</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(0, 1), sums to 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Class probabilities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Pass raw logits to CrossEntropyLoss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3A4651"/>
                          </a:solidFill>
                          <a:latin typeface="Calibri" pitchFamily="34" charset="0"/>
                          <a:ea typeface="Calibri" pitchFamily="34" charset="-122"/>
                          <a:cs typeface="Calibri" pitchFamily="34" charset="-120"/>
                        </a:rPr>
                        <a:t>Multi-class output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5" name="Shape 1"/>
          <p:cNvSpPr/>
          <p:nvPr/>
        </p:nvSpPr>
        <p:spPr>
          <a:xfrm>
            <a:off x="548640" y="5532120"/>
            <a:ext cx="11091672" cy="640080"/>
          </a:xfrm>
          <a:prstGeom prst="rect">
            <a:avLst/>
          </a:prstGeom>
          <a:solidFill>
            <a:schemeClr val="tx1"/>
          </a:solidFill>
          <a:ln/>
        </p:spPr>
      </p:sp>
      <p:sp>
        <p:nvSpPr>
          <p:cNvPr id="6" name="Text 2"/>
          <p:cNvSpPr txBox="1"/>
          <p:nvPr/>
        </p:nvSpPr>
        <p:spPr>
          <a:xfrm>
            <a:off x="777240" y="553212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Rule of thumb:  </a:t>
            </a:r>
            <a:pPr indent="0" marL="0">
              <a:buNone/>
            </a:pPr>
            <a:r>
              <a:rPr lang="en-US" sz="1400" dirty="0">
                <a:solidFill>
                  <a:schemeClr val="bg1"/>
                </a:solidFill>
                <a:latin typeface="Calibri" pitchFamily="34" charset="0"/>
                <a:ea typeface="Calibri" pitchFamily="34" charset="-122"/>
                <a:cs typeface="Calibri" pitchFamily="34" charset="-120"/>
              </a:rPr>
              <a:t>ReLU inside, and the output activation set by the task: none for regression, sigmoid for binary, softmax for multi-class.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Weight initialization: start every layer in the right range</a:t>
            </a:r>
            <a:endParaRPr lang="en-US" sz="3200" dirty="0"/>
          </a:p>
        </p:txBody>
      </p:sp>
      <p:sp>
        <p:nvSpPr>
          <p:cNvPr id="4" name="Shape 1"/>
          <p:cNvSpPr/>
          <p:nvPr/>
        </p:nvSpPr>
        <p:spPr>
          <a:xfrm>
            <a:off x="548640" y="1325880"/>
            <a:ext cx="7955280" cy="4526280"/>
          </a:xfrm>
          <a:prstGeom prst="rect">
            <a:avLst/>
          </a:prstGeom>
          <a:solidFill>
            <a:schemeClr val="bg1"/>
          </a:solidFill>
          <a:ln/>
        </p:spPr>
      </p:sp>
      <p:pic>
        <p:nvPicPr>
          <p:cNvPr id="5" name="Image 0" descr="Histograms of activations across 10 layers for four initializations: too small collapses to zero, too large saturates, Xavier and He stay healthy">    </p:cNvPr>
          <p:cNvPicPr>
            <a:picLocks noChangeAspect="1"/>
          </p:cNvPicPr>
          <p:nvPr/>
        </p:nvPicPr>
        <p:blipFill>
          <a:blip r:embed="rId1"/>
          <a:stretch>
            <a:fillRect/>
          </a:stretch>
        </p:blipFill>
        <p:spPr>
          <a:xfrm>
            <a:off x="548640" y="1350528"/>
            <a:ext cx="7955280" cy="4476984"/>
          </a:xfrm>
          <a:prstGeom prst="rect">
            <a:avLst/>
          </a:prstGeom>
        </p:spPr>
      </p:pic>
      <p:sp>
        <p:nvSpPr>
          <p:cNvPr id="6" name="Text 2"/>
          <p:cNvSpPr txBox="1"/>
          <p:nvPr/>
        </p:nvSpPr>
        <p:spPr>
          <a:xfrm>
            <a:off x="548640" y="5897880"/>
            <a:ext cx="795528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Simulated: 10 layers × 512 units, 1,000 random inputs (NumPy).</a:t>
            </a:r>
            <a:endParaRPr lang="en-US" sz="1000" dirty="0"/>
          </a:p>
        </p:txBody>
      </p:sp>
      <p:sp>
        <p:nvSpPr>
          <p:cNvPr id="7" name="Shape 3"/>
          <p:cNvSpPr/>
          <p:nvPr/>
        </p:nvSpPr>
        <p:spPr>
          <a:xfrm>
            <a:off x="8732520" y="1325880"/>
            <a:ext cx="2907792" cy="1353312"/>
          </a:xfrm>
          <a:prstGeom prst="rect">
            <a:avLst/>
          </a:prstGeom>
          <a:solidFill>
            <a:schemeClr val="bg2"/>
          </a:solidFill>
          <a:ln/>
        </p:spPr>
      </p:sp>
      <p:sp>
        <p:nvSpPr>
          <p:cNvPr id="8" name="Text 4"/>
          <p:cNvSpPr txBox="1"/>
          <p:nvPr/>
        </p:nvSpPr>
        <p:spPr>
          <a:xfrm>
            <a:off x="8915400" y="1435608"/>
            <a:ext cx="2606040" cy="32004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All zeros</a:t>
            </a:r>
            <a:endParaRPr lang="en-US" sz="1400" dirty="0"/>
          </a:p>
        </p:txBody>
      </p:sp>
      <p:sp>
        <p:nvSpPr>
          <p:cNvPr id="9" name="Text 5"/>
          <p:cNvSpPr txBox="1"/>
          <p:nvPr/>
        </p:nvSpPr>
        <p:spPr>
          <a:xfrm>
            <a:off x="8915400" y="1783080"/>
            <a:ext cx="2606040" cy="82296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Every unit gets the same gradient and stays identical: symmetry is never broken.</a:t>
            </a:r>
            <a:endParaRPr lang="en-US" sz="1250" dirty="0"/>
          </a:p>
        </p:txBody>
      </p:sp>
      <p:sp>
        <p:nvSpPr>
          <p:cNvPr id="10" name="Shape 6"/>
          <p:cNvSpPr/>
          <p:nvPr/>
        </p:nvSpPr>
        <p:spPr>
          <a:xfrm>
            <a:off x="8732520" y="2807208"/>
            <a:ext cx="2907792" cy="1353312"/>
          </a:xfrm>
          <a:prstGeom prst="rect">
            <a:avLst/>
          </a:prstGeom>
          <a:solidFill>
            <a:schemeClr val="bg2"/>
          </a:solidFill>
          <a:ln/>
        </p:spPr>
      </p:sp>
      <p:sp>
        <p:nvSpPr>
          <p:cNvPr id="11" name="Text 7"/>
          <p:cNvSpPr txBox="1"/>
          <p:nvPr/>
        </p:nvSpPr>
        <p:spPr>
          <a:xfrm>
            <a:off x="8915400" y="2916936"/>
            <a:ext cx="2606040"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Xavier / Glorot (2010)</a:t>
            </a:r>
            <a:endParaRPr lang="en-US" sz="1400" dirty="0"/>
          </a:p>
        </p:txBody>
      </p:sp>
      <p:sp>
        <p:nvSpPr>
          <p:cNvPr id="12" name="Text 8"/>
          <p:cNvSpPr txBox="1"/>
          <p:nvPr/>
        </p:nvSpPr>
        <p:spPr>
          <a:xfrm>
            <a:off x="8915400" y="3264408"/>
            <a:ext cx="2606040" cy="82296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Var(W) = 2 / (fan-in + fan-out), which is 1/n for square layers. For tanh and sigmoid.</a:t>
            </a:r>
            <a:endParaRPr lang="en-US" sz="1250" dirty="0"/>
          </a:p>
        </p:txBody>
      </p:sp>
      <p:sp>
        <p:nvSpPr>
          <p:cNvPr id="13" name="Shape 9"/>
          <p:cNvSpPr/>
          <p:nvPr/>
        </p:nvSpPr>
        <p:spPr>
          <a:xfrm>
            <a:off x="8732520" y="4288536"/>
            <a:ext cx="2907792" cy="1353312"/>
          </a:xfrm>
          <a:prstGeom prst="rect">
            <a:avLst/>
          </a:prstGeom>
          <a:solidFill>
            <a:schemeClr val="bg2"/>
          </a:solidFill>
          <a:ln/>
        </p:spPr>
      </p:sp>
      <p:sp>
        <p:nvSpPr>
          <p:cNvPr id="14" name="Text 10"/>
          <p:cNvSpPr txBox="1"/>
          <p:nvPr/>
        </p:nvSpPr>
        <p:spPr>
          <a:xfrm>
            <a:off x="8915400" y="4398264"/>
            <a:ext cx="2606040"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He / Kaiming (2015)</a:t>
            </a:r>
            <a:endParaRPr lang="en-US" sz="1400" dirty="0"/>
          </a:p>
        </p:txBody>
      </p:sp>
      <p:sp>
        <p:nvSpPr>
          <p:cNvPr id="15" name="Text 11"/>
          <p:cNvSpPr txBox="1"/>
          <p:nvPr/>
        </p:nvSpPr>
        <p:spPr>
          <a:xfrm>
            <a:off x="8915400" y="4745736"/>
            <a:ext cx="2606040" cy="822960"/>
          </a:xfrm>
          <a:prstGeom prst="rect">
            <a:avLst/>
          </a:prstGeom>
          <a:noFill/>
          <a:ln/>
        </p:spPr>
        <p:txBody>
          <a:bodyPr wrap="square" lIns="0" tIns="0" rIns="0" bIns="0" rtlCol="0" anchor="t"/>
          <a:lstStyle/>
          <a:p>
            <a:pPr indent="0" marL="0">
              <a:buNone/>
            </a:pPr>
            <a:r>
              <a:rPr lang="en-US" sz="1250" dirty="0">
                <a:solidFill>
                  <a:schemeClr val="tx2"/>
                </a:solidFill>
                <a:latin typeface="Calibri" pitchFamily="34" charset="0"/>
                <a:ea typeface="Calibri" pitchFamily="34" charset="-122"/>
                <a:cs typeface="Calibri" pitchFamily="34" charset="-120"/>
              </a:rPr>
              <a:t>Var(W) = 2 / fan-in. For ReLU, which zeroes half its inputs.</a:t>
            </a:r>
            <a:endParaRPr lang="en-US" sz="1250" dirty="0"/>
          </a:p>
        </p:txBody>
      </p:sp>
      <p:sp>
        <p:nvSpPr>
          <p:cNvPr id="16" name="Shape 12"/>
          <p:cNvSpPr/>
          <p:nvPr/>
        </p:nvSpPr>
        <p:spPr>
          <a:xfrm>
            <a:off x="8732520" y="5788152"/>
            <a:ext cx="2907792" cy="384048"/>
          </a:xfrm>
          <a:prstGeom prst="rect">
            <a:avLst/>
          </a:prstGeom>
          <a:solidFill>
            <a:schemeClr val="tx1"/>
          </a:solidFill>
          <a:ln/>
        </p:spPr>
      </p:sp>
      <p:sp>
        <p:nvSpPr>
          <p:cNvPr id="17" name="Text 13"/>
          <p:cNvSpPr txBox="1"/>
          <p:nvPr/>
        </p:nvSpPr>
        <p:spPr>
          <a:xfrm>
            <a:off x="8823960" y="5788152"/>
            <a:ext cx="2743200" cy="384048"/>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nn.init.kaiming_normal_(w)</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Batch normalization: keep each layer's inputs steady</a:t>
            </a:r>
            <a:endParaRPr lang="en-US" sz="3200" dirty="0"/>
          </a:p>
        </p:txBody>
      </p:sp>
      <p:sp>
        <p:nvSpPr>
          <p:cNvPr id="4" name="Shape 1"/>
          <p:cNvSpPr/>
          <p:nvPr/>
        </p:nvSpPr>
        <p:spPr>
          <a:xfrm>
            <a:off x="548640" y="1325880"/>
            <a:ext cx="4114800" cy="2697480"/>
          </a:xfrm>
          <a:prstGeom prst="rect">
            <a:avLst/>
          </a:prstGeom>
          <a:solidFill>
            <a:schemeClr val="tx1"/>
          </a:solidFill>
          <a:ln/>
        </p:spPr>
      </p:sp>
      <p:sp>
        <p:nvSpPr>
          <p:cNvPr id="5" name="Text 2"/>
          <p:cNvSpPr txBox="1"/>
          <p:nvPr/>
        </p:nvSpPr>
        <p:spPr>
          <a:xfrm>
            <a:off x="777240" y="1463040"/>
            <a:ext cx="3749040" cy="1737360"/>
          </a:xfrm>
          <a:prstGeom prst="rect">
            <a:avLst/>
          </a:prstGeom>
          <a:noFill/>
          <a:ln/>
        </p:spPr>
        <p:txBody>
          <a:bodyPr wrap="square" lIns="0" tIns="0" rIns="0" bIns="0" rtlCol="0" anchor="t"/>
          <a:lstStyle/>
          <a:p>
            <a:pPr indent="0" marL="0">
              <a:spcAft>
                <a:spcPts val="600"/>
              </a:spcAft>
              <a:buNone/>
            </a:pPr>
            <a:r>
              <a:rPr lang="en-US" sz="1600" dirty="0">
                <a:solidFill>
                  <a:schemeClr val="bg1"/>
                </a:solidFill>
                <a:latin typeface="Cambria" pitchFamily="34" charset="0"/>
                <a:ea typeface="Cambria" pitchFamily="34" charset="-122"/>
                <a:cs typeface="Cambria" pitchFamily="34" charset="-120"/>
              </a:rPr>
              <a:t>μ = mean over the mini-batch</a:t>
            </a:r>
            <a:endParaRPr lang="en-US" sz="1600" dirty="0"/>
          </a:p>
          <a:p>
            <a:pPr indent="0" marL="0">
              <a:spcAft>
                <a:spcPts val="600"/>
              </a:spcAft>
              <a:buNone/>
            </a:pPr>
            <a:r>
              <a:rPr lang="en-US" sz="1600" dirty="0">
                <a:solidFill>
                  <a:schemeClr val="bg1"/>
                </a:solidFill>
                <a:latin typeface="Cambria" pitchFamily="34" charset="0"/>
                <a:ea typeface="Cambria" pitchFamily="34" charset="-122"/>
                <a:cs typeface="Cambria" pitchFamily="34" charset="-120"/>
              </a:rPr>
              <a:t>σ² = variance over the mini-batch</a:t>
            </a:r>
            <a:endParaRPr lang="en-US" sz="1600" dirty="0"/>
          </a:p>
          <a:p>
            <a:pPr indent="0" marL="0">
              <a:spcAft>
                <a:spcPts val="600"/>
              </a:spcAft>
              <a:buNone/>
            </a:pPr>
            <a:r>
              <a:rPr lang="en-US" sz="1600" dirty="0">
                <a:solidFill>
                  <a:schemeClr val="accent1"/>
                </a:solidFill>
                <a:latin typeface="Cambria" pitchFamily="34" charset="0"/>
                <a:ea typeface="Cambria" pitchFamily="34" charset="-122"/>
                <a:cs typeface="Cambria" pitchFamily="34" charset="-120"/>
              </a:rPr>
              <a:t>x̂ = (x − μ) / √(σ² + ε)</a:t>
            </a:r>
            <a:endParaRPr lang="en-US" sz="1600" dirty="0"/>
          </a:p>
          <a:p>
            <a:pPr indent="0" marL="0">
              <a:spcAft>
                <a:spcPts val="600"/>
              </a:spcAft>
              <a:buNone/>
            </a:pPr>
            <a:r>
              <a:rPr lang="en-US" sz="1600" dirty="0">
                <a:solidFill>
                  <a:schemeClr val="accent1"/>
                </a:solidFill>
                <a:latin typeface="Cambria" pitchFamily="34" charset="0"/>
                <a:ea typeface="Cambria" pitchFamily="34" charset="-122"/>
                <a:cs typeface="Cambria" pitchFamily="34" charset="-120"/>
              </a:rPr>
              <a:t>y = γ x̂ + β</a:t>
            </a:r>
            <a:endParaRPr lang="en-US" sz="1600" dirty="0"/>
          </a:p>
        </p:txBody>
      </p:sp>
      <p:sp>
        <p:nvSpPr>
          <p:cNvPr id="6" name="Text 3"/>
          <p:cNvSpPr txBox="1"/>
          <p:nvPr/>
        </p:nvSpPr>
        <p:spPr>
          <a:xfrm>
            <a:off x="777240" y="3246120"/>
            <a:ext cx="3749040" cy="68580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γ and β are learned, so the layer can undo the normalization if that helps.</a:t>
            </a:r>
            <a:endParaRPr lang="en-US" sz="1250" dirty="0"/>
          </a:p>
        </p:txBody>
      </p:sp>
      <p:sp>
        <p:nvSpPr>
          <p:cNvPr id="7" name="Shape 4"/>
          <p:cNvSpPr/>
          <p:nvPr/>
        </p:nvSpPr>
        <p:spPr>
          <a:xfrm>
            <a:off x="4892040" y="1325880"/>
            <a:ext cx="6748272" cy="2697480"/>
          </a:xfrm>
          <a:prstGeom prst="rect">
            <a:avLst/>
          </a:prstGeom>
          <a:solidFill>
            <a:schemeClr val="bg1"/>
          </a:solidFill>
          <a:ln/>
        </p:spPr>
      </p:sp>
      <p:pic>
        <p:nvPicPr>
          <p:cNvPr id="8" name="Image 0" descr="Three units' activation distributions before and after batch normalization">    </p:cNvPr>
          <p:cNvPicPr>
            <a:picLocks noChangeAspect="1"/>
          </p:cNvPicPr>
          <p:nvPr/>
        </p:nvPicPr>
        <p:blipFill>
          <a:blip r:embed="rId1"/>
          <a:stretch>
            <a:fillRect/>
          </a:stretch>
        </p:blipFill>
        <p:spPr>
          <a:xfrm>
            <a:off x="5199466" y="1325880"/>
            <a:ext cx="6133419" cy="2697480"/>
          </a:xfrm>
          <a:prstGeom prst="rect">
            <a:avLst/>
          </a:prstGeom>
        </p:spPr>
      </p:pic>
      <p:sp>
        <p:nvSpPr>
          <p:cNvPr id="9" name="Shape 5"/>
          <p:cNvSpPr/>
          <p:nvPr/>
        </p:nvSpPr>
        <p:spPr>
          <a:xfrm>
            <a:off x="548640" y="4206240"/>
            <a:ext cx="4114800" cy="1691640"/>
          </a:xfrm>
          <a:prstGeom prst="rect">
            <a:avLst/>
          </a:prstGeom>
          <a:solidFill>
            <a:schemeClr val="bg1"/>
          </a:solidFill>
          <a:ln/>
        </p:spPr>
      </p:sp>
      <p:pic>
        <p:nvPicPr>
          <p:cNvPr id="10" name="Image 1" descr="Network with a batch normalization layer between two hidden layers">    </p:cNvPr>
          <p:cNvPicPr>
            <a:picLocks noChangeAspect="1"/>
          </p:cNvPicPr>
          <p:nvPr/>
        </p:nvPicPr>
        <p:blipFill>
          <a:blip r:embed="rId2"/>
          <a:stretch>
            <a:fillRect/>
          </a:stretch>
        </p:blipFill>
        <p:spPr>
          <a:xfrm>
            <a:off x="873716" y="4224528"/>
            <a:ext cx="3464647" cy="1645920"/>
          </a:xfrm>
          <a:prstGeom prst="rect">
            <a:avLst/>
          </a:prstGeom>
        </p:spPr>
      </p:pic>
      <p:sp>
        <p:nvSpPr>
          <p:cNvPr id="11" name="Text 6"/>
          <p:cNvSpPr txBox="1"/>
          <p:nvPr/>
        </p:nvSpPr>
        <p:spPr>
          <a:xfrm>
            <a:off x="548640" y="5943600"/>
            <a:ext cx="411480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 C. P. Bathula, Deep Learning series, Part 8</a:t>
            </a:r>
            <a:endParaRPr lang="en-US" sz="1000" dirty="0"/>
          </a:p>
        </p:txBody>
      </p:sp>
      <p:sp>
        <p:nvSpPr>
          <p:cNvPr id="12" name="Shape 7"/>
          <p:cNvSpPr/>
          <p:nvPr/>
        </p:nvSpPr>
        <p:spPr>
          <a:xfrm>
            <a:off x="4892040" y="4206240"/>
            <a:ext cx="3328416" cy="914400"/>
          </a:xfrm>
          <a:prstGeom prst="rect">
            <a:avLst/>
          </a:prstGeom>
          <a:solidFill>
            <a:schemeClr val="bg2"/>
          </a:solidFill>
          <a:ln/>
        </p:spPr>
      </p:sp>
      <p:sp>
        <p:nvSpPr>
          <p:cNvPr id="13" name="Shape 8"/>
          <p:cNvSpPr/>
          <p:nvPr/>
        </p:nvSpPr>
        <p:spPr>
          <a:xfrm>
            <a:off x="5029200" y="4434840"/>
            <a:ext cx="457200" cy="457200"/>
          </a:xfrm>
          <a:prstGeom prst="ellipse">
            <a:avLst/>
          </a:prstGeom>
          <a:solidFill>
            <a:schemeClr val="accent2"/>
          </a:solidFill>
          <a:ln/>
        </p:spPr>
      </p:sp>
      <p:pic>
        <p:nvPicPr>
          <p:cNvPr id="14" name="Image 2" descr="TachometerAlt icon">    </p:cNvPr>
          <p:cNvPicPr>
            <a:picLocks noChangeAspect="1"/>
          </p:cNvPicPr>
          <p:nvPr/>
        </p:nvPicPr>
        <p:blipFill>
          <a:blip r:embed="rId3"/>
          <a:stretch>
            <a:fillRect/>
          </a:stretch>
        </p:blipFill>
        <p:spPr>
          <a:xfrm>
            <a:off x="5143500" y="4549140"/>
            <a:ext cx="228600" cy="228600"/>
          </a:xfrm>
          <a:prstGeom prst="rect">
            <a:avLst/>
          </a:prstGeom>
        </p:spPr>
      </p:pic>
      <p:sp>
        <p:nvSpPr>
          <p:cNvPr id="15" name="Text 9"/>
          <p:cNvSpPr txBox="1"/>
          <p:nvPr/>
        </p:nvSpPr>
        <p:spPr>
          <a:xfrm>
            <a:off x="5623560" y="4279392"/>
            <a:ext cx="2505456" cy="3200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Higher learning rates</a:t>
            </a:r>
            <a:endParaRPr lang="en-US" sz="1300" dirty="0"/>
          </a:p>
        </p:txBody>
      </p:sp>
      <p:sp>
        <p:nvSpPr>
          <p:cNvPr id="16" name="Text 10"/>
          <p:cNvSpPr txBox="1"/>
          <p:nvPr/>
        </p:nvSpPr>
        <p:spPr>
          <a:xfrm>
            <a:off x="5623560" y="4599432"/>
            <a:ext cx="2505456" cy="5029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Training is more stable, so steps can be larger.</a:t>
            </a:r>
            <a:endParaRPr lang="en-US" sz="1150" dirty="0"/>
          </a:p>
        </p:txBody>
      </p:sp>
      <p:sp>
        <p:nvSpPr>
          <p:cNvPr id="17" name="Shape 11"/>
          <p:cNvSpPr/>
          <p:nvPr/>
        </p:nvSpPr>
        <p:spPr>
          <a:xfrm>
            <a:off x="8311896" y="4206240"/>
            <a:ext cx="3328416" cy="914400"/>
          </a:xfrm>
          <a:prstGeom prst="rect">
            <a:avLst/>
          </a:prstGeom>
          <a:solidFill>
            <a:schemeClr val="bg2"/>
          </a:solidFill>
          <a:ln/>
        </p:spPr>
      </p:sp>
      <p:sp>
        <p:nvSpPr>
          <p:cNvPr id="18" name="Shape 12"/>
          <p:cNvSpPr/>
          <p:nvPr/>
        </p:nvSpPr>
        <p:spPr>
          <a:xfrm>
            <a:off x="8449056" y="4434840"/>
            <a:ext cx="457200" cy="457200"/>
          </a:xfrm>
          <a:prstGeom prst="ellipse">
            <a:avLst/>
          </a:prstGeom>
          <a:solidFill>
            <a:schemeClr val="accent2"/>
          </a:solidFill>
          <a:ln/>
        </p:spPr>
      </p:sp>
      <p:pic>
        <p:nvPicPr>
          <p:cNvPr id="19" name="Image 3" descr="ShieldAlt icon">    </p:cNvPr>
          <p:cNvPicPr>
            <a:picLocks noChangeAspect="1"/>
          </p:cNvPicPr>
          <p:nvPr/>
        </p:nvPicPr>
        <p:blipFill>
          <a:blip r:embed="rId4"/>
          <a:stretch>
            <a:fillRect/>
          </a:stretch>
        </p:blipFill>
        <p:spPr>
          <a:xfrm>
            <a:off x="8563356" y="4549140"/>
            <a:ext cx="228600" cy="228600"/>
          </a:xfrm>
          <a:prstGeom prst="rect">
            <a:avLst/>
          </a:prstGeom>
        </p:spPr>
      </p:pic>
      <p:sp>
        <p:nvSpPr>
          <p:cNvPr id="20" name="Text 13"/>
          <p:cNvSpPr txBox="1"/>
          <p:nvPr/>
        </p:nvSpPr>
        <p:spPr>
          <a:xfrm>
            <a:off x="9043416" y="4279392"/>
            <a:ext cx="2505456" cy="3200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Less init sensitivity</a:t>
            </a:r>
            <a:endParaRPr lang="en-US" sz="1300" dirty="0"/>
          </a:p>
        </p:txBody>
      </p:sp>
      <p:sp>
        <p:nvSpPr>
          <p:cNvPr id="21" name="Text 14"/>
          <p:cNvSpPr txBox="1"/>
          <p:nvPr/>
        </p:nvSpPr>
        <p:spPr>
          <a:xfrm>
            <a:off x="9043416" y="4599432"/>
            <a:ext cx="2505456" cy="5029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Normalized inputs forgive a rough start.</a:t>
            </a:r>
            <a:endParaRPr lang="en-US" sz="1150" dirty="0"/>
          </a:p>
        </p:txBody>
      </p:sp>
      <p:sp>
        <p:nvSpPr>
          <p:cNvPr id="22" name="Shape 15"/>
          <p:cNvSpPr/>
          <p:nvPr/>
        </p:nvSpPr>
        <p:spPr>
          <a:xfrm>
            <a:off x="4892040" y="5212080"/>
            <a:ext cx="3328416" cy="914400"/>
          </a:xfrm>
          <a:prstGeom prst="rect">
            <a:avLst/>
          </a:prstGeom>
          <a:solidFill>
            <a:schemeClr val="bg2"/>
          </a:solidFill>
          <a:ln/>
        </p:spPr>
      </p:sp>
      <p:sp>
        <p:nvSpPr>
          <p:cNvPr id="23" name="Shape 16"/>
          <p:cNvSpPr/>
          <p:nvPr/>
        </p:nvSpPr>
        <p:spPr>
          <a:xfrm>
            <a:off x="5029200" y="5440680"/>
            <a:ext cx="457200" cy="457200"/>
          </a:xfrm>
          <a:prstGeom prst="ellipse">
            <a:avLst/>
          </a:prstGeom>
          <a:solidFill>
            <a:schemeClr val="accent2"/>
          </a:solidFill>
          <a:ln/>
        </p:spPr>
      </p:sp>
      <p:pic>
        <p:nvPicPr>
          <p:cNvPr id="24" name="Image 4" descr="Random icon">    </p:cNvPr>
          <p:cNvPicPr>
            <a:picLocks noChangeAspect="1"/>
          </p:cNvPicPr>
          <p:nvPr/>
        </p:nvPicPr>
        <p:blipFill>
          <a:blip r:embed="rId5"/>
          <a:stretch>
            <a:fillRect/>
          </a:stretch>
        </p:blipFill>
        <p:spPr>
          <a:xfrm>
            <a:off x="5143500" y="5554980"/>
            <a:ext cx="228600" cy="228600"/>
          </a:xfrm>
          <a:prstGeom prst="rect">
            <a:avLst/>
          </a:prstGeom>
        </p:spPr>
      </p:pic>
      <p:sp>
        <p:nvSpPr>
          <p:cNvPr id="25" name="Text 17"/>
          <p:cNvSpPr txBox="1"/>
          <p:nvPr/>
        </p:nvSpPr>
        <p:spPr>
          <a:xfrm>
            <a:off x="5623560" y="5285232"/>
            <a:ext cx="2505456" cy="3200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Mild regularizer</a:t>
            </a:r>
            <a:endParaRPr lang="en-US" sz="1300" dirty="0"/>
          </a:p>
        </p:txBody>
      </p:sp>
      <p:sp>
        <p:nvSpPr>
          <p:cNvPr id="26" name="Text 18"/>
          <p:cNvSpPr txBox="1"/>
          <p:nvPr/>
        </p:nvSpPr>
        <p:spPr>
          <a:xfrm>
            <a:off x="5623560" y="5605272"/>
            <a:ext cx="2505456" cy="5029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Batch statistics add noise, like light dropout.</a:t>
            </a:r>
            <a:endParaRPr lang="en-US" sz="1150" dirty="0"/>
          </a:p>
        </p:txBody>
      </p:sp>
      <p:sp>
        <p:nvSpPr>
          <p:cNvPr id="27" name="Shape 19"/>
          <p:cNvSpPr/>
          <p:nvPr/>
        </p:nvSpPr>
        <p:spPr>
          <a:xfrm>
            <a:off x="8311896" y="5212080"/>
            <a:ext cx="3328416" cy="914400"/>
          </a:xfrm>
          <a:prstGeom prst="rect">
            <a:avLst/>
          </a:prstGeom>
          <a:solidFill>
            <a:schemeClr val="bg2"/>
          </a:solidFill>
          <a:ln/>
        </p:spPr>
      </p:sp>
      <p:sp>
        <p:nvSpPr>
          <p:cNvPr id="28" name="Shape 20"/>
          <p:cNvSpPr/>
          <p:nvPr/>
        </p:nvSpPr>
        <p:spPr>
          <a:xfrm>
            <a:off x="8449056" y="5440680"/>
            <a:ext cx="457200" cy="457200"/>
          </a:xfrm>
          <a:prstGeom prst="ellipse">
            <a:avLst/>
          </a:prstGeom>
          <a:solidFill>
            <a:schemeClr val="accent3"/>
          </a:solidFill>
          <a:ln/>
        </p:spPr>
      </p:sp>
      <p:pic>
        <p:nvPicPr>
          <p:cNvPr id="29" name="Image 5" descr="ExclamationTriangle icon">    </p:cNvPr>
          <p:cNvPicPr>
            <a:picLocks noChangeAspect="1"/>
          </p:cNvPicPr>
          <p:nvPr/>
        </p:nvPicPr>
        <p:blipFill>
          <a:blip r:embed="rId6"/>
          <a:stretch>
            <a:fillRect/>
          </a:stretch>
        </p:blipFill>
        <p:spPr>
          <a:xfrm>
            <a:off x="8563356" y="5554980"/>
            <a:ext cx="228600" cy="228600"/>
          </a:xfrm>
          <a:prstGeom prst="rect">
            <a:avLst/>
          </a:prstGeom>
        </p:spPr>
      </p:pic>
      <p:sp>
        <p:nvSpPr>
          <p:cNvPr id="30" name="Text 21"/>
          <p:cNvSpPr txBox="1"/>
          <p:nvPr/>
        </p:nvSpPr>
        <p:spPr>
          <a:xfrm>
            <a:off x="9043416" y="5285232"/>
            <a:ext cx="2505456" cy="3200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Train vs eval</a:t>
            </a:r>
            <a:endParaRPr lang="en-US" sz="1300" dirty="0"/>
          </a:p>
        </p:txBody>
      </p:sp>
      <p:sp>
        <p:nvSpPr>
          <p:cNvPr id="31" name="Text 22"/>
          <p:cNvSpPr txBox="1"/>
          <p:nvPr/>
        </p:nvSpPr>
        <p:spPr>
          <a:xfrm>
            <a:off x="9043416" y="5605272"/>
            <a:ext cx="2505456" cy="5029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Uses running averages at inference: model.eval().</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Overfitting: when the network memorizes</a:t>
            </a:r>
            <a:endParaRPr lang="en-US" sz="3200" dirty="0"/>
          </a:p>
        </p:txBody>
      </p:sp>
      <p:sp>
        <p:nvSpPr>
          <p:cNvPr id="4" name="Shape 1"/>
          <p:cNvSpPr/>
          <p:nvPr/>
        </p:nvSpPr>
        <p:spPr>
          <a:xfrm>
            <a:off x="548640" y="1325880"/>
            <a:ext cx="5852160" cy="3977640"/>
          </a:xfrm>
          <a:prstGeom prst="rect">
            <a:avLst/>
          </a:prstGeom>
          <a:solidFill>
            <a:schemeClr val="bg1"/>
          </a:solidFill>
          <a:ln/>
        </p:spPr>
      </p:sp>
      <p:pic>
        <p:nvPicPr>
          <p:cNvPr id="5" name="Image 0" descr="Training loss keeps falling while validation loss turns upward; early stopping marked at the minimum of validation loss">    </p:cNvPr>
          <p:cNvPicPr>
            <a:picLocks noChangeAspect="1"/>
          </p:cNvPicPr>
          <p:nvPr/>
        </p:nvPicPr>
        <p:blipFill>
          <a:blip r:embed="rId1"/>
          <a:stretch>
            <a:fillRect/>
          </a:stretch>
        </p:blipFill>
        <p:spPr>
          <a:xfrm>
            <a:off x="548640" y="1390714"/>
            <a:ext cx="5852160" cy="3527933"/>
          </a:xfrm>
          <a:prstGeom prst="rect">
            <a:avLst/>
          </a:prstGeom>
        </p:spPr>
      </p:pic>
      <p:sp>
        <p:nvSpPr>
          <p:cNvPr id="6" name="Text 2"/>
          <p:cNvSpPr txBox="1"/>
          <p:nvPr/>
        </p:nvSpPr>
        <p:spPr>
          <a:xfrm>
            <a:off x="548640" y="5029200"/>
            <a:ext cx="585216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Illustrative curves.</a:t>
            </a:r>
            <a:endParaRPr lang="en-US" sz="1000" dirty="0"/>
          </a:p>
        </p:txBody>
      </p:sp>
      <p:sp>
        <p:nvSpPr>
          <p:cNvPr id="7" name="Shape 3"/>
          <p:cNvSpPr/>
          <p:nvPr/>
        </p:nvSpPr>
        <p:spPr>
          <a:xfrm>
            <a:off x="6629400" y="1325880"/>
            <a:ext cx="2468880" cy="1234440"/>
          </a:xfrm>
          <a:prstGeom prst="rect">
            <a:avLst/>
          </a:prstGeom>
          <a:solidFill>
            <a:schemeClr val="bg2"/>
          </a:solidFill>
          <a:ln/>
        </p:spPr>
      </p:sp>
      <p:sp>
        <p:nvSpPr>
          <p:cNvPr id="8" name="Shape 4"/>
          <p:cNvSpPr/>
          <p:nvPr/>
        </p:nvSpPr>
        <p:spPr>
          <a:xfrm>
            <a:off x="6793992" y="1508760"/>
            <a:ext cx="457200" cy="457200"/>
          </a:xfrm>
          <a:prstGeom prst="ellipse">
            <a:avLst/>
          </a:prstGeom>
          <a:solidFill>
            <a:schemeClr val="accent2"/>
          </a:solidFill>
          <a:ln/>
        </p:spPr>
      </p:sp>
      <p:pic>
        <p:nvPicPr>
          <p:cNvPr id="9" name="Image 1" descr="WeightHanging icon">    </p:cNvPr>
          <p:cNvPicPr>
            <a:picLocks noChangeAspect="1"/>
          </p:cNvPicPr>
          <p:nvPr/>
        </p:nvPicPr>
        <p:blipFill>
          <a:blip r:embed="rId2"/>
          <a:stretch>
            <a:fillRect/>
          </a:stretch>
        </p:blipFill>
        <p:spPr>
          <a:xfrm>
            <a:off x="6908292" y="1623060"/>
            <a:ext cx="228600" cy="228600"/>
          </a:xfrm>
          <a:prstGeom prst="rect">
            <a:avLst/>
          </a:prstGeom>
        </p:spPr>
      </p:pic>
      <p:sp>
        <p:nvSpPr>
          <p:cNvPr id="10" name="Text 5"/>
          <p:cNvSpPr txBox="1"/>
          <p:nvPr/>
        </p:nvSpPr>
        <p:spPr>
          <a:xfrm>
            <a:off x="7360920" y="1508760"/>
            <a:ext cx="1645920" cy="457200"/>
          </a:xfrm>
          <a:prstGeom prst="rect">
            <a:avLst/>
          </a:prstGeom>
          <a:noFill/>
          <a:ln/>
        </p:spPr>
        <p:txBody>
          <a:bodyPr wrap="square" lIns="0" tIns="0" rIns="0" bIns="0" rtlCol="0" anchor="ctr"/>
          <a:lstStyle/>
          <a:p>
            <a:pPr indent="0" marL="0">
              <a:buNone/>
            </a:pPr>
            <a:r>
              <a:rPr lang="en-US" sz="1350" b="1" dirty="0">
                <a:solidFill>
                  <a:schemeClr val="tx1"/>
                </a:solidFill>
                <a:latin typeface="Calibri" pitchFamily="34" charset="0"/>
                <a:ea typeface="Calibri" pitchFamily="34" charset="-122"/>
                <a:cs typeface="Calibri" pitchFamily="34" charset="-120"/>
              </a:rPr>
              <a:t>L2 / weight decay</a:t>
            </a:r>
            <a:endParaRPr lang="en-US" sz="1350" dirty="0"/>
          </a:p>
        </p:txBody>
      </p:sp>
      <p:sp>
        <p:nvSpPr>
          <p:cNvPr id="11" name="Text 6"/>
          <p:cNvSpPr txBox="1"/>
          <p:nvPr/>
        </p:nvSpPr>
        <p:spPr>
          <a:xfrm>
            <a:off x="6793992" y="2075688"/>
            <a:ext cx="2194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Penalize large weights</a:t>
            </a:r>
            <a:endParaRPr lang="en-US" sz="1200" dirty="0"/>
          </a:p>
        </p:txBody>
      </p:sp>
      <p:sp>
        <p:nvSpPr>
          <p:cNvPr id="12" name="Shape 7"/>
          <p:cNvSpPr/>
          <p:nvPr/>
        </p:nvSpPr>
        <p:spPr>
          <a:xfrm>
            <a:off x="9171432" y="1325880"/>
            <a:ext cx="2468880" cy="1234440"/>
          </a:xfrm>
          <a:prstGeom prst="rect">
            <a:avLst/>
          </a:prstGeom>
          <a:solidFill>
            <a:schemeClr val="bg2"/>
          </a:solidFill>
          <a:ln/>
        </p:spPr>
      </p:sp>
      <p:sp>
        <p:nvSpPr>
          <p:cNvPr id="13" name="Shape 8"/>
          <p:cNvSpPr/>
          <p:nvPr/>
        </p:nvSpPr>
        <p:spPr>
          <a:xfrm>
            <a:off x="9336024" y="1508760"/>
            <a:ext cx="457200" cy="457200"/>
          </a:xfrm>
          <a:prstGeom prst="ellipse">
            <a:avLst/>
          </a:prstGeom>
          <a:solidFill>
            <a:schemeClr val="accent2"/>
          </a:solidFill>
          <a:ln/>
        </p:spPr>
      </p:sp>
      <p:pic>
        <p:nvPicPr>
          <p:cNvPr id="14" name="Image 2" descr="Cut icon">    </p:cNvPr>
          <p:cNvPicPr>
            <a:picLocks noChangeAspect="1"/>
          </p:cNvPicPr>
          <p:nvPr/>
        </p:nvPicPr>
        <p:blipFill>
          <a:blip r:embed="rId3"/>
          <a:stretch>
            <a:fillRect/>
          </a:stretch>
        </p:blipFill>
        <p:spPr>
          <a:xfrm>
            <a:off x="9450324" y="1623060"/>
            <a:ext cx="228600" cy="228600"/>
          </a:xfrm>
          <a:prstGeom prst="rect">
            <a:avLst/>
          </a:prstGeom>
        </p:spPr>
      </p:pic>
      <p:sp>
        <p:nvSpPr>
          <p:cNvPr id="15" name="Text 9"/>
          <p:cNvSpPr txBox="1"/>
          <p:nvPr/>
        </p:nvSpPr>
        <p:spPr>
          <a:xfrm>
            <a:off x="9902952" y="1508760"/>
            <a:ext cx="1645920" cy="457200"/>
          </a:xfrm>
          <a:prstGeom prst="rect">
            <a:avLst/>
          </a:prstGeom>
          <a:noFill/>
          <a:ln/>
        </p:spPr>
        <p:txBody>
          <a:bodyPr wrap="square" lIns="0" tIns="0" rIns="0" bIns="0" rtlCol="0" anchor="ctr"/>
          <a:lstStyle/>
          <a:p>
            <a:pPr indent="0" marL="0">
              <a:buNone/>
            </a:pPr>
            <a:r>
              <a:rPr lang="en-US" sz="1350" b="1" dirty="0">
                <a:solidFill>
                  <a:schemeClr val="tx1"/>
                </a:solidFill>
                <a:latin typeface="Calibri" pitchFamily="34" charset="0"/>
                <a:ea typeface="Calibri" pitchFamily="34" charset="-122"/>
                <a:cs typeface="Calibri" pitchFamily="34" charset="-120"/>
              </a:rPr>
              <a:t>L1</a:t>
            </a:r>
            <a:endParaRPr lang="en-US" sz="1350" dirty="0"/>
          </a:p>
        </p:txBody>
      </p:sp>
      <p:sp>
        <p:nvSpPr>
          <p:cNvPr id="16" name="Text 10"/>
          <p:cNvSpPr txBox="1"/>
          <p:nvPr/>
        </p:nvSpPr>
        <p:spPr>
          <a:xfrm>
            <a:off x="9336024" y="2075688"/>
            <a:ext cx="2194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Push weights to exactly zero</a:t>
            </a:r>
            <a:endParaRPr lang="en-US" sz="1200" dirty="0"/>
          </a:p>
        </p:txBody>
      </p:sp>
      <p:sp>
        <p:nvSpPr>
          <p:cNvPr id="17" name="Shape 11"/>
          <p:cNvSpPr/>
          <p:nvPr/>
        </p:nvSpPr>
        <p:spPr>
          <a:xfrm>
            <a:off x="6629400" y="2679192"/>
            <a:ext cx="2468880" cy="1234440"/>
          </a:xfrm>
          <a:prstGeom prst="rect">
            <a:avLst/>
          </a:prstGeom>
          <a:solidFill>
            <a:schemeClr val="bg2"/>
          </a:solidFill>
          <a:ln/>
        </p:spPr>
      </p:sp>
      <p:sp>
        <p:nvSpPr>
          <p:cNvPr id="18" name="Shape 12"/>
          <p:cNvSpPr/>
          <p:nvPr/>
        </p:nvSpPr>
        <p:spPr>
          <a:xfrm>
            <a:off x="6793992" y="2862072"/>
            <a:ext cx="457200" cy="457200"/>
          </a:xfrm>
          <a:prstGeom prst="ellipse">
            <a:avLst/>
          </a:prstGeom>
          <a:solidFill>
            <a:schemeClr val="accent2"/>
          </a:solidFill>
          <a:ln/>
        </p:spPr>
      </p:sp>
      <p:pic>
        <p:nvPicPr>
          <p:cNvPr id="19" name="Image 3" descr="Random icon">    </p:cNvPr>
          <p:cNvPicPr>
            <a:picLocks noChangeAspect="1"/>
          </p:cNvPicPr>
          <p:nvPr/>
        </p:nvPicPr>
        <p:blipFill>
          <a:blip r:embed="rId4"/>
          <a:stretch>
            <a:fillRect/>
          </a:stretch>
        </p:blipFill>
        <p:spPr>
          <a:xfrm>
            <a:off x="6908292" y="2976372"/>
            <a:ext cx="228600" cy="228600"/>
          </a:xfrm>
          <a:prstGeom prst="rect">
            <a:avLst/>
          </a:prstGeom>
        </p:spPr>
      </p:pic>
      <p:sp>
        <p:nvSpPr>
          <p:cNvPr id="20" name="Text 13"/>
          <p:cNvSpPr txBox="1"/>
          <p:nvPr/>
        </p:nvSpPr>
        <p:spPr>
          <a:xfrm>
            <a:off x="7360920" y="2862072"/>
            <a:ext cx="1645920" cy="457200"/>
          </a:xfrm>
          <a:prstGeom prst="rect">
            <a:avLst/>
          </a:prstGeom>
          <a:noFill/>
          <a:ln/>
        </p:spPr>
        <p:txBody>
          <a:bodyPr wrap="square" lIns="0" tIns="0" rIns="0" bIns="0" rtlCol="0" anchor="ctr"/>
          <a:lstStyle/>
          <a:p>
            <a:pPr indent="0" marL="0">
              <a:buNone/>
            </a:pPr>
            <a:r>
              <a:rPr lang="en-US" sz="1350" b="1" dirty="0">
                <a:solidFill>
                  <a:schemeClr val="tx1"/>
                </a:solidFill>
                <a:latin typeface="Calibri" pitchFamily="34" charset="0"/>
                <a:ea typeface="Calibri" pitchFamily="34" charset="-122"/>
                <a:cs typeface="Calibri" pitchFamily="34" charset="-120"/>
              </a:rPr>
              <a:t>Dropout</a:t>
            </a:r>
            <a:endParaRPr lang="en-US" sz="1350" dirty="0"/>
          </a:p>
        </p:txBody>
      </p:sp>
      <p:sp>
        <p:nvSpPr>
          <p:cNvPr id="21" name="Text 14"/>
          <p:cNvSpPr txBox="1"/>
          <p:nvPr/>
        </p:nvSpPr>
        <p:spPr>
          <a:xfrm>
            <a:off x="6793992" y="3429000"/>
            <a:ext cx="2194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Randomly silence units in training</a:t>
            </a:r>
            <a:endParaRPr lang="en-US" sz="1200" dirty="0"/>
          </a:p>
        </p:txBody>
      </p:sp>
      <p:sp>
        <p:nvSpPr>
          <p:cNvPr id="22" name="Shape 15"/>
          <p:cNvSpPr/>
          <p:nvPr/>
        </p:nvSpPr>
        <p:spPr>
          <a:xfrm>
            <a:off x="9171432" y="2679192"/>
            <a:ext cx="2468880" cy="1234440"/>
          </a:xfrm>
          <a:prstGeom prst="rect">
            <a:avLst/>
          </a:prstGeom>
          <a:solidFill>
            <a:schemeClr val="bg2"/>
          </a:solidFill>
          <a:ln/>
        </p:spPr>
      </p:sp>
      <p:sp>
        <p:nvSpPr>
          <p:cNvPr id="23" name="Shape 16"/>
          <p:cNvSpPr/>
          <p:nvPr/>
        </p:nvSpPr>
        <p:spPr>
          <a:xfrm>
            <a:off x="9336024" y="2862072"/>
            <a:ext cx="457200" cy="457200"/>
          </a:xfrm>
          <a:prstGeom prst="ellipse">
            <a:avLst/>
          </a:prstGeom>
          <a:solidFill>
            <a:schemeClr val="accent2"/>
          </a:solidFill>
          <a:ln/>
        </p:spPr>
      </p:sp>
      <p:pic>
        <p:nvPicPr>
          <p:cNvPr id="24" name="Image 4" descr="StopCircle icon">    </p:cNvPr>
          <p:cNvPicPr>
            <a:picLocks noChangeAspect="1"/>
          </p:cNvPicPr>
          <p:nvPr/>
        </p:nvPicPr>
        <p:blipFill>
          <a:blip r:embed="rId5"/>
          <a:stretch>
            <a:fillRect/>
          </a:stretch>
        </p:blipFill>
        <p:spPr>
          <a:xfrm>
            <a:off x="9450324" y="2976372"/>
            <a:ext cx="228600" cy="228600"/>
          </a:xfrm>
          <a:prstGeom prst="rect">
            <a:avLst/>
          </a:prstGeom>
        </p:spPr>
      </p:pic>
      <p:sp>
        <p:nvSpPr>
          <p:cNvPr id="25" name="Text 17"/>
          <p:cNvSpPr txBox="1"/>
          <p:nvPr/>
        </p:nvSpPr>
        <p:spPr>
          <a:xfrm>
            <a:off x="9902952" y="2862072"/>
            <a:ext cx="1645920" cy="457200"/>
          </a:xfrm>
          <a:prstGeom prst="rect">
            <a:avLst/>
          </a:prstGeom>
          <a:noFill/>
          <a:ln/>
        </p:spPr>
        <p:txBody>
          <a:bodyPr wrap="square" lIns="0" tIns="0" rIns="0" bIns="0" rtlCol="0" anchor="ctr"/>
          <a:lstStyle/>
          <a:p>
            <a:pPr indent="0" marL="0">
              <a:buNone/>
            </a:pPr>
            <a:r>
              <a:rPr lang="en-US" sz="1350" b="1" dirty="0">
                <a:solidFill>
                  <a:schemeClr val="tx1"/>
                </a:solidFill>
                <a:latin typeface="Calibri" pitchFamily="34" charset="0"/>
                <a:ea typeface="Calibri" pitchFamily="34" charset="-122"/>
                <a:cs typeface="Calibri" pitchFamily="34" charset="-120"/>
              </a:rPr>
              <a:t>Early stopping</a:t>
            </a:r>
            <a:endParaRPr lang="en-US" sz="1350" dirty="0"/>
          </a:p>
        </p:txBody>
      </p:sp>
      <p:sp>
        <p:nvSpPr>
          <p:cNvPr id="26" name="Text 18"/>
          <p:cNvSpPr txBox="1"/>
          <p:nvPr/>
        </p:nvSpPr>
        <p:spPr>
          <a:xfrm>
            <a:off x="9336024" y="3429000"/>
            <a:ext cx="2194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Keep the best validation epoch</a:t>
            </a:r>
            <a:endParaRPr lang="en-US" sz="1200" dirty="0"/>
          </a:p>
        </p:txBody>
      </p:sp>
      <p:sp>
        <p:nvSpPr>
          <p:cNvPr id="27" name="Shape 19"/>
          <p:cNvSpPr/>
          <p:nvPr/>
        </p:nvSpPr>
        <p:spPr>
          <a:xfrm>
            <a:off x="6629400" y="4032504"/>
            <a:ext cx="2468880" cy="1234440"/>
          </a:xfrm>
          <a:prstGeom prst="rect">
            <a:avLst/>
          </a:prstGeom>
          <a:solidFill>
            <a:schemeClr val="bg2"/>
          </a:solidFill>
          <a:ln/>
        </p:spPr>
      </p:sp>
      <p:sp>
        <p:nvSpPr>
          <p:cNvPr id="28" name="Shape 20"/>
          <p:cNvSpPr/>
          <p:nvPr/>
        </p:nvSpPr>
        <p:spPr>
          <a:xfrm>
            <a:off x="6793992" y="4215384"/>
            <a:ext cx="457200" cy="457200"/>
          </a:xfrm>
          <a:prstGeom prst="ellipse">
            <a:avLst/>
          </a:prstGeom>
          <a:solidFill>
            <a:schemeClr val="accent2"/>
          </a:solidFill>
          <a:ln/>
        </p:spPr>
      </p:sp>
      <p:pic>
        <p:nvPicPr>
          <p:cNvPr id="29" name="Image 5" descr="Clone icon">    </p:cNvPr>
          <p:cNvPicPr>
            <a:picLocks noChangeAspect="1"/>
          </p:cNvPicPr>
          <p:nvPr/>
        </p:nvPicPr>
        <p:blipFill>
          <a:blip r:embed="rId6"/>
          <a:stretch>
            <a:fillRect/>
          </a:stretch>
        </p:blipFill>
        <p:spPr>
          <a:xfrm>
            <a:off x="6908292" y="4329684"/>
            <a:ext cx="228600" cy="228600"/>
          </a:xfrm>
          <a:prstGeom prst="rect">
            <a:avLst/>
          </a:prstGeom>
        </p:spPr>
      </p:pic>
      <p:sp>
        <p:nvSpPr>
          <p:cNvPr id="30" name="Text 21"/>
          <p:cNvSpPr txBox="1"/>
          <p:nvPr/>
        </p:nvSpPr>
        <p:spPr>
          <a:xfrm>
            <a:off x="7360920" y="4215384"/>
            <a:ext cx="1645920" cy="457200"/>
          </a:xfrm>
          <a:prstGeom prst="rect">
            <a:avLst/>
          </a:prstGeom>
          <a:noFill/>
          <a:ln/>
        </p:spPr>
        <p:txBody>
          <a:bodyPr wrap="square" lIns="0" tIns="0" rIns="0" bIns="0" rtlCol="0" anchor="ctr"/>
          <a:lstStyle/>
          <a:p>
            <a:pPr indent="0" marL="0">
              <a:buNone/>
            </a:pPr>
            <a:r>
              <a:rPr lang="en-US" sz="1350" b="1" dirty="0">
                <a:solidFill>
                  <a:schemeClr val="tx1"/>
                </a:solidFill>
                <a:latin typeface="Calibri" pitchFamily="34" charset="0"/>
                <a:ea typeface="Calibri" pitchFamily="34" charset="-122"/>
                <a:cs typeface="Calibri" pitchFamily="34" charset="-120"/>
              </a:rPr>
              <a:t>Data augmentation</a:t>
            </a:r>
            <a:endParaRPr lang="en-US" sz="1350" dirty="0"/>
          </a:p>
        </p:txBody>
      </p:sp>
      <p:sp>
        <p:nvSpPr>
          <p:cNvPr id="31" name="Text 22"/>
          <p:cNvSpPr txBox="1"/>
          <p:nvPr/>
        </p:nvSpPr>
        <p:spPr>
          <a:xfrm>
            <a:off x="6793992" y="4782312"/>
            <a:ext cx="2194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More varied examples (Week 1)</a:t>
            </a:r>
            <a:endParaRPr lang="en-US" sz="1200" dirty="0"/>
          </a:p>
        </p:txBody>
      </p:sp>
      <p:sp>
        <p:nvSpPr>
          <p:cNvPr id="32" name="Shape 23"/>
          <p:cNvSpPr/>
          <p:nvPr/>
        </p:nvSpPr>
        <p:spPr>
          <a:xfrm>
            <a:off x="9171432" y="4032504"/>
            <a:ext cx="2468880" cy="1234440"/>
          </a:xfrm>
          <a:prstGeom prst="rect">
            <a:avLst/>
          </a:prstGeom>
          <a:solidFill>
            <a:schemeClr val="bg2"/>
          </a:solidFill>
          <a:ln/>
        </p:spPr>
      </p:sp>
      <p:sp>
        <p:nvSpPr>
          <p:cNvPr id="33" name="Shape 24"/>
          <p:cNvSpPr/>
          <p:nvPr/>
        </p:nvSpPr>
        <p:spPr>
          <a:xfrm>
            <a:off x="9336024" y="4215384"/>
            <a:ext cx="457200" cy="457200"/>
          </a:xfrm>
          <a:prstGeom prst="ellipse">
            <a:avLst/>
          </a:prstGeom>
          <a:solidFill>
            <a:schemeClr val="accent2"/>
          </a:solidFill>
          <a:ln/>
        </p:spPr>
      </p:sp>
      <p:pic>
        <p:nvPicPr>
          <p:cNvPr id="34" name="Image 6" descr="LayerGroup icon">    </p:cNvPr>
          <p:cNvPicPr>
            <a:picLocks noChangeAspect="1"/>
          </p:cNvPicPr>
          <p:nvPr/>
        </p:nvPicPr>
        <p:blipFill>
          <a:blip r:embed="rId7"/>
          <a:stretch>
            <a:fillRect/>
          </a:stretch>
        </p:blipFill>
        <p:spPr>
          <a:xfrm>
            <a:off x="9450324" y="4329684"/>
            <a:ext cx="228600" cy="228600"/>
          </a:xfrm>
          <a:prstGeom prst="rect">
            <a:avLst/>
          </a:prstGeom>
        </p:spPr>
      </p:pic>
      <p:sp>
        <p:nvSpPr>
          <p:cNvPr id="35" name="Text 25"/>
          <p:cNvSpPr txBox="1"/>
          <p:nvPr/>
        </p:nvSpPr>
        <p:spPr>
          <a:xfrm>
            <a:off x="9902952" y="4215384"/>
            <a:ext cx="1645920" cy="457200"/>
          </a:xfrm>
          <a:prstGeom prst="rect">
            <a:avLst/>
          </a:prstGeom>
          <a:noFill/>
          <a:ln/>
        </p:spPr>
        <p:txBody>
          <a:bodyPr wrap="square" lIns="0" tIns="0" rIns="0" bIns="0" rtlCol="0" anchor="ctr"/>
          <a:lstStyle/>
          <a:p>
            <a:pPr indent="0" marL="0">
              <a:buNone/>
            </a:pPr>
            <a:r>
              <a:rPr lang="en-US" sz="1350" b="1" dirty="0">
                <a:solidFill>
                  <a:schemeClr val="tx1"/>
                </a:solidFill>
                <a:latin typeface="Calibri" pitchFamily="34" charset="0"/>
                <a:ea typeface="Calibri" pitchFamily="34" charset="-122"/>
                <a:cs typeface="Calibri" pitchFamily="34" charset="-120"/>
              </a:rPr>
              <a:t>Batch norm</a:t>
            </a:r>
            <a:endParaRPr lang="en-US" sz="1350" dirty="0"/>
          </a:p>
        </p:txBody>
      </p:sp>
      <p:sp>
        <p:nvSpPr>
          <p:cNvPr id="36" name="Text 26"/>
          <p:cNvSpPr txBox="1"/>
          <p:nvPr/>
        </p:nvSpPr>
        <p:spPr>
          <a:xfrm>
            <a:off x="9336024" y="4782312"/>
            <a:ext cx="2194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Regularizes as a side effect</a:t>
            </a:r>
            <a:endParaRPr lang="en-US" sz="1200" dirty="0"/>
          </a:p>
        </p:txBody>
      </p:sp>
      <p:sp>
        <p:nvSpPr>
          <p:cNvPr id="37" name="Shape 27"/>
          <p:cNvSpPr/>
          <p:nvPr/>
        </p:nvSpPr>
        <p:spPr>
          <a:xfrm>
            <a:off x="548640" y="5532120"/>
            <a:ext cx="11091672" cy="640080"/>
          </a:xfrm>
          <a:prstGeom prst="rect">
            <a:avLst/>
          </a:prstGeom>
          <a:solidFill>
            <a:schemeClr val="tx1"/>
          </a:solidFill>
          <a:ln/>
        </p:spPr>
      </p:sp>
      <p:sp>
        <p:nvSpPr>
          <p:cNvPr id="38" name="Text 28"/>
          <p:cNvSpPr txBox="1"/>
          <p:nvPr/>
        </p:nvSpPr>
        <p:spPr>
          <a:xfrm>
            <a:off x="777240" y="5532120"/>
            <a:ext cx="10634472"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Early stopping:  </a:t>
            </a:r>
            <a:pPr indent="0" marL="0">
              <a:buNone/>
            </a:pPr>
            <a:r>
              <a:rPr lang="en-US" sz="1400" dirty="0">
                <a:solidFill>
                  <a:schemeClr val="bg1"/>
                </a:solidFill>
                <a:latin typeface="Calibri" pitchFamily="34" charset="0"/>
                <a:ea typeface="Calibri" pitchFamily="34" charset="-122"/>
                <a:cs typeface="Calibri" pitchFamily="34" charset="-120"/>
              </a:rPr>
              <a:t>track validation loss every epoch, save the best weights, stop after it fails to improve for a few epochs ("patience").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L1 and L2 regularization put a price on large weights</a:t>
            </a:r>
            <a:endParaRPr lang="en-US" sz="3200" dirty="0"/>
          </a:p>
        </p:txBody>
      </p:sp>
      <p:sp>
        <p:nvSpPr>
          <p:cNvPr id="4" name="Shape 1"/>
          <p:cNvSpPr/>
          <p:nvPr/>
        </p:nvSpPr>
        <p:spPr>
          <a:xfrm>
            <a:off x="548640" y="1325880"/>
            <a:ext cx="6400800" cy="3429000"/>
          </a:xfrm>
          <a:prstGeom prst="rect">
            <a:avLst/>
          </a:prstGeom>
          <a:solidFill>
            <a:schemeClr val="bg1"/>
          </a:solidFill>
          <a:ln/>
        </p:spPr>
      </p:sp>
      <p:pic>
        <p:nvPicPr>
          <p:cNvPr id="5" name="Image 0" descr="Loss contours touching an L1 diamond at a corner (sparse) and an L2 circle on its edge">    </p:cNvPr>
          <p:cNvPicPr>
            <a:picLocks noChangeAspect="1"/>
          </p:cNvPicPr>
          <p:nvPr/>
        </p:nvPicPr>
        <p:blipFill>
          <a:blip r:embed="rId1"/>
          <a:stretch>
            <a:fillRect/>
          </a:stretch>
        </p:blipFill>
        <p:spPr>
          <a:xfrm>
            <a:off x="548640" y="1392046"/>
            <a:ext cx="6400800" cy="3296667"/>
          </a:xfrm>
          <a:prstGeom prst="rect">
            <a:avLst/>
          </a:prstGeom>
        </p:spPr>
      </p:pic>
      <p:sp>
        <p:nvSpPr>
          <p:cNvPr id="6" name="Shape 2"/>
          <p:cNvSpPr/>
          <p:nvPr/>
        </p:nvSpPr>
        <p:spPr>
          <a:xfrm>
            <a:off x="7178040" y="1325880"/>
            <a:ext cx="4462272" cy="1600200"/>
          </a:xfrm>
          <a:prstGeom prst="rect">
            <a:avLst/>
          </a:prstGeom>
          <a:solidFill>
            <a:schemeClr val="bg2"/>
          </a:solidFill>
          <a:ln/>
        </p:spPr>
      </p:sp>
      <p:sp>
        <p:nvSpPr>
          <p:cNvPr id="7" name="Text 3"/>
          <p:cNvSpPr txBox="1"/>
          <p:nvPr/>
        </p:nvSpPr>
        <p:spPr>
          <a:xfrm>
            <a:off x="7406640" y="1417320"/>
            <a:ext cx="4069080" cy="1417320"/>
          </a:xfrm>
          <a:prstGeom prst="rect">
            <a:avLst/>
          </a:prstGeom>
          <a:noFill/>
          <a:ln/>
        </p:spPr>
        <p:txBody>
          <a:bodyPr wrap="square" lIns="0" tIns="0" rIns="0" bIns="0" rtlCol="0" anchor="t"/>
          <a:lstStyle/>
          <a:p>
            <a:pPr indent="0" marL="0">
              <a:buNone/>
            </a:pPr>
            <a:r>
              <a:rPr lang="en-US" sz="1250" b="1" dirty="0">
                <a:solidFill>
                  <a:schemeClr val="accent2"/>
                </a:solidFill>
                <a:latin typeface="Calibri" pitchFamily="34" charset="0"/>
                <a:ea typeface="Calibri" pitchFamily="34" charset="-122"/>
                <a:cs typeface="Calibri" pitchFamily="34" charset="-120"/>
              </a:rPr>
              <a:t>L2 (ridge / weight decay)</a:t>
            </a:r>
            <a:endParaRPr lang="en-US" sz="1250" dirty="0"/>
          </a:p>
          <a:p>
            <a:pPr indent="0" marL="0">
              <a:buNone/>
            </a:pPr>
            <a:r>
              <a:rPr lang="en-US" sz="1800" dirty="0">
                <a:solidFill>
                  <a:schemeClr val="tx1"/>
                </a:solidFill>
                <a:latin typeface="Cambria" pitchFamily="34" charset="0"/>
                <a:ea typeface="Cambria" pitchFamily="34" charset="-122"/>
                <a:cs typeface="Cambria" pitchFamily="34" charset="-120"/>
              </a:rPr>
              <a:t>loss + λ Σ w²</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Shrinks all weights smoothly toward 0.</a:t>
            </a:r>
            <a:endParaRPr lang="en-US" sz="1250" dirty="0"/>
          </a:p>
        </p:txBody>
      </p:sp>
      <p:sp>
        <p:nvSpPr>
          <p:cNvPr id="8" name="Shape 4"/>
          <p:cNvSpPr/>
          <p:nvPr/>
        </p:nvSpPr>
        <p:spPr>
          <a:xfrm>
            <a:off x="7178040" y="3108960"/>
            <a:ext cx="4462272" cy="1645920"/>
          </a:xfrm>
          <a:prstGeom prst="rect">
            <a:avLst/>
          </a:prstGeom>
          <a:solidFill>
            <a:schemeClr val="bg2"/>
          </a:solidFill>
          <a:ln/>
        </p:spPr>
      </p:sp>
      <p:sp>
        <p:nvSpPr>
          <p:cNvPr id="9" name="Text 5"/>
          <p:cNvSpPr txBox="1"/>
          <p:nvPr/>
        </p:nvSpPr>
        <p:spPr>
          <a:xfrm>
            <a:off x="7406640" y="3200400"/>
            <a:ext cx="4069080" cy="1463040"/>
          </a:xfrm>
          <a:prstGeom prst="rect">
            <a:avLst/>
          </a:prstGeom>
          <a:noFill/>
          <a:ln/>
        </p:spPr>
        <p:txBody>
          <a:bodyPr wrap="square" lIns="0" tIns="0" rIns="0" bIns="0" rtlCol="0" anchor="t"/>
          <a:lstStyle/>
          <a:p>
            <a:pPr indent="0" marL="0">
              <a:buNone/>
            </a:pPr>
            <a:r>
              <a:rPr lang="en-US" sz="1250" b="1" dirty="0">
                <a:solidFill>
                  <a:schemeClr val="accent1"/>
                </a:solidFill>
                <a:latin typeface="Calibri" pitchFamily="34" charset="0"/>
                <a:ea typeface="Calibri" pitchFamily="34" charset="-122"/>
                <a:cs typeface="Calibri" pitchFamily="34" charset="-120"/>
              </a:rPr>
              <a:t>L1 (lasso)</a:t>
            </a:r>
            <a:endParaRPr lang="en-US" sz="1250" dirty="0"/>
          </a:p>
          <a:p>
            <a:pPr indent="0" marL="0">
              <a:buNone/>
            </a:pPr>
            <a:r>
              <a:rPr lang="en-US" sz="1800" dirty="0">
                <a:solidFill>
                  <a:schemeClr val="tx1"/>
                </a:solidFill>
                <a:latin typeface="Cambria" pitchFamily="34" charset="0"/>
                <a:ea typeface="Cambria" pitchFamily="34" charset="-122"/>
                <a:cs typeface="Cambria" pitchFamily="34" charset="-120"/>
              </a:rPr>
              <a:t>loss + λ Σ |w|</a:t>
            </a:r>
            <a:endParaRPr lang="en-US" sz="1250" dirty="0"/>
          </a:p>
          <a:p>
            <a:pPr indent="0" marL="0">
              <a:buNone/>
            </a:pPr>
            <a:r>
              <a:rPr lang="en-US" sz="1250" dirty="0">
                <a:solidFill>
                  <a:schemeClr val="tx2"/>
                </a:solidFill>
                <a:latin typeface="Calibri" pitchFamily="34" charset="0"/>
                <a:ea typeface="Calibri" pitchFamily="34" charset="-122"/>
                <a:cs typeface="Calibri" pitchFamily="34" charset="-120"/>
              </a:rPr>
              <a:t>Drives some weights exactly to 0: built-in feature selection.</a:t>
            </a:r>
            <a:endParaRPr lang="en-US" sz="12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4983480"/>
          <a:ext cx="11091672" cy="914400"/>
        </p:xfrm>
        <a:graphic>
          <a:graphicData uri="http://schemas.openxmlformats.org/drawingml/2006/table">
            <a:tbl>
              <a:tblPr/>
              <a:tblGrid>
                <a:gridCol w="2011680"/>
                <a:gridCol w="4023360"/>
                <a:gridCol w="5056632"/>
              </a:tblGrid>
              <a:tr h="384048">
                <a:tc>
                  <a:txBody>
                    <a:bodyPr/>
                    <a:lstStyle/>
                    <a:p>
                      <a:pPr indent="0" marL="0">
                        <a:buNone/>
                      </a:pP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L1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L2</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384048">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Effect on weights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Sparse: many exactly 0</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Small, rarely exactly 0</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384048">
                <a:tc>
                  <a:txBody>
                    <a:bodyPr/>
                    <a:lstStyle/>
                    <a:p>
                      <a:pPr indent="0" marL="0">
                        <a:buNone/>
                      </a:pPr>
                      <a:r>
                        <a:rPr lang="en-US" sz="1250" b="1" dirty="0">
                          <a:solidFill>
                            <a:srgbClr val="3A4651"/>
                          </a:solidFill>
                          <a:latin typeface="Calibri" pitchFamily="34" charset="0"/>
                          <a:ea typeface="Calibri" pitchFamily="34" charset="-122"/>
                          <a:cs typeface="Calibri" pitchFamily="34" charset="-120"/>
                        </a:rPr>
                        <a:t>In PyTorch</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Add λ·Σ|w| to the loss yourself</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250" dirty="0">
                          <a:solidFill>
                            <a:srgbClr val="3A4651"/>
                          </a:solidFill>
                          <a:latin typeface="Calibri" pitchFamily="34" charset="0"/>
                          <a:ea typeface="Calibri" pitchFamily="34" charset="-122"/>
                          <a:cs typeface="Calibri" pitchFamily="34" charset="-120"/>
                        </a:rPr>
                        <a:t>weight_decay=1e-4 in the optimizer (AdamW for Adam)</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Dropout: train a crowd of thinned networks</a:t>
            </a:r>
            <a:endParaRPr lang="en-US" sz="3200" dirty="0"/>
          </a:p>
        </p:txBody>
      </p:sp>
      <p:sp>
        <p:nvSpPr>
          <p:cNvPr id="4" name="Shape 1"/>
          <p:cNvSpPr/>
          <p:nvPr/>
        </p:nvSpPr>
        <p:spPr>
          <a:xfrm>
            <a:off x="548640" y="1325880"/>
            <a:ext cx="5760720" cy="3291840"/>
          </a:xfrm>
          <a:prstGeom prst="rect">
            <a:avLst/>
          </a:prstGeom>
          <a:solidFill>
            <a:schemeClr val="bg1"/>
          </a:solidFill>
          <a:ln/>
        </p:spPr>
      </p:sp>
      <p:pic>
        <p:nvPicPr>
          <p:cNvPr id="5" name="Image 0" descr="A standard neural net and the same net after applying dropout, with crossed-out units">    </p:cNvPr>
          <p:cNvPicPr>
            <a:picLocks noChangeAspect="1"/>
          </p:cNvPicPr>
          <p:nvPr/>
        </p:nvPicPr>
        <p:blipFill>
          <a:blip r:embed="rId1"/>
          <a:stretch>
            <a:fillRect/>
          </a:stretch>
        </p:blipFill>
        <p:spPr>
          <a:xfrm>
            <a:off x="640080" y="1390121"/>
            <a:ext cx="5577840" cy="3163358"/>
          </a:xfrm>
          <a:prstGeom prst="rect">
            <a:avLst/>
          </a:prstGeom>
        </p:spPr>
      </p:pic>
      <p:sp>
        <p:nvSpPr>
          <p:cNvPr id="6" name="Shape 2"/>
          <p:cNvSpPr/>
          <p:nvPr/>
        </p:nvSpPr>
        <p:spPr>
          <a:xfrm>
            <a:off x="6537960" y="1325880"/>
            <a:ext cx="5102352" cy="1920240"/>
          </a:xfrm>
          <a:prstGeom prst="rect">
            <a:avLst/>
          </a:prstGeom>
          <a:solidFill>
            <a:schemeClr val="bg1"/>
          </a:solidFill>
          <a:ln/>
        </p:spPr>
      </p:sp>
      <p:pic>
        <p:nvPicPr>
          <p:cNvPr id="7" name="Image 1" descr="At training time a unit is present with probability p; at test time it is always present with weights scaled by p">    </p:cNvPr>
          <p:cNvPicPr>
            <a:picLocks noChangeAspect="1"/>
          </p:cNvPicPr>
          <p:nvPr/>
        </p:nvPicPr>
        <p:blipFill>
          <a:blip r:embed="rId2"/>
          <a:stretch>
            <a:fillRect/>
          </a:stretch>
        </p:blipFill>
        <p:spPr>
          <a:xfrm>
            <a:off x="6629400" y="1561025"/>
            <a:ext cx="4919472" cy="1449950"/>
          </a:xfrm>
          <a:prstGeom prst="rect">
            <a:avLst/>
          </a:prstGeom>
        </p:spPr>
      </p:pic>
      <p:sp>
        <p:nvSpPr>
          <p:cNvPr id="8" name="Text 3"/>
          <p:cNvSpPr txBox="1"/>
          <p:nvPr/>
        </p:nvSpPr>
        <p:spPr>
          <a:xfrm>
            <a:off x="548640" y="4645152"/>
            <a:ext cx="10972800" cy="228600"/>
          </a:xfrm>
          <a:prstGeom prst="rect">
            <a:avLst/>
          </a:prstGeom>
          <a:noFill/>
          <a:ln/>
        </p:spPr>
        <p:txBody>
          <a:bodyPr wrap="square" lIns="0" tIns="0" rIns="0" bIns="0" rtlCol="0" anchor="t"/>
          <a:lstStyle/>
          <a:p>
            <a:pPr algn="l" indent="0" marL="0">
              <a:buNone/>
            </a:pPr>
            <a:r>
              <a:rPr lang="en-US" sz="1000" i="1" dirty="0">
                <a:solidFill>
                  <a:schemeClr val="accent5"/>
                </a:solidFill>
                <a:latin typeface="Calibri" pitchFamily="34" charset="0"/>
                <a:ea typeface="Calibri" pitchFamily="34" charset="-122"/>
                <a:cs typeface="Calibri" pitchFamily="34" charset="-120"/>
              </a:rPr>
              <a:t>Figures after Srivastava et al., JMLR 2014, via C. P. Bathula, Deep Learning series, Part 7</a:t>
            </a:r>
            <a:endParaRPr lang="en-US" sz="1000" dirty="0"/>
          </a:p>
        </p:txBody>
      </p:sp>
      <p:sp>
        <p:nvSpPr>
          <p:cNvPr id="9" name="Shape 4"/>
          <p:cNvSpPr/>
          <p:nvPr/>
        </p:nvSpPr>
        <p:spPr>
          <a:xfrm>
            <a:off x="6537960" y="3383280"/>
            <a:ext cx="5102352" cy="1234440"/>
          </a:xfrm>
          <a:prstGeom prst="rect">
            <a:avLst/>
          </a:prstGeom>
          <a:solidFill>
            <a:schemeClr val="bg2"/>
          </a:solidFill>
          <a:ln/>
        </p:spPr>
      </p:sp>
      <p:sp>
        <p:nvSpPr>
          <p:cNvPr id="10" name="Text 5"/>
          <p:cNvSpPr txBox="1"/>
          <p:nvPr/>
        </p:nvSpPr>
        <p:spPr>
          <a:xfrm>
            <a:off x="6720840" y="3493008"/>
            <a:ext cx="4754880" cy="10515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Breaks co-adaptation: no unit can rely on a specific partner</a:t>
            </a:r>
            <a:endParaRPr lang="en-US" sz="1250" dirty="0"/>
          </a:p>
          <a:p>
            <a:pPr marL="177800" indent="-177800">
              <a:spcAft>
                <a:spcPts val="600"/>
              </a:spcAft>
              <a:buSzPct val="100000"/>
              <a:buChar char="•"/>
            </a:pPr>
            <a:r>
              <a:rPr lang="en-US" sz="1250" dirty="0">
                <a:solidFill>
                  <a:schemeClr val="tx2"/>
                </a:solidFill>
                <a:latin typeface="Calibri" pitchFamily="34" charset="0"/>
                <a:ea typeface="Calibri" pitchFamily="34" charset="-122"/>
                <a:cs typeface="Calibri" pitchFamily="34" charset="-120"/>
              </a:rPr>
              <a:t>Acts like averaging an ensemble of thinned networks</a:t>
            </a:r>
            <a:endParaRPr lang="en-US" sz="1250" dirty="0"/>
          </a:p>
        </p:txBody>
      </p:sp>
      <p:sp>
        <p:nvSpPr>
          <p:cNvPr id="11" name="Shape 6"/>
          <p:cNvSpPr/>
          <p:nvPr/>
        </p:nvSpPr>
        <p:spPr>
          <a:xfrm>
            <a:off x="548640" y="5029200"/>
            <a:ext cx="3575304" cy="1143000"/>
          </a:xfrm>
          <a:prstGeom prst="rect">
            <a:avLst/>
          </a:prstGeom>
          <a:solidFill>
            <a:schemeClr val="tx1"/>
          </a:solidFill>
          <a:ln/>
        </p:spPr>
      </p:sp>
      <p:sp>
        <p:nvSpPr>
          <p:cNvPr id="12" name="Text 7"/>
          <p:cNvSpPr txBox="1"/>
          <p:nvPr/>
        </p:nvSpPr>
        <p:spPr>
          <a:xfrm>
            <a:off x="777240" y="5074920"/>
            <a:ext cx="3118104" cy="50292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0.2–0.5</a:t>
            </a:r>
            <a:endParaRPr lang="en-US" sz="2200" dirty="0"/>
          </a:p>
        </p:txBody>
      </p:sp>
      <p:sp>
        <p:nvSpPr>
          <p:cNvPr id="13" name="Text 8"/>
          <p:cNvSpPr txBox="1"/>
          <p:nvPr/>
        </p:nvSpPr>
        <p:spPr>
          <a:xfrm>
            <a:off x="777240" y="5577840"/>
            <a:ext cx="3118104" cy="5029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typical drop rate in hidden layers (notebooks: 0.3 and 0.2)</a:t>
            </a:r>
            <a:endParaRPr lang="en-US" sz="1200" dirty="0"/>
          </a:p>
        </p:txBody>
      </p:sp>
      <p:sp>
        <p:nvSpPr>
          <p:cNvPr id="14" name="Shape 9"/>
          <p:cNvSpPr/>
          <p:nvPr/>
        </p:nvSpPr>
        <p:spPr>
          <a:xfrm>
            <a:off x="4306824" y="5029200"/>
            <a:ext cx="3575304" cy="1143000"/>
          </a:xfrm>
          <a:prstGeom prst="rect">
            <a:avLst/>
          </a:prstGeom>
          <a:solidFill>
            <a:schemeClr val="tx1"/>
          </a:solidFill>
          <a:ln/>
        </p:spPr>
      </p:sp>
      <p:sp>
        <p:nvSpPr>
          <p:cNvPr id="15" name="Text 10"/>
          <p:cNvSpPr txBox="1"/>
          <p:nvPr/>
        </p:nvSpPr>
        <p:spPr>
          <a:xfrm>
            <a:off x="4535424" y="5074920"/>
            <a:ext cx="3118104" cy="50292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1 / (1 − p)</a:t>
            </a:r>
            <a:endParaRPr lang="en-US" sz="2200" dirty="0"/>
          </a:p>
        </p:txBody>
      </p:sp>
      <p:sp>
        <p:nvSpPr>
          <p:cNvPr id="16" name="Text 11"/>
          <p:cNvSpPr txBox="1"/>
          <p:nvPr/>
        </p:nvSpPr>
        <p:spPr>
          <a:xfrm>
            <a:off x="4535424" y="5577840"/>
            <a:ext cx="3118104" cy="5029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inverted dropout scales kept units during training</a:t>
            </a:r>
            <a:endParaRPr lang="en-US" sz="1200" dirty="0"/>
          </a:p>
        </p:txBody>
      </p:sp>
      <p:sp>
        <p:nvSpPr>
          <p:cNvPr id="17" name="Shape 12"/>
          <p:cNvSpPr/>
          <p:nvPr/>
        </p:nvSpPr>
        <p:spPr>
          <a:xfrm>
            <a:off x="8065008" y="5029200"/>
            <a:ext cx="3575304" cy="1143000"/>
          </a:xfrm>
          <a:prstGeom prst="rect">
            <a:avLst/>
          </a:prstGeom>
          <a:solidFill>
            <a:schemeClr val="tx1"/>
          </a:solidFill>
          <a:ln/>
        </p:spPr>
      </p:sp>
      <p:sp>
        <p:nvSpPr>
          <p:cNvPr id="18" name="Text 13"/>
          <p:cNvSpPr txBox="1"/>
          <p:nvPr/>
        </p:nvSpPr>
        <p:spPr>
          <a:xfrm>
            <a:off x="8293608" y="5074920"/>
            <a:ext cx="3118104" cy="502920"/>
          </a:xfrm>
          <a:prstGeom prst="rect">
            <a:avLst/>
          </a:prstGeom>
          <a:noFill/>
          <a:ln/>
        </p:spPr>
        <p:txBody>
          <a:bodyPr wrap="square" lIns="0" tIns="0" rIns="0" bIns="0" rtlCol="0" anchor="t"/>
          <a:lstStyle/>
          <a:p>
            <a:pPr indent="0" marL="0">
              <a:buNone/>
            </a:pPr>
            <a:r>
              <a:rPr lang="en-US" sz="2200" dirty="0">
                <a:solidFill>
                  <a:schemeClr val="accent1"/>
                </a:solidFill>
                <a:latin typeface="Courier New" pitchFamily="34" charset="0"/>
                <a:ea typeface="Courier New" pitchFamily="34" charset="-122"/>
                <a:cs typeface="Courier New" pitchFamily="34" charset="-120"/>
              </a:rPr>
              <a:t>model.eval()</a:t>
            </a:r>
            <a:endParaRPr lang="en-US" sz="2200" dirty="0"/>
          </a:p>
        </p:txBody>
      </p:sp>
      <p:sp>
        <p:nvSpPr>
          <p:cNvPr id="19" name="Text 14"/>
          <p:cNvSpPr txBox="1"/>
          <p:nvPr/>
        </p:nvSpPr>
        <p:spPr>
          <a:xfrm>
            <a:off x="8293608" y="5577840"/>
            <a:ext cx="3118104" cy="5029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turns dropout off for validation and testing</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Reading the training curves: symptoms and fixes</a:t>
            </a:r>
            <a:endParaRPr lang="en-US" sz="3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291840"/>
                <a:gridCol w="3474720"/>
                <a:gridCol w="4325112"/>
              </a:tblGrid>
              <a:tr h="53035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you see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Try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solidFill>
                      <a:schemeClr val="tx1"/>
                    </a:solidFill>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Loss becomes NaN or explodes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Learning rate too high; exploding gradients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Lower lr by 10×; gradient clipping; check input scaling</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Loss flat from the start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Learning rate too low; dead ReLUs; bad init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Raise lr; He init; Leaky ReLU; add BatchNorm</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Training ↓, validation ↑</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Overfitting</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Dropout, weight decay, augmentation, early stopping, smaller model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Training and validation both high</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Underfitting</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Bigger model, train longer, higher lr, less regularization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Validation noisy, jumping around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Batch too small or lr too high</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Larger batch; lower lr; lr schedule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Good in training, poor after model.eval()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BatchNorm or dropout mode issue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Call model.train() / model.eval() correctly; batch size &gt; 1 for BN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r h="530352">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Very slow progress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Unscaled inputs; plain SGD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3A4651"/>
                          </a:solidFill>
                          <a:latin typeface="Calibri" pitchFamily="34" charset="0"/>
                          <a:ea typeface="Calibri" pitchFamily="34" charset="-122"/>
                          <a:cs typeface="Calibri" pitchFamily="34" charset="-120"/>
                        </a:rPr>
                        <a:t>Standardize features; Adam; BatchNorm</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D9DEE3"/>
                      </a:solidFill>
                      <a:prstDash val="solid"/>
                      <a:round/>
                      <a:headEnd type="none" w="med" len="med"/>
                      <a:tailEnd type="none" w="med" len="med"/>
                    </a:lnB>
                  </a:tcPr>
                </a:tc>
              </a:tr>
            </a:tbl>
          </a:graphicData>
        </a:graphic>
      </p:graphicFrame>
      <p:sp>
        <p:nvSpPr>
          <p:cNvPr id="5" name="Shape 1"/>
          <p:cNvSpPr/>
          <p:nvPr/>
        </p:nvSpPr>
        <p:spPr>
          <a:xfrm>
            <a:off x="548640" y="5623560"/>
            <a:ext cx="11091672" cy="548640"/>
          </a:xfrm>
          <a:prstGeom prst="rect">
            <a:avLst/>
          </a:prstGeom>
          <a:solidFill>
            <a:schemeClr val="accent1"/>
          </a:solidFill>
          <a:ln/>
        </p:spPr>
      </p:sp>
      <p:sp>
        <p:nvSpPr>
          <p:cNvPr id="6" name="Text 2"/>
          <p:cNvSpPr txBox="1"/>
          <p:nvPr/>
        </p:nvSpPr>
        <p:spPr>
          <a:xfrm>
            <a:off x="777240" y="5623560"/>
            <a:ext cx="10634472" cy="5486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Habit:  </a:t>
            </a:r>
            <a:pPr indent="0" marL="0">
              <a:buNone/>
            </a:pPr>
            <a:r>
              <a:rPr lang="en-US" sz="1400" dirty="0">
                <a:solidFill>
                  <a:schemeClr val="tx1"/>
                </a:solidFill>
                <a:latin typeface="Calibri" pitchFamily="34" charset="0"/>
                <a:ea typeface="Calibri" pitchFamily="34" charset="-122"/>
                <a:cs typeface="Calibri" pitchFamily="34" charset="-120"/>
              </a:rPr>
              <a:t>change one knob at a time, keep the random seed fixed, and write down train and validation numbers for every run.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Putting it together: the MNIST MLP from this week's notebook</a:t>
            </a:r>
            <a:endParaRPr lang="en-US" sz="3200" dirty="0"/>
          </a:p>
        </p:txBody>
      </p:sp>
      <p:sp>
        <p:nvSpPr>
          <p:cNvPr id="4" name="Shape 1"/>
          <p:cNvSpPr/>
          <p:nvPr/>
        </p:nvSpPr>
        <p:spPr>
          <a:xfrm>
            <a:off x="548640" y="1325880"/>
            <a:ext cx="6949440" cy="4846320"/>
          </a:xfrm>
          <a:prstGeom prst="rect">
            <a:avLst/>
          </a:prstGeom>
          <a:solidFill>
            <a:schemeClr val="tx1"/>
          </a:solidFill>
          <a:ln/>
        </p:spPr>
      </p:sp>
      <p:sp>
        <p:nvSpPr>
          <p:cNvPr id="5" name="Text 2"/>
          <p:cNvSpPr txBox="1"/>
          <p:nvPr/>
        </p:nvSpPr>
        <p:spPr>
          <a:xfrm>
            <a:off x="731520" y="1463040"/>
            <a:ext cx="6629400" cy="46177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model = nn.Sequential(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nn.Flatten(),                 </a:t>
            </a:r>
            <a:pPr indent="0" marL="0">
              <a:buNone/>
            </a:pPr>
            <a:r>
              <a:rPr lang="en-US" sz="1200" dirty="0">
                <a:solidFill>
                  <a:schemeClr val="accent1"/>
                </a:solidFill>
                <a:latin typeface="Courier New" pitchFamily="34" charset="0"/>
                <a:ea typeface="Courier New" pitchFamily="34" charset="-122"/>
                <a:cs typeface="Courier New" pitchFamily="34" charset="-120"/>
              </a:rPr>
              <a:t># 28x28 -&gt; 784</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nn.Linear(784, 512),          </a:t>
            </a:r>
            <a:pPr indent="0" marL="0">
              <a:buNone/>
            </a:pPr>
            <a:r>
              <a:rPr lang="en-US" sz="1200" dirty="0">
                <a:solidFill>
                  <a:schemeClr val="accent1"/>
                </a:solidFill>
                <a:latin typeface="Courier New" pitchFamily="34" charset="0"/>
                <a:ea typeface="Courier New" pitchFamily="34" charset="-122"/>
                <a:cs typeface="Courier New" pitchFamily="34" charset="-120"/>
              </a:rPr>
              <a:t># z = Wx + 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nn.BatchNorm1d(512),          </a:t>
            </a:r>
            <a:pPr indent="0" marL="0">
              <a:buNone/>
            </a:pPr>
            <a:r>
              <a:rPr lang="en-US" sz="1200" dirty="0">
                <a:solidFill>
                  <a:schemeClr val="accent1"/>
                </a:solidFill>
                <a:latin typeface="Courier New" pitchFamily="34" charset="0"/>
                <a:ea typeface="Courier New" pitchFamily="34" charset="-122"/>
                <a:cs typeface="Courier New" pitchFamily="34" charset="-120"/>
              </a:rPr>
              <a:t># batch norm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nn.ReLU(),                    </a:t>
            </a:r>
            <a:pPr indent="0" marL="0">
              <a:buNone/>
            </a:pPr>
            <a:r>
              <a:rPr lang="en-US" sz="1200" dirty="0">
                <a:solidFill>
                  <a:schemeClr val="accent1"/>
                </a:solidFill>
                <a:latin typeface="Courier New" pitchFamily="34" charset="0"/>
                <a:ea typeface="Courier New" pitchFamily="34" charset="-122"/>
                <a:cs typeface="Courier New" pitchFamily="34" charset="-120"/>
              </a:rPr>
              <a:t># activation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nn.Dropout(0.3),              </a:t>
            </a:r>
            <a:pPr indent="0" marL="0">
              <a:buNone/>
            </a:pPr>
            <a:r>
              <a:rPr lang="en-US" sz="1200" dirty="0">
                <a:solidFill>
                  <a:schemeClr val="accent1"/>
                </a:solidFill>
                <a:latin typeface="Courier New" pitchFamily="34" charset="0"/>
                <a:ea typeface="Courier New" pitchFamily="34" charset="-122"/>
                <a:cs typeface="Courier New" pitchFamily="34" charset="-120"/>
              </a:rPr>
              <a:t># regularization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nn.Linear(512, 256), nn.BatchNorm1d(256),</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nn.ReLU(), nn.Dropout(0.3),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nn.Linear(256, 128), nn.ReLU(),</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nn.Linear(128, 10))           </a:t>
            </a:r>
            <a:pPr indent="0" marL="0">
              <a:buNone/>
            </a:pPr>
            <a:r>
              <a:rPr lang="en-US" sz="1200" dirty="0">
                <a:solidFill>
                  <a:schemeClr val="accent1"/>
                </a:solidFill>
                <a:latin typeface="Courier New" pitchFamily="34" charset="0"/>
                <a:ea typeface="Courier New" pitchFamily="34" charset="-122"/>
                <a:cs typeface="Courier New" pitchFamily="34" charset="-120"/>
              </a:rPr>
              <a:t># logits, no softmax</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criterion = nn.CrossEntropyLoss()  </a:t>
            </a:r>
            <a:pPr indent="0" marL="0">
              <a:buNone/>
            </a:pPr>
            <a:r>
              <a:rPr lang="en-US" sz="1200" dirty="0">
                <a:solidFill>
                  <a:schemeClr val="accent1"/>
                </a:solidFill>
                <a:latin typeface="Courier New" pitchFamily="34" charset="0"/>
                <a:ea typeface="Courier New" pitchFamily="34" charset="-122"/>
                <a:cs typeface="Courier New" pitchFamily="34" charset="-120"/>
              </a:rPr>
              <a:t># softmax + log loss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optimizer = optim.Adam(model.parameters(), lr=1e-3)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for epoch in range(EPOCHS):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model.train()                 </a:t>
            </a:r>
            <a:pPr indent="0" marL="0">
              <a:buNone/>
            </a:pPr>
            <a:r>
              <a:rPr lang="en-US" sz="1200" dirty="0">
                <a:solidFill>
                  <a:schemeClr val="accent1"/>
                </a:solidFill>
                <a:latin typeface="Courier New" pitchFamily="34" charset="0"/>
                <a:ea typeface="Courier New" pitchFamily="34" charset="-122"/>
                <a:cs typeface="Courier New" pitchFamily="34" charset="-120"/>
              </a:rPr>
              <a:t># dropout and BN 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for imgs, lbls in train_loader:   </a:t>
            </a:r>
            <a:pPr indent="0" marL="0">
              <a:buNone/>
            </a:pPr>
            <a:r>
              <a:rPr lang="en-US" sz="1200" dirty="0">
                <a:solidFill>
                  <a:schemeClr val="accent1"/>
                </a:solidFill>
                <a:latin typeface="Courier New" pitchFamily="34" charset="0"/>
                <a:ea typeface="Courier New" pitchFamily="34" charset="-122"/>
                <a:cs typeface="Courier New" pitchFamily="34" charset="-120"/>
              </a:rPr>
              <a:t># mini-batches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optimizer.zero_grad()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loss = criterion(model(imgs), lbls)  </a:t>
            </a:r>
            <a:pPr indent="0" marL="0">
              <a:buNone/>
            </a:pPr>
            <a:r>
              <a:rPr lang="en-US" sz="1200" dirty="0">
                <a:solidFill>
                  <a:schemeClr val="accent1"/>
                </a:solidFill>
                <a:latin typeface="Courier New" pitchFamily="34" charset="0"/>
                <a:ea typeface="Courier New" pitchFamily="34" charset="-122"/>
                <a:cs typeface="Courier New" pitchFamily="34" charset="-120"/>
              </a:rPr>
              <a:t># forward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loss.backward()           </a:t>
            </a:r>
            <a:pPr indent="0" marL="0">
              <a:buNone/>
            </a:pPr>
            <a:r>
              <a:rPr lang="en-US" sz="1200" dirty="0">
                <a:solidFill>
                  <a:schemeClr val="accent1"/>
                </a:solidFill>
                <a:latin typeface="Courier New" pitchFamily="34" charset="0"/>
                <a:ea typeface="Courier New" pitchFamily="34" charset="-122"/>
                <a:cs typeface="Courier New" pitchFamily="34" charset="-120"/>
              </a:rPr>
              <a:t># backprop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optimizer.step()          </a:t>
            </a:r>
            <a:pPr indent="0" marL="0">
              <a:buNone/>
            </a:pPr>
            <a:r>
              <a:rPr lang="en-US" sz="1200" dirty="0">
                <a:solidFill>
                  <a:schemeClr val="accent1"/>
                </a:solidFill>
                <a:latin typeface="Courier New" pitchFamily="34" charset="0"/>
                <a:ea typeface="Courier New" pitchFamily="34" charset="-122"/>
                <a:cs typeface="Courier New" pitchFamily="34" charset="-120"/>
              </a:rPr>
              <a:t># update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model.eval()                  </a:t>
            </a:r>
            <a:pPr indent="0" marL="0">
              <a:buNone/>
            </a:pPr>
            <a:r>
              <a:rPr lang="en-US" sz="1200" dirty="0">
                <a:solidFill>
                  <a:schemeClr val="accent1"/>
                </a:solidFill>
                <a:latin typeface="Courier New" pitchFamily="34" charset="0"/>
                <a:ea typeface="Courier New" pitchFamily="34" charset="-122"/>
                <a:cs typeface="Courier New" pitchFamily="34" charset="-120"/>
              </a:rPr>
              <a:t># dropout off, BN stats</a:t>
            </a:r>
            <a:endParaRPr lang="en-US" sz="1200" dirty="0"/>
          </a:p>
        </p:txBody>
      </p:sp>
      <p:sp>
        <p:nvSpPr>
          <p:cNvPr id="6" name="Shape 3"/>
          <p:cNvSpPr/>
          <p:nvPr/>
        </p:nvSpPr>
        <p:spPr>
          <a:xfrm>
            <a:off x="7726680" y="1325880"/>
            <a:ext cx="3913632" cy="1097280"/>
          </a:xfrm>
          <a:prstGeom prst="rect">
            <a:avLst/>
          </a:prstGeom>
          <a:solidFill>
            <a:schemeClr val="bg2"/>
          </a:solidFill>
          <a:ln/>
        </p:spPr>
      </p:sp>
      <p:sp>
        <p:nvSpPr>
          <p:cNvPr id="7" name="Shape 4"/>
          <p:cNvSpPr/>
          <p:nvPr/>
        </p:nvSpPr>
        <p:spPr>
          <a:xfrm>
            <a:off x="7882128" y="1600200"/>
            <a:ext cx="548640" cy="548640"/>
          </a:xfrm>
          <a:prstGeom prst="ellipse">
            <a:avLst/>
          </a:prstGeom>
          <a:solidFill>
            <a:schemeClr val="accent1"/>
          </a:solidFill>
          <a:ln/>
        </p:spPr>
      </p:sp>
      <p:pic>
        <p:nvPicPr>
          <p:cNvPr id="8" name="Image 0" descr="LayerGroup icon">    </p:cNvPr>
          <p:cNvPicPr>
            <a:picLocks noChangeAspect="1"/>
          </p:cNvPicPr>
          <p:nvPr/>
        </p:nvPicPr>
        <p:blipFill>
          <a:blip r:embed="rId1"/>
          <a:stretch>
            <a:fillRect/>
          </a:stretch>
        </p:blipFill>
        <p:spPr>
          <a:xfrm>
            <a:off x="8019288" y="1737360"/>
            <a:ext cx="274320" cy="274320"/>
          </a:xfrm>
          <a:prstGeom prst="rect">
            <a:avLst/>
          </a:prstGeom>
        </p:spPr>
      </p:pic>
      <p:sp>
        <p:nvSpPr>
          <p:cNvPr id="9" name="Text 5"/>
          <p:cNvSpPr txBox="1"/>
          <p:nvPr/>
        </p:nvSpPr>
        <p:spPr>
          <a:xfrm>
            <a:off x="8595360" y="1417320"/>
            <a:ext cx="29260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Architecture</a:t>
            </a:r>
            <a:endParaRPr lang="en-US" sz="1400" dirty="0"/>
          </a:p>
        </p:txBody>
      </p:sp>
      <p:sp>
        <p:nvSpPr>
          <p:cNvPr id="10" name="Text 6"/>
          <p:cNvSpPr txBox="1"/>
          <p:nvPr/>
        </p:nvSpPr>
        <p:spPr>
          <a:xfrm>
            <a:off x="8595360" y="1737360"/>
            <a:ext cx="2926080"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784 → 512 → 256 → 128 → 10: Week 1's MLP, deeper and wider</a:t>
            </a:r>
            <a:endParaRPr lang="en-US" sz="1150" dirty="0"/>
          </a:p>
        </p:txBody>
      </p:sp>
      <p:sp>
        <p:nvSpPr>
          <p:cNvPr id="11" name="Shape 7"/>
          <p:cNvSpPr/>
          <p:nvPr/>
        </p:nvSpPr>
        <p:spPr>
          <a:xfrm>
            <a:off x="7726680" y="2560320"/>
            <a:ext cx="3913632" cy="1097280"/>
          </a:xfrm>
          <a:prstGeom prst="rect">
            <a:avLst/>
          </a:prstGeom>
          <a:solidFill>
            <a:schemeClr val="bg2"/>
          </a:solidFill>
          <a:ln/>
        </p:spPr>
      </p:sp>
      <p:sp>
        <p:nvSpPr>
          <p:cNvPr id="12" name="Shape 8"/>
          <p:cNvSpPr/>
          <p:nvPr/>
        </p:nvSpPr>
        <p:spPr>
          <a:xfrm>
            <a:off x="7882128" y="2834640"/>
            <a:ext cx="548640" cy="548640"/>
          </a:xfrm>
          <a:prstGeom prst="ellipse">
            <a:avLst/>
          </a:prstGeom>
          <a:solidFill>
            <a:schemeClr val="accent1"/>
          </a:solidFill>
          <a:ln/>
        </p:spPr>
      </p:sp>
      <p:pic>
        <p:nvPicPr>
          <p:cNvPr id="13" name="Image 1" descr="SlidersH icon">    </p:cNvPr>
          <p:cNvPicPr>
            <a:picLocks noChangeAspect="1"/>
          </p:cNvPicPr>
          <p:nvPr/>
        </p:nvPicPr>
        <p:blipFill>
          <a:blip r:embed="rId2"/>
          <a:stretch>
            <a:fillRect/>
          </a:stretch>
        </p:blipFill>
        <p:spPr>
          <a:xfrm>
            <a:off x="8019288" y="2971800"/>
            <a:ext cx="274320" cy="274320"/>
          </a:xfrm>
          <a:prstGeom prst="rect">
            <a:avLst/>
          </a:prstGeom>
        </p:spPr>
      </p:pic>
      <p:sp>
        <p:nvSpPr>
          <p:cNvPr id="14" name="Text 9"/>
          <p:cNvSpPr txBox="1"/>
          <p:nvPr/>
        </p:nvSpPr>
        <p:spPr>
          <a:xfrm>
            <a:off x="8595360" y="2651760"/>
            <a:ext cx="29260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Trainability</a:t>
            </a:r>
            <a:endParaRPr lang="en-US" sz="1400" dirty="0"/>
          </a:p>
        </p:txBody>
      </p:sp>
      <p:sp>
        <p:nvSpPr>
          <p:cNvPr id="15" name="Text 10"/>
          <p:cNvSpPr txBox="1"/>
          <p:nvPr/>
        </p:nvSpPr>
        <p:spPr>
          <a:xfrm>
            <a:off x="8595360" y="2971800"/>
            <a:ext cx="2926080"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BatchNorm1d and ReLU keep gradients healthy</a:t>
            </a:r>
            <a:endParaRPr lang="en-US" sz="1150" dirty="0"/>
          </a:p>
        </p:txBody>
      </p:sp>
      <p:sp>
        <p:nvSpPr>
          <p:cNvPr id="16" name="Shape 11"/>
          <p:cNvSpPr/>
          <p:nvPr/>
        </p:nvSpPr>
        <p:spPr>
          <a:xfrm>
            <a:off x="7726680" y="3794760"/>
            <a:ext cx="3913632" cy="1097280"/>
          </a:xfrm>
          <a:prstGeom prst="rect">
            <a:avLst/>
          </a:prstGeom>
          <a:solidFill>
            <a:schemeClr val="bg2"/>
          </a:solidFill>
          <a:ln/>
        </p:spPr>
      </p:sp>
      <p:sp>
        <p:nvSpPr>
          <p:cNvPr id="17" name="Shape 12"/>
          <p:cNvSpPr/>
          <p:nvPr/>
        </p:nvSpPr>
        <p:spPr>
          <a:xfrm>
            <a:off x="7882128" y="4069080"/>
            <a:ext cx="548640" cy="548640"/>
          </a:xfrm>
          <a:prstGeom prst="ellipse">
            <a:avLst/>
          </a:prstGeom>
          <a:solidFill>
            <a:schemeClr val="accent1"/>
          </a:solidFill>
          <a:ln/>
        </p:spPr>
      </p:sp>
      <p:pic>
        <p:nvPicPr>
          <p:cNvPr id="18" name="Image 2" descr="ShieldAlt icon">    </p:cNvPr>
          <p:cNvPicPr>
            <a:picLocks noChangeAspect="1"/>
          </p:cNvPicPr>
          <p:nvPr/>
        </p:nvPicPr>
        <p:blipFill>
          <a:blip r:embed="rId3"/>
          <a:stretch>
            <a:fillRect/>
          </a:stretch>
        </p:blipFill>
        <p:spPr>
          <a:xfrm>
            <a:off x="8019288" y="4206240"/>
            <a:ext cx="274320" cy="274320"/>
          </a:xfrm>
          <a:prstGeom prst="rect">
            <a:avLst/>
          </a:prstGeom>
        </p:spPr>
      </p:pic>
      <p:sp>
        <p:nvSpPr>
          <p:cNvPr id="19" name="Text 13"/>
          <p:cNvSpPr txBox="1"/>
          <p:nvPr/>
        </p:nvSpPr>
        <p:spPr>
          <a:xfrm>
            <a:off x="8595360" y="3886200"/>
            <a:ext cx="29260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Regularization</a:t>
            </a:r>
            <a:endParaRPr lang="en-US" sz="1400" dirty="0"/>
          </a:p>
        </p:txBody>
      </p:sp>
      <p:sp>
        <p:nvSpPr>
          <p:cNvPr id="20" name="Text 14"/>
          <p:cNvSpPr txBox="1"/>
          <p:nvPr/>
        </p:nvSpPr>
        <p:spPr>
          <a:xfrm>
            <a:off x="8595360" y="4206240"/>
            <a:ext cx="2926080"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Dropout(0.3) in the two widest layers</a:t>
            </a:r>
            <a:endParaRPr lang="en-US" sz="1150" dirty="0"/>
          </a:p>
        </p:txBody>
      </p:sp>
      <p:sp>
        <p:nvSpPr>
          <p:cNvPr id="21" name="Shape 15"/>
          <p:cNvSpPr/>
          <p:nvPr/>
        </p:nvSpPr>
        <p:spPr>
          <a:xfrm>
            <a:off x="7726680" y="5029200"/>
            <a:ext cx="3913632" cy="1097280"/>
          </a:xfrm>
          <a:prstGeom prst="rect">
            <a:avLst/>
          </a:prstGeom>
          <a:solidFill>
            <a:schemeClr val="bg2"/>
          </a:solidFill>
          <a:ln/>
        </p:spPr>
      </p:sp>
      <p:sp>
        <p:nvSpPr>
          <p:cNvPr id="22" name="Shape 16"/>
          <p:cNvSpPr/>
          <p:nvPr/>
        </p:nvSpPr>
        <p:spPr>
          <a:xfrm>
            <a:off x="7882128" y="5303520"/>
            <a:ext cx="548640" cy="548640"/>
          </a:xfrm>
          <a:prstGeom prst="ellipse">
            <a:avLst/>
          </a:prstGeom>
          <a:solidFill>
            <a:schemeClr val="accent1"/>
          </a:solidFill>
          <a:ln/>
        </p:spPr>
      </p:sp>
      <p:pic>
        <p:nvPicPr>
          <p:cNvPr id="23" name="Image 3" descr="SyncAlt icon">    </p:cNvPr>
          <p:cNvPicPr>
            <a:picLocks noChangeAspect="1"/>
          </p:cNvPicPr>
          <p:nvPr/>
        </p:nvPicPr>
        <p:blipFill>
          <a:blip r:embed="rId4"/>
          <a:stretch>
            <a:fillRect/>
          </a:stretch>
        </p:blipFill>
        <p:spPr>
          <a:xfrm>
            <a:off x="8019288" y="5440680"/>
            <a:ext cx="274320" cy="274320"/>
          </a:xfrm>
          <a:prstGeom prst="rect">
            <a:avLst/>
          </a:prstGeom>
        </p:spPr>
      </p:pic>
      <p:sp>
        <p:nvSpPr>
          <p:cNvPr id="24" name="Text 17"/>
          <p:cNvSpPr txBox="1"/>
          <p:nvPr/>
        </p:nvSpPr>
        <p:spPr>
          <a:xfrm>
            <a:off x="8595360" y="5120640"/>
            <a:ext cx="292608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Learning</a:t>
            </a:r>
            <a:endParaRPr lang="en-US" sz="1400" dirty="0"/>
          </a:p>
        </p:txBody>
      </p:sp>
      <p:sp>
        <p:nvSpPr>
          <p:cNvPr id="25" name="Text 18"/>
          <p:cNvSpPr txBox="1"/>
          <p:nvPr/>
        </p:nvSpPr>
        <p:spPr>
          <a:xfrm>
            <a:off x="8595360" y="5440680"/>
            <a:ext cx="2926080" cy="64008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Cross-entropy loss, backprop, Adam on mini-batches</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This week's work</a:t>
            </a:r>
            <a:endParaRPr lang="en-US" sz="3200" dirty="0"/>
          </a:p>
        </p:txBody>
      </p:sp>
      <p:sp>
        <p:nvSpPr>
          <p:cNvPr id="4" name="Shape 1"/>
          <p:cNvSpPr/>
          <p:nvPr/>
        </p:nvSpPr>
        <p:spPr>
          <a:xfrm>
            <a:off x="548640" y="1325880"/>
            <a:ext cx="3575304" cy="3931920"/>
          </a:xfrm>
          <a:prstGeom prst="rect">
            <a:avLst/>
          </a:prstGeom>
          <a:solidFill>
            <a:schemeClr val="bg2"/>
          </a:solidFill>
          <a:ln/>
        </p:spPr>
      </p:sp>
      <p:sp>
        <p:nvSpPr>
          <p:cNvPr id="5" name="Shape 2"/>
          <p:cNvSpPr/>
          <p:nvPr/>
        </p:nvSpPr>
        <p:spPr>
          <a:xfrm>
            <a:off x="822960" y="1554480"/>
            <a:ext cx="594360" cy="594360"/>
          </a:xfrm>
          <a:prstGeom prst="ellipse">
            <a:avLst/>
          </a:prstGeom>
          <a:solidFill>
            <a:schemeClr val="accent2"/>
          </a:solidFill>
          <a:ln/>
        </p:spPr>
      </p:sp>
      <p:pic>
        <p:nvPicPr>
          <p:cNvPr id="6" name="Image 0" descr="Heartbeat icon">    </p:cNvPr>
          <p:cNvPicPr>
            <a:picLocks noChangeAspect="1"/>
          </p:cNvPicPr>
          <p:nvPr/>
        </p:nvPicPr>
        <p:blipFill>
          <a:blip r:embed="rId1"/>
          <a:stretch>
            <a:fillRect/>
          </a:stretch>
        </p:blipFill>
        <p:spPr>
          <a:xfrm>
            <a:off x="971550" y="1703070"/>
            <a:ext cx="297180" cy="297180"/>
          </a:xfrm>
          <a:prstGeom prst="rect">
            <a:avLst/>
          </a:prstGeom>
        </p:spPr>
      </p:pic>
      <p:sp>
        <p:nvSpPr>
          <p:cNvPr id="7" name="Text 3"/>
          <p:cNvSpPr txBox="1"/>
          <p:nvPr/>
        </p:nvSpPr>
        <p:spPr>
          <a:xfrm>
            <a:off x="822960" y="233172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Binary classification</a:t>
            </a:r>
            <a:endParaRPr lang="en-US" sz="1700" dirty="0"/>
          </a:p>
        </p:txBody>
      </p:sp>
      <p:sp>
        <p:nvSpPr>
          <p:cNvPr id="8" name="Text 4"/>
          <p:cNvSpPr txBox="1"/>
          <p:nvPr/>
        </p:nvSpPr>
        <p:spPr>
          <a:xfrm>
            <a:off x="822960" y="2724912"/>
            <a:ext cx="3026664"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Heart disease (tabular)</a:t>
            </a:r>
            <a:endParaRPr lang="en-US" sz="1300" dirty="0"/>
          </a:p>
        </p:txBody>
      </p:sp>
      <p:sp>
        <p:nvSpPr>
          <p:cNvPr id="9" name="Text 5"/>
          <p:cNvSpPr txBox="1"/>
          <p:nvPr/>
        </p:nvSpPr>
        <p:spPr>
          <a:xfrm>
            <a:off x="822960" y="3200400"/>
            <a:ext cx="3026664" cy="8229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Model  </a:t>
            </a:r>
            <a:pPr indent="0" marL="0">
              <a:buNone/>
            </a:pPr>
            <a:r>
              <a:rPr lang="en-US" sz="1250" dirty="0">
                <a:solidFill>
                  <a:schemeClr val="tx2"/>
                </a:solidFill>
                <a:latin typeface="Calibri" pitchFamily="34" charset="0"/>
                <a:ea typeface="Calibri" pitchFamily="34" charset="-122"/>
                <a:cs typeface="Calibri" pitchFamily="34" charset="-120"/>
              </a:rPr>
              <a:t>64 → 32 → 1 + Sigmoid, BCELoss, Adam</a:t>
            </a:r>
            <a:endParaRPr lang="en-US" sz="1250" dirty="0"/>
          </a:p>
        </p:txBody>
      </p:sp>
      <p:sp>
        <p:nvSpPr>
          <p:cNvPr id="10" name="Text 6"/>
          <p:cNvSpPr txBox="1"/>
          <p:nvPr/>
        </p:nvSpPr>
        <p:spPr>
          <a:xfrm>
            <a:off x="822960" y="4069080"/>
            <a:ext cx="3026664" cy="10515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Experiment  </a:t>
            </a:r>
            <a:pPr indent="0" marL="0">
              <a:buNone/>
            </a:pPr>
            <a:r>
              <a:rPr lang="en-US" sz="1250" dirty="0">
                <a:solidFill>
                  <a:schemeClr val="tx2"/>
                </a:solidFill>
                <a:latin typeface="Calibri" pitchFamily="34" charset="0"/>
                <a:ea typeface="Calibri" pitchFamily="34" charset="-122"/>
                <a:cs typeface="Calibri" pitchFamily="34" charset="-120"/>
              </a:rPr>
              <a:t>Compare against a boosted tree: does the MLP win on tabular data?</a:t>
            </a:r>
            <a:endParaRPr lang="en-US" sz="1250" dirty="0"/>
          </a:p>
        </p:txBody>
      </p:sp>
      <p:sp>
        <p:nvSpPr>
          <p:cNvPr id="11" name="Shape 7"/>
          <p:cNvSpPr/>
          <p:nvPr/>
        </p:nvSpPr>
        <p:spPr>
          <a:xfrm>
            <a:off x="4306824" y="1325880"/>
            <a:ext cx="3575304" cy="3931920"/>
          </a:xfrm>
          <a:prstGeom prst="rect">
            <a:avLst/>
          </a:prstGeom>
          <a:solidFill>
            <a:schemeClr val="tx1"/>
          </a:solidFill>
          <a:ln/>
        </p:spPr>
      </p:sp>
      <p:sp>
        <p:nvSpPr>
          <p:cNvPr id="12" name="Shape 8"/>
          <p:cNvSpPr/>
          <p:nvPr/>
        </p:nvSpPr>
        <p:spPr>
          <a:xfrm>
            <a:off x="4581144" y="1554480"/>
            <a:ext cx="594360" cy="594360"/>
          </a:xfrm>
          <a:prstGeom prst="ellipse">
            <a:avLst/>
          </a:prstGeom>
          <a:solidFill>
            <a:schemeClr val="accent1"/>
          </a:solidFill>
          <a:ln/>
        </p:spPr>
      </p:sp>
      <p:pic>
        <p:nvPicPr>
          <p:cNvPr id="13" name="Image 1" descr="Font icon">    </p:cNvPr>
          <p:cNvPicPr>
            <a:picLocks noChangeAspect="1"/>
          </p:cNvPicPr>
          <p:nvPr/>
        </p:nvPicPr>
        <p:blipFill>
          <a:blip r:embed="rId2"/>
          <a:stretch>
            <a:fillRect/>
          </a:stretch>
        </p:blipFill>
        <p:spPr>
          <a:xfrm>
            <a:off x="4729734" y="1703070"/>
            <a:ext cx="297180" cy="297180"/>
          </a:xfrm>
          <a:prstGeom prst="rect">
            <a:avLst/>
          </a:prstGeom>
        </p:spPr>
      </p:pic>
      <p:sp>
        <p:nvSpPr>
          <p:cNvPr id="14" name="Text 9"/>
          <p:cNvSpPr txBox="1"/>
          <p:nvPr/>
        </p:nvSpPr>
        <p:spPr>
          <a:xfrm>
            <a:off x="4581144" y="2331720"/>
            <a:ext cx="3026664" cy="36576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Multi-class classification</a:t>
            </a:r>
            <a:endParaRPr lang="en-US" sz="1700" dirty="0"/>
          </a:p>
        </p:txBody>
      </p:sp>
      <p:sp>
        <p:nvSpPr>
          <p:cNvPr id="15" name="Text 10"/>
          <p:cNvSpPr txBox="1"/>
          <p:nvPr/>
        </p:nvSpPr>
        <p:spPr>
          <a:xfrm>
            <a:off x="4581144" y="2724912"/>
            <a:ext cx="3026664" cy="320040"/>
          </a:xfrm>
          <a:prstGeom prst="rect">
            <a:avLst/>
          </a:prstGeom>
          <a:noFill/>
          <a:ln/>
        </p:spPr>
        <p:txBody>
          <a:bodyPr wrap="square" lIns="0" tIns="0" rIns="0" bIns="0" rtlCol="0" anchor="t"/>
          <a:lstStyle/>
          <a:p>
            <a:pPr indent="0" marL="0">
              <a:buNone/>
            </a:pPr>
            <a:r>
              <a:rPr lang="en-US" sz="1300" dirty="0">
                <a:solidFill>
                  <a:schemeClr val="accent1"/>
                </a:solidFill>
                <a:latin typeface="Calibri" pitchFamily="34" charset="0"/>
                <a:ea typeface="Calibri" pitchFamily="34" charset="-122"/>
                <a:cs typeface="Calibri" pitchFamily="34" charset="-120"/>
              </a:rPr>
              <a:t>MNIST digits (images)</a:t>
            </a:r>
            <a:endParaRPr lang="en-US" sz="1300" dirty="0"/>
          </a:p>
        </p:txBody>
      </p:sp>
      <p:sp>
        <p:nvSpPr>
          <p:cNvPr id="16" name="Text 11"/>
          <p:cNvSpPr txBox="1"/>
          <p:nvPr/>
        </p:nvSpPr>
        <p:spPr>
          <a:xfrm>
            <a:off x="4581144" y="3200400"/>
            <a:ext cx="3026664" cy="822960"/>
          </a:xfrm>
          <a:prstGeom prst="rect">
            <a:avLst/>
          </a:prstGeom>
          <a:noFill/>
          <a:ln/>
        </p:spPr>
        <p:txBody>
          <a:bodyPr wrap="square" lIns="0" tIns="0" rIns="0" bIns="0" rtlCol="0" anchor="t"/>
          <a:lstStyle/>
          <a:p>
            <a:pPr indent="0" marL="0">
              <a:buNone/>
            </a:pPr>
            <a:r>
              <a:rPr lang="en-US" sz="1250" b="1" dirty="0">
                <a:solidFill>
                  <a:schemeClr val="accent6"/>
                </a:solidFill>
                <a:latin typeface="Calibri" pitchFamily="34" charset="0"/>
                <a:ea typeface="Calibri" pitchFamily="34" charset="-122"/>
                <a:cs typeface="Calibri" pitchFamily="34" charset="-120"/>
              </a:rPr>
              <a:t>Model  </a:t>
            </a:r>
            <a:pPr indent="0" marL="0">
              <a:buNone/>
            </a:pPr>
            <a:r>
              <a:rPr lang="en-US" sz="1250" dirty="0">
                <a:solidFill>
                  <a:schemeClr val="accent6"/>
                </a:solidFill>
                <a:latin typeface="Calibri" pitchFamily="34" charset="0"/>
                <a:ea typeface="Calibri" pitchFamily="34" charset="-122"/>
                <a:cs typeface="Calibri" pitchFamily="34" charset="-120"/>
              </a:rPr>
              <a:t>784 → 512 → 256 → 128 → 10, CrossEntropyLoss</a:t>
            </a:r>
            <a:endParaRPr lang="en-US" sz="1250" dirty="0"/>
          </a:p>
        </p:txBody>
      </p:sp>
      <p:sp>
        <p:nvSpPr>
          <p:cNvPr id="17" name="Text 12"/>
          <p:cNvSpPr txBox="1"/>
          <p:nvPr/>
        </p:nvSpPr>
        <p:spPr>
          <a:xfrm>
            <a:off x="4581144" y="4069080"/>
            <a:ext cx="3026664" cy="1051560"/>
          </a:xfrm>
          <a:prstGeom prst="rect">
            <a:avLst/>
          </a:prstGeom>
          <a:noFill/>
          <a:ln/>
        </p:spPr>
        <p:txBody>
          <a:bodyPr wrap="square" lIns="0" tIns="0" rIns="0" bIns="0" rtlCol="0" anchor="t"/>
          <a:lstStyle/>
          <a:p>
            <a:pPr indent="0" marL="0">
              <a:buNone/>
            </a:pPr>
            <a:r>
              <a:rPr lang="en-US" sz="1250" b="1" dirty="0">
                <a:solidFill>
                  <a:schemeClr val="accent6"/>
                </a:solidFill>
                <a:latin typeface="Calibri" pitchFamily="34" charset="0"/>
                <a:ea typeface="Calibri" pitchFamily="34" charset="-122"/>
                <a:cs typeface="Calibri" pitchFamily="34" charset="-120"/>
              </a:rPr>
              <a:t>Experiment  </a:t>
            </a:r>
            <a:pPr indent="0" marL="0">
              <a:buNone/>
            </a:pPr>
            <a:r>
              <a:rPr lang="en-US" sz="1250" dirty="0">
                <a:solidFill>
                  <a:schemeClr val="accent6"/>
                </a:solidFill>
                <a:latin typeface="Calibri" pitchFamily="34" charset="0"/>
                <a:ea typeface="Calibri" pitchFamily="34" charset="-122"/>
                <a:cs typeface="Calibri" pitchFamily="34" charset="-120"/>
              </a:rPr>
              <a:t>Swap ReLU for Tanh or GELU; remove BatchNorm; try SGD + momentum.</a:t>
            </a:r>
            <a:endParaRPr lang="en-US" sz="1250" dirty="0"/>
          </a:p>
        </p:txBody>
      </p:sp>
      <p:sp>
        <p:nvSpPr>
          <p:cNvPr id="18" name="Shape 13"/>
          <p:cNvSpPr/>
          <p:nvPr/>
        </p:nvSpPr>
        <p:spPr>
          <a:xfrm>
            <a:off x="8065008" y="1325880"/>
            <a:ext cx="3575304" cy="3931920"/>
          </a:xfrm>
          <a:prstGeom prst="rect">
            <a:avLst/>
          </a:prstGeom>
          <a:solidFill>
            <a:schemeClr val="bg2"/>
          </a:solidFill>
          <a:ln/>
        </p:spPr>
      </p:sp>
      <p:sp>
        <p:nvSpPr>
          <p:cNvPr id="19" name="Shape 14"/>
          <p:cNvSpPr/>
          <p:nvPr/>
        </p:nvSpPr>
        <p:spPr>
          <a:xfrm>
            <a:off x="8339328" y="1554480"/>
            <a:ext cx="594360" cy="594360"/>
          </a:xfrm>
          <a:prstGeom prst="ellipse">
            <a:avLst/>
          </a:prstGeom>
          <a:solidFill>
            <a:schemeClr val="accent2"/>
          </a:solidFill>
          <a:ln/>
        </p:spPr>
      </p:sp>
      <p:pic>
        <p:nvPicPr>
          <p:cNvPr id="20" name="Image 2" descr="Home icon">    </p:cNvPr>
          <p:cNvPicPr>
            <a:picLocks noChangeAspect="1"/>
          </p:cNvPicPr>
          <p:nvPr/>
        </p:nvPicPr>
        <p:blipFill>
          <a:blip r:embed="rId3"/>
          <a:stretch>
            <a:fillRect/>
          </a:stretch>
        </p:blipFill>
        <p:spPr>
          <a:xfrm>
            <a:off x="8487918" y="1703070"/>
            <a:ext cx="297180" cy="297180"/>
          </a:xfrm>
          <a:prstGeom prst="rect">
            <a:avLst/>
          </a:prstGeom>
        </p:spPr>
      </p:pic>
      <p:sp>
        <p:nvSpPr>
          <p:cNvPr id="21" name="Text 15"/>
          <p:cNvSpPr txBox="1"/>
          <p:nvPr/>
        </p:nvSpPr>
        <p:spPr>
          <a:xfrm>
            <a:off x="8339328" y="2331720"/>
            <a:ext cx="3026664"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Regression</a:t>
            </a:r>
            <a:endParaRPr lang="en-US" sz="1700" dirty="0"/>
          </a:p>
        </p:txBody>
      </p:sp>
      <p:sp>
        <p:nvSpPr>
          <p:cNvPr id="22" name="Text 16"/>
          <p:cNvSpPr txBox="1"/>
          <p:nvPr/>
        </p:nvSpPr>
        <p:spPr>
          <a:xfrm>
            <a:off x="8339328" y="2724912"/>
            <a:ext cx="3026664"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California housing (tabular)</a:t>
            </a:r>
            <a:endParaRPr lang="en-US" sz="1300" dirty="0"/>
          </a:p>
        </p:txBody>
      </p:sp>
      <p:sp>
        <p:nvSpPr>
          <p:cNvPr id="23" name="Text 17"/>
          <p:cNvSpPr txBox="1"/>
          <p:nvPr/>
        </p:nvSpPr>
        <p:spPr>
          <a:xfrm>
            <a:off x="8339328" y="3200400"/>
            <a:ext cx="3026664" cy="8229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Model  </a:t>
            </a:r>
            <a:pPr indent="0" marL="0">
              <a:buNone/>
            </a:pPr>
            <a:r>
              <a:rPr lang="en-US" sz="1250" dirty="0">
                <a:solidFill>
                  <a:schemeClr val="tx2"/>
                </a:solidFill>
                <a:latin typeface="Calibri" pitchFamily="34" charset="0"/>
                <a:ea typeface="Calibri" pitchFamily="34" charset="-122"/>
                <a:cs typeface="Calibri" pitchFamily="34" charset="-120"/>
              </a:rPr>
              <a:t>128 → 64 → 32 → 1, MSELoss</a:t>
            </a:r>
            <a:endParaRPr lang="en-US" sz="1250" dirty="0"/>
          </a:p>
        </p:txBody>
      </p:sp>
      <p:sp>
        <p:nvSpPr>
          <p:cNvPr id="24" name="Text 18"/>
          <p:cNvSpPr txBox="1"/>
          <p:nvPr/>
        </p:nvSpPr>
        <p:spPr>
          <a:xfrm>
            <a:off x="8339328" y="4069080"/>
            <a:ext cx="3026664" cy="10515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Experiment  </a:t>
            </a:r>
            <a:pPr indent="0" marL="0">
              <a:buNone/>
            </a:pPr>
            <a:r>
              <a:rPr lang="en-US" sz="1250" dirty="0">
                <a:solidFill>
                  <a:schemeClr val="tx2"/>
                </a:solidFill>
                <a:latin typeface="Calibri" pitchFamily="34" charset="0"/>
                <a:ea typeface="Calibri" pitchFamily="34" charset="-122"/>
                <a:cs typeface="Calibri" pitchFamily="34" charset="-120"/>
              </a:rPr>
              <a:t>Try HuberLoss and L1Loss; vary dropout; watch RMSE.</a:t>
            </a:r>
            <a:endParaRPr lang="en-US" sz="1250" dirty="0"/>
          </a:p>
        </p:txBody>
      </p:sp>
      <p:sp>
        <p:nvSpPr>
          <p:cNvPr id="25" name="Shape 19"/>
          <p:cNvSpPr/>
          <p:nvPr/>
        </p:nvSpPr>
        <p:spPr>
          <a:xfrm>
            <a:off x="548640" y="5486400"/>
            <a:ext cx="11091672" cy="685800"/>
          </a:xfrm>
          <a:prstGeom prst="rect">
            <a:avLst/>
          </a:prstGeom>
          <a:solidFill>
            <a:schemeClr val="accent1"/>
          </a:solidFill>
          <a:ln/>
        </p:spPr>
      </p:sp>
      <p:sp>
        <p:nvSpPr>
          <p:cNvPr id="26" name="Text 20"/>
          <p:cNvSpPr txBox="1"/>
          <p:nvPr/>
        </p:nvSpPr>
        <p:spPr>
          <a:xfrm>
            <a:off x="777240" y="5486400"/>
            <a:ext cx="10634472"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Deliverable:  </a:t>
            </a:r>
            <a:pPr indent="0" marL="0">
              <a:buNone/>
            </a:pPr>
            <a:r>
              <a:rPr lang="en-US" sz="1400" dirty="0">
                <a:solidFill>
                  <a:schemeClr val="tx1"/>
                </a:solidFill>
                <a:latin typeface="Calibri" pitchFamily="34" charset="0"/>
                <a:ea typeface="Calibri" pitchFamily="34" charset="-122"/>
                <a:cs typeface="Calibri" pitchFamily="34" charset="-120"/>
              </a:rPr>
              <a:t>for each notebook, one baseline run plus at least two single-knob experiments, with training and test curves and a short explanation.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731520" y="914400"/>
            <a:ext cx="10698480" cy="914400"/>
          </a:xfrm>
          <a:prstGeom prst="rect">
            <a:avLst/>
          </a:prstGeom>
          <a:noFill/>
          <a:ln/>
        </p:spPr>
        <p:txBody>
          <a:bodyPr wrap="square" lIns="0" tIns="0" rIns="0" bIns="0" rtlCol="0" anchor="ctr"/>
          <a:lstStyle/>
          <a:p>
            <a:pPr indent="0" marL="0">
              <a:buNone/>
            </a:pPr>
            <a:r>
              <a:rPr lang="en-US" sz="4000" dirty="0">
                <a:solidFill>
                  <a:schemeClr val="bg1"/>
                </a:solidFill>
                <a:latin typeface="Cambria" pitchFamily="34" charset="0"/>
                <a:ea typeface="Cambria" pitchFamily="34" charset="-122"/>
                <a:cs typeface="Cambria" pitchFamily="34" charset="-120"/>
              </a:rPr>
              <a:t>Four ideas to take away</a:t>
            </a:r>
            <a:endParaRPr lang="en-US" sz="4000" dirty="0"/>
          </a:p>
        </p:txBody>
      </p:sp>
      <p:sp>
        <p:nvSpPr>
          <p:cNvPr id="3" name="Text 1"/>
          <p:cNvSpPr txBox="1"/>
          <p:nvPr/>
        </p:nvSpPr>
        <p:spPr>
          <a:xfrm>
            <a:off x="731520" y="2148840"/>
            <a:ext cx="548640" cy="82296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1417320" y="2148840"/>
            <a:ext cx="9966960" cy="8686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Deep learning wins on raw, high-dimensional data</a:t>
            </a:r>
            <a:endParaRPr lang="en-US" sz="1700" dirty="0"/>
          </a:p>
          <a:p>
            <a:pPr indent="0" marL="0">
              <a:buNone/>
            </a:pPr>
            <a:r>
              <a:rPr lang="en-US" sz="1700" dirty="0">
                <a:solidFill>
                  <a:schemeClr val="accent6"/>
                </a:solidFill>
                <a:latin typeface="Calibri" pitchFamily="34" charset="0"/>
                <a:ea typeface="Calibri" pitchFamily="34" charset="-122"/>
                <a:cs typeface="Calibri" pitchFamily="34" charset="-120"/>
              </a:rPr>
              <a:t>because it learns its own features instead of relying on hand-made ones.</a:t>
            </a:r>
            <a:endParaRPr lang="en-US" sz="1700" dirty="0"/>
          </a:p>
        </p:txBody>
      </p:sp>
      <p:sp>
        <p:nvSpPr>
          <p:cNvPr id="5" name="Text 3"/>
          <p:cNvSpPr txBox="1"/>
          <p:nvPr/>
        </p:nvSpPr>
        <p:spPr>
          <a:xfrm>
            <a:off x="731520" y="3200400"/>
            <a:ext cx="548640" cy="82296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2</a:t>
            </a:r>
            <a:endParaRPr lang="en-US" sz="3400" dirty="0"/>
          </a:p>
        </p:txBody>
      </p:sp>
      <p:sp>
        <p:nvSpPr>
          <p:cNvPr id="6" name="Text 4"/>
          <p:cNvSpPr txBox="1"/>
          <p:nvPr/>
        </p:nvSpPr>
        <p:spPr>
          <a:xfrm>
            <a:off x="1417320" y="3200400"/>
            <a:ext cx="9966960" cy="8686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The neuron barely changed since 1943</a:t>
            </a:r>
            <a:endParaRPr lang="en-US" sz="1700" dirty="0"/>
          </a:p>
          <a:p>
            <a:pPr indent="0" marL="0">
              <a:buNone/>
            </a:pPr>
            <a:r>
              <a:rPr lang="en-US" sz="1700" dirty="0">
                <a:solidFill>
                  <a:schemeClr val="accent6"/>
                </a:solidFill>
                <a:latin typeface="Calibri" pitchFamily="34" charset="0"/>
                <a:ea typeface="Calibri" pitchFamily="34" charset="-122"/>
                <a:cs typeface="Calibri" pitchFamily="34" charset="-120"/>
              </a:rPr>
              <a:t>What changed: a smooth activation, backprop (1986), then data and GPUs (2012).</a:t>
            </a:r>
            <a:endParaRPr lang="en-US" sz="1700" dirty="0"/>
          </a:p>
        </p:txBody>
      </p:sp>
      <p:sp>
        <p:nvSpPr>
          <p:cNvPr id="7" name="Text 5"/>
          <p:cNvSpPr txBox="1"/>
          <p:nvPr/>
        </p:nvSpPr>
        <p:spPr>
          <a:xfrm>
            <a:off x="731520" y="4251960"/>
            <a:ext cx="548640" cy="82296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3</a:t>
            </a:r>
            <a:endParaRPr lang="en-US" sz="3400" dirty="0"/>
          </a:p>
        </p:txBody>
      </p:sp>
      <p:sp>
        <p:nvSpPr>
          <p:cNvPr id="8" name="Text 6"/>
          <p:cNvSpPr txBox="1"/>
          <p:nvPr/>
        </p:nvSpPr>
        <p:spPr>
          <a:xfrm>
            <a:off x="1417320" y="4251960"/>
            <a:ext cx="9966960" cy="8686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Training = forward, loss, backprop, update</a:t>
            </a:r>
            <a:endParaRPr lang="en-US" sz="1700" dirty="0"/>
          </a:p>
          <a:p>
            <a:pPr indent="0" marL="0">
              <a:buNone/>
            </a:pPr>
            <a:r>
              <a:rPr lang="en-US" sz="1700" dirty="0">
                <a:solidFill>
                  <a:schemeClr val="accent6"/>
                </a:solidFill>
                <a:latin typeface="Calibri" pitchFamily="34" charset="0"/>
                <a:ea typeface="Calibri" pitchFamily="34" charset="-122"/>
                <a:cs typeface="Calibri" pitchFamily="34" charset="-120"/>
              </a:rPr>
              <a:t>Optimizers only change how the update step is taken.</a:t>
            </a:r>
            <a:endParaRPr lang="en-US" sz="1700" dirty="0"/>
          </a:p>
        </p:txBody>
      </p:sp>
      <p:sp>
        <p:nvSpPr>
          <p:cNvPr id="9" name="Text 7"/>
          <p:cNvSpPr txBox="1"/>
          <p:nvPr/>
        </p:nvSpPr>
        <p:spPr>
          <a:xfrm>
            <a:off x="731520" y="5303520"/>
            <a:ext cx="548640" cy="82296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4</a:t>
            </a:r>
            <a:endParaRPr lang="en-US" sz="3400" dirty="0"/>
          </a:p>
        </p:txBody>
      </p:sp>
      <p:sp>
        <p:nvSpPr>
          <p:cNvPr id="10" name="Text 8"/>
          <p:cNvSpPr txBox="1"/>
          <p:nvPr/>
        </p:nvSpPr>
        <p:spPr>
          <a:xfrm>
            <a:off x="1417320" y="5303520"/>
            <a:ext cx="9966960" cy="8686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Depth became trainable</a:t>
            </a:r>
            <a:endParaRPr lang="en-US" sz="1700" dirty="0"/>
          </a:p>
          <a:p>
            <a:pPr indent="0" marL="0">
              <a:buNone/>
            </a:pPr>
            <a:r>
              <a:rPr lang="en-US" sz="1700" dirty="0">
                <a:solidFill>
                  <a:schemeClr val="accent6"/>
                </a:solidFill>
                <a:latin typeface="Calibri" pitchFamily="34" charset="0"/>
                <a:ea typeface="Calibri" pitchFamily="34" charset="-122"/>
                <a:cs typeface="Calibri" pitchFamily="34" charset="-120"/>
              </a:rPr>
              <a:t>thanks to ReLU, good initialization, batch norm and regularization.</a:t>
            </a:r>
            <a:endParaRPr lang="en-US" sz="1700" dirty="0"/>
          </a:p>
        </p:txBody>
      </p:sp>
      <p:sp>
        <p:nvSpPr>
          <p:cNvPr id="12" name="Text 0"/>
          <p:cNvSpPr/>
          <p:nvPr>
            <p:ph idx="100"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endParaRPr lang="en-US" sz="4000" dirty="0"/>
          </a:p>
        </p:txBody>
      </p:sp>
      <p:sp>
        <p:nvSpPr>
          <p:cNvPr id="13" name="Text 0"/>
          <p:cNvSpPr/>
          <p:nvPr>
            <p:ph idx="101" type="body" hasCustomPrompt="1"/>
          </p:nvPr>
        </p:nvSpPr>
        <p:spPr>
          <a:xfrm>
            <a:off x="731520" y="3886200"/>
            <a:ext cx="10698480" cy="20116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Further reading</a:t>
            </a:r>
            <a:endParaRPr lang="en-US" sz="3200" dirty="0"/>
          </a:p>
        </p:txBody>
      </p:sp>
      <p:sp>
        <p:nvSpPr>
          <p:cNvPr id="4" name="Text 1"/>
          <p:cNvSpPr txBox="1"/>
          <p:nvPr/>
        </p:nvSpPr>
        <p:spPr>
          <a:xfrm>
            <a:off x="548640" y="1280160"/>
            <a:ext cx="6035040"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Deep Learning series, C. P. Bathula (Towards AI)</a:t>
            </a:r>
            <a:endParaRPr lang="en-US" sz="1500" dirty="0"/>
          </a:p>
        </p:txBody>
      </p:sp>
      <p:sp>
        <p:nvSpPr>
          <p:cNvPr id="5" name="Shape 2"/>
          <p:cNvSpPr/>
          <p:nvPr/>
        </p:nvSpPr>
        <p:spPr>
          <a:xfrm>
            <a:off x="548640" y="1773936"/>
            <a:ext cx="329184" cy="329184"/>
          </a:xfrm>
          <a:prstGeom prst="ellipse">
            <a:avLst/>
          </a:prstGeom>
          <a:solidFill>
            <a:schemeClr val="accent2"/>
          </a:solidFill>
          <a:ln/>
        </p:spPr>
      </p:sp>
      <p:sp>
        <p:nvSpPr>
          <p:cNvPr id="6" name="Text 3"/>
          <p:cNvSpPr txBox="1"/>
          <p:nvPr/>
        </p:nvSpPr>
        <p:spPr>
          <a:xfrm>
            <a:off x="548640" y="17739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1005840" y="1737360"/>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1" invalidUrl="" action="" tgtFrame="" tooltip="Open Part 1" history="1" highlightClick="0" endSnd="0">
                  <a:extLst>
                    <a:ext uri="{A12FA001-AC4F-418D-AE19-62706E023703}">
                      <ahyp:hlinkClr xmlns:ahyp="http://schemas.microsoft.com/office/drawing/2018/hyperlinkcolor" val="tx"/>
                    </a:ext>
                  </a:extLst>
                </a:hlinkClick>
              </a:rPr>
              <a:t>Part 1: A Brief History of Deep Learning Evolution</a:t>
            </a:r>
            <a:endParaRPr lang="en-US" sz="1350" dirty="0"/>
          </a:p>
        </p:txBody>
      </p:sp>
      <p:sp>
        <p:nvSpPr>
          <p:cNvPr id="8" name="Shape 5"/>
          <p:cNvSpPr/>
          <p:nvPr/>
        </p:nvSpPr>
        <p:spPr>
          <a:xfrm>
            <a:off x="548640" y="2258568"/>
            <a:ext cx="329184" cy="329184"/>
          </a:xfrm>
          <a:prstGeom prst="ellipse">
            <a:avLst/>
          </a:prstGeom>
          <a:solidFill>
            <a:schemeClr val="accent2"/>
          </a:solidFill>
          <a:ln/>
        </p:spPr>
      </p:sp>
      <p:sp>
        <p:nvSpPr>
          <p:cNvPr id="9" name="Text 6"/>
          <p:cNvSpPr txBox="1"/>
          <p:nvPr/>
        </p:nvSpPr>
        <p:spPr>
          <a:xfrm>
            <a:off x="548640" y="22585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1005840" y="2221992"/>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2" invalidUrl="" action="" tgtFrame="" tooltip="Open Part 2" history="1" highlightClick="0" endSnd="0">
                  <a:extLst>
                    <a:ext uri="{A12FA001-AC4F-418D-AE19-62706E023703}">
                      <ahyp:hlinkClr xmlns:ahyp="http://schemas.microsoft.com/office/drawing/2018/hyperlinkcolor" val="tx"/>
                    </a:ext>
                  </a:extLst>
                </a:hlinkClick>
              </a:rPr>
              <a:t>Part 2: Biological Neural Network vs Artificial Neural Network</a:t>
            </a:r>
            <a:endParaRPr lang="en-US" sz="1350" dirty="0"/>
          </a:p>
        </p:txBody>
      </p:sp>
      <p:sp>
        <p:nvSpPr>
          <p:cNvPr id="11" name="Shape 8"/>
          <p:cNvSpPr/>
          <p:nvPr/>
        </p:nvSpPr>
        <p:spPr>
          <a:xfrm>
            <a:off x="548640" y="2743200"/>
            <a:ext cx="329184" cy="329184"/>
          </a:xfrm>
          <a:prstGeom prst="ellipse">
            <a:avLst/>
          </a:prstGeom>
          <a:solidFill>
            <a:schemeClr val="accent2"/>
          </a:solidFill>
          <a:ln/>
        </p:spPr>
      </p:sp>
      <p:sp>
        <p:nvSpPr>
          <p:cNvPr id="12" name="Text 9"/>
          <p:cNvSpPr txBox="1"/>
          <p:nvPr/>
        </p:nvSpPr>
        <p:spPr>
          <a:xfrm>
            <a:off x="548640" y="27432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3</a:t>
            </a:r>
            <a:endParaRPr lang="en-US" sz="1200" dirty="0"/>
          </a:p>
        </p:txBody>
      </p:sp>
      <p:sp>
        <p:nvSpPr>
          <p:cNvPr id="13" name="Text 10"/>
          <p:cNvSpPr txBox="1"/>
          <p:nvPr/>
        </p:nvSpPr>
        <p:spPr>
          <a:xfrm>
            <a:off x="1005840" y="2706624"/>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3" invalidUrl="" action="" tgtFrame="" tooltip="Open Part 3" history="1" highlightClick="0" endSnd="0">
                  <a:extLst>
                    <a:ext uri="{A12FA001-AC4F-418D-AE19-62706E023703}">
                      <ahyp:hlinkClr xmlns:ahyp="http://schemas.microsoft.com/office/drawing/2018/hyperlinkcolor" val="tx"/>
                    </a:ext>
                  </a:extLst>
                </a:hlinkClick>
              </a:rPr>
              <a:t>Part 3: Perceptron vs Logistic Regression</a:t>
            </a:r>
            <a:endParaRPr lang="en-US" sz="1350" dirty="0"/>
          </a:p>
        </p:txBody>
      </p:sp>
      <p:sp>
        <p:nvSpPr>
          <p:cNvPr id="14" name="Shape 11"/>
          <p:cNvSpPr/>
          <p:nvPr/>
        </p:nvSpPr>
        <p:spPr>
          <a:xfrm>
            <a:off x="548640" y="3227832"/>
            <a:ext cx="329184" cy="329184"/>
          </a:xfrm>
          <a:prstGeom prst="ellipse">
            <a:avLst/>
          </a:prstGeom>
          <a:solidFill>
            <a:schemeClr val="accent2"/>
          </a:solidFill>
          <a:ln/>
        </p:spPr>
      </p:sp>
      <p:sp>
        <p:nvSpPr>
          <p:cNvPr id="15" name="Text 12"/>
          <p:cNvSpPr txBox="1"/>
          <p:nvPr/>
        </p:nvSpPr>
        <p:spPr>
          <a:xfrm>
            <a:off x="548640" y="322783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1005840" y="3191256"/>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4" invalidUrl="" action="" tgtFrame="" tooltip="Open Part 4" history="1" highlightClick="0" endSnd="0">
                  <a:extLst>
                    <a:ext uri="{A12FA001-AC4F-418D-AE19-62706E023703}">
                      <ahyp:hlinkClr xmlns:ahyp="http://schemas.microsoft.com/office/drawing/2018/hyperlinkcolor" val="tx"/>
                    </a:ext>
                  </a:extLst>
                </a:hlinkClick>
              </a:rPr>
              <a:t>Part 4: Multi-Layered Perceptron (MLP)</a:t>
            </a:r>
            <a:endParaRPr lang="en-US" sz="1350" dirty="0"/>
          </a:p>
        </p:txBody>
      </p:sp>
      <p:sp>
        <p:nvSpPr>
          <p:cNvPr id="17" name="Shape 14"/>
          <p:cNvSpPr/>
          <p:nvPr/>
        </p:nvSpPr>
        <p:spPr>
          <a:xfrm>
            <a:off x="548640" y="3712464"/>
            <a:ext cx="329184" cy="329184"/>
          </a:xfrm>
          <a:prstGeom prst="ellipse">
            <a:avLst/>
          </a:prstGeom>
          <a:solidFill>
            <a:schemeClr val="accent2"/>
          </a:solidFill>
          <a:ln/>
        </p:spPr>
      </p:sp>
      <p:sp>
        <p:nvSpPr>
          <p:cNvPr id="18" name="Text 15"/>
          <p:cNvSpPr txBox="1"/>
          <p:nvPr/>
        </p:nvSpPr>
        <p:spPr>
          <a:xfrm>
            <a:off x="548640" y="371246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5</a:t>
            </a:r>
            <a:endParaRPr lang="en-US" sz="1200" dirty="0"/>
          </a:p>
        </p:txBody>
      </p:sp>
      <p:sp>
        <p:nvSpPr>
          <p:cNvPr id="19" name="Text 16"/>
          <p:cNvSpPr txBox="1"/>
          <p:nvPr/>
        </p:nvSpPr>
        <p:spPr>
          <a:xfrm>
            <a:off x="1005840" y="3675888"/>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5" invalidUrl="" action="" tgtFrame="" tooltip="Open Part 5" history="1" highlightClick="0" endSnd="0">
                  <a:extLst>
                    <a:ext uri="{A12FA001-AC4F-418D-AE19-62706E023703}">
                      <ahyp:hlinkClr xmlns:ahyp="http://schemas.microsoft.com/office/drawing/2018/hyperlinkcolor" val="tx"/>
                    </a:ext>
                  </a:extLst>
                </a:hlinkClick>
              </a:rPr>
              <a:t>Part 5: How to Train Your Neural Networks</a:t>
            </a:r>
            <a:endParaRPr lang="en-US" sz="1350" dirty="0"/>
          </a:p>
        </p:txBody>
      </p:sp>
      <p:sp>
        <p:nvSpPr>
          <p:cNvPr id="20" name="Shape 17"/>
          <p:cNvSpPr/>
          <p:nvPr/>
        </p:nvSpPr>
        <p:spPr>
          <a:xfrm>
            <a:off x="548640" y="4197096"/>
            <a:ext cx="329184" cy="329184"/>
          </a:xfrm>
          <a:prstGeom prst="ellipse">
            <a:avLst/>
          </a:prstGeom>
          <a:solidFill>
            <a:schemeClr val="accent2"/>
          </a:solidFill>
          <a:ln/>
        </p:spPr>
      </p:sp>
      <p:sp>
        <p:nvSpPr>
          <p:cNvPr id="21" name="Text 18"/>
          <p:cNvSpPr txBox="1"/>
          <p:nvPr/>
        </p:nvSpPr>
        <p:spPr>
          <a:xfrm>
            <a:off x="548640" y="41970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6</a:t>
            </a:r>
            <a:endParaRPr lang="en-US" sz="1200" dirty="0"/>
          </a:p>
        </p:txBody>
      </p:sp>
      <p:sp>
        <p:nvSpPr>
          <p:cNvPr id="22" name="Text 19"/>
          <p:cNvSpPr txBox="1"/>
          <p:nvPr/>
        </p:nvSpPr>
        <p:spPr>
          <a:xfrm>
            <a:off x="1005840" y="4160520"/>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6" invalidUrl="" action="" tgtFrame="" tooltip="Open Part 6" history="1" highlightClick="0" endSnd="0">
                  <a:extLst>
                    <a:ext uri="{A12FA001-AC4F-418D-AE19-62706E023703}">
                      <ahyp:hlinkClr xmlns:ahyp="http://schemas.microsoft.com/office/drawing/2018/hyperlinkcolor" val="tx"/>
                    </a:ext>
                  </a:extLst>
                </a:hlinkClick>
              </a:rPr>
              <a:t>Part 6: Activation Functions in Neural Networks</a:t>
            </a:r>
            <a:endParaRPr lang="en-US" sz="1350" dirty="0"/>
          </a:p>
        </p:txBody>
      </p:sp>
      <p:sp>
        <p:nvSpPr>
          <p:cNvPr id="23" name="Shape 20"/>
          <p:cNvSpPr/>
          <p:nvPr/>
        </p:nvSpPr>
        <p:spPr>
          <a:xfrm>
            <a:off x="548640" y="4681728"/>
            <a:ext cx="329184" cy="329184"/>
          </a:xfrm>
          <a:prstGeom prst="ellipse">
            <a:avLst/>
          </a:prstGeom>
          <a:solidFill>
            <a:schemeClr val="accent2"/>
          </a:solidFill>
          <a:ln/>
        </p:spPr>
      </p:sp>
      <p:sp>
        <p:nvSpPr>
          <p:cNvPr id="24" name="Text 21"/>
          <p:cNvSpPr txBox="1"/>
          <p:nvPr/>
        </p:nvSpPr>
        <p:spPr>
          <a:xfrm>
            <a:off x="548640" y="46817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7</a:t>
            </a:r>
            <a:endParaRPr lang="en-US" sz="1200" dirty="0"/>
          </a:p>
        </p:txBody>
      </p:sp>
      <p:sp>
        <p:nvSpPr>
          <p:cNvPr id="25" name="Text 22"/>
          <p:cNvSpPr txBox="1"/>
          <p:nvPr/>
        </p:nvSpPr>
        <p:spPr>
          <a:xfrm>
            <a:off x="1005840" y="4645152"/>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7" invalidUrl="" action="" tgtFrame="" tooltip="Open Part 7" history="1" highlightClick="0" endSnd="0">
                  <a:extLst>
                    <a:ext uri="{A12FA001-AC4F-418D-AE19-62706E023703}">
                      <ahyp:hlinkClr xmlns:ahyp="http://schemas.microsoft.com/office/drawing/2018/hyperlinkcolor" val="tx"/>
                    </a:ext>
                  </a:extLst>
                </a:hlinkClick>
              </a:rPr>
              <a:t>Part 7: Dropouts &amp; Regularization</a:t>
            </a:r>
            <a:endParaRPr lang="en-US" sz="1350" dirty="0"/>
          </a:p>
        </p:txBody>
      </p:sp>
      <p:sp>
        <p:nvSpPr>
          <p:cNvPr id="26" name="Shape 23"/>
          <p:cNvSpPr/>
          <p:nvPr/>
        </p:nvSpPr>
        <p:spPr>
          <a:xfrm>
            <a:off x="548640" y="5166360"/>
            <a:ext cx="329184" cy="329184"/>
          </a:xfrm>
          <a:prstGeom prst="ellipse">
            <a:avLst/>
          </a:prstGeom>
          <a:solidFill>
            <a:schemeClr val="accent2"/>
          </a:solidFill>
          <a:ln/>
        </p:spPr>
      </p:sp>
      <p:sp>
        <p:nvSpPr>
          <p:cNvPr id="27" name="Text 24"/>
          <p:cNvSpPr txBox="1"/>
          <p:nvPr/>
        </p:nvSpPr>
        <p:spPr>
          <a:xfrm>
            <a:off x="548640" y="51663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8</a:t>
            </a:r>
            <a:endParaRPr lang="en-US" sz="1200" dirty="0"/>
          </a:p>
        </p:txBody>
      </p:sp>
      <p:sp>
        <p:nvSpPr>
          <p:cNvPr id="28" name="Text 25"/>
          <p:cNvSpPr txBox="1"/>
          <p:nvPr/>
        </p:nvSpPr>
        <p:spPr>
          <a:xfrm>
            <a:off x="1005840" y="5129784"/>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8" invalidUrl="" action="" tgtFrame="" tooltip="Open Part 8" history="1" highlightClick="0" endSnd="0">
                  <a:extLst>
                    <a:ext uri="{A12FA001-AC4F-418D-AE19-62706E023703}">
                      <ahyp:hlinkClr xmlns:ahyp="http://schemas.microsoft.com/office/drawing/2018/hyperlinkcolor" val="tx"/>
                    </a:ext>
                  </a:extLst>
                </a:hlinkClick>
              </a:rPr>
              <a:t>Part 8: Initialization &amp; Normalization</a:t>
            </a:r>
            <a:endParaRPr lang="en-US" sz="1350" dirty="0"/>
          </a:p>
        </p:txBody>
      </p:sp>
      <p:sp>
        <p:nvSpPr>
          <p:cNvPr id="29" name="Shape 26"/>
          <p:cNvSpPr/>
          <p:nvPr/>
        </p:nvSpPr>
        <p:spPr>
          <a:xfrm>
            <a:off x="548640" y="5650992"/>
            <a:ext cx="329184" cy="329184"/>
          </a:xfrm>
          <a:prstGeom prst="ellipse">
            <a:avLst/>
          </a:prstGeom>
          <a:solidFill>
            <a:schemeClr val="accent2"/>
          </a:solidFill>
          <a:ln/>
        </p:spPr>
      </p:sp>
      <p:sp>
        <p:nvSpPr>
          <p:cNvPr id="30" name="Text 27"/>
          <p:cNvSpPr txBox="1"/>
          <p:nvPr/>
        </p:nvSpPr>
        <p:spPr>
          <a:xfrm>
            <a:off x="548640" y="56509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9</a:t>
            </a:r>
            <a:endParaRPr lang="en-US" sz="1200" dirty="0"/>
          </a:p>
        </p:txBody>
      </p:sp>
      <p:sp>
        <p:nvSpPr>
          <p:cNvPr id="31" name="Text 28"/>
          <p:cNvSpPr txBox="1"/>
          <p:nvPr/>
        </p:nvSpPr>
        <p:spPr>
          <a:xfrm>
            <a:off x="1005840" y="5614416"/>
            <a:ext cx="5577840" cy="402336"/>
          </a:xfrm>
          <a:prstGeom prst="rect">
            <a:avLst/>
          </a:prstGeom>
          <a:noFill/>
          <a:ln/>
        </p:spPr>
        <p:txBody>
          <a:bodyPr wrap="square" lIns="0" tIns="0" rIns="0" bIns="0" rtlCol="0" anchor="ctr"/>
          <a:lstStyle/>
          <a:p>
            <a:pPr indent="0" marL="0">
              <a:buNone/>
            </a:pPr>
            <a:r>
              <a:rPr lang="en-US" sz="1350" u="sng" dirty="0">
                <a:solidFill>
                  <a:schemeClr val="tx1"/>
                </a:solidFill>
                <a:latin typeface="Calibri" pitchFamily="34" charset="0"/>
                <a:ea typeface="Calibri" pitchFamily="34" charset="-122"/>
                <a:cs typeface="Calibri" pitchFamily="34" charset="-120"/>
                <a:hlinkClick r:id="rId9" invalidUrl="" action="" tgtFrame="" tooltip="Open Part 9" history="1" highlightClick="0" endSnd="0">
                  <a:extLst>
                    <a:ext uri="{A12FA001-AC4F-418D-AE19-62706E023703}">
                      <ahyp:hlinkClr xmlns:ahyp="http://schemas.microsoft.com/office/drawing/2018/hyperlinkcolor" val="tx"/>
                    </a:ext>
                  </a:extLst>
                </a:hlinkClick>
              </a:rPr>
              <a:t>Part 9: Optimizers Are What You Need</a:t>
            </a:r>
            <a:endParaRPr lang="en-US" sz="1350" dirty="0"/>
          </a:p>
        </p:txBody>
      </p:sp>
      <p:sp>
        <p:nvSpPr>
          <p:cNvPr id="32" name="Shape 29"/>
          <p:cNvSpPr/>
          <p:nvPr/>
        </p:nvSpPr>
        <p:spPr>
          <a:xfrm>
            <a:off x="6903720" y="1280160"/>
            <a:ext cx="4736592" cy="4892040"/>
          </a:xfrm>
          <a:prstGeom prst="rect">
            <a:avLst/>
          </a:prstGeom>
          <a:solidFill>
            <a:schemeClr val="bg2"/>
          </a:solidFill>
          <a:ln/>
        </p:spPr>
      </p:sp>
      <p:sp>
        <p:nvSpPr>
          <p:cNvPr id="33" name="Text 30"/>
          <p:cNvSpPr txBox="1"/>
          <p:nvPr/>
        </p:nvSpPr>
        <p:spPr>
          <a:xfrm>
            <a:off x="7132320" y="1417320"/>
            <a:ext cx="429768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Primary sources</a:t>
            </a:r>
            <a:endParaRPr lang="en-US" sz="1500" dirty="0"/>
          </a:p>
        </p:txBody>
      </p:sp>
      <p:sp>
        <p:nvSpPr>
          <p:cNvPr id="34" name="Text 31"/>
          <p:cNvSpPr txBox="1"/>
          <p:nvPr/>
        </p:nvSpPr>
        <p:spPr>
          <a:xfrm>
            <a:off x="7132320" y="1828800"/>
            <a:ext cx="4343400" cy="42519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McCulloch &amp; Pitts (1943), Bull. Math. Biophysics</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Rosenblatt (1958), Psychological Review</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Rumelhart, Hinton &amp; Williams (1986), Nature</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Hochreiter &amp; Schmidhuber (1997), Neural Computation</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LeCun et al. (1998), Proc. IEEE (LeNet-5)</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Krizhevsky, Sutskever &amp; Hinton (2012), NeurIPS</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Glorot &amp; Bengio (2010); He et al. (2015)</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Srivastava et al. (2014), JMLR (dropout)</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Ioffe &amp; Szegedy (2015), ICML (batch norm)</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Kingma &amp; Ba (2015), ICLR (Adam)</a:t>
            </a:r>
            <a:endParaRPr lang="en-US" sz="1200" dirty="0"/>
          </a:p>
          <a:p>
            <a:pPr marL="177800" indent="-177800">
              <a:spcAft>
                <a:spcPts val="300"/>
              </a:spcAft>
              <a:buSzPct val="100000"/>
              <a:buChar char="•"/>
            </a:pPr>
            <a:r>
              <a:rPr lang="en-US" sz="1200" dirty="0">
                <a:solidFill>
                  <a:schemeClr val="tx2"/>
                </a:solidFill>
                <a:latin typeface="Calibri" pitchFamily="34" charset="0"/>
                <a:ea typeface="Calibri" pitchFamily="34" charset="-122"/>
                <a:cs typeface="Calibri" pitchFamily="34" charset="-120"/>
              </a:rPr>
              <a:t>Goodfellow, Bengio &amp; Courville, Deep Learning (2016)</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dirty="0">
                <a:solidFill>
                  <a:schemeClr val="tx1"/>
                </a:solidFill>
                <a:latin typeface="Cambria" pitchFamily="34" charset="0"/>
                <a:ea typeface="Cambria" pitchFamily="34" charset="-122"/>
                <a:cs typeface="Cambria" pitchFamily="34" charset="-120"/>
              </a:rPr>
              <a:t>Image credits</a:t>
            </a:r>
            <a:endParaRPr lang="en-US" sz="3200" dirty="0"/>
          </a:p>
        </p:txBody>
      </p:sp>
      <p:sp>
        <p:nvSpPr>
          <p:cNvPr id="4" name="Text 1"/>
          <p:cNvSpPr txBox="1"/>
          <p:nvPr/>
        </p:nvSpPr>
        <p:spPr>
          <a:xfrm>
            <a:off x="548640" y="1280160"/>
            <a:ext cx="7315200"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Wikimedia Commons</a:t>
            </a:r>
            <a:endParaRPr lang="en-US" sz="1500" dirty="0"/>
          </a:p>
        </p:txBody>
      </p:sp>
      <p:sp>
        <p:nvSpPr>
          <p:cNvPr id="5" name="Text 2"/>
          <p:cNvSpPr txBox="1"/>
          <p:nvPr/>
        </p:nvSpPr>
        <p:spPr>
          <a:xfrm>
            <a:off x="548640" y="1691640"/>
            <a:ext cx="5486400" cy="39319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Walter Pitts, 1954: Francis Bello, public domain</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Alan Turing: Elliott &amp; Fry, public domain</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Frank Rosenblatt: unknown author, CC BY-SA 4.0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Mark I Perceptron manual figure: J. C. Hay &amp; A. E. Murray, public domain</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Bernard Widrow with ADALINE: Stanford Today (1963), public domain</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Marvin Minsky: Sethwoodworth, CC BY 3.0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Seymour Papert: Matematicamente.it, CC BY-SA 3.0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Paul Werbos; David Rumelhart: Rolf Kickuth, CC BY-SA 4.0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John Hopfield: Jay Dixit, CC BY-SA 4.0</a:t>
            </a:r>
            <a:endParaRPr lang="en-US" sz="1200" dirty="0"/>
          </a:p>
        </p:txBody>
      </p:sp>
      <p:sp>
        <p:nvSpPr>
          <p:cNvPr id="6" name="Text 3"/>
          <p:cNvSpPr txBox="1"/>
          <p:nvPr/>
        </p:nvSpPr>
        <p:spPr>
          <a:xfrm>
            <a:off x="6172200" y="1691640"/>
            <a:ext cx="5468112" cy="39319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Geoffrey Hinton: Cmichel67, CC BY-SA 4.0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Yann LeCun: Jérémy Barande, CC BY-SA 2.0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Yoshua Bengio: Xuthoria, CC BY-SA 4.0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Jürgen Schmidhuber: ITU/R.Farrell, CC BY 2.0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Sepp Hochreiter: C.Stadler/Bwag, CC BY-SA 4.0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Fei-Fei Li: ITU Pictures, CC BY 2.0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Andrew Ng: TechCrunch, CC BY 2.0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Demis Hassabis: John Sears, CC BY-SA 4.0</a:t>
            </a:r>
            <a:endParaRPr lang="en-US" sz="1200" dirty="0"/>
          </a:p>
          <a:p>
            <a:pPr marL="177800" indent="-177800">
              <a:spcAft>
                <a:spcPts val="400"/>
              </a:spcAft>
              <a:buSzPct val="100000"/>
              <a:buChar char="•"/>
            </a:pPr>
            <a:r>
              <a:rPr lang="en-US" sz="1200" dirty="0">
                <a:solidFill>
                  <a:schemeClr val="tx2"/>
                </a:solidFill>
                <a:latin typeface="Calibri" pitchFamily="34" charset="0"/>
                <a:ea typeface="Calibri" pitchFamily="34" charset="-122"/>
                <a:cs typeface="Calibri" pitchFamily="34" charset="-120"/>
              </a:rPr>
              <a:t>AlexNet, LeNet-5 diagrams: Zhang, Lipton, Li &amp; Smola, Dive into Deep Learning, CC BY-SA 4.0</a:t>
            </a:r>
            <a:endParaRPr lang="en-US" sz="1200" dirty="0"/>
          </a:p>
        </p:txBody>
      </p:sp>
      <p:sp>
        <p:nvSpPr>
          <p:cNvPr id="7" name="Text 4"/>
          <p:cNvSpPr txBox="1"/>
          <p:nvPr/>
        </p:nvSpPr>
        <p:spPr>
          <a:xfrm>
            <a:off x="548640" y="5715000"/>
            <a:ext cx="11091672" cy="45720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Other figures: C. P. Bathula, Deep Learning series (Towards AI) and AA-5750 course decks. Simulated and illustrative plots were generated for this lecture with NumPy and matplotlib.</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79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AA-5750 Charcoal Amber">
  <a:themeElements>
    <a:clrScheme name="AA-5750 Charcoal Amber">
      <a:dk1>
        <a:srgbClr val="1B1F24"/>
      </a:dk1>
      <a:lt1>
        <a:srgbClr val="FFFFFF"/>
      </a:lt1>
      <a:dk2>
        <a:srgbClr val="3A4651"/>
      </a:dk2>
      <a:lt2>
        <a:srgbClr val="EEF1F4"/>
      </a:lt2>
      <a:accent1>
        <a:srgbClr val="E09F3E"/>
      </a:accent1>
      <a:accent2>
        <a:srgbClr val="335C67"/>
      </a:accent2>
      <a:accent3>
        <a:srgbClr val="9E2A2B"/>
      </a:accent3>
      <a:accent4>
        <a:srgbClr val="4F7F6A"/>
      </a:accent4>
      <a:accent5>
        <a:srgbClr val="7A8793"/>
      </a:accent5>
      <a:accent6>
        <a:srgbClr val="D9DEE3"/>
      </a:accent6>
      <a:hlink>
        <a:srgbClr val="335C67"/>
      </a:hlink>
      <a:folHlink>
        <a:srgbClr val="7A8793"/>
      </a:folHlink>
    </a:clrScheme>
    <a:fontScheme name="AA-5750 Charcoal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Deep Learning, from a logical neuron to networks that learn</dc:title>
  <dc:subject>PptxGenJS Presentation</dc:subject>
  <dc:creator>Chandra Prakash Bathula</dc:creator>
  <cp:lastModifiedBy>Chandra Prakash Bathula</cp:lastModifiedBy>
  <cp:revision>1</cp:revision>
  <dcterms:created xsi:type="dcterms:W3CDTF">2026-10-24T21:41:13Z</dcterms:created>
  <dcterms:modified xsi:type="dcterms:W3CDTF">2026-10-24T21:41:13Z</dcterms:modified>
</cp:coreProperties>
</file>